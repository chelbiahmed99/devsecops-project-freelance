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comments/comment4.xml" ContentType="application/vnd.openxmlformats-officedocument.presentationml.comments+xml"/>
  <Override PartName="/ppt/notesSlides/notesSlide5.xml" ContentType="application/vnd.openxmlformats-officedocument.presentationml.notesSlide+xml"/>
  <Override PartName="/ppt/comments/comment5.xml" ContentType="application/vnd.openxmlformats-officedocument.presentationml.comments+xml"/>
  <Override PartName="/ppt/notesSlides/notesSlide6.xml" ContentType="application/vnd.openxmlformats-officedocument.presentationml.notesSlide+xml"/>
  <Override PartName="/ppt/comments/comment6.xml" ContentType="application/vnd.openxmlformats-officedocument.presentationml.comments+xml"/>
  <Override PartName="/ppt/notesSlides/notesSlide7.xml" ContentType="application/vnd.openxmlformats-officedocument.presentationml.notesSlide+xml"/>
  <Override PartName="/ppt/comments/comment7.xml" ContentType="application/vnd.openxmlformats-officedocument.presentationml.comments+xml"/>
  <Override PartName="/ppt/notesSlides/notesSlide8.xml" ContentType="application/vnd.openxmlformats-officedocument.presentationml.notesSlide+xml"/>
  <Override PartName="/ppt/comments/comment8.xml" ContentType="application/vnd.openxmlformats-officedocument.presentationml.comments+xml"/>
  <Override PartName="/ppt/notesSlides/notesSlide9.xml" ContentType="application/vnd.openxmlformats-officedocument.presentationml.notesSlide+xml"/>
  <Override PartName="/ppt/comments/comment9.xml" ContentType="application/vnd.openxmlformats-officedocument.presentationml.comments+xml"/>
  <Override PartName="/ppt/notesSlides/notesSlide10.xml" ContentType="application/vnd.openxmlformats-officedocument.presentationml.notesSlide+xml"/>
  <Override PartName="/ppt/comments/comment10.xml" ContentType="application/vnd.openxmlformats-officedocument.presentationml.comments+xml"/>
  <Override PartName="/ppt/notesSlides/notesSlide11.xml" ContentType="application/vnd.openxmlformats-officedocument.presentationml.notesSlide+xml"/>
  <Override PartName="/ppt/comments/comment11.xml" ContentType="application/vnd.openxmlformats-officedocument.presentationml.comments+xml"/>
  <Override PartName="/ppt/notesSlides/notesSlide12.xml" ContentType="application/vnd.openxmlformats-officedocument.presentationml.notesSlide+xml"/>
  <Override PartName="/ppt/comments/comment12.xml" ContentType="application/vnd.openxmlformats-officedocument.presentationml.comments+xml"/>
  <Override PartName="/ppt/notesSlides/notesSlide13.xml" ContentType="application/vnd.openxmlformats-officedocument.presentationml.notesSlide+xml"/>
  <Override PartName="/ppt/comments/comment13.xml" ContentType="application/vnd.openxmlformats-officedocument.presentationml.comments+xml"/>
  <Override PartName="/ppt/notesSlides/notesSlide14.xml" ContentType="application/vnd.openxmlformats-officedocument.presentationml.notesSlide+xml"/>
  <Override PartName="/ppt/comments/comment14.xml" ContentType="application/vnd.openxmlformats-officedocument.presentationml.comments+xml"/>
  <Override PartName="/ppt/notesSlides/notesSlide15.xml" ContentType="application/vnd.openxmlformats-officedocument.presentationml.notesSlide+xml"/>
  <Override PartName="/ppt/comments/comment15.xml" ContentType="application/vnd.openxmlformats-officedocument.presentationml.comments+xml"/>
  <Override PartName="/ppt/notesSlides/notesSlide16.xml" ContentType="application/vnd.openxmlformats-officedocument.presentationml.notesSlide+xml"/>
  <Override PartName="/ppt/comments/comment16.xml" ContentType="application/vnd.openxmlformats-officedocument.presentationml.comments+xml"/>
  <Override PartName="/ppt/notesSlides/notesSlide17.xml" ContentType="application/vnd.openxmlformats-officedocument.presentationml.notesSlide+xml"/>
  <Override PartName="/ppt/comments/comment17.xml" ContentType="application/vnd.openxmlformats-officedocument.presentationml.comments+xml"/>
  <Override PartName="/ppt/notesSlides/notesSlide18.xml" ContentType="application/vnd.openxmlformats-officedocument.presentationml.notesSlide+xml"/>
  <Override PartName="/ppt/comments/comment18.xml" ContentType="application/vnd.openxmlformats-officedocument.presentationml.comments+xml"/>
  <Override PartName="/ppt/notesSlides/notesSlide19.xml" ContentType="application/vnd.openxmlformats-officedocument.presentationml.notesSlide+xml"/>
  <Override PartName="/ppt/comments/comment19.xml" ContentType="application/vnd.openxmlformats-officedocument.presentationml.comments+xml"/>
  <Override PartName="/ppt/notesSlides/notesSlide20.xml" ContentType="application/vnd.openxmlformats-officedocument.presentationml.notesSlide+xml"/>
  <Override PartName="/ppt/comments/comment20.xml" ContentType="application/vnd.openxmlformats-officedocument.presentationml.comments+xml"/>
  <Override PartName="/ppt/notesSlides/notesSlide21.xml" ContentType="application/vnd.openxmlformats-officedocument.presentationml.notesSlide+xml"/>
  <Override PartName="/ppt/comments/comment21.xml" ContentType="application/vnd.openxmlformats-officedocument.presentationml.comments+xml"/>
  <Override PartName="/ppt/notesSlides/notesSlide22.xml" ContentType="application/vnd.openxmlformats-officedocument.presentationml.notesSlide+xml"/>
  <Override PartName="/ppt/comments/comment22.xml" ContentType="application/vnd.openxmlformats-officedocument.presentationml.comments+xml"/>
  <Override PartName="/ppt/notesSlides/notesSlide23.xml" ContentType="application/vnd.openxmlformats-officedocument.presentationml.notesSlide+xml"/>
  <Override PartName="/ppt/comments/comment23.xml" ContentType="application/vnd.openxmlformats-officedocument.presentationml.comments+xml"/>
  <Override PartName="/ppt/notesSlides/notesSlide24.xml" ContentType="application/vnd.openxmlformats-officedocument.presentationml.notesSlide+xml"/>
  <Override PartName="/ppt/comments/comment24.xml" ContentType="application/vnd.openxmlformats-officedocument.presentationml.comments+xml"/>
  <Override PartName="/ppt/notesSlides/notesSlide25.xml" ContentType="application/vnd.openxmlformats-officedocument.presentationml.notesSlide+xml"/>
  <Override PartName="/ppt/comments/comment25.xml" ContentType="application/vnd.openxmlformats-officedocument.presentationml.comments+xml"/>
  <Override PartName="/ppt/notesSlides/notesSlide26.xml" ContentType="application/vnd.openxmlformats-officedocument.presentationml.notesSlide+xml"/>
  <Override PartName="/ppt/comments/comment26.xml" ContentType="application/vnd.openxmlformats-officedocument.presentationml.comments+xml"/>
  <Override PartName="/ppt/notesSlides/notesSlide27.xml" ContentType="application/vnd.openxmlformats-officedocument.presentationml.notesSlide+xml"/>
  <Override PartName="/ppt/comments/comment27.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4287500" cy="8058150"/>
  <p:notesSz cx="8058150" cy="14287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Emna Ounissi" initials="EO" lastIdx="27"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7" d="100"/>
          <a:sy n="67" d="100"/>
        </p:scale>
        <p:origin x="72" y="22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9-27T10:01:00" idx="1">
    <p:pos x="10" y="10"/>
    <p:text>SPEECH - Bonjour à toutes et à tous. Madame, Monsieur les membres du jury, je vous remercie de votre présence. Je m'appelle Emna Ounissi et j'ai le plaisir de vous présenter mon projet de fin d'études, réalisé au sein de Vermeg. Ce projet s'intitule « Assistant DevSecOps intelligent ». Son objectif est simple : aider les équipes de développement à comprendre plus vite les incidents de leurs applications, et à les corriger, grâce à l'intelligence artificielle. Je remercie également mes encadrants pour leur accompagnement tout au long de ce stage.</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6-09-27T10:02:00" idx="2">
    <p:pos x="10" y="10"/>
    <p:text>SPEECH - Ma présentation s'organise en cinq parties. Je commencerai par le contexte du projet : l'entreprise d'accueil, la façon dont les choses se passent aujourd'hui et la problématique. Ensuite, je présenterai la solution proposée et les besoins identifiés. La troisième partie sera consacrée à la conception, avec les diagrammes UML. Puis je détaillerai la réalisation : la méthode de travail, les technologies, l'architecture et les modèles d'intelligence artificielle. Enfin, je vous ferai une démonstration en direct avant de conclure.</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6-09-27T10:03:00" idx="3">
    <p:pos x="10" y="10"/>
    <p:text>SPEECH - Pour bien comprendre le projet, partons du cycle de vie d'une application. On écrit du code, on le teste, on vérifie sa sécurité, on le déploie, puis il tourne en production et produit des journaux, qu'on appelle des logs. À chacune de ces étapes, des informations très précieuses sont générées. Le problème, c'est qu'aujourd'hui ces informations sont éparpillées dans plusieurs outils différents. Comprendre un incident demande donc beaucoup de temps et d'expertise. L'objectif de mon projet est de rassembler tous ces signaux dans un assistant unique, capable de détecter, d'expliquer et d'aider à corriger les incidents.</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26-09-27T10:04:00" idx="4">
    <p:pos x="10" y="10"/>
    <p:text>SPEECH - Commençons donc par la première partie : le contexte du projet.</p:text>
  </p:cm>
</p:cmLst>
</file>

<file path=ppt/comments/comment5.xml><?xml version="1.0" encoding="utf-8"?>
<p:cmLst xmlns:a="http://schemas.openxmlformats.org/drawingml/2006/main" xmlns:r="http://schemas.openxmlformats.org/officeDocument/2006/relationships" xmlns:p="http://schemas.openxmlformats.org/presentationml/2006/main">
  <p:cm authorId="0" dt="2026-09-27T10:05:00" idx="5">
    <p:pos x="10" y="10"/>
    <p:text>SPEECH - J'ai effectué mon stage chez Vermeg, un éditeur international de logiciels dans le domaine de la FinTech. L'entreprise est née en Tunisie en 1993 sous le nom de BFI, puis est devenue indépendante en 2002. Son siège est aujourd'hui à Amsterdam, elle possède des bureaux dans seize pays, dont Tunis, et compte plus de mille collaborateurs. Ses logiciels, comme Colline, Soliam ou Solife, sont utilisés par des banques, des assureurs et des gestionnaires d'actifs dans plus de quarante pays. Dans ce secteur, la qualité et la sécurité des logiciels sont absolument essentielles, ce qui donne tout son sens à mon projet.</p:text>
  </p:cm>
</p:cmLst>
</file>

<file path=ppt/comments/comment6.xml><?xml version="1.0" encoding="utf-8"?>
<p:cmLst xmlns:a="http://schemas.openxmlformats.org/drawingml/2006/main" xmlns:r="http://schemas.openxmlformats.org/officeDocument/2006/relationships" xmlns:p="http://schemas.openxmlformats.org/presentationml/2006/main">
  <p:cm authorId="0" dt="2026-09-27T10:06:00" idx="6">
    <p:pos x="10" y="10"/>
    <p:text>SPEECH - Voyons maintenant comment un incident est traité aujourd'hui. Prenons un exemple : un test échoue ou une erreur apparaît en production. L'équipe doit alors ouvrir chaque outil séparément. D'abord les fichiers de logs, sur chaque serveur. Ensuite les rapports de tests. Puis les résultats des scanners de sécurité, comme SonarQube, OWASP Dependency-Check ou Trivy. Et bien souvent, il faut encore chercher sur internet ou demander à un collègue. La cause est donc recherchée à la main, et la correction dépend de l'expérience de chacun. Ce processus fonctionne, mais il est long et coûteux.</p:text>
  </p:cm>
</p:cmLst>
</file>

<file path=ppt/comments/comment7.xml><?xml version="1.0" encoding="utf-8"?>
<p:cmLst xmlns:a="http://schemas.openxmlformats.org/drawingml/2006/main" xmlns:r="http://schemas.openxmlformats.org/officeDocument/2006/relationships" xmlns:p="http://schemas.openxmlformats.org/presentationml/2006/main">
  <p:cm authorId="0" dt="2026-09-27T10:07:00" idx="7">
    <p:pos x="10" y="10"/>
    <p:text>SPEECH - Cette situation présente six limites principales. Les informations sont dispersées : il n'y a aucune vue d'ensemble. Le diagnostic est lent, car il faut parfois lire des milliers de lignes de logs à l'œil. Les alertes de sécurité ne sont pas priorisées : on ne sait pas par où commencer. Les sources ne sont jamais reliées : un test en échec n'est pas rapproché des logs du même moment. Le savoir reste concentré chez quelques experts. Et il n'existe pas d'indicateur objectif qui dise si une version est prête à être livrée. La conséquence est une réaction en chaîne : le temps de diagnostic augmente, le risque d'erreurs en production augmente, et finalement la qualité des livraisons diminue.</p:text>
  </p:cm>
</p:cmLst>
</file>

<file path=ppt/comments/comment8.xml><?xml version="1.0" encoding="utf-8"?>
<p:cmLst xmlns:a="http://schemas.openxmlformats.org/drawingml/2006/main" xmlns:r="http://schemas.openxmlformats.org/officeDocument/2006/relationships" xmlns:p="http://schemas.openxmlformats.org/presentationml/2006/main">
  <p:cm authorId="0" dt="2026-09-27T10:08:00" idx="8">
    <p:pos x="10" y="10"/>
    <p:text>SPEECH - Ces constats nous amènent à la problématique de mon projet : comment centraliser et analyser automatiquement les logs, les tests et les vulnérabilités d'une application, afin d'aider les équipes à comprendre plus vite les incidents et à les corriger, avec l'appui de l'intelligence artificielle ? Autrement dit, la solution doit répondre à trois questions simples : où est le problème, pourquoi est-il arrivé, et comment le corriger.</p:text>
  </p:cm>
</p:cmLst>
</file>

<file path=ppt/comments/comment9.xml><?xml version="1.0" encoding="utf-8"?>
<p:cmLst xmlns:a="http://schemas.openxmlformats.org/drawingml/2006/main" xmlns:r="http://schemas.openxmlformats.org/officeDocument/2006/relationships" xmlns:p="http://schemas.openxmlformats.org/presentationml/2006/main">
  <p:cm authorId="0" dt="2026-09-27T10:09:00" idx="9">
    <p:pos x="10" y="10"/>
    <p:text>SPEECH - Passons maintenant à la deuxième partie : la solution proposée et les besoins.</p:text>
  </p:cm>
</p:cmLst>
</file>

<file path=ppt/comments/comment10.xml><?xml version="1.0" encoding="utf-8"?>
<p:cmLst xmlns:a="http://schemas.openxmlformats.org/drawingml/2006/main" xmlns:r="http://schemas.openxmlformats.org/officeDocument/2006/relationships" xmlns:p="http://schemas.openxmlformats.org/presentationml/2006/main">
  <p:cm authorId="0" dt="2026-09-27T10:10:00" idx="10">
    <p:pos x="10" y="10"/>
    <p:text>SPEECH - Pour répondre à cette problématique, j'ai conçu un assistant DevSecOps : une plateforme unique qui réunit quatre briques. La brique Logs regroupe automatiquement les erreurs qui se ressemblent et détecte les pics anormaux. La brique Tests suit les résultats et relie chaque échec aux logs correspondants. La brique Sécurité rassemble les failles détectées par trois outils différents et les classe par priorité. Enfin, la brique Intelligence artificielle explique chaque incident en langage clair et propose un correctif. Toutes ces informations sont réunies dans un tableau de bord unique, avec un score de santé du projet, une quality gate et des alertes en temps réel.</p:text>
  </p:cm>
</p:cmLst>
</file>

<file path=ppt/comments/comment11.xml><?xml version="1.0" encoding="utf-8"?>
<p:cmLst xmlns:a="http://schemas.openxmlformats.org/drawingml/2006/main" xmlns:r="http://schemas.openxmlformats.org/officeDocument/2006/relationships" xmlns:p="http://schemas.openxmlformats.org/presentationml/2006/main">
  <p:cm authorId="0" dt="2026-09-27T10:11:00" idx="11">
    <p:pos x="10" y="10"/>
    <p:text>SPEECH - Côté fonctionnel, j'ai identifié six grands besoins. L'assistant doit d'abord gérer les logs : les importer, les rechercher et regrouper les erreurs similaires. Il doit ensuite détecter les anomalies, comme les pics d'erreurs, et les classer par type. Il doit gérer les tests : les lancer ou les importer, suivre leur historique et repérer les tests instables. Il doit gérer la sécurité : scanner, prioriser les failles avec un score de zéro à cent et suivre leur correction. Il doit offrir une assistance par l'IA. Et enfin, il doit permettre le pilotage et l'administration : tableau de bord, journal d'audit et gestion des utilisateurs.</p:text>
  </p:cm>
</p:cmLst>
</file>

<file path=ppt/comments/comment12.xml><?xml version="1.0" encoding="utf-8"?>
<p:cmLst xmlns:a="http://schemas.openxmlformats.org/drawingml/2006/main" xmlns:r="http://schemas.openxmlformats.org/officeDocument/2006/relationships" xmlns:p="http://schemas.openxmlformats.org/presentationml/2006/main">
  <p:cm authorId="0" dt="2026-09-27T10:12:00" idx="12">
    <p:pos x="10" y="10"/>
    <p:text>SPEECH - Au-delà des fonctionnalités, la plateforme doit respecter plusieurs exigences de qualité. La sécurité d'abord : authentification par jeton, gestion des rôles et mots de passe chiffrés. La disponibilité : si le service d'intelligence artificielle en ligne est indisponible, un moteur local prend automatiquement le relais. La performance : les traitements longs s'exécutent en arrière-plan. L'ergonomie, avec une interface claire et des alertes en temps réel. La maintenabilité, grâce à trois services indépendants et testés. Et la portabilité : tout se déploie avec Docker, en une seule commande. Pour moi, un outil de sécurité doit lui-même être exemplaire.</p:text>
  </p:cm>
</p:cmLst>
</file>

<file path=ppt/comments/comment13.xml><?xml version="1.0" encoding="utf-8"?>
<p:cmLst xmlns:a="http://schemas.openxmlformats.org/drawingml/2006/main" xmlns:r="http://schemas.openxmlformats.org/officeDocument/2006/relationships" xmlns:p="http://schemas.openxmlformats.org/presentationml/2006/main">
  <p:cm authorId="0" dt="2026-09-27T10:13:00" idx="13">
    <p:pos x="10" y="10"/>
    <p:text>SPEECH - Voyons maintenant la troisième partie : la conception.</p:text>
  </p:cm>
</p:cmLst>
</file>

<file path=ppt/comments/comment14.xml><?xml version="1.0" encoding="utf-8"?>
<p:cmLst xmlns:a="http://schemas.openxmlformats.org/drawingml/2006/main" xmlns:r="http://schemas.openxmlformats.org/officeDocument/2006/relationships" xmlns:p="http://schemas.openxmlformats.org/presentationml/2006/main">
  <p:cm authorId="0" dt="2026-09-27T10:14:00" idx="14">
    <p:pos x="10" y="10"/>
    <p:text>SPEECH - Ce diagramme présente les cas d'utilisation globaux du système. On distingue trois acteurs humains. Le développeur consulte le tableau de bord, analyse les logs, gère les tests et utilise l'assistant IA. Le responsable qualité et sécurité hérite de tous ces droits, et peut en plus gérer les vulnérabilités, valider les recommandations de l'IA et consulter le journal d'audit. L'administrateur hérite à son tour des droits du responsable, et gère les utilisateurs. Enfin, à droite, on trouve un acteur technique : le pipeline CI/CD, qui publie automatiquement ses résultats et vérifie la quality gate. Toutes les actions humaines passent par l'authentification.</p:text>
  </p:cm>
</p:cmLst>
</file>

<file path=ppt/comments/comment15.xml><?xml version="1.0" encoding="utf-8"?>
<p:cmLst xmlns:a="http://schemas.openxmlformats.org/drawingml/2006/main" xmlns:r="http://schemas.openxmlformats.org/officeDocument/2006/relationships" xmlns:p="http://schemas.openxmlformats.org/presentationml/2006/main">
  <p:cm authorId="0" dt="2026-09-27T10:15:00" idx="15">
    <p:pos x="10" y="10"/>
    <p:text>SPEECH - Voici maintenant le diagramme de classes, qui représente les principales données manipulées. L'utilisateur est au centre : chacune de ses actions est tracée dans un événement d'audit, et c'est lui qui valide les recommandations de l'intelligence artificielle. Une recommandation IA explique un incident, qui peut être un log, une exécution de tests ou une vulnérabilité. Enfin, les exécutions de tests sont corrélées aux logs produits pendant la même période, ce qui permet de retrouver rapidement la cause d'un échec.</p:text>
  </p:cm>
</p:cmLst>
</file>

<file path=ppt/comments/comment16.xml><?xml version="1.0" encoding="utf-8"?>
<p:cmLst xmlns:a="http://schemas.openxmlformats.org/drawingml/2006/main" xmlns:r="http://schemas.openxmlformats.org/officeDocument/2006/relationships" xmlns:p="http://schemas.openxmlformats.org/presentationml/2006/main">
  <p:cm authorId="0" dt="2026-09-27T10:16:00" idx="16">
    <p:pos x="10" y="10"/>
    <p:text>SPEECH - Passons maintenant à la quatrième partie : la réalisation.</p:text>
  </p:cm>
</p:cmLst>
</file>

<file path=ppt/comments/comment17.xml><?xml version="1.0" encoding="utf-8"?>
<p:cmLst xmlns:a="http://schemas.openxmlformats.org/drawingml/2006/main" xmlns:r="http://schemas.openxmlformats.org/officeDocument/2006/relationships" xmlns:p="http://schemas.openxmlformats.org/presentationml/2006/main">
  <p:cm authorId="0" dt="2026-09-27T10:17:00" idx="17">
    <p:pos x="10" y="10"/>
    <p:text>SPEECH - Pour mener ce projet, j'ai adopté la méthode agile Scrum. Le principe est de partir d'un backlog, c'est-à-dire la liste des besoins classés par priorité, puis de travailler en cycles courts appelés sprints. À la fin de chaque sprint, une fonctionnalité testée est livrée, présentée, puis améliorée grâce aux retours. Le projet a été découpé en six sprints : le socle et l'authentification, l'analyse des logs, les tests et la corrélation, la sécurité, l'intelligence artificielle, et enfin le tableau de bord, l'intégration continue et le déploiement.</p:text>
  </p:cm>
</p:cmLst>
</file>

<file path=ppt/comments/comment18.xml><?xml version="1.0" encoding="utf-8"?>
<p:cmLst xmlns:a="http://schemas.openxmlformats.org/drawingml/2006/main" xmlns:r="http://schemas.openxmlformats.org/officeDocument/2006/relationships" xmlns:p="http://schemas.openxmlformats.org/presentationml/2006/main">
  <p:cm authorId="0" dt="2026-09-27T10:18:00" idx="18">
    <p:pos x="10" y="10"/>
    <p:text>SPEECH - Voici les technologies que j'ai utilisées, regroupées par rôle. Pour l'interface : Angular et TypeScript. Pour le cœur applicatif : Java 17 avec Spring Boot et Spring Security. Pour l'intelligence artificielle : Python avec FastAPI, la bibliothèque scikit-learn pour l'apprentissage automatique, et un grand modèle de langage accessible via Groq. Les données sont stockées dans PostgreSQL. Côté qualité et sécurité, la plateforme s'appuie sur SonarQube, OWASP Dependency-Check, Trivy, JUnit et JaCoCo. Enfin, le déploiement repose sur Docker, avec des pipelines GitHub Actions, GitLab CI et Jenkins, et Grafana Loki pour centraliser les logs.</p:text>
  </p:cm>
</p:cmLst>
</file>

<file path=ppt/comments/comment19.xml><?xml version="1.0" encoding="utf-8"?>
<p:cmLst xmlns:a="http://schemas.openxmlformats.org/drawingml/2006/main" xmlns:r="http://schemas.openxmlformats.org/officeDocument/2006/relationships" xmlns:p="http://schemas.openxmlformats.org/presentationml/2006/main">
  <p:cm authorId="0" dt="2026-09-27T10:19:00" idx="19">
    <p:pos x="10" y="10"/>
    <p:text>SPEECH - L'architecture logique est organisée en trois couches. En haut, la couche présentation : l'application web Angular, avec ses différents écrans. Au milieu, la couche métier, dans le backend Spring Boot. Toutes les requêtes passent d'abord par une couche de sécurité, puis sont traitées par cinq modules : logs, tests, sécurité, IA et pilotage. En bas, la couche données et services : la base de données, le service d'intelligence artificielle et les outils externes. Les couches communiquent par une API REST, avec des notifications en temps réel vers l'interface.</p:text>
  </p:cm>
</p:cmLst>
</file>

<file path=ppt/comments/comment20.xml><?xml version="1.0" encoding="utf-8"?>
<p:cmLst xmlns:a="http://schemas.openxmlformats.org/drawingml/2006/main" xmlns:r="http://schemas.openxmlformats.org/officeDocument/2006/relationships" xmlns:p="http://schemas.openxmlformats.org/presentationml/2006/main">
  <p:cm authorId="0" dt="2026-09-27T10:20:00" idx="20">
    <p:pos x="10" y="10"/>
    <p:text>SPEECH - Sur le plan physique, toute la plateforme est déployée dans des conteneurs Docker sur un même serveur. On y trouve le frontend, le backend, la base de données PostgreSQL et le service IA, ainsi que deux services optionnels, en pointillés : SonarQube et Grafana Loki. L'utilisateur accède à l'application depuis son navigateur, en HTTPS. Les serveurs d'intégration continue envoient leurs résultats avec une clé d'API dédiée. Enfin, seul le service IA communique avec l'extérieur, pour interroger le modèle de langage hébergé dans le cloud Groq.</p:text>
  </p:cm>
</p:cmLst>
</file>

<file path=ppt/comments/comment21.xml><?xml version="1.0" encoding="utf-8"?>
<p:cmLst xmlns:a="http://schemas.openxmlformats.org/drawingml/2006/main" xmlns:r="http://schemas.openxmlformats.org/officeDocument/2006/relationships" xmlns:p="http://schemas.openxmlformats.org/presentationml/2006/main">
  <p:cm authorId="0" dt="2026-09-27T10:21:00" idx="21">
    <p:pos x="10" y="10"/>
    <p:text>SPEECH - Venons-en au cœur du projet : l'intelligence artificielle. Elle repose sur quatre briques. La première regroupe les erreurs : grâce aux algorithmes TF-IDF et DBSCAN, des milliers de lignes de logs sont réduites à quelques familles d'erreurs. La deuxième détecte les pics : un score statistique robuste et un modèle Isolation Forest repèrent automatiquement les moments anormaux. La troisième utilise un grand modèle de langage pour expliquer la cause d'un incident en langage clair et proposer une correction. La quatrième est un copilote conversationnel qui répond aux questions de l'équipe sur l'état réel du projet. Deux garde-fous complètent le dispositif : un moteur local de secours, et surtout une validation humaine obligatoire. Aucune correction n'est jamais appliquée automatiquement.</p:text>
  </p:cm>
</p:cmLst>
</file>

<file path=ppt/comments/comment22.xml><?xml version="1.0" encoding="utf-8"?>
<p:cmLst xmlns:a="http://schemas.openxmlformats.org/drawingml/2006/main" xmlns:r="http://schemas.openxmlformats.org/officeDocument/2006/relationships" xmlns:p="http://schemas.openxmlformats.org/presentationml/2006/main">
  <p:cm authorId="0" dt="2026-09-27T10:22:00" idx="22">
    <p:pos x="10" y="10"/>
    <p:text>SPEECH - Pour rendre cela concret, prenons un exemple : la saturation du pool de connexions à la base de données. En quelques minutes, des centaines de lignes d'erreur apparaissent. L'assistant les regroupe en une seule famille d'erreurs. Il détecte un pic anormal et envoie une alerte en temps réel. L'IA explique ensuite la cause probable et propose un correctif. Enfin, le responsable qualité valide la recommandation, et cette action est tracée. Résultat : un diagnostic obtenu en quelques minutes, au lieu d'une longue recherche manuelle.</p:text>
  </p:cm>
</p:cmLst>
</file>

<file path=ppt/comments/comment23.xml><?xml version="1.0" encoding="utf-8"?>
<p:cmLst xmlns:a="http://schemas.openxmlformats.org/drawingml/2006/main" xmlns:r="http://schemas.openxmlformats.org/officeDocument/2006/relationships" xmlns:p="http://schemas.openxmlformats.org/presentationml/2006/main">
  <p:cm authorId="0" dt="2026-09-27T10:23:00" idx="23">
    <p:pos x="10" y="10"/>
    <p:text>SPEECH - J'arrive maintenant à la dernière partie : la démonstration, puis la conclusion.</p:text>
  </p:cm>
</p:cmLst>
</file>

<file path=ppt/comments/comment24.xml><?xml version="1.0" encoding="utf-8"?>
<p:cmLst xmlns:a="http://schemas.openxmlformats.org/drawingml/2006/main" xmlns:r="http://schemas.openxmlformats.org/officeDocument/2006/relationships" xmlns:p="http://schemas.openxmlformats.org/presentationml/2006/main">
  <p:cm authorId="0" dt="2026-09-27T10:24:00" idx="24">
    <p:pos x="10" y="10"/>
    <p:text>SPEECH - Je vais maintenant vous faire une démonstration en direct de la plateforme, à partir d'un jeu de données réaliste. Je commencerai par me connecter, pour montrer que l'interface s'adapte au rôle de l'utilisateur. Je vous présenterai ensuite le tableau de bord, avec le score de santé et la quality gate. Puis nous verrons les anomalies de logs regroupées et les pics détectés, les tests en échec reliés aux logs, et les vulnérabilités classées par priorité. Enfin, je vous montrerai l'assistant IA : l'explication d'un incident, sa validation, et le copilote conversationnel.</p:text>
  </p:cm>
</p:cmLst>
</file>

<file path=ppt/comments/comment25.xml><?xml version="1.0" encoding="utf-8"?>
<p:cmLst xmlns:a="http://schemas.openxmlformats.org/drawingml/2006/main" xmlns:r="http://schemas.openxmlformats.org/officeDocument/2006/relationships" xmlns:p="http://schemas.openxmlformats.org/presentationml/2006/main">
  <p:cm authorId="0" dt="2026-09-27T10:25:00" idx="25">
    <p:pos x="10" y="10"/>
    <p:text>SPEECH - Pour conclure, ce projet a permis de réaliser une plateforme unique qui réunit les logs, les tests, la sécurité et l'intelligence artificielle. Elle accélère le diagnostic grâce au regroupement et à la détection automatique des anomalies. Elle propose une IA explicable, toujours encadrée par une validation humaine. Et elle s'intègre directement dans les pipelines d'intégration continue, avec une quality gate à chaque livraison. En une phrase : l'assistant transforme des signaux dispersés en décisions claires. Sur le plan personnel, ce stage m'a permis de progresser à la fois en développement, en sécurité et en intelligence artificielle.</p:text>
  </p:cm>
</p:cmLst>
</file>

<file path=ppt/comments/comment26.xml><?xml version="1.0" encoding="utf-8"?>
<p:cmLst xmlns:a="http://schemas.openxmlformats.org/drawingml/2006/main" xmlns:r="http://schemas.openxmlformats.org/officeDocument/2006/relationships" xmlns:p="http://schemas.openxmlformats.org/presentationml/2006/main">
  <p:cm authorId="0" dt="2026-09-27T10:26:00" idx="26">
    <p:pos x="10" y="10"/>
    <p:text>SPEECH - Ce projet ouvre plusieurs perspectives, que je vois comme une évolution progressive. D'abord, le passage à l'échelle, avec un déploiement sur Kubernetes. Ensuite, enrichir l'IA avec la documentation interne de Vermeg, grâce à une approche RAG, pour des réponses encore plus précises. Puis aller vers la correction assistée, en proposant directement les correctifs sous forme de merge request. Et enfin, la prévention : prédire les incidents avant qu'ils ne surviennent.</p:text>
  </p:cm>
</p:cmLst>
</file>

<file path=ppt/comments/comment27.xml><?xml version="1.0" encoding="utf-8"?>
<p:cmLst xmlns:a="http://schemas.openxmlformats.org/drawingml/2006/main" xmlns:r="http://schemas.openxmlformats.org/officeDocument/2006/relationships" xmlns:p="http://schemas.openxmlformats.org/presentationml/2006/main">
  <p:cm authorId="0" dt="2026-09-27T10:27:00" idx="27">
    <p:pos x="10" y="10"/>
    <p:text>SPEECH - Je vous remercie pour votre attention. Je suis maintenant à votre disposition pour répondre à vos questions.</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37079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toutes et à tous. Madame, Monsieur les membres du jury, je vous remercie de votre présence. Je m'appelle Emna Ounissi et j'ai le plaisir de vous présenter mon projet de fin d'études, réalisé au sein de Vermeg. Ce projet s'intitule « Assistant DevSecOps intelligent ». Son objectif est simple : aider les équipes de développement à comprendre plus vite les incidents de leurs applications, et à les corriger, grâce à l'intelligence artificielle. Je remercie également mes encadrants pour leur accompagnement tout au long de ce stage.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présentation s'organise en cinq parties. Je commencerai par le contexte du projet : l'entreprise d'accueil, la façon dont les choses se passent aujourd'hui et la problématique. Ensuite, je présenterai la solution proposée et les besoins identifiés. La troisième partie sera consacrée à la conception, avec les diagrammes UML. Puis je détaillerai la réalisation : la méthode de travail, les technologies, l'architecture et les modèles d'intelligence artificielle. Enfin, je vous ferai une démonstration en direct avant de conclure.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bien comprendre le projet, partons du cycle de vie d'une application. On écrit du code, on le teste, on vérifie sa sécurité, on le déploie, puis il tourne en production et produit des journaux, qu'on appelle des logs. À chacune de ces étapes, des informations très précieuses sont générées. Le problème, c'est qu'aujourd'hui ces informations sont éparpillées dans plusieurs outils différents. Comprendre un incident demande donc beaucoup de temps et d'expertise. L'objectif de mon projet est de rassembler tous ces signaux dans un assistant unique, capable de détecter, d'expliquer et d'aider à corriger les incidents.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Commençons donc par la première partie : le contexte du projet.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effectué mon stage chez Vermeg, un éditeur international de logiciels dans le domaine de la FinTech. L'entreprise est née en Tunisie en 1993 sous le nom de BFI, puis est devenue indépendante en 2002. Son siège est aujourd'hui à Amsterdam, elle possède des bureaux dans seize pays, dont Tunis, et compte plus de mille collaborateurs. Ses logiciels, comme Colline, Soliam ou Solife, sont utilisés par des banques, des assureurs et des gestionnaires d'actifs dans plus de quarante pays. Dans ce secteur, la qualité et la sécurité des logiciels sont absolument essentielles, ce qui donne tout son sens à mon projet.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Voyons maintenant comment un incident est traité aujourd'hui. Prenons un exemple : un test échoue ou une erreur apparaît en production. L'équipe doit alors ouvrir chaque outil séparément. D'abord les fichiers de logs, sur chaque serveur. Ensuite les rapports de tests. Puis les résultats des scanners de sécurité, comme SonarQube, OWASP Dependency-Check ou Trivy. Et bien souvent, il faut encore chercher sur internet ou demander à un collègue. La cause est donc recherchée à la main, et la correction dépend de l'expérience de chacun. Ce processus fonctionne, mais il est long et coûteux.</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situation présente six limites principales. Les informations sont dispersées : il n'y a aucune vue d'ensemble. Le diagnostic est lent, car il faut parfois lire des milliers de lignes de logs à l'œil. Les alertes de sécurité ne sont pas priorisées : on ne sait pas par où commencer. Les sources ne sont jamais reliées : un test en échec n'est pas rapproché des logs du même moment. Le savoir reste concentré chez quelques experts. Et il n'existe pas d'indicateur objectif qui dise si une version est prête à être livrée. La conséquence est une réaction en chaîne : le temps de diagnostic augmente, le risque d'erreurs en production augmente, et finalement la qualité des livraisons diminue.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constats nous amènent à la problématique de mon projet : comment centraliser et analyser automatiquement les logs, les tests et les vulnérabilités d'une application, afin d'aider les équipes à comprendre plus vite les incidents et à les corriger, avec l'appui de l'intelligence artificielle ? Autrement dit, la solution doit répondre à trois questions simples : où est le problème, pourquoi est-il arrivé, et comment le corriger.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maintenant à la deuxième partie : la solution proposée et les besoins.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répondre à cette problématique, j'ai conçu un assistant DevSecOps : une plateforme unique qui réunit quatre briques. La brique Logs regroupe automatiquement les erreurs qui se ressemblent et détecte les pics anormaux. La brique Tests suit les résultats et relie chaque échec aux logs correspondants. La brique Sécurité rassemble les failles détectées par trois outils différents et les classe par priorité. Enfin, la brique Intelligence artificielle explique chaque incident en langage clair et propose un correctif. Toutes ces informations sont réunies dans un tableau de bord unique, avec un score de santé du projet, une quality gate et des alertes en temps réel.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fonctionnel, j'ai identifié six grands besoins. L'assistant doit d'abord gérer les logs : les importer, les rechercher et regrouper les erreurs similaires. Il doit ensuite détecter les anomalies, comme les pics d'erreurs, et les classer par type. Il doit gérer les tests : les lancer ou les importer, suivre leur historique et repérer les tests instables. Il doit gérer la sécurité : scanner, prioriser les failles avec un score de zéro à cent et suivre leur correction. Il doit offrir une assistance par l'IA. Et enfin, il doit permettre le pilotage et l'administration : tableau de bord, journal d'audit et gestion des utilisateurs.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Au-delà des fonctionnalités, la plateforme doit respecter plusieurs exigences de qualité. La sécurité d'abord : authentification par jeton, gestion des rôles et mots de passe chiffrés. La disponibilité : si le service d'intelligence artificielle en ligne est indisponible, un moteur local prend automatiquement le relais. La performance : les traitements longs s'exécutent en arrière-plan. L'ergonomie, avec une interface claire et des alertes en temps réel. La maintenabilité, grâce à trois services indépendants et testés. Et la portabilité : tout se déploie avec Docker, en une seule commande. Pour moi, un outil de sécurité doit lui-même être exemplaire.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Voyons maintenant la troisième partie : la conception.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diagramme présente les cas d'utilisation globaux du système. On distingue trois acteurs humains. Le développeur consulte le tableau de bord, analyse les logs, gère les tests et utilise l'assistant IA. Le responsable qualité et sécurité hérite de tous ces droits, et peut en plus gérer les vulnérabilités, valider les recommandations de l'IA et consulter le journal d'audit. L'administrateur hérite à son tour des droits du responsable, et gère les utilisateurs. Enfin, à droite, on trouve un acteur technique : le pipeline CI/CD, qui publie automatiquement ses résultats et vérifie la quality gate. Toutes les actions humaines passent par l'authentification.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maintenant le diagramme de classes, qui représente les principales données manipulées. L'utilisateur est au centre : chacune de ses actions est tracée dans un événement d'audit, et c'est lui qui valide les recommandations de l'intelligence artificielle. Une recommandation IA explique un incident, qui peut être un log, une exécution de tests ou une vulnérabilité. Enfin, les exécutions de tests sont corrélées aux logs produits pendant la même période, ce qui permet de retrouver rapidement la cause d'un échec.</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maintenant à la quatrième partie : la réalisation.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mener ce projet, j'ai adopté la méthode agile Scrum. Le principe est de partir d'un backlog, c'est-à-dire la liste des besoins classés par priorité, puis de travailler en cycles courts appelés sprints. À la fin de chaque sprint, une fonctionnalité testée est livrée, présentée, puis améliorée grâce aux retours. Le projet a été découpé en six sprints : le socle et l'authentification, l'analyse des logs, les tests et la corrélation, la sécurité, l'intelligence artificielle, et enfin le tableau de bord, l'intégration continue et le déploiement.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technologies que j'ai utilisées, regroupées par rôle. Pour l'interface : Angular et TypeScript. Pour le cœur applicatif : Java 17 avec Spring Boot et Spring Security. Pour l'intelligence artificielle : Python avec FastAPI, la bibliothèque scikit-learn pour l'apprentissage automatique, et un grand modèle de langage accessible via Groq. Les données sont stockées dans PostgreSQL. Côté qualité et sécurité, la plateforme s'appuie sur SonarQube, OWASP Dependency-Check, Trivy, JUnit et JaCoCo. Enfin, le déploiement repose sur Docker, avec des pipelines GitHub Actions, GitLab CI et Jenkins, et Grafana Loki pour centraliser les logs.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logique est organisée en trois couches. En haut, la couche présentation : l'application web Angular, avec ses différents écrans. Au milieu, la couche métier, dans le backend Spring Boot. Toutes les requêtes passent d'abord par une couche de sécurité, puis sont traitées par cinq modules : logs, tests, sécurité, IA et pilotage. En bas, la couche données et services : la base de données, le service d'intelligence artificielle et les outils externes. Les couches communiquent par une API REST, avec des notifications en temps réel vers l'interface.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le plan physique, toute la plateforme est déployée dans des conteneurs Docker sur un même serveur. On y trouve le frontend, le backend, la base de données PostgreSQL et le service IA, ainsi que deux services optionnels, en pointillés : SonarQube et Grafana Loki. L'utilisateur accède à l'application depuis son navigateur, en HTTPS. Les serveurs d'intégration continue envoient leurs résultats avec une clé d'API dédiée. Enfin, seul le service IA communique avec l'extérieur, pour interroger le modèle de langage hébergé dans le cloud Groq.</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Venons-en au cœur du projet : l'intelligence artificielle. Elle repose sur quatre briques. La première regroupe les erreurs : grâce aux algorithmes TF-IDF et DBSCAN, des milliers de lignes de logs sont réduites à quelques familles d'erreurs. La deuxième détecte les pics : un score statistique robuste et un modèle Isolation Forest repèrent automatiquement les moments anormaux. La troisième utilise un grand modèle de langage pour expliquer la cause d'un incident en langage clair et proposer une correction. La quatrième est un copilote conversationnel qui répond aux questions de l'équipe sur l'état réel du projet. Deux garde-fous complètent le dispositif : un moteur local de secours, et surtout une validation humaine obligatoire. Aucune correction n'est jamais appliquée automatiquement.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rendre cela concret, prenons un exemple : la saturation du pool de connexions à la base de données. En quelques minutes, des centaines de lignes d'erreur apparaissent. L'assistant les regroupe en une seule famille d'erreurs. Il détecte un pic anormal et envoie une alerte en temps réel. L'IA explique ensuite la cause probable et propose un correctif. Enfin, le responsable qualité valide la recommandation, et cette action est tracée. Résultat : un diagnostic obtenu en quelques minutes, au lieu d'une longue recherche manuelle.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J'arrive maintenant à la dernière partie : la démonstration, puis la conclusion.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vais maintenant vous faire une démonstration en direct de la plateforme, à partir d'un jeu de données réaliste. Je commencerai par me connecter, pour montrer que l'interface s'adapte au rôle de l'utilisateur. Je vous présenterai ensuite le tableau de bord, avec le score de santé et la quality gate. Puis nous verrons les anomalies de logs regroupées et les pics détectés, les tests en échec reliés aux logs, et les vulnérabilités classées par priorité. Enfin, je vous montrerai l'assistant IA : l'explication d'un incident, sa validation, et le copilote conversationnel.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ce projet a permis de réaliser une plateforme unique qui réunit les logs, les tests, la sécurité et l'intelligence artificielle. Elle accélère le diagnostic grâce au regroupement et à la détection automatique des anomalies. Elle propose une IA explicable, toujours encadrée par une validation humaine. Et elle s'intègre directement dans les pipelines d'intégration continue, avec une quality gate à chaque livraison. En une phrase : l'assistant transforme des signaux dispersés en décisions claires. Sur le plan personnel, ce stage m'a permis de progresser à la fois en développement, en sécurité et en intelligence artificielle.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ouvre plusieurs perspectives, que je vois comme une évolution progressive. D'abord, le passage à l'échelle, avec un déploiement sur Kubernetes. Ensuite, enrichir l'IA avec la documentation interne de Vermeg, grâce à une approche RAG, pour des réponses encore plus précises. Puis aller vers la correction assistée, en proposant directement les correctifs sous forme de merge request. Et enfin, la prévention : prédire les incidents avant qu'ils ne surviennent.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vous remercie pour votre attention. Je suis maintenant à votre disposition pour répondre à vos questions.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comments" Target="../comments/commen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slide" Target="slide23.xml"/><Relationship Id="rId3" Type="http://schemas.openxmlformats.org/officeDocument/2006/relationships/image" Target="../media/image4.png"/><Relationship Id="rId7" Type="http://schemas.openxmlformats.org/officeDocument/2006/relationships/slide" Target="slide16.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3.xml"/><Relationship Id="rId5" Type="http://schemas.openxmlformats.org/officeDocument/2006/relationships/slide" Target="slide9.xml"/><Relationship Id="rId4" Type="http://schemas.openxmlformats.org/officeDocument/2006/relationships/slide" Target="slide4.xml"/><Relationship Id="rId9" Type="http://schemas.openxmlformats.org/officeDocument/2006/relationships/comments" Target="../comments/comment2.xml"/></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11" Type="http://schemas.openxmlformats.org/officeDocument/2006/relationships/comments" Target="../comments/comment3.xml"/><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comments" Target="../comments/comment4.xml"/></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5.pn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6.png"/><Relationship Id="rId11" Type="http://schemas.openxmlformats.org/officeDocument/2006/relationships/comments" Target="../comments/comment5.xml"/><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png"/><Relationship Id="rId9" Type="http://schemas.openxmlformats.org/officeDocument/2006/relationships/image" Target="../media/image19.png"/></Relationships>
</file>

<file path=ppt/slides/_rels/slide6.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comments" Target="../comments/comment6.xml"/><Relationship Id="rId3" Type="http://schemas.openxmlformats.org/officeDocument/2006/relationships/image" Target="../media/image5.png"/><Relationship Id="rId7" Type="http://schemas.openxmlformats.org/officeDocument/2006/relationships/image" Target="../media/image24.png"/><Relationship Id="rId12" Type="http://schemas.openxmlformats.org/officeDocument/2006/relationships/image" Target="../media/image2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image" Target="../media/image28.png"/><Relationship Id="rId5" Type="http://schemas.openxmlformats.org/officeDocument/2006/relationships/image" Target="../media/image22.png"/><Relationship Id="rId10" Type="http://schemas.openxmlformats.org/officeDocument/2006/relationships/image" Target="../media/image27.png"/><Relationship Id="rId4" Type="http://schemas.openxmlformats.org/officeDocument/2006/relationships/image" Target="../media/image21.png"/><Relationship Id="rId9" Type="http://schemas.openxmlformats.org/officeDocument/2006/relationships/image" Target="../media/image26.png"/></Relationships>
</file>

<file path=ppt/slides/_rels/slide7.xml.rels><?xml version="1.0" encoding="UTF-8" standalone="yes"?>
<Relationships xmlns="http://schemas.openxmlformats.org/package/2006/relationships"><Relationship Id="rId8" Type="http://schemas.openxmlformats.org/officeDocument/2006/relationships/image" Target="../media/image34.png"/><Relationship Id="rId13" Type="http://schemas.openxmlformats.org/officeDocument/2006/relationships/image" Target="../media/image39.png"/><Relationship Id="rId3" Type="http://schemas.openxmlformats.org/officeDocument/2006/relationships/image" Target="../media/image5.png"/><Relationship Id="rId7" Type="http://schemas.openxmlformats.org/officeDocument/2006/relationships/image" Target="../media/image33.png"/><Relationship Id="rId12"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 Id="rId14" Type="http://schemas.openxmlformats.org/officeDocument/2006/relationships/comments" Target="../comments/comment7.xml"/></Relationships>
</file>

<file path=ppt/slides/_rels/slide8.xml.rels><?xml version="1.0" encoding="UTF-8" standalone="yes"?>
<Relationships xmlns="http://schemas.openxmlformats.org/package/2006/relationships"><Relationship Id="rId8" Type="http://schemas.openxmlformats.org/officeDocument/2006/relationships/comments" Target="../comments/comment8.xml"/><Relationship Id="rId3" Type="http://schemas.openxmlformats.org/officeDocument/2006/relationships/image" Target="../media/image5.png"/><Relationship Id="rId7" Type="http://schemas.openxmlformats.org/officeDocument/2006/relationships/image" Target="../media/image4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comments" Target="../comments/comment9.xml"/></Relationships>
</file>

<file path=ppt/slides/_rels/slide10.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5.png"/><Relationship Id="rId7" Type="http://schemas.openxmlformats.org/officeDocument/2006/relationships/image" Target="../media/image7.png"/><Relationship Id="rId12" Type="http://schemas.openxmlformats.org/officeDocument/2006/relationships/image" Target="../media/image5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7.png"/><Relationship Id="rId11" Type="http://schemas.openxmlformats.org/officeDocument/2006/relationships/image" Target="../media/image50.png"/><Relationship Id="rId5" Type="http://schemas.openxmlformats.org/officeDocument/2006/relationships/image" Target="../media/image46.png"/><Relationship Id="rId15" Type="http://schemas.openxmlformats.org/officeDocument/2006/relationships/comments" Target="../comments/comment10.xml"/><Relationship Id="rId10" Type="http://schemas.openxmlformats.org/officeDocument/2006/relationships/image" Target="../media/image49.png"/><Relationship Id="rId4" Type="http://schemas.openxmlformats.org/officeDocument/2006/relationships/image" Target="../media/image45.png"/><Relationship Id="rId9" Type="http://schemas.openxmlformats.org/officeDocument/2006/relationships/image" Target="../media/image8.png"/><Relationship Id="rId14" Type="http://schemas.openxmlformats.org/officeDocument/2006/relationships/image" Target="../media/image53.svg"/></Relationships>
</file>

<file path=ppt/slides/_rels/slide11.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54.png"/><Relationship Id="rId10" Type="http://schemas.openxmlformats.org/officeDocument/2006/relationships/comments" Target="../comments/comment11.xml"/><Relationship Id="rId4" Type="http://schemas.openxmlformats.org/officeDocument/2006/relationships/image" Target="../media/image46.png"/><Relationship Id="rId9" Type="http://schemas.openxmlformats.org/officeDocument/2006/relationships/image" Target="../media/image55.png"/></Relationships>
</file>

<file path=ppt/slides/_rels/slide12.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png"/><Relationship Id="rId7" Type="http://schemas.openxmlformats.org/officeDocument/2006/relationships/image" Target="../media/image5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8.png"/><Relationship Id="rId11" Type="http://schemas.openxmlformats.org/officeDocument/2006/relationships/comments" Target="../comments/comment12.xml"/><Relationship Id="rId5" Type="http://schemas.openxmlformats.org/officeDocument/2006/relationships/image" Target="../media/image57.png"/><Relationship Id="rId10" Type="http://schemas.openxmlformats.org/officeDocument/2006/relationships/image" Target="../media/image62.png"/><Relationship Id="rId4" Type="http://schemas.openxmlformats.org/officeDocument/2006/relationships/image" Target="../media/image56.png"/><Relationship Id="rId9" Type="http://schemas.openxmlformats.org/officeDocument/2006/relationships/image" Target="../media/image61.png"/></Relationships>
</file>

<file path=ppt/slides/_rels/slide1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omments" Target="../comments/comment1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comments" Target="../comments/comment14.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comments" Target="../comments/comment15.xml"/></Relationships>
</file>

<file path=ppt/slides/_rels/slide1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comments" Target="../comments/comment16.xml"/></Relationships>
</file>

<file path=ppt/slides/_rels/slide17.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5.png"/><Relationship Id="rId7" Type="http://schemas.openxmlformats.org/officeDocument/2006/relationships/image" Target="../media/image68.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comments" Target="../comments/comment17.xml"/></Relationships>
</file>

<file path=ppt/slides/_rels/slide18.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5.png"/><Relationship Id="rId7" Type="http://schemas.openxmlformats.org/officeDocument/2006/relationships/image" Target="../media/image73.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72.png"/><Relationship Id="rId5" Type="http://schemas.openxmlformats.org/officeDocument/2006/relationships/image" Target="../media/image71.png"/><Relationship Id="rId10" Type="http://schemas.openxmlformats.org/officeDocument/2006/relationships/comments" Target="../comments/comment18.xml"/><Relationship Id="rId4" Type="http://schemas.openxmlformats.org/officeDocument/2006/relationships/image" Target="../media/image70.png"/><Relationship Id="rId9" Type="http://schemas.openxmlformats.org/officeDocument/2006/relationships/image" Target="../media/image75.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comments" Target="../comments/comment19.xml"/></Relationships>
</file>

<file path=ppt/slides/_rels/slide20.xml.rels><?xml version="1.0" encoding="UTF-8" standalone="yes"?>
<Relationships xmlns="http://schemas.openxmlformats.org/package/2006/relationships"><Relationship Id="rId8" Type="http://schemas.openxmlformats.org/officeDocument/2006/relationships/comments" Target="../comments/comment20.xml"/><Relationship Id="rId3" Type="http://schemas.openxmlformats.org/officeDocument/2006/relationships/image" Target="../media/image5.png"/><Relationship Id="rId7" Type="http://schemas.openxmlformats.org/officeDocument/2006/relationships/image" Target="../media/image78.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5.png"/><Relationship Id="rId7" Type="http://schemas.openxmlformats.org/officeDocument/2006/relationships/image" Target="../media/image69.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81.png"/><Relationship Id="rId5" Type="http://schemas.openxmlformats.org/officeDocument/2006/relationships/image" Target="../media/image80.png"/><Relationship Id="rId10" Type="http://schemas.openxmlformats.org/officeDocument/2006/relationships/comments" Target="../comments/comment21.xml"/><Relationship Id="rId4" Type="http://schemas.openxmlformats.org/officeDocument/2006/relationships/image" Target="../media/image79.png"/><Relationship Id="rId9" Type="http://schemas.openxmlformats.org/officeDocument/2006/relationships/image" Target="../media/image83.png"/></Relationships>
</file>

<file path=ppt/slides/_rels/slide22.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5.png"/><Relationship Id="rId7" Type="http://schemas.openxmlformats.org/officeDocument/2006/relationships/image" Target="../media/image8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79.png"/><Relationship Id="rId4" Type="http://schemas.openxmlformats.org/officeDocument/2006/relationships/image" Target="../media/image46.png"/><Relationship Id="rId9" Type="http://schemas.openxmlformats.org/officeDocument/2006/relationships/comments" Target="../comments/comment22.xml"/></Relationships>
</file>

<file path=ppt/slides/_rels/slide2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comments" Target="../comments/comment23.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comments" Target="../comments/comment24.xml"/><Relationship Id="rId4" Type="http://schemas.openxmlformats.org/officeDocument/2006/relationships/image" Target="../media/image86.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comments" Target="../comments/comment25.xml"/><Relationship Id="rId5" Type="http://schemas.openxmlformats.org/officeDocument/2006/relationships/image" Target="../media/image88.png"/><Relationship Id="rId4" Type="http://schemas.openxmlformats.org/officeDocument/2006/relationships/image" Target="../media/image87.png"/></Relationships>
</file>

<file path=ppt/slides/_rels/slide26.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5.png"/><Relationship Id="rId7" Type="http://schemas.openxmlformats.org/officeDocument/2006/relationships/image" Target="../media/image9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91.png"/><Relationship Id="rId11" Type="http://schemas.openxmlformats.org/officeDocument/2006/relationships/comments" Target="../comments/comment26.xml"/><Relationship Id="rId5" Type="http://schemas.openxmlformats.org/officeDocument/2006/relationships/image" Target="../media/image90.png"/><Relationship Id="rId10" Type="http://schemas.openxmlformats.org/officeDocument/2006/relationships/image" Target="../media/image95.png"/><Relationship Id="rId4" Type="http://schemas.openxmlformats.org/officeDocument/2006/relationships/image" Target="../media/image89.png"/><Relationship Id="rId9" Type="http://schemas.openxmlformats.org/officeDocument/2006/relationships/image" Target="../media/image94.png"/></Relationships>
</file>

<file path=ppt/slides/_rels/slide2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comments" Target="../comments/comment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A0_0" descr="preencoded.png"/>
          <p:cNvPicPr>
            <a:picLocks noChangeAspect="1"/>
          </p:cNvPicPr>
          <p:nvPr/>
        </p:nvPicPr>
        <p:blipFill>
          <a:blip r:embed="rId3"/>
          <a:stretch>
            <a:fillRect/>
          </a:stretch>
        </p:blipFill>
        <p:spPr>
          <a:xfrm>
            <a:off x="0" y="-428977"/>
            <a:ext cx="14287500" cy="8058150"/>
          </a:xfrm>
          <a:prstGeom prst="rect">
            <a:avLst/>
          </a:prstGeom>
        </p:spPr>
      </p:pic>
      <p:pic>
        <p:nvPicPr>
          <p:cNvPr id="4" name="A1_1" descr="preencoded.png"/>
          <p:cNvPicPr>
            <a:picLocks noChangeAspect="1"/>
          </p:cNvPicPr>
          <p:nvPr/>
        </p:nvPicPr>
        <p:blipFill>
          <a:blip r:embed="rId4"/>
          <a:stretch>
            <a:fillRect/>
          </a:stretch>
        </p:blipFill>
        <p:spPr>
          <a:xfrm>
            <a:off x="777240" y="502920"/>
            <a:ext cx="1828800" cy="424609"/>
          </a:xfrm>
          <a:prstGeom prst="rect">
            <a:avLst/>
          </a:prstGeom>
        </p:spPr>
      </p:pic>
      <p:sp>
        <p:nvSpPr>
          <p:cNvPr id="5" name="A1_2"/>
          <p:cNvSpPr txBox="1"/>
          <p:nvPr/>
        </p:nvSpPr>
        <p:spPr>
          <a:xfrm>
            <a:off x="777240" y="1188720"/>
            <a:ext cx="7863840" cy="1737360"/>
          </a:xfrm>
          <a:prstGeom prst="rect">
            <a:avLst/>
          </a:prstGeom>
          <a:noFill/>
          <a:ln/>
        </p:spPr>
        <p:txBody>
          <a:bodyPr wrap="square" lIns="0" tIns="0" rIns="0" bIns="0" rtlCol="0" anchor="ctr"/>
          <a:lstStyle/>
          <a:p>
            <a:pPr marL="0" indent="0">
              <a:spcAft>
                <a:spcPts val="800"/>
              </a:spcAft>
              <a:buNone/>
            </a:pPr>
            <a:r>
              <a:rPr lang="en-US" sz="3800" dirty="0">
                <a:solidFill>
                  <a:srgbClr val="FFFFFF"/>
                </a:solidFill>
                <a:latin typeface="Arial" pitchFamily="34" charset="0"/>
                <a:ea typeface="Arial" pitchFamily="34" charset="-122"/>
                <a:cs typeface="Arial" pitchFamily="34" charset="-120"/>
              </a:rPr>
              <a:t>Assistant DevSecOps intelligent</a:t>
            </a:r>
            <a:endParaRPr lang="en-US" sz="1400" dirty="0"/>
          </a:p>
          <a:p>
            <a:pPr marL="0" indent="0">
              <a:spcAft>
                <a:spcPts val="800"/>
              </a:spcAft>
              <a:buNone/>
            </a:pPr>
            <a:r>
              <a:rPr lang="en-US" sz="1900" dirty="0">
                <a:solidFill>
                  <a:srgbClr val="C9D6E3"/>
                </a:solidFill>
                <a:latin typeface="Arial" pitchFamily="34" charset="0"/>
                <a:ea typeface="Arial" pitchFamily="34" charset="-122"/>
                <a:cs typeface="Arial" pitchFamily="34" charset="-120"/>
              </a:rPr>
              <a:t>Centraliser et analyser logs, tests et vulnérabilités avec l'IA</a:t>
            </a:r>
            <a:endParaRPr lang="en-US" sz="1400" dirty="0"/>
          </a:p>
        </p:txBody>
      </p:sp>
      <p:sp>
        <p:nvSpPr>
          <p:cNvPr id="6" name="A2_3"/>
          <p:cNvSpPr txBox="1"/>
          <p:nvPr/>
        </p:nvSpPr>
        <p:spPr>
          <a:xfrm>
            <a:off x="777240" y="5074920"/>
            <a:ext cx="5852160" cy="2377440"/>
          </a:xfrm>
          <a:prstGeom prst="rect">
            <a:avLst/>
          </a:prstGeom>
          <a:noFill/>
          <a:ln/>
        </p:spPr>
        <p:txBody>
          <a:bodyPr wrap="square" lIns="0" tIns="0" rIns="0" bIns="0" rtlCol="0" anchor="t"/>
          <a:lstStyle/>
          <a:p>
            <a:pPr marL="0" indent="0">
              <a:spcAft>
                <a:spcPts val="600"/>
              </a:spcAft>
              <a:buNone/>
            </a:pPr>
            <a:r>
              <a:rPr lang="en-US" sz="1600" b="1" dirty="0">
                <a:solidFill>
                  <a:srgbClr val="FFFFFF"/>
                </a:solidFill>
                <a:latin typeface="Arial" pitchFamily="34" charset="0"/>
                <a:ea typeface="Arial" pitchFamily="34" charset="-122"/>
                <a:cs typeface="Arial" pitchFamily="34" charset="-120"/>
              </a:rPr>
              <a:t>Soutenance de Projet de Fin d'Études</a:t>
            </a:r>
            <a:endParaRPr lang="en-US" sz="1400" dirty="0"/>
          </a:p>
          <a:p>
            <a:pPr marL="0" indent="0">
              <a:spcAft>
                <a:spcPts val="600"/>
              </a:spcAft>
              <a:buNone/>
            </a:pPr>
            <a:r>
              <a:rPr lang="en-US" sz="1500" dirty="0">
                <a:solidFill>
                  <a:srgbClr val="FFFFFF"/>
                </a:solidFill>
                <a:latin typeface="Arial" pitchFamily="34" charset="0"/>
                <a:ea typeface="Arial" pitchFamily="34" charset="-122"/>
                <a:cs typeface="Arial" pitchFamily="34" charset="-120"/>
              </a:rPr>
              <a:t>Réalisé par : Emna Ounissi</a:t>
            </a:r>
            <a:endParaRPr lang="en-US" sz="1400" dirty="0"/>
          </a:p>
          <a:p>
            <a:pPr marL="0" indent="0">
              <a:spcAft>
                <a:spcPts val="600"/>
              </a:spcAft>
              <a:buNone/>
            </a:pPr>
            <a:r>
              <a:rPr lang="en-US" sz="1500" dirty="0">
                <a:solidFill>
                  <a:srgbClr val="C9D6E3"/>
                </a:solidFill>
                <a:latin typeface="Arial" pitchFamily="34" charset="0"/>
                <a:ea typeface="Arial" pitchFamily="34" charset="-122"/>
                <a:cs typeface="Arial" pitchFamily="34" charset="-120"/>
              </a:rPr>
              <a:t>Encadrant(e) Vermeg : ……………………</a:t>
            </a:r>
            <a:endParaRPr lang="en-US" sz="1400" dirty="0"/>
          </a:p>
          <a:p>
            <a:pPr marL="0" indent="0">
              <a:spcAft>
                <a:spcPts val="600"/>
              </a:spcAft>
              <a:buNone/>
            </a:pPr>
            <a:r>
              <a:rPr lang="en-US" sz="1500" dirty="0">
                <a:solidFill>
                  <a:srgbClr val="C9D6E3"/>
                </a:solidFill>
                <a:latin typeface="Arial" pitchFamily="34" charset="0"/>
                <a:ea typeface="Arial" pitchFamily="34" charset="-122"/>
                <a:cs typeface="Arial" pitchFamily="34" charset="-120"/>
              </a:rPr>
              <a:t>Encadrant(e) académique : ……………………</a:t>
            </a:r>
            <a:endParaRPr lang="en-US" sz="1400" dirty="0"/>
          </a:p>
          <a:p>
            <a:pPr marL="0" indent="0">
              <a:spcAft>
                <a:spcPts val="600"/>
              </a:spcAft>
              <a:buNone/>
            </a:pPr>
            <a:r>
              <a:rPr lang="en-US" sz="1500" dirty="0">
                <a:solidFill>
                  <a:srgbClr val="C9D6E3"/>
                </a:solidFill>
                <a:latin typeface="Arial" pitchFamily="34" charset="0"/>
                <a:ea typeface="Arial" pitchFamily="34" charset="-122"/>
                <a:cs typeface="Arial" pitchFamily="34" charset="-120"/>
              </a:rPr>
              <a:t>Année universitaire 2025 – 2026</a:t>
            </a:r>
            <a:endParaRPr lang="en-US" sz="1400" dirty="0"/>
          </a:p>
        </p:txBody>
      </p:sp>
      <p:pic>
        <p:nvPicPr>
          <p:cNvPr id="2050" name="Picture 2">
            <a:extLst>
              <a:ext uri="{FF2B5EF4-FFF2-40B4-BE49-F238E27FC236}">
                <a16:creationId xmlns:a16="http://schemas.microsoft.com/office/drawing/2014/main" id="{3923F36B-5E1F-4099-8306-2FCE756FA45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482583" y="-130386"/>
            <a:ext cx="2505798" cy="105791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A0_4" descr="preencoded.png"/>
          <p:cNvPicPr>
            <a:picLocks noChangeAspect="1"/>
          </p:cNvPicPr>
          <p:nvPr/>
        </p:nvPicPr>
        <p:blipFill>
          <a:blip r:embed="rId3"/>
          <a:stretch>
            <a:fillRect/>
          </a:stretch>
        </p:blipFill>
        <p:spPr>
          <a:xfrm>
            <a:off x="0" y="-225778"/>
            <a:ext cx="14287500" cy="8058150"/>
          </a:xfrm>
          <a:prstGeom prst="rect">
            <a:avLst/>
          </a:prstGeom>
        </p:spPr>
      </p:pic>
      <p:sp>
        <p:nvSpPr>
          <p:cNvPr id="4" name="A1_5">
            <a:hlinkClick r:id="rId4" action="ppaction://hlinksldjump" tooltip="Aller à la partie 1"/>
          </p:cNvPr>
          <p:cNvSpPr/>
          <p:nvPr/>
        </p:nvSpPr>
        <p:spPr>
          <a:xfrm>
            <a:off x="7132320" y="914400"/>
            <a:ext cx="6675120" cy="868680"/>
          </a:xfrm>
          <a:prstGeom prst="rect">
            <a:avLst/>
          </a:prstGeom>
          <a:solidFill>
            <a:srgbClr val="000000">
              <a:alpha val="0"/>
            </a:srgbClr>
          </a:solidFill>
          <a:ln w="12700">
            <a:solidFill>
              <a:srgbClr val="000000">
                <a:alpha val="0"/>
              </a:srgbClr>
            </a:solidFill>
            <a:prstDash val="solid"/>
          </a:ln>
        </p:spPr>
        <p:txBody>
          <a:bodyPr/>
          <a:lstStyle/>
          <a:p>
            <a:endParaRPr lang="fr-FR"/>
          </a:p>
        </p:txBody>
      </p:sp>
      <p:sp>
        <p:nvSpPr>
          <p:cNvPr id="5" name="A1_6"/>
          <p:cNvSpPr txBox="1"/>
          <p:nvPr/>
        </p:nvSpPr>
        <p:spPr>
          <a:xfrm>
            <a:off x="7223760" y="960120"/>
            <a:ext cx="914400" cy="68580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01</a:t>
            </a:r>
            <a:endParaRPr lang="en-US" sz="3200" dirty="0"/>
          </a:p>
        </p:txBody>
      </p:sp>
      <p:sp>
        <p:nvSpPr>
          <p:cNvPr id="6" name="A1_7"/>
          <p:cNvSpPr txBox="1"/>
          <p:nvPr/>
        </p:nvSpPr>
        <p:spPr>
          <a:xfrm>
            <a:off x="8229600" y="978408"/>
            <a:ext cx="5486400" cy="411480"/>
          </a:xfrm>
          <a:prstGeom prst="rect">
            <a:avLst/>
          </a:prstGeom>
          <a:noFill/>
          <a:ln/>
        </p:spPr>
        <p:txBody>
          <a:bodyPr wrap="square" lIns="0" tIns="0" rIns="0" bIns="0" rtlCol="0" anchor="ctr"/>
          <a:lstStyle/>
          <a:p>
            <a:pPr marL="0" indent="0">
              <a:buNone/>
            </a:pPr>
            <a:r>
              <a:rPr lang="en-US" sz="2100" b="1" dirty="0">
                <a:solidFill>
                  <a:srgbClr val="FFFFFF"/>
                </a:solidFill>
                <a:latin typeface="Arial" pitchFamily="34" charset="0"/>
                <a:ea typeface="Arial" pitchFamily="34" charset="-122"/>
                <a:cs typeface="Arial" pitchFamily="34" charset="-120"/>
              </a:rPr>
              <a:t>Contexte du projet</a:t>
            </a:r>
            <a:endParaRPr lang="en-US" sz="2100" dirty="0"/>
          </a:p>
        </p:txBody>
      </p:sp>
      <p:sp>
        <p:nvSpPr>
          <p:cNvPr id="7" name="A1_8"/>
          <p:cNvSpPr txBox="1"/>
          <p:nvPr/>
        </p:nvSpPr>
        <p:spPr>
          <a:xfrm>
            <a:off x="8229600" y="1389888"/>
            <a:ext cx="5486400" cy="320040"/>
          </a:xfrm>
          <a:prstGeom prst="rect">
            <a:avLst/>
          </a:prstGeom>
          <a:noFill/>
          <a:ln/>
        </p:spPr>
        <p:txBody>
          <a:bodyPr wrap="square" lIns="0" tIns="0" rIns="0" bIns="0" rtlCol="0" anchor="ctr"/>
          <a:lstStyle/>
          <a:p>
            <a:pPr marL="0" indent="0">
              <a:buNone/>
            </a:pPr>
            <a:r>
              <a:rPr lang="en-US" sz="1300" dirty="0">
                <a:solidFill>
                  <a:srgbClr val="AFC3D8"/>
                </a:solidFill>
                <a:latin typeface="Arial" pitchFamily="34" charset="0"/>
                <a:ea typeface="Arial" pitchFamily="34" charset="-122"/>
                <a:cs typeface="Arial" pitchFamily="34" charset="-120"/>
              </a:rPr>
              <a:t>Organisme d'accueil · Existant · Problématique</a:t>
            </a:r>
            <a:endParaRPr lang="en-US" sz="1300" dirty="0"/>
          </a:p>
        </p:txBody>
      </p:sp>
      <p:sp>
        <p:nvSpPr>
          <p:cNvPr id="8" name="A2_9">
            <a:hlinkClick r:id="rId5" action="ppaction://hlinksldjump" tooltip="Aller à la partie 2"/>
          </p:cNvPr>
          <p:cNvSpPr/>
          <p:nvPr/>
        </p:nvSpPr>
        <p:spPr>
          <a:xfrm>
            <a:off x="7132320" y="2240280"/>
            <a:ext cx="6675120" cy="868680"/>
          </a:xfrm>
          <a:prstGeom prst="rect">
            <a:avLst/>
          </a:prstGeom>
          <a:solidFill>
            <a:srgbClr val="000000">
              <a:alpha val="0"/>
            </a:srgbClr>
          </a:solidFill>
          <a:ln w="12700">
            <a:solidFill>
              <a:srgbClr val="000000">
                <a:alpha val="0"/>
              </a:srgbClr>
            </a:solidFill>
            <a:prstDash val="solid"/>
          </a:ln>
        </p:spPr>
        <p:txBody>
          <a:bodyPr/>
          <a:lstStyle/>
          <a:p>
            <a:endParaRPr lang="fr-FR"/>
          </a:p>
        </p:txBody>
      </p:sp>
      <p:sp>
        <p:nvSpPr>
          <p:cNvPr id="9" name="A2_10"/>
          <p:cNvSpPr txBox="1"/>
          <p:nvPr/>
        </p:nvSpPr>
        <p:spPr>
          <a:xfrm>
            <a:off x="7223760" y="2286000"/>
            <a:ext cx="914400" cy="68580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02</a:t>
            </a:r>
            <a:endParaRPr lang="en-US" sz="3200" dirty="0"/>
          </a:p>
        </p:txBody>
      </p:sp>
      <p:sp>
        <p:nvSpPr>
          <p:cNvPr id="10" name="A2_11"/>
          <p:cNvSpPr txBox="1"/>
          <p:nvPr/>
        </p:nvSpPr>
        <p:spPr>
          <a:xfrm>
            <a:off x="8229600" y="2304288"/>
            <a:ext cx="5486400" cy="411480"/>
          </a:xfrm>
          <a:prstGeom prst="rect">
            <a:avLst/>
          </a:prstGeom>
          <a:noFill/>
          <a:ln/>
        </p:spPr>
        <p:txBody>
          <a:bodyPr wrap="square" lIns="0" tIns="0" rIns="0" bIns="0" rtlCol="0" anchor="ctr"/>
          <a:lstStyle/>
          <a:p>
            <a:pPr marL="0" indent="0">
              <a:buNone/>
            </a:pPr>
            <a:r>
              <a:rPr lang="en-US" sz="2100" b="1" dirty="0">
                <a:solidFill>
                  <a:srgbClr val="FFFFFF"/>
                </a:solidFill>
                <a:latin typeface="Arial" pitchFamily="34" charset="0"/>
                <a:ea typeface="Arial" pitchFamily="34" charset="-122"/>
                <a:cs typeface="Arial" pitchFamily="34" charset="-120"/>
              </a:rPr>
              <a:t>Solution et besoins</a:t>
            </a:r>
            <a:endParaRPr lang="en-US" sz="2100" dirty="0"/>
          </a:p>
        </p:txBody>
      </p:sp>
      <p:sp>
        <p:nvSpPr>
          <p:cNvPr id="11" name="A2_12"/>
          <p:cNvSpPr txBox="1"/>
          <p:nvPr/>
        </p:nvSpPr>
        <p:spPr>
          <a:xfrm>
            <a:off x="8229600" y="2715768"/>
            <a:ext cx="5486400" cy="320040"/>
          </a:xfrm>
          <a:prstGeom prst="rect">
            <a:avLst/>
          </a:prstGeom>
          <a:noFill/>
          <a:ln/>
        </p:spPr>
        <p:txBody>
          <a:bodyPr wrap="square" lIns="0" tIns="0" rIns="0" bIns="0" rtlCol="0" anchor="ctr"/>
          <a:lstStyle/>
          <a:p>
            <a:pPr marL="0" indent="0">
              <a:buNone/>
            </a:pPr>
            <a:r>
              <a:rPr lang="en-US" sz="1300" dirty="0">
                <a:solidFill>
                  <a:srgbClr val="AFC3D8"/>
                </a:solidFill>
                <a:latin typeface="Arial" pitchFamily="34" charset="0"/>
                <a:ea typeface="Arial" pitchFamily="34" charset="-122"/>
                <a:cs typeface="Arial" pitchFamily="34" charset="-120"/>
              </a:rPr>
              <a:t>Solution proposée · Besoins fonctionnels et non fonctionnels</a:t>
            </a:r>
            <a:endParaRPr lang="en-US" sz="1300" dirty="0"/>
          </a:p>
        </p:txBody>
      </p:sp>
      <p:sp>
        <p:nvSpPr>
          <p:cNvPr id="12" name="A3_13">
            <a:hlinkClick r:id="rId6" action="ppaction://hlinksldjump" tooltip="Aller à la partie 3"/>
          </p:cNvPr>
          <p:cNvSpPr/>
          <p:nvPr/>
        </p:nvSpPr>
        <p:spPr>
          <a:xfrm>
            <a:off x="7132320" y="3566160"/>
            <a:ext cx="6675120" cy="868680"/>
          </a:xfrm>
          <a:prstGeom prst="rect">
            <a:avLst/>
          </a:prstGeom>
          <a:solidFill>
            <a:srgbClr val="000000">
              <a:alpha val="0"/>
            </a:srgbClr>
          </a:solidFill>
          <a:ln w="12700">
            <a:solidFill>
              <a:srgbClr val="000000">
                <a:alpha val="0"/>
              </a:srgbClr>
            </a:solidFill>
            <a:prstDash val="solid"/>
          </a:ln>
        </p:spPr>
        <p:txBody>
          <a:bodyPr/>
          <a:lstStyle/>
          <a:p>
            <a:endParaRPr lang="fr-FR"/>
          </a:p>
        </p:txBody>
      </p:sp>
      <p:sp>
        <p:nvSpPr>
          <p:cNvPr id="13" name="A3_14"/>
          <p:cNvSpPr txBox="1"/>
          <p:nvPr/>
        </p:nvSpPr>
        <p:spPr>
          <a:xfrm>
            <a:off x="7223760" y="3611880"/>
            <a:ext cx="914400" cy="68580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03</a:t>
            </a:r>
            <a:endParaRPr lang="en-US" sz="3200" dirty="0"/>
          </a:p>
        </p:txBody>
      </p:sp>
      <p:sp>
        <p:nvSpPr>
          <p:cNvPr id="14" name="A3_15"/>
          <p:cNvSpPr txBox="1"/>
          <p:nvPr/>
        </p:nvSpPr>
        <p:spPr>
          <a:xfrm>
            <a:off x="8229600" y="3630168"/>
            <a:ext cx="5486400" cy="411480"/>
          </a:xfrm>
          <a:prstGeom prst="rect">
            <a:avLst/>
          </a:prstGeom>
          <a:noFill/>
          <a:ln/>
        </p:spPr>
        <p:txBody>
          <a:bodyPr wrap="square" lIns="0" tIns="0" rIns="0" bIns="0" rtlCol="0" anchor="ctr"/>
          <a:lstStyle/>
          <a:p>
            <a:pPr marL="0" indent="0">
              <a:buNone/>
            </a:pPr>
            <a:r>
              <a:rPr lang="en-US" sz="2100" b="1" dirty="0">
                <a:solidFill>
                  <a:srgbClr val="FFFFFF"/>
                </a:solidFill>
                <a:latin typeface="Arial" pitchFamily="34" charset="0"/>
                <a:ea typeface="Arial" pitchFamily="34" charset="-122"/>
                <a:cs typeface="Arial" pitchFamily="34" charset="-120"/>
              </a:rPr>
              <a:t>Conception</a:t>
            </a:r>
            <a:endParaRPr lang="en-US" sz="2100" dirty="0"/>
          </a:p>
        </p:txBody>
      </p:sp>
      <p:sp>
        <p:nvSpPr>
          <p:cNvPr id="15" name="A3_16"/>
          <p:cNvSpPr txBox="1"/>
          <p:nvPr/>
        </p:nvSpPr>
        <p:spPr>
          <a:xfrm>
            <a:off x="8229600" y="4041648"/>
            <a:ext cx="5486400" cy="320040"/>
          </a:xfrm>
          <a:prstGeom prst="rect">
            <a:avLst/>
          </a:prstGeom>
          <a:noFill/>
          <a:ln/>
        </p:spPr>
        <p:txBody>
          <a:bodyPr wrap="square" lIns="0" tIns="0" rIns="0" bIns="0" rtlCol="0" anchor="ctr"/>
          <a:lstStyle/>
          <a:p>
            <a:pPr marL="0" indent="0">
              <a:buNone/>
            </a:pPr>
            <a:r>
              <a:rPr lang="en-US" sz="1300" dirty="0">
                <a:solidFill>
                  <a:srgbClr val="AFC3D8"/>
                </a:solidFill>
                <a:latin typeface="Arial" pitchFamily="34" charset="0"/>
                <a:ea typeface="Arial" pitchFamily="34" charset="-122"/>
                <a:cs typeface="Arial" pitchFamily="34" charset="-120"/>
              </a:rPr>
              <a:t>Cas d'utilisation · Diagramme de classe</a:t>
            </a:r>
            <a:endParaRPr lang="en-US" sz="1300" dirty="0"/>
          </a:p>
        </p:txBody>
      </p:sp>
      <p:sp>
        <p:nvSpPr>
          <p:cNvPr id="16" name="A4_17">
            <a:hlinkClick r:id="rId7" action="ppaction://hlinksldjump" tooltip="Aller à la partie 4"/>
          </p:cNvPr>
          <p:cNvSpPr/>
          <p:nvPr/>
        </p:nvSpPr>
        <p:spPr>
          <a:xfrm>
            <a:off x="7132320" y="4892040"/>
            <a:ext cx="6675120" cy="868680"/>
          </a:xfrm>
          <a:prstGeom prst="rect">
            <a:avLst/>
          </a:prstGeom>
          <a:solidFill>
            <a:srgbClr val="000000">
              <a:alpha val="0"/>
            </a:srgbClr>
          </a:solidFill>
          <a:ln w="12700">
            <a:solidFill>
              <a:srgbClr val="000000">
                <a:alpha val="0"/>
              </a:srgbClr>
            </a:solidFill>
            <a:prstDash val="solid"/>
          </a:ln>
        </p:spPr>
        <p:txBody>
          <a:bodyPr/>
          <a:lstStyle/>
          <a:p>
            <a:endParaRPr lang="fr-FR"/>
          </a:p>
        </p:txBody>
      </p:sp>
      <p:sp>
        <p:nvSpPr>
          <p:cNvPr id="17" name="A4_18"/>
          <p:cNvSpPr txBox="1"/>
          <p:nvPr/>
        </p:nvSpPr>
        <p:spPr>
          <a:xfrm>
            <a:off x="7223760" y="4937760"/>
            <a:ext cx="914400" cy="68580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04</a:t>
            </a:r>
            <a:endParaRPr lang="en-US" sz="3200" dirty="0"/>
          </a:p>
        </p:txBody>
      </p:sp>
      <p:sp>
        <p:nvSpPr>
          <p:cNvPr id="18" name="A4_19"/>
          <p:cNvSpPr txBox="1"/>
          <p:nvPr/>
        </p:nvSpPr>
        <p:spPr>
          <a:xfrm>
            <a:off x="8229600" y="4956048"/>
            <a:ext cx="5486400" cy="411480"/>
          </a:xfrm>
          <a:prstGeom prst="rect">
            <a:avLst/>
          </a:prstGeom>
          <a:noFill/>
          <a:ln/>
        </p:spPr>
        <p:txBody>
          <a:bodyPr wrap="square" lIns="0" tIns="0" rIns="0" bIns="0" rtlCol="0" anchor="ctr"/>
          <a:lstStyle/>
          <a:p>
            <a:pPr marL="0" indent="0">
              <a:buNone/>
            </a:pPr>
            <a:r>
              <a:rPr lang="en-US" sz="2100" b="1" dirty="0">
                <a:solidFill>
                  <a:srgbClr val="FFFFFF"/>
                </a:solidFill>
                <a:latin typeface="Arial" pitchFamily="34" charset="0"/>
                <a:ea typeface="Arial" pitchFamily="34" charset="-122"/>
                <a:cs typeface="Arial" pitchFamily="34" charset="-120"/>
              </a:rPr>
              <a:t>Réalisation</a:t>
            </a:r>
            <a:endParaRPr lang="en-US" sz="2100" dirty="0"/>
          </a:p>
        </p:txBody>
      </p:sp>
      <p:sp>
        <p:nvSpPr>
          <p:cNvPr id="19" name="A4_20"/>
          <p:cNvSpPr txBox="1"/>
          <p:nvPr/>
        </p:nvSpPr>
        <p:spPr>
          <a:xfrm>
            <a:off x="8229600" y="5367528"/>
            <a:ext cx="5486400" cy="320040"/>
          </a:xfrm>
          <a:prstGeom prst="rect">
            <a:avLst/>
          </a:prstGeom>
          <a:noFill/>
          <a:ln/>
        </p:spPr>
        <p:txBody>
          <a:bodyPr wrap="square" lIns="0" tIns="0" rIns="0" bIns="0" rtlCol="0" anchor="ctr"/>
          <a:lstStyle/>
          <a:p>
            <a:pPr marL="0" indent="0">
              <a:buNone/>
            </a:pPr>
            <a:r>
              <a:rPr lang="en-US" sz="1300" dirty="0">
                <a:solidFill>
                  <a:srgbClr val="AFC3D8"/>
                </a:solidFill>
                <a:latin typeface="Arial" pitchFamily="34" charset="0"/>
                <a:ea typeface="Arial" pitchFamily="34" charset="-122"/>
                <a:cs typeface="Arial" pitchFamily="34" charset="-120"/>
              </a:rPr>
              <a:t>Méthodologie · Technologies · Architectures · Modèles IA</a:t>
            </a:r>
            <a:endParaRPr lang="en-US" sz="1300" dirty="0"/>
          </a:p>
        </p:txBody>
      </p:sp>
      <p:sp>
        <p:nvSpPr>
          <p:cNvPr id="20" name="A5_21">
            <a:hlinkClick r:id="rId8" action="ppaction://hlinksldjump" tooltip="Aller à la partie 5"/>
          </p:cNvPr>
          <p:cNvSpPr/>
          <p:nvPr/>
        </p:nvSpPr>
        <p:spPr>
          <a:xfrm>
            <a:off x="7132320" y="6217920"/>
            <a:ext cx="6675120" cy="868680"/>
          </a:xfrm>
          <a:prstGeom prst="rect">
            <a:avLst/>
          </a:prstGeom>
          <a:solidFill>
            <a:srgbClr val="000000">
              <a:alpha val="0"/>
            </a:srgbClr>
          </a:solidFill>
          <a:ln w="12700">
            <a:solidFill>
              <a:srgbClr val="000000">
                <a:alpha val="0"/>
              </a:srgbClr>
            </a:solidFill>
            <a:prstDash val="solid"/>
          </a:ln>
        </p:spPr>
        <p:txBody>
          <a:bodyPr/>
          <a:lstStyle/>
          <a:p>
            <a:endParaRPr lang="fr-FR"/>
          </a:p>
        </p:txBody>
      </p:sp>
      <p:sp>
        <p:nvSpPr>
          <p:cNvPr id="21" name="A5_22"/>
          <p:cNvSpPr txBox="1"/>
          <p:nvPr/>
        </p:nvSpPr>
        <p:spPr>
          <a:xfrm>
            <a:off x="7223760" y="6263640"/>
            <a:ext cx="914400" cy="68580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05</a:t>
            </a:r>
            <a:endParaRPr lang="en-US" sz="3200" dirty="0"/>
          </a:p>
        </p:txBody>
      </p:sp>
      <p:sp>
        <p:nvSpPr>
          <p:cNvPr id="22" name="A5_23"/>
          <p:cNvSpPr txBox="1"/>
          <p:nvPr/>
        </p:nvSpPr>
        <p:spPr>
          <a:xfrm>
            <a:off x="8229600" y="6281928"/>
            <a:ext cx="5486400" cy="411480"/>
          </a:xfrm>
          <a:prstGeom prst="rect">
            <a:avLst/>
          </a:prstGeom>
          <a:noFill/>
          <a:ln/>
        </p:spPr>
        <p:txBody>
          <a:bodyPr wrap="square" lIns="0" tIns="0" rIns="0" bIns="0" rtlCol="0" anchor="ctr"/>
          <a:lstStyle/>
          <a:p>
            <a:pPr marL="0" indent="0">
              <a:buNone/>
            </a:pPr>
            <a:r>
              <a:rPr lang="en-US" sz="2100" b="1" dirty="0">
                <a:solidFill>
                  <a:srgbClr val="FFFFFF"/>
                </a:solidFill>
                <a:latin typeface="Arial" pitchFamily="34" charset="0"/>
                <a:ea typeface="Arial" pitchFamily="34" charset="-122"/>
                <a:cs typeface="Arial" pitchFamily="34" charset="-120"/>
              </a:rPr>
              <a:t>Démonstration et conclusion</a:t>
            </a:r>
            <a:endParaRPr lang="en-US" sz="2100" dirty="0"/>
          </a:p>
        </p:txBody>
      </p:sp>
      <p:sp>
        <p:nvSpPr>
          <p:cNvPr id="23" name="A5_24"/>
          <p:cNvSpPr txBox="1"/>
          <p:nvPr/>
        </p:nvSpPr>
        <p:spPr>
          <a:xfrm>
            <a:off x="8229600" y="6693408"/>
            <a:ext cx="5486400" cy="320040"/>
          </a:xfrm>
          <a:prstGeom prst="rect">
            <a:avLst/>
          </a:prstGeom>
          <a:noFill/>
          <a:ln/>
        </p:spPr>
        <p:txBody>
          <a:bodyPr wrap="square" lIns="0" tIns="0" rIns="0" bIns="0" rtlCol="0" anchor="ctr"/>
          <a:lstStyle/>
          <a:p>
            <a:pPr marL="0" indent="0">
              <a:buNone/>
            </a:pPr>
            <a:r>
              <a:rPr lang="en-US" sz="1300" dirty="0">
                <a:solidFill>
                  <a:srgbClr val="AFC3D8"/>
                </a:solidFill>
                <a:latin typeface="Arial" pitchFamily="34" charset="0"/>
                <a:ea typeface="Arial" pitchFamily="34" charset="-122"/>
                <a:cs typeface="Arial" pitchFamily="34" charset="-120"/>
              </a:rPr>
              <a:t>Démo live · Conclusion et perspectives</a:t>
            </a:r>
            <a:endParaRPr lang="en-US" sz="1300" dirty="0"/>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50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A0_25"/>
          <p:cNvSpPr/>
          <p:nvPr/>
        </p:nvSpPr>
        <p:spPr>
          <a:xfrm>
            <a:off x="6800850" y="274320"/>
            <a:ext cx="109728" cy="109728"/>
          </a:xfrm>
          <a:prstGeom prst="rect">
            <a:avLst/>
          </a:prstGeom>
          <a:solidFill>
            <a:srgbClr val="0A6EBD"/>
          </a:solidFill>
          <a:ln w="12700">
            <a:solidFill>
              <a:srgbClr val="0A6EBD"/>
            </a:solidFill>
            <a:prstDash val="solid"/>
          </a:ln>
        </p:spPr>
      </p:sp>
      <p:sp>
        <p:nvSpPr>
          <p:cNvPr id="4" name="A0_26"/>
          <p:cNvSpPr/>
          <p:nvPr/>
        </p:nvSpPr>
        <p:spPr>
          <a:xfrm>
            <a:off x="6992874" y="274320"/>
            <a:ext cx="109728" cy="109728"/>
          </a:xfrm>
          <a:prstGeom prst="rect">
            <a:avLst/>
          </a:prstGeom>
          <a:solidFill>
            <a:srgbClr val="0A6EBD"/>
          </a:solidFill>
          <a:ln w="12700">
            <a:solidFill>
              <a:srgbClr val="0A6EBD"/>
            </a:solidFill>
            <a:prstDash val="solid"/>
          </a:ln>
        </p:spPr>
      </p:sp>
      <p:sp>
        <p:nvSpPr>
          <p:cNvPr id="5" name="A0_27"/>
          <p:cNvSpPr/>
          <p:nvPr/>
        </p:nvSpPr>
        <p:spPr>
          <a:xfrm>
            <a:off x="7184898" y="274320"/>
            <a:ext cx="109728" cy="109728"/>
          </a:xfrm>
          <a:prstGeom prst="rect">
            <a:avLst/>
          </a:prstGeom>
          <a:solidFill>
            <a:srgbClr val="0A6EBD"/>
          </a:solidFill>
          <a:ln w="12700">
            <a:solidFill>
              <a:srgbClr val="0A6EBD"/>
            </a:solidFill>
            <a:prstDash val="solid"/>
          </a:ln>
        </p:spPr>
      </p:sp>
      <p:sp>
        <p:nvSpPr>
          <p:cNvPr id="6" name="A0_28"/>
          <p:cNvSpPr/>
          <p:nvPr/>
        </p:nvSpPr>
        <p:spPr>
          <a:xfrm>
            <a:off x="7376922" y="274320"/>
            <a:ext cx="109728" cy="109728"/>
          </a:xfrm>
          <a:prstGeom prst="rect">
            <a:avLst/>
          </a:prstGeom>
          <a:solidFill>
            <a:srgbClr val="0A6EBD"/>
          </a:solidFill>
          <a:ln w="12700">
            <a:solidFill>
              <a:srgbClr val="0A6EBD"/>
            </a:solidFill>
            <a:prstDash val="solid"/>
          </a:ln>
        </p:spPr>
      </p:sp>
      <p:sp>
        <p:nvSpPr>
          <p:cNvPr id="7" name="A0_29"/>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Introduction</a:t>
            </a:r>
            <a:endParaRPr lang="en-US" sz="3600" dirty="0"/>
          </a:p>
        </p:txBody>
      </p:sp>
      <p:pic>
        <p:nvPicPr>
          <p:cNvPr id="8" name="A0_30"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44"/>
          <p:cNvSpPr/>
          <p:nvPr/>
        </p:nvSpPr>
        <p:spPr>
          <a:xfrm>
            <a:off x="13482828" y="7326489"/>
            <a:ext cx="502920" cy="619647"/>
          </a:xfrm>
          <a:prstGeom prst="rect">
            <a:avLst/>
          </a:prstGeom>
          <a:solidFill>
            <a:srgbClr val="0B3C66"/>
          </a:solidFill>
          <a:ln w="12700">
            <a:solidFill>
              <a:srgbClr val="0B3C66"/>
            </a:solidFill>
            <a:prstDash val="solid"/>
          </a:ln>
        </p:spPr>
      </p:sp>
      <p:sp>
        <p:nvSpPr>
          <p:cNvPr id="23" name="A0_45"/>
          <p:cNvSpPr txBox="1"/>
          <p:nvPr/>
        </p:nvSpPr>
        <p:spPr>
          <a:xfrm>
            <a:off x="13482828" y="7326490"/>
            <a:ext cx="502920" cy="619646"/>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4" name="A1_46"/>
          <p:cNvSpPr txBox="1"/>
          <p:nvPr/>
        </p:nvSpPr>
        <p:spPr>
          <a:xfrm>
            <a:off x="914400" y="1463040"/>
            <a:ext cx="12458700" cy="457200"/>
          </a:xfrm>
          <a:prstGeom prst="rect">
            <a:avLst/>
          </a:prstGeom>
          <a:noFill/>
          <a:ln/>
        </p:spPr>
        <p:txBody>
          <a:bodyPr wrap="square" lIns="0" tIns="0" rIns="0" bIns="0" rtlCol="0" anchor="t"/>
          <a:lstStyle/>
          <a:p>
            <a:pPr marL="0" indent="0" algn="ctr">
              <a:buNone/>
            </a:pPr>
            <a:r>
              <a:rPr lang="en-US" sz="1800" i="1" dirty="0">
                <a:solidFill>
                  <a:srgbClr val="595959"/>
                </a:solidFill>
                <a:latin typeface="Arial" pitchFamily="34" charset="0"/>
                <a:ea typeface="Arial" pitchFamily="34" charset="-122"/>
                <a:cs typeface="Arial" pitchFamily="34" charset="-120"/>
              </a:rPr>
              <a:t>Le cycle de vie d'une application produit en continu des signaux précieux…</a:t>
            </a:r>
            <a:endParaRPr lang="en-US" sz="1800" dirty="0"/>
          </a:p>
        </p:txBody>
      </p:sp>
      <p:sp>
        <p:nvSpPr>
          <p:cNvPr id="25" name="A2_47"/>
          <p:cNvSpPr/>
          <p:nvPr/>
        </p:nvSpPr>
        <p:spPr>
          <a:xfrm>
            <a:off x="1531620" y="2834640"/>
            <a:ext cx="11224260" cy="0"/>
          </a:xfrm>
          <a:prstGeom prst="line">
            <a:avLst/>
          </a:prstGeom>
          <a:noFill/>
          <a:ln w="25400">
            <a:solidFill>
              <a:srgbClr val="A9C4DE"/>
            </a:solidFill>
            <a:prstDash val="dash"/>
          </a:ln>
        </p:spPr>
        <p:txBody>
          <a:bodyPr/>
          <a:lstStyle/>
          <a:p>
            <a:endParaRPr lang="fr-FR"/>
          </a:p>
        </p:txBody>
      </p:sp>
      <p:sp>
        <p:nvSpPr>
          <p:cNvPr id="26" name="A3_48"/>
          <p:cNvSpPr/>
          <p:nvPr/>
        </p:nvSpPr>
        <p:spPr>
          <a:xfrm>
            <a:off x="914400" y="2221992"/>
            <a:ext cx="1234440" cy="1234440"/>
          </a:xfrm>
          <a:prstGeom prst="ellipse">
            <a:avLst/>
          </a:prstGeom>
          <a:solidFill>
            <a:srgbClr val="FFFFFF"/>
          </a:solidFill>
          <a:ln w="94298">
            <a:solidFill>
              <a:srgbClr val="0A6EBD"/>
            </a:solidFill>
            <a:prstDash val="solid"/>
          </a:ln>
        </p:spPr>
        <p:txBody>
          <a:bodyPr/>
          <a:lstStyle/>
          <a:p>
            <a:endParaRPr lang="fr-FR"/>
          </a:p>
        </p:txBody>
      </p:sp>
      <p:pic>
        <p:nvPicPr>
          <p:cNvPr id="27" name="A3_49" descr="preencoded.png"/>
          <p:cNvPicPr>
            <a:picLocks noChangeAspect="1"/>
          </p:cNvPicPr>
          <p:nvPr/>
        </p:nvPicPr>
        <p:blipFill>
          <a:blip r:embed="rId4"/>
          <a:stretch>
            <a:fillRect/>
          </a:stretch>
        </p:blipFill>
        <p:spPr>
          <a:xfrm>
            <a:off x="1185977" y="2493569"/>
            <a:ext cx="691286" cy="691286"/>
          </a:xfrm>
          <a:prstGeom prst="rect">
            <a:avLst/>
          </a:prstGeom>
        </p:spPr>
      </p:pic>
      <p:sp>
        <p:nvSpPr>
          <p:cNvPr id="28" name="A3_50"/>
          <p:cNvSpPr txBox="1"/>
          <p:nvPr/>
        </p:nvSpPr>
        <p:spPr>
          <a:xfrm>
            <a:off x="365760" y="3611880"/>
            <a:ext cx="2331720" cy="365760"/>
          </a:xfrm>
          <a:prstGeom prst="rect">
            <a:avLst/>
          </a:prstGeom>
          <a:noFill/>
          <a:ln/>
        </p:spPr>
        <p:txBody>
          <a:bodyPr wrap="square" lIns="0" tIns="0" rIns="0" bIns="0" rtlCol="0" anchor="t"/>
          <a:lstStyle/>
          <a:p>
            <a:pPr marL="0" indent="0" algn="ctr">
              <a:buNone/>
            </a:pPr>
            <a:r>
              <a:rPr lang="en-US" sz="1700" b="1" dirty="0">
                <a:solidFill>
                  <a:srgbClr val="0B3C66"/>
                </a:solidFill>
                <a:latin typeface="Arial" pitchFamily="34" charset="0"/>
                <a:ea typeface="Arial" pitchFamily="34" charset="-122"/>
                <a:cs typeface="Arial" pitchFamily="34" charset="-120"/>
              </a:rPr>
              <a:t>Développement</a:t>
            </a:r>
            <a:endParaRPr lang="en-US" sz="1700" dirty="0"/>
          </a:p>
        </p:txBody>
      </p:sp>
      <p:sp>
        <p:nvSpPr>
          <p:cNvPr id="29" name="A3_51"/>
          <p:cNvSpPr txBox="1"/>
          <p:nvPr/>
        </p:nvSpPr>
        <p:spPr>
          <a:xfrm>
            <a:off x="365760" y="3977640"/>
            <a:ext cx="2331720" cy="320040"/>
          </a:xfrm>
          <a:prstGeom prst="rect">
            <a:avLst/>
          </a:prstGeom>
          <a:noFill/>
          <a:ln/>
        </p:spPr>
        <p:txBody>
          <a:bodyPr wrap="square" lIns="0" tIns="0" rIns="0" bIns="0" rtlCol="0" anchor="t"/>
          <a:lstStyle/>
          <a:p>
            <a:pPr marL="0" indent="0" algn="ctr">
              <a:buNone/>
            </a:pPr>
            <a:r>
              <a:rPr lang="en-US" sz="1300" dirty="0">
                <a:solidFill>
                  <a:srgbClr val="595959"/>
                </a:solidFill>
                <a:latin typeface="Arial" pitchFamily="34" charset="0"/>
                <a:ea typeface="Arial" pitchFamily="34" charset="-122"/>
                <a:cs typeface="Arial" pitchFamily="34" charset="-120"/>
              </a:rPr>
              <a:t>Écriture du code</a:t>
            </a:r>
            <a:endParaRPr lang="en-US" sz="1300" dirty="0"/>
          </a:p>
        </p:txBody>
      </p:sp>
      <p:sp>
        <p:nvSpPr>
          <p:cNvPr id="30" name="A4_52"/>
          <p:cNvSpPr/>
          <p:nvPr/>
        </p:nvSpPr>
        <p:spPr>
          <a:xfrm>
            <a:off x="3720465" y="2221992"/>
            <a:ext cx="1234440" cy="1234440"/>
          </a:xfrm>
          <a:prstGeom prst="ellipse">
            <a:avLst/>
          </a:prstGeom>
          <a:solidFill>
            <a:srgbClr val="FFFFFF"/>
          </a:solidFill>
          <a:ln w="94298">
            <a:solidFill>
              <a:srgbClr val="0A6EBD"/>
            </a:solidFill>
            <a:prstDash val="solid"/>
          </a:ln>
        </p:spPr>
        <p:txBody>
          <a:bodyPr/>
          <a:lstStyle/>
          <a:p>
            <a:endParaRPr lang="fr-FR"/>
          </a:p>
        </p:txBody>
      </p:sp>
      <p:pic>
        <p:nvPicPr>
          <p:cNvPr id="31" name="A4_53" descr="preencoded.png"/>
          <p:cNvPicPr>
            <a:picLocks noChangeAspect="1"/>
          </p:cNvPicPr>
          <p:nvPr/>
        </p:nvPicPr>
        <p:blipFill>
          <a:blip r:embed="rId5"/>
          <a:stretch>
            <a:fillRect/>
          </a:stretch>
        </p:blipFill>
        <p:spPr>
          <a:xfrm>
            <a:off x="3992042" y="2493569"/>
            <a:ext cx="691286" cy="691286"/>
          </a:xfrm>
          <a:prstGeom prst="rect">
            <a:avLst/>
          </a:prstGeom>
        </p:spPr>
      </p:pic>
      <p:sp>
        <p:nvSpPr>
          <p:cNvPr id="32" name="A4_54"/>
          <p:cNvSpPr txBox="1"/>
          <p:nvPr/>
        </p:nvSpPr>
        <p:spPr>
          <a:xfrm>
            <a:off x="3171825" y="3611880"/>
            <a:ext cx="2331720" cy="365760"/>
          </a:xfrm>
          <a:prstGeom prst="rect">
            <a:avLst/>
          </a:prstGeom>
          <a:noFill/>
          <a:ln/>
        </p:spPr>
        <p:txBody>
          <a:bodyPr wrap="square" lIns="0" tIns="0" rIns="0" bIns="0" rtlCol="0" anchor="t"/>
          <a:lstStyle/>
          <a:p>
            <a:pPr marL="0" indent="0" algn="ctr">
              <a:buNone/>
            </a:pPr>
            <a:r>
              <a:rPr lang="en-US" sz="1700" b="1" dirty="0">
                <a:solidFill>
                  <a:srgbClr val="0B3C66"/>
                </a:solidFill>
                <a:latin typeface="Arial" pitchFamily="34" charset="0"/>
                <a:ea typeface="Arial" pitchFamily="34" charset="-122"/>
                <a:cs typeface="Arial" pitchFamily="34" charset="-120"/>
              </a:rPr>
              <a:t>Tests</a:t>
            </a:r>
            <a:endParaRPr lang="en-US" sz="1700" dirty="0"/>
          </a:p>
        </p:txBody>
      </p:sp>
      <p:sp>
        <p:nvSpPr>
          <p:cNvPr id="33" name="A4_55"/>
          <p:cNvSpPr txBox="1"/>
          <p:nvPr/>
        </p:nvSpPr>
        <p:spPr>
          <a:xfrm>
            <a:off x="3171825" y="3977640"/>
            <a:ext cx="2331720" cy="320040"/>
          </a:xfrm>
          <a:prstGeom prst="rect">
            <a:avLst/>
          </a:prstGeom>
          <a:noFill/>
          <a:ln/>
        </p:spPr>
        <p:txBody>
          <a:bodyPr wrap="square" lIns="0" tIns="0" rIns="0" bIns="0" rtlCol="0" anchor="t"/>
          <a:lstStyle/>
          <a:p>
            <a:pPr marL="0" indent="0" algn="ctr">
              <a:buNone/>
            </a:pPr>
            <a:r>
              <a:rPr lang="en-US" sz="1300" dirty="0">
                <a:solidFill>
                  <a:srgbClr val="595959"/>
                </a:solidFill>
                <a:latin typeface="Arial" pitchFamily="34" charset="0"/>
                <a:ea typeface="Arial" pitchFamily="34" charset="-122"/>
                <a:cs typeface="Arial" pitchFamily="34" charset="-120"/>
              </a:rPr>
              <a:t>Résultats, couverture</a:t>
            </a:r>
            <a:endParaRPr lang="en-US" sz="1300" dirty="0"/>
          </a:p>
        </p:txBody>
      </p:sp>
      <p:sp>
        <p:nvSpPr>
          <p:cNvPr id="34" name="A5_56"/>
          <p:cNvSpPr/>
          <p:nvPr/>
        </p:nvSpPr>
        <p:spPr>
          <a:xfrm>
            <a:off x="6526530" y="2221992"/>
            <a:ext cx="1234440" cy="1234440"/>
          </a:xfrm>
          <a:prstGeom prst="ellipse">
            <a:avLst/>
          </a:prstGeom>
          <a:solidFill>
            <a:srgbClr val="FFFFFF"/>
          </a:solidFill>
          <a:ln w="94298">
            <a:solidFill>
              <a:srgbClr val="0A6EBD"/>
            </a:solidFill>
            <a:prstDash val="solid"/>
          </a:ln>
        </p:spPr>
        <p:txBody>
          <a:bodyPr/>
          <a:lstStyle/>
          <a:p>
            <a:endParaRPr lang="fr-FR"/>
          </a:p>
        </p:txBody>
      </p:sp>
      <p:pic>
        <p:nvPicPr>
          <p:cNvPr id="35" name="A5_57" descr="preencoded.png"/>
          <p:cNvPicPr>
            <a:picLocks noChangeAspect="1"/>
          </p:cNvPicPr>
          <p:nvPr/>
        </p:nvPicPr>
        <p:blipFill>
          <a:blip r:embed="rId6"/>
          <a:stretch>
            <a:fillRect/>
          </a:stretch>
        </p:blipFill>
        <p:spPr>
          <a:xfrm>
            <a:off x="6798107" y="2493569"/>
            <a:ext cx="691286" cy="691286"/>
          </a:xfrm>
          <a:prstGeom prst="rect">
            <a:avLst/>
          </a:prstGeom>
        </p:spPr>
      </p:pic>
      <p:sp>
        <p:nvSpPr>
          <p:cNvPr id="36" name="A5_58"/>
          <p:cNvSpPr txBox="1"/>
          <p:nvPr/>
        </p:nvSpPr>
        <p:spPr>
          <a:xfrm>
            <a:off x="5977890" y="3611880"/>
            <a:ext cx="2331720" cy="365760"/>
          </a:xfrm>
          <a:prstGeom prst="rect">
            <a:avLst/>
          </a:prstGeom>
          <a:noFill/>
          <a:ln/>
        </p:spPr>
        <p:txBody>
          <a:bodyPr wrap="square" lIns="0" tIns="0" rIns="0" bIns="0" rtlCol="0" anchor="t"/>
          <a:lstStyle/>
          <a:p>
            <a:pPr marL="0" indent="0" algn="ctr">
              <a:buNone/>
            </a:pPr>
            <a:r>
              <a:rPr lang="en-US" sz="1700" b="1" dirty="0">
                <a:solidFill>
                  <a:srgbClr val="0B3C66"/>
                </a:solidFill>
                <a:latin typeface="Arial" pitchFamily="34" charset="0"/>
                <a:ea typeface="Arial" pitchFamily="34" charset="-122"/>
                <a:cs typeface="Arial" pitchFamily="34" charset="-120"/>
              </a:rPr>
              <a:t>Sécurité</a:t>
            </a:r>
            <a:endParaRPr lang="en-US" sz="1700" dirty="0"/>
          </a:p>
        </p:txBody>
      </p:sp>
      <p:sp>
        <p:nvSpPr>
          <p:cNvPr id="37" name="A5_59"/>
          <p:cNvSpPr txBox="1"/>
          <p:nvPr/>
        </p:nvSpPr>
        <p:spPr>
          <a:xfrm>
            <a:off x="5977890" y="3977640"/>
            <a:ext cx="2331720" cy="320040"/>
          </a:xfrm>
          <a:prstGeom prst="rect">
            <a:avLst/>
          </a:prstGeom>
          <a:noFill/>
          <a:ln/>
        </p:spPr>
        <p:txBody>
          <a:bodyPr wrap="square" lIns="0" tIns="0" rIns="0" bIns="0" rtlCol="0" anchor="t"/>
          <a:lstStyle/>
          <a:p>
            <a:pPr marL="0" indent="0" algn="ctr">
              <a:buNone/>
            </a:pPr>
            <a:r>
              <a:rPr lang="en-US" sz="1300" dirty="0">
                <a:solidFill>
                  <a:srgbClr val="595959"/>
                </a:solidFill>
                <a:latin typeface="Arial" pitchFamily="34" charset="0"/>
                <a:ea typeface="Arial" pitchFamily="34" charset="-122"/>
                <a:cs typeface="Arial" pitchFamily="34" charset="-120"/>
              </a:rPr>
              <a:t>Failles, dépendances</a:t>
            </a:r>
            <a:endParaRPr lang="en-US" sz="1300" dirty="0"/>
          </a:p>
        </p:txBody>
      </p:sp>
      <p:sp>
        <p:nvSpPr>
          <p:cNvPr id="38" name="A6_60"/>
          <p:cNvSpPr/>
          <p:nvPr/>
        </p:nvSpPr>
        <p:spPr>
          <a:xfrm>
            <a:off x="9332595" y="2221992"/>
            <a:ext cx="1234440" cy="1234440"/>
          </a:xfrm>
          <a:prstGeom prst="ellipse">
            <a:avLst/>
          </a:prstGeom>
          <a:solidFill>
            <a:srgbClr val="FFFFFF"/>
          </a:solidFill>
          <a:ln w="94298">
            <a:solidFill>
              <a:srgbClr val="0A6EBD"/>
            </a:solidFill>
            <a:prstDash val="solid"/>
          </a:ln>
        </p:spPr>
        <p:txBody>
          <a:bodyPr/>
          <a:lstStyle/>
          <a:p>
            <a:endParaRPr lang="fr-FR"/>
          </a:p>
        </p:txBody>
      </p:sp>
      <p:pic>
        <p:nvPicPr>
          <p:cNvPr id="39" name="A6_61" descr="preencoded.png"/>
          <p:cNvPicPr>
            <a:picLocks noChangeAspect="1"/>
          </p:cNvPicPr>
          <p:nvPr/>
        </p:nvPicPr>
        <p:blipFill>
          <a:blip r:embed="rId7"/>
          <a:stretch>
            <a:fillRect/>
          </a:stretch>
        </p:blipFill>
        <p:spPr>
          <a:xfrm>
            <a:off x="9604172" y="2493569"/>
            <a:ext cx="691286" cy="691286"/>
          </a:xfrm>
          <a:prstGeom prst="rect">
            <a:avLst/>
          </a:prstGeom>
        </p:spPr>
      </p:pic>
      <p:sp>
        <p:nvSpPr>
          <p:cNvPr id="40" name="A6_62"/>
          <p:cNvSpPr txBox="1"/>
          <p:nvPr/>
        </p:nvSpPr>
        <p:spPr>
          <a:xfrm>
            <a:off x="8783955" y="3611880"/>
            <a:ext cx="2331720" cy="365760"/>
          </a:xfrm>
          <a:prstGeom prst="rect">
            <a:avLst/>
          </a:prstGeom>
          <a:noFill/>
          <a:ln/>
        </p:spPr>
        <p:txBody>
          <a:bodyPr wrap="square" lIns="0" tIns="0" rIns="0" bIns="0" rtlCol="0" anchor="t"/>
          <a:lstStyle/>
          <a:p>
            <a:pPr marL="0" indent="0" algn="ctr">
              <a:buNone/>
            </a:pPr>
            <a:r>
              <a:rPr lang="en-US" sz="1700" b="1" dirty="0">
                <a:solidFill>
                  <a:srgbClr val="0B3C66"/>
                </a:solidFill>
                <a:latin typeface="Arial" pitchFamily="34" charset="0"/>
                <a:ea typeface="Arial" pitchFamily="34" charset="-122"/>
                <a:cs typeface="Arial" pitchFamily="34" charset="-120"/>
              </a:rPr>
              <a:t>Déploiement</a:t>
            </a:r>
            <a:endParaRPr lang="en-US" sz="1700" dirty="0"/>
          </a:p>
        </p:txBody>
      </p:sp>
      <p:sp>
        <p:nvSpPr>
          <p:cNvPr id="41" name="A6_63"/>
          <p:cNvSpPr txBox="1"/>
          <p:nvPr/>
        </p:nvSpPr>
        <p:spPr>
          <a:xfrm>
            <a:off x="8783955" y="3977640"/>
            <a:ext cx="2331720" cy="320040"/>
          </a:xfrm>
          <a:prstGeom prst="rect">
            <a:avLst/>
          </a:prstGeom>
          <a:noFill/>
          <a:ln/>
        </p:spPr>
        <p:txBody>
          <a:bodyPr wrap="square" lIns="0" tIns="0" rIns="0" bIns="0" rtlCol="0" anchor="t"/>
          <a:lstStyle/>
          <a:p>
            <a:pPr marL="0" indent="0" algn="ctr">
              <a:buNone/>
            </a:pPr>
            <a:r>
              <a:rPr lang="en-US" sz="1300" dirty="0">
                <a:solidFill>
                  <a:srgbClr val="595959"/>
                </a:solidFill>
                <a:latin typeface="Arial" pitchFamily="34" charset="0"/>
                <a:ea typeface="Arial" pitchFamily="34" charset="-122"/>
                <a:cs typeface="Arial" pitchFamily="34" charset="-120"/>
              </a:rPr>
              <a:t>Mise en production</a:t>
            </a:r>
            <a:endParaRPr lang="en-US" sz="1300" dirty="0"/>
          </a:p>
        </p:txBody>
      </p:sp>
      <p:sp>
        <p:nvSpPr>
          <p:cNvPr id="42" name="A7_64"/>
          <p:cNvSpPr/>
          <p:nvPr/>
        </p:nvSpPr>
        <p:spPr>
          <a:xfrm>
            <a:off x="12138660" y="2221992"/>
            <a:ext cx="1234440" cy="1234440"/>
          </a:xfrm>
          <a:prstGeom prst="ellipse">
            <a:avLst/>
          </a:prstGeom>
          <a:solidFill>
            <a:srgbClr val="FFFFFF"/>
          </a:solidFill>
          <a:ln w="94298">
            <a:solidFill>
              <a:srgbClr val="0A6EBD"/>
            </a:solidFill>
            <a:prstDash val="solid"/>
          </a:ln>
        </p:spPr>
        <p:txBody>
          <a:bodyPr/>
          <a:lstStyle/>
          <a:p>
            <a:endParaRPr lang="fr-FR"/>
          </a:p>
        </p:txBody>
      </p:sp>
      <p:pic>
        <p:nvPicPr>
          <p:cNvPr id="43" name="A7_65" descr="preencoded.png"/>
          <p:cNvPicPr>
            <a:picLocks noChangeAspect="1"/>
          </p:cNvPicPr>
          <p:nvPr/>
        </p:nvPicPr>
        <p:blipFill>
          <a:blip r:embed="rId8"/>
          <a:stretch>
            <a:fillRect/>
          </a:stretch>
        </p:blipFill>
        <p:spPr>
          <a:xfrm>
            <a:off x="12410237" y="2493569"/>
            <a:ext cx="691286" cy="691286"/>
          </a:xfrm>
          <a:prstGeom prst="rect">
            <a:avLst/>
          </a:prstGeom>
        </p:spPr>
      </p:pic>
      <p:sp>
        <p:nvSpPr>
          <p:cNvPr id="44" name="A7_66"/>
          <p:cNvSpPr txBox="1"/>
          <p:nvPr/>
        </p:nvSpPr>
        <p:spPr>
          <a:xfrm>
            <a:off x="11590020" y="3611880"/>
            <a:ext cx="2331720" cy="365760"/>
          </a:xfrm>
          <a:prstGeom prst="rect">
            <a:avLst/>
          </a:prstGeom>
          <a:noFill/>
          <a:ln/>
        </p:spPr>
        <p:txBody>
          <a:bodyPr wrap="square" lIns="0" tIns="0" rIns="0" bIns="0" rtlCol="0" anchor="t"/>
          <a:lstStyle/>
          <a:p>
            <a:pPr marL="0" indent="0" algn="ctr">
              <a:buNone/>
            </a:pPr>
            <a:r>
              <a:rPr lang="en-US" sz="1700" b="1" dirty="0">
                <a:solidFill>
                  <a:srgbClr val="0B3C66"/>
                </a:solidFill>
                <a:latin typeface="Arial" pitchFamily="34" charset="0"/>
                <a:ea typeface="Arial" pitchFamily="34" charset="-122"/>
                <a:cs typeface="Arial" pitchFamily="34" charset="-120"/>
              </a:rPr>
              <a:t>Exploitation</a:t>
            </a:r>
            <a:endParaRPr lang="en-US" sz="1700" dirty="0"/>
          </a:p>
        </p:txBody>
      </p:sp>
      <p:sp>
        <p:nvSpPr>
          <p:cNvPr id="45" name="A7_67"/>
          <p:cNvSpPr txBox="1"/>
          <p:nvPr/>
        </p:nvSpPr>
        <p:spPr>
          <a:xfrm>
            <a:off x="11590020" y="3977640"/>
            <a:ext cx="2331720" cy="320040"/>
          </a:xfrm>
          <a:prstGeom prst="rect">
            <a:avLst/>
          </a:prstGeom>
          <a:noFill/>
          <a:ln/>
        </p:spPr>
        <p:txBody>
          <a:bodyPr wrap="square" lIns="0" tIns="0" rIns="0" bIns="0" rtlCol="0" anchor="t"/>
          <a:lstStyle/>
          <a:p>
            <a:pPr marL="0" indent="0" algn="ctr">
              <a:buNone/>
            </a:pPr>
            <a:r>
              <a:rPr lang="en-US" sz="1300" dirty="0">
                <a:solidFill>
                  <a:srgbClr val="595959"/>
                </a:solidFill>
                <a:latin typeface="Arial" pitchFamily="34" charset="0"/>
                <a:ea typeface="Arial" pitchFamily="34" charset="-122"/>
                <a:cs typeface="Arial" pitchFamily="34" charset="-120"/>
              </a:rPr>
              <a:t>Journaux (logs)</a:t>
            </a:r>
            <a:endParaRPr lang="en-US" sz="1300" dirty="0"/>
          </a:p>
        </p:txBody>
      </p:sp>
      <p:sp>
        <p:nvSpPr>
          <p:cNvPr id="46" name="A8_68"/>
          <p:cNvSpPr/>
          <p:nvPr/>
        </p:nvSpPr>
        <p:spPr>
          <a:xfrm>
            <a:off x="914400" y="4709160"/>
            <a:ext cx="5989320" cy="2148840"/>
          </a:xfrm>
          <a:prstGeom prst="roundRect">
            <a:avLst>
              <a:gd name="adj" fmla="val 5106"/>
            </a:avLst>
          </a:prstGeom>
          <a:solidFill>
            <a:srgbClr val="EAF2FA"/>
          </a:solidFill>
          <a:ln w="12700">
            <a:solidFill>
              <a:srgbClr val="EAF2FA"/>
            </a:solidFill>
            <a:prstDash val="solid"/>
          </a:ln>
        </p:spPr>
        <p:txBody>
          <a:bodyPr/>
          <a:lstStyle/>
          <a:p>
            <a:endParaRPr lang="fr-FR"/>
          </a:p>
        </p:txBody>
      </p:sp>
      <p:sp>
        <p:nvSpPr>
          <p:cNvPr id="47" name="A8_69"/>
          <p:cNvSpPr/>
          <p:nvPr/>
        </p:nvSpPr>
        <p:spPr>
          <a:xfrm>
            <a:off x="1188720" y="4983480"/>
            <a:ext cx="640080" cy="640080"/>
          </a:xfrm>
          <a:prstGeom prst="ellipse">
            <a:avLst/>
          </a:prstGeom>
          <a:solidFill>
            <a:srgbClr val="EF2B41"/>
          </a:solidFill>
          <a:ln w="12700">
            <a:solidFill>
              <a:srgbClr val="EF2B41"/>
            </a:solidFill>
            <a:prstDash val="solid"/>
          </a:ln>
        </p:spPr>
        <p:txBody>
          <a:bodyPr/>
          <a:lstStyle/>
          <a:p>
            <a:endParaRPr lang="fr-FR"/>
          </a:p>
        </p:txBody>
      </p:sp>
      <p:pic>
        <p:nvPicPr>
          <p:cNvPr id="48" name="A8_70" descr="preencoded.png"/>
          <p:cNvPicPr>
            <a:picLocks noChangeAspect="1"/>
          </p:cNvPicPr>
          <p:nvPr/>
        </p:nvPicPr>
        <p:blipFill>
          <a:blip r:embed="rId9"/>
          <a:stretch>
            <a:fillRect/>
          </a:stretch>
        </p:blipFill>
        <p:spPr>
          <a:xfrm>
            <a:off x="1342339" y="5137099"/>
            <a:ext cx="332842" cy="332842"/>
          </a:xfrm>
          <a:prstGeom prst="rect">
            <a:avLst/>
          </a:prstGeom>
        </p:spPr>
      </p:pic>
      <p:sp>
        <p:nvSpPr>
          <p:cNvPr id="49" name="A8_71"/>
          <p:cNvSpPr txBox="1"/>
          <p:nvPr/>
        </p:nvSpPr>
        <p:spPr>
          <a:xfrm>
            <a:off x="2011680" y="5029200"/>
            <a:ext cx="4663440" cy="411480"/>
          </a:xfrm>
          <a:prstGeom prst="rect">
            <a:avLst/>
          </a:prstGeom>
          <a:noFill/>
          <a:ln/>
        </p:spPr>
        <p:txBody>
          <a:bodyPr wrap="square" lIns="0" tIns="0" rIns="0" bIns="0" rtlCol="0" anchor="t"/>
          <a:lstStyle/>
          <a:p>
            <a:pPr marL="0" indent="0">
              <a:buNone/>
            </a:pPr>
            <a:r>
              <a:rPr lang="en-US" sz="1700" b="1" dirty="0">
                <a:solidFill>
                  <a:srgbClr val="262626"/>
                </a:solidFill>
                <a:latin typeface="Arial" pitchFamily="34" charset="0"/>
                <a:ea typeface="Arial" pitchFamily="34" charset="-122"/>
                <a:cs typeface="Arial" pitchFamily="34" charset="-120"/>
              </a:rPr>
              <a:t>…mais aujourd'hui</a:t>
            </a:r>
            <a:endParaRPr lang="en-US" sz="1700" dirty="0"/>
          </a:p>
        </p:txBody>
      </p:sp>
      <p:sp>
        <p:nvSpPr>
          <p:cNvPr id="50" name="A8_72"/>
          <p:cNvSpPr txBox="1"/>
          <p:nvPr/>
        </p:nvSpPr>
        <p:spPr>
          <a:xfrm>
            <a:off x="2011680" y="5468112"/>
            <a:ext cx="4663440" cy="1188720"/>
          </a:xfrm>
          <a:prstGeom prst="rect">
            <a:avLst/>
          </a:prstGeom>
          <a:noFill/>
          <a:ln/>
        </p:spPr>
        <p:txBody>
          <a:bodyPr wrap="square" lIns="0" tIns="0" rIns="0" bIns="0" rtlCol="0" anchor="t"/>
          <a:lstStyle/>
          <a:p>
            <a:pPr marL="0" indent="0">
              <a:buNone/>
            </a:pPr>
            <a:r>
              <a:rPr lang="en-US" sz="1400" dirty="0">
                <a:solidFill>
                  <a:srgbClr val="595959"/>
                </a:solidFill>
                <a:latin typeface="Arial" pitchFamily="34" charset="0"/>
                <a:ea typeface="Arial" pitchFamily="34" charset="-122"/>
                <a:cs typeface="Arial" pitchFamily="34" charset="-120"/>
              </a:rPr>
              <a:t>Ces informations sont éparpillées dans plusieurs outils. Comprendre un incident demande du temps, de l'expertise et beaucoup de recherches manuelles.</a:t>
            </a:r>
            <a:endParaRPr lang="en-US" sz="1400" dirty="0"/>
          </a:p>
        </p:txBody>
      </p:sp>
      <p:sp>
        <p:nvSpPr>
          <p:cNvPr id="51" name="A9_73"/>
          <p:cNvSpPr/>
          <p:nvPr/>
        </p:nvSpPr>
        <p:spPr>
          <a:xfrm>
            <a:off x="7360920" y="4709160"/>
            <a:ext cx="5989320" cy="2148840"/>
          </a:xfrm>
          <a:prstGeom prst="roundRect">
            <a:avLst>
              <a:gd name="adj" fmla="val 5106"/>
            </a:avLst>
          </a:prstGeom>
          <a:solidFill>
            <a:srgbClr val="0A6EBD"/>
          </a:solidFill>
          <a:ln w="12700">
            <a:solidFill>
              <a:srgbClr val="0A6EBD"/>
            </a:solidFill>
            <a:prstDash val="solid"/>
          </a:ln>
        </p:spPr>
        <p:txBody>
          <a:bodyPr/>
          <a:lstStyle/>
          <a:p>
            <a:endParaRPr lang="fr-FR"/>
          </a:p>
        </p:txBody>
      </p:sp>
      <p:sp>
        <p:nvSpPr>
          <p:cNvPr id="52" name="A9_74"/>
          <p:cNvSpPr/>
          <p:nvPr/>
        </p:nvSpPr>
        <p:spPr>
          <a:xfrm>
            <a:off x="7635240" y="4983480"/>
            <a:ext cx="640080" cy="640080"/>
          </a:xfrm>
          <a:prstGeom prst="ellipse">
            <a:avLst/>
          </a:prstGeom>
          <a:solidFill>
            <a:srgbClr val="FFFFFF"/>
          </a:solidFill>
          <a:ln w="12700">
            <a:solidFill>
              <a:srgbClr val="FFFFFF"/>
            </a:solidFill>
            <a:prstDash val="solid"/>
          </a:ln>
        </p:spPr>
        <p:txBody>
          <a:bodyPr/>
          <a:lstStyle/>
          <a:p>
            <a:endParaRPr lang="fr-FR"/>
          </a:p>
        </p:txBody>
      </p:sp>
      <p:pic>
        <p:nvPicPr>
          <p:cNvPr id="53" name="A9_75" descr="preencoded.png"/>
          <p:cNvPicPr>
            <a:picLocks noChangeAspect="1"/>
          </p:cNvPicPr>
          <p:nvPr/>
        </p:nvPicPr>
        <p:blipFill>
          <a:blip r:embed="rId10"/>
          <a:stretch>
            <a:fillRect/>
          </a:stretch>
        </p:blipFill>
        <p:spPr>
          <a:xfrm>
            <a:off x="7788859" y="5137099"/>
            <a:ext cx="332842" cy="332842"/>
          </a:xfrm>
          <a:prstGeom prst="rect">
            <a:avLst/>
          </a:prstGeom>
        </p:spPr>
      </p:pic>
      <p:sp>
        <p:nvSpPr>
          <p:cNvPr id="54" name="A9_76"/>
          <p:cNvSpPr txBox="1"/>
          <p:nvPr/>
        </p:nvSpPr>
        <p:spPr>
          <a:xfrm>
            <a:off x="8458200" y="5029200"/>
            <a:ext cx="4663440" cy="411480"/>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Notre objectif</a:t>
            </a:r>
            <a:endParaRPr lang="en-US" sz="1700" dirty="0"/>
          </a:p>
        </p:txBody>
      </p:sp>
      <p:sp>
        <p:nvSpPr>
          <p:cNvPr id="55" name="A9_77"/>
          <p:cNvSpPr txBox="1"/>
          <p:nvPr/>
        </p:nvSpPr>
        <p:spPr>
          <a:xfrm>
            <a:off x="8458200" y="5468112"/>
            <a:ext cx="4663440" cy="118872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Réunir tous ces signaux dans un assistant unique qui détecte, explique et aide à corriger les incidents, avec l'appui de l'intelligence artificielle.</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childTnLst>
                          </p:cTn>
                        </p:par>
                        <p:par>
                          <p:cTn id="8" fill="hold">
                            <p:stCondLst>
                              <p:cond delay="350"/>
                            </p:stCondLst>
                            <p:childTnLst>
                              <p:par>
                                <p:cTn id="9" presetID="22" presetClass="entr" presetSubtype="8"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par>
                          <p:cTn id="12" fill="hold">
                            <p:stCondLst>
                              <p:cond delay="700"/>
                            </p:stCondLst>
                            <p:childTnLst>
                              <p:par>
                                <p:cTn id="13" presetID="10"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500"/>
                                        <p:tgtEl>
                                          <p:spTgt spid="2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childTnLst>
                                </p:cTn>
                              </p:par>
                            </p:childTnLst>
                          </p:cTn>
                        </p:par>
                        <p:par>
                          <p:cTn id="25" fill="hold">
                            <p:stCondLst>
                              <p:cond delay="1050"/>
                            </p:stCondLst>
                            <p:childTnLst>
                              <p:par>
                                <p:cTn id="26" presetID="10" presetClass="entr" presetSubtype="0" fill="hold" grpId="0" nodeType="after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50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500"/>
                                        <p:tgtEl>
                                          <p:spTgt spid="3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500"/>
                                        <p:tgtEl>
                                          <p:spTgt spid="3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childTnLst>
                          </p:cTn>
                        </p:par>
                        <p:par>
                          <p:cTn id="38" fill="hold">
                            <p:stCondLst>
                              <p:cond delay="1400"/>
                            </p:stCondLst>
                            <p:childTnLst>
                              <p:par>
                                <p:cTn id="39" presetID="10" presetClass="entr" presetSubtype="0" fill="hold" grpId="0" nodeType="afterEffect">
                                  <p:stCondLst>
                                    <p:cond delay="0"/>
                                  </p:stCondLst>
                                  <p:childTnLst>
                                    <p:set>
                                      <p:cBhvr>
                                        <p:cTn id="40" dur="1" fill="hold">
                                          <p:stCondLst>
                                            <p:cond delay="0"/>
                                          </p:stCondLst>
                                        </p:cTn>
                                        <p:tgtEl>
                                          <p:spTgt spid="34"/>
                                        </p:tgtEl>
                                        <p:attrNameLst>
                                          <p:attrName>style.visibility</p:attrName>
                                        </p:attrNameLst>
                                      </p:cBhvr>
                                      <p:to>
                                        <p:strVal val="visible"/>
                                      </p:to>
                                    </p:set>
                                    <p:animEffect transition="in" filter="fade">
                                      <p:cBhvr>
                                        <p:cTn id="41" dur="500"/>
                                        <p:tgtEl>
                                          <p:spTgt spid="34"/>
                                        </p:tgtEl>
                                      </p:cBhvr>
                                    </p:animEffect>
                                  </p:childTnLst>
                                </p:cTn>
                              </p:par>
                              <p:par>
                                <p:cTn id="42" presetID="10" presetClass="entr" presetSubtype="0" fill="hold" nodeType="withEffect">
                                  <p:stCondLst>
                                    <p:cond delay="0"/>
                                  </p:stCondLst>
                                  <p:childTnLst>
                                    <p:set>
                                      <p:cBhvr>
                                        <p:cTn id="43" dur="1" fill="hold">
                                          <p:stCondLst>
                                            <p:cond delay="0"/>
                                          </p:stCondLst>
                                        </p:cTn>
                                        <p:tgtEl>
                                          <p:spTgt spid="35"/>
                                        </p:tgtEl>
                                        <p:attrNameLst>
                                          <p:attrName>style.visibility</p:attrName>
                                        </p:attrNameLst>
                                      </p:cBhvr>
                                      <p:to>
                                        <p:strVal val="visible"/>
                                      </p:to>
                                    </p:set>
                                    <p:animEffect transition="in" filter="fade">
                                      <p:cBhvr>
                                        <p:cTn id="44" dur="500"/>
                                        <p:tgtEl>
                                          <p:spTgt spid="3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500"/>
                                        <p:tgtEl>
                                          <p:spTgt spid="3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500"/>
                                        <p:tgtEl>
                                          <p:spTgt spid="37"/>
                                        </p:tgtEl>
                                      </p:cBhvr>
                                    </p:animEffect>
                                  </p:childTnLst>
                                </p:cTn>
                              </p:par>
                            </p:childTnLst>
                          </p:cTn>
                        </p:par>
                        <p:par>
                          <p:cTn id="51" fill="hold">
                            <p:stCondLst>
                              <p:cond delay="1750"/>
                            </p:stCondLst>
                            <p:childTnLst>
                              <p:par>
                                <p:cTn id="52" presetID="10" presetClass="entr" presetSubtype="0" fill="hold" grpId="0" nodeType="afterEffect">
                                  <p:stCondLst>
                                    <p:cond delay="0"/>
                                  </p:stCondLst>
                                  <p:childTnLst>
                                    <p:set>
                                      <p:cBhvr>
                                        <p:cTn id="53" dur="1" fill="hold">
                                          <p:stCondLst>
                                            <p:cond delay="0"/>
                                          </p:stCondLst>
                                        </p:cTn>
                                        <p:tgtEl>
                                          <p:spTgt spid="38"/>
                                        </p:tgtEl>
                                        <p:attrNameLst>
                                          <p:attrName>style.visibility</p:attrName>
                                        </p:attrNameLst>
                                      </p:cBhvr>
                                      <p:to>
                                        <p:strVal val="visible"/>
                                      </p:to>
                                    </p:set>
                                    <p:animEffect transition="in" filter="fade">
                                      <p:cBhvr>
                                        <p:cTn id="54" dur="500"/>
                                        <p:tgtEl>
                                          <p:spTgt spid="38"/>
                                        </p:tgtEl>
                                      </p:cBhvr>
                                    </p:animEffect>
                                  </p:childTnLst>
                                </p:cTn>
                              </p:par>
                              <p:par>
                                <p:cTn id="55" presetID="10" presetClass="entr" presetSubtype="0" fill="hold" nodeType="withEffect">
                                  <p:stCondLst>
                                    <p:cond delay="0"/>
                                  </p:stCondLst>
                                  <p:childTnLst>
                                    <p:set>
                                      <p:cBhvr>
                                        <p:cTn id="56" dur="1" fill="hold">
                                          <p:stCondLst>
                                            <p:cond delay="0"/>
                                          </p:stCondLst>
                                        </p:cTn>
                                        <p:tgtEl>
                                          <p:spTgt spid="39"/>
                                        </p:tgtEl>
                                        <p:attrNameLst>
                                          <p:attrName>style.visibility</p:attrName>
                                        </p:attrNameLst>
                                      </p:cBhvr>
                                      <p:to>
                                        <p:strVal val="visible"/>
                                      </p:to>
                                    </p:set>
                                    <p:animEffect transition="in" filter="fade">
                                      <p:cBhvr>
                                        <p:cTn id="57" dur="500"/>
                                        <p:tgtEl>
                                          <p:spTgt spid="3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0"/>
                                        </p:tgtEl>
                                        <p:attrNameLst>
                                          <p:attrName>style.visibility</p:attrName>
                                        </p:attrNameLst>
                                      </p:cBhvr>
                                      <p:to>
                                        <p:strVal val="visible"/>
                                      </p:to>
                                    </p:set>
                                    <p:animEffect transition="in" filter="fade">
                                      <p:cBhvr>
                                        <p:cTn id="60" dur="500"/>
                                        <p:tgtEl>
                                          <p:spTgt spid="4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500"/>
                                        <p:tgtEl>
                                          <p:spTgt spid="41"/>
                                        </p:tgtEl>
                                      </p:cBhvr>
                                    </p:animEffect>
                                  </p:childTnLst>
                                </p:cTn>
                              </p:par>
                            </p:childTnLst>
                          </p:cTn>
                        </p:par>
                        <p:par>
                          <p:cTn id="64" fill="hold">
                            <p:stCondLst>
                              <p:cond delay="2100"/>
                            </p:stCondLst>
                            <p:childTnLst>
                              <p:par>
                                <p:cTn id="65" presetID="10" presetClass="entr" presetSubtype="0" fill="hold" grpId="0" nodeType="afterEffect">
                                  <p:stCondLst>
                                    <p:cond delay="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500"/>
                                        <p:tgtEl>
                                          <p:spTgt spid="42"/>
                                        </p:tgtEl>
                                      </p:cBhvr>
                                    </p:animEffect>
                                  </p:childTnLst>
                                </p:cTn>
                              </p:par>
                              <p:par>
                                <p:cTn id="68" presetID="10" presetClass="entr" presetSubtype="0" fill="hold" nodeType="withEffect">
                                  <p:stCondLst>
                                    <p:cond delay="0"/>
                                  </p:stCondLst>
                                  <p:childTnLst>
                                    <p:set>
                                      <p:cBhvr>
                                        <p:cTn id="69" dur="1" fill="hold">
                                          <p:stCondLst>
                                            <p:cond delay="0"/>
                                          </p:stCondLst>
                                        </p:cTn>
                                        <p:tgtEl>
                                          <p:spTgt spid="43"/>
                                        </p:tgtEl>
                                        <p:attrNameLst>
                                          <p:attrName>style.visibility</p:attrName>
                                        </p:attrNameLst>
                                      </p:cBhvr>
                                      <p:to>
                                        <p:strVal val="visible"/>
                                      </p:to>
                                    </p:set>
                                    <p:animEffect transition="in" filter="fade">
                                      <p:cBhvr>
                                        <p:cTn id="70" dur="500"/>
                                        <p:tgtEl>
                                          <p:spTgt spid="4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4"/>
                                        </p:tgtEl>
                                        <p:attrNameLst>
                                          <p:attrName>style.visibility</p:attrName>
                                        </p:attrNameLst>
                                      </p:cBhvr>
                                      <p:to>
                                        <p:strVal val="visible"/>
                                      </p:to>
                                    </p:set>
                                    <p:animEffect transition="in" filter="fade">
                                      <p:cBhvr>
                                        <p:cTn id="73" dur="500"/>
                                        <p:tgtEl>
                                          <p:spTgt spid="4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5"/>
                                        </p:tgtEl>
                                        <p:attrNameLst>
                                          <p:attrName>style.visibility</p:attrName>
                                        </p:attrNameLst>
                                      </p:cBhvr>
                                      <p:to>
                                        <p:strVal val="visible"/>
                                      </p:to>
                                    </p:set>
                                    <p:animEffect transition="in" filter="fade">
                                      <p:cBhvr>
                                        <p:cTn id="76" dur="500"/>
                                        <p:tgtEl>
                                          <p:spTgt spid="45"/>
                                        </p:tgtEl>
                                      </p:cBhvr>
                                    </p:animEffect>
                                  </p:childTnLst>
                                </p:cTn>
                              </p:par>
                            </p:childTnLst>
                          </p:cTn>
                        </p:par>
                        <p:par>
                          <p:cTn id="77" fill="hold">
                            <p:stCondLst>
                              <p:cond delay="2450"/>
                            </p:stCondLst>
                            <p:childTnLst>
                              <p:par>
                                <p:cTn id="78" presetID="10" presetClass="entr" presetSubtype="0" fill="hold" grpId="0" nodeType="afterEffect">
                                  <p:stCondLst>
                                    <p:cond delay="0"/>
                                  </p:stCondLst>
                                  <p:childTnLst>
                                    <p:set>
                                      <p:cBhvr>
                                        <p:cTn id="79" dur="1" fill="hold">
                                          <p:stCondLst>
                                            <p:cond delay="0"/>
                                          </p:stCondLst>
                                        </p:cTn>
                                        <p:tgtEl>
                                          <p:spTgt spid="46"/>
                                        </p:tgtEl>
                                        <p:attrNameLst>
                                          <p:attrName>style.visibility</p:attrName>
                                        </p:attrNameLst>
                                      </p:cBhvr>
                                      <p:to>
                                        <p:strVal val="visible"/>
                                      </p:to>
                                    </p:set>
                                    <p:animEffect transition="in" filter="fade">
                                      <p:cBhvr>
                                        <p:cTn id="80" dur="500"/>
                                        <p:tgtEl>
                                          <p:spTgt spid="4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animEffect transition="in" filter="fade">
                                      <p:cBhvr>
                                        <p:cTn id="83" dur="500"/>
                                        <p:tgtEl>
                                          <p:spTgt spid="47"/>
                                        </p:tgtEl>
                                      </p:cBhvr>
                                    </p:animEffect>
                                  </p:childTnLst>
                                </p:cTn>
                              </p:par>
                              <p:par>
                                <p:cTn id="84" presetID="10" presetClass="entr" presetSubtype="0" fill="hold" nodeType="withEffect">
                                  <p:stCondLst>
                                    <p:cond delay="0"/>
                                  </p:stCondLst>
                                  <p:childTnLst>
                                    <p:set>
                                      <p:cBhvr>
                                        <p:cTn id="85" dur="1" fill="hold">
                                          <p:stCondLst>
                                            <p:cond delay="0"/>
                                          </p:stCondLst>
                                        </p:cTn>
                                        <p:tgtEl>
                                          <p:spTgt spid="48"/>
                                        </p:tgtEl>
                                        <p:attrNameLst>
                                          <p:attrName>style.visibility</p:attrName>
                                        </p:attrNameLst>
                                      </p:cBhvr>
                                      <p:to>
                                        <p:strVal val="visible"/>
                                      </p:to>
                                    </p:set>
                                    <p:animEffect transition="in" filter="fade">
                                      <p:cBhvr>
                                        <p:cTn id="86" dur="500"/>
                                        <p:tgtEl>
                                          <p:spTgt spid="48"/>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9"/>
                                        </p:tgtEl>
                                        <p:attrNameLst>
                                          <p:attrName>style.visibility</p:attrName>
                                        </p:attrNameLst>
                                      </p:cBhvr>
                                      <p:to>
                                        <p:strVal val="visible"/>
                                      </p:to>
                                    </p:set>
                                    <p:animEffect transition="in" filter="fade">
                                      <p:cBhvr>
                                        <p:cTn id="89" dur="500"/>
                                        <p:tgtEl>
                                          <p:spTgt spid="49"/>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childTnLst>
                          </p:cTn>
                        </p:par>
                        <p:par>
                          <p:cTn id="93" fill="hold">
                            <p:stCondLst>
                              <p:cond delay="2800"/>
                            </p:stCondLst>
                            <p:childTnLst>
                              <p:par>
                                <p:cTn id="94" presetID="10" presetClass="entr" presetSubtype="0" fill="hold" grpId="0" nodeType="afterEffect">
                                  <p:stCondLst>
                                    <p:cond delay="0"/>
                                  </p:stCondLst>
                                  <p:childTnLst>
                                    <p:set>
                                      <p:cBhvr>
                                        <p:cTn id="95" dur="1" fill="hold">
                                          <p:stCondLst>
                                            <p:cond delay="0"/>
                                          </p:stCondLst>
                                        </p:cTn>
                                        <p:tgtEl>
                                          <p:spTgt spid="51"/>
                                        </p:tgtEl>
                                        <p:attrNameLst>
                                          <p:attrName>style.visibility</p:attrName>
                                        </p:attrNameLst>
                                      </p:cBhvr>
                                      <p:to>
                                        <p:strVal val="visible"/>
                                      </p:to>
                                    </p:set>
                                    <p:animEffect transition="in" filter="fade">
                                      <p:cBhvr>
                                        <p:cTn id="96" dur="500"/>
                                        <p:tgtEl>
                                          <p:spTgt spid="5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2"/>
                                        </p:tgtEl>
                                        <p:attrNameLst>
                                          <p:attrName>style.visibility</p:attrName>
                                        </p:attrNameLst>
                                      </p:cBhvr>
                                      <p:to>
                                        <p:strVal val="visible"/>
                                      </p:to>
                                    </p:set>
                                    <p:animEffect transition="in" filter="fade">
                                      <p:cBhvr>
                                        <p:cTn id="99" dur="500"/>
                                        <p:tgtEl>
                                          <p:spTgt spid="52"/>
                                        </p:tgtEl>
                                      </p:cBhvr>
                                    </p:animEffect>
                                  </p:childTnLst>
                                </p:cTn>
                              </p:par>
                              <p:par>
                                <p:cTn id="100" presetID="10" presetClass="entr" presetSubtype="0" fill="hold" nodeType="withEffect">
                                  <p:stCondLst>
                                    <p:cond delay="0"/>
                                  </p:stCondLst>
                                  <p:childTnLst>
                                    <p:set>
                                      <p:cBhvr>
                                        <p:cTn id="101" dur="1" fill="hold">
                                          <p:stCondLst>
                                            <p:cond delay="0"/>
                                          </p:stCondLst>
                                        </p:cTn>
                                        <p:tgtEl>
                                          <p:spTgt spid="53"/>
                                        </p:tgtEl>
                                        <p:attrNameLst>
                                          <p:attrName>style.visibility</p:attrName>
                                        </p:attrNameLst>
                                      </p:cBhvr>
                                      <p:to>
                                        <p:strVal val="visible"/>
                                      </p:to>
                                    </p:set>
                                    <p:animEffect transition="in" filter="fade">
                                      <p:cBhvr>
                                        <p:cTn id="102" dur="500"/>
                                        <p:tgtEl>
                                          <p:spTgt spid="5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4"/>
                                        </p:tgtEl>
                                        <p:attrNameLst>
                                          <p:attrName>style.visibility</p:attrName>
                                        </p:attrNameLst>
                                      </p:cBhvr>
                                      <p:to>
                                        <p:strVal val="visible"/>
                                      </p:to>
                                    </p:set>
                                    <p:animEffect transition="in" filter="fade">
                                      <p:cBhvr>
                                        <p:cTn id="105" dur="500"/>
                                        <p:tgtEl>
                                          <p:spTgt spid="54"/>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5"/>
                                        </p:tgtEl>
                                        <p:attrNameLst>
                                          <p:attrName>style.visibility</p:attrName>
                                        </p:attrNameLst>
                                      </p:cBhvr>
                                      <p:to>
                                        <p:strVal val="visible"/>
                                      </p:to>
                                    </p:set>
                                    <p:animEffect transition="in" filter="fade">
                                      <p:cBhvr>
                                        <p:cTn id="108"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8" grpId="0" animBg="1"/>
      <p:bldP spid="29" grpId="0" animBg="1"/>
      <p:bldP spid="30" grpId="0" animBg="1"/>
      <p:bldP spid="32" grpId="0" animBg="1"/>
      <p:bldP spid="33" grpId="0" animBg="1"/>
      <p:bldP spid="34" grpId="0" animBg="1"/>
      <p:bldP spid="36" grpId="0" animBg="1"/>
      <p:bldP spid="37" grpId="0" animBg="1"/>
      <p:bldP spid="38" grpId="0" animBg="1"/>
      <p:bldP spid="40" grpId="0" animBg="1"/>
      <p:bldP spid="41" grpId="0" animBg="1"/>
      <p:bldP spid="42" grpId="0" animBg="1"/>
      <p:bldP spid="44" grpId="0" animBg="1"/>
      <p:bldP spid="45" grpId="0" animBg="1"/>
      <p:bldP spid="46" grpId="0" animBg="1"/>
      <p:bldP spid="47" grpId="0" animBg="1"/>
      <p:bldP spid="49" grpId="0" animBg="1"/>
      <p:bldP spid="50" grpId="0" animBg="1"/>
      <p:bldP spid="51" grpId="0" animBg="1"/>
      <p:bldP spid="52" grpId="0" animBg="1"/>
      <p:bldP spid="54" grpId="0" animBg="1"/>
      <p:bldP spid="5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A0_78" descr="preencoded.png"/>
          <p:cNvPicPr>
            <a:picLocks noChangeAspect="1"/>
          </p:cNvPicPr>
          <p:nvPr/>
        </p:nvPicPr>
        <p:blipFill>
          <a:blip r:embed="rId3"/>
          <a:stretch>
            <a:fillRect/>
          </a:stretch>
        </p:blipFill>
        <p:spPr>
          <a:xfrm>
            <a:off x="0" y="0"/>
            <a:ext cx="14287500" cy="8058150"/>
          </a:xfrm>
          <a:prstGeom prst="rect">
            <a:avLst/>
          </a:prstGeom>
        </p:spPr>
      </p:pic>
      <p:sp>
        <p:nvSpPr>
          <p:cNvPr id="4" name="A1_79"/>
          <p:cNvSpPr txBox="1"/>
          <p:nvPr/>
        </p:nvSpPr>
        <p:spPr>
          <a:xfrm>
            <a:off x="411480" y="1040130"/>
            <a:ext cx="5463540" cy="1796415"/>
          </a:xfrm>
          <a:prstGeom prst="rect">
            <a:avLst/>
          </a:prstGeom>
          <a:noFill/>
          <a:ln/>
        </p:spPr>
        <p:txBody>
          <a:bodyPr wrap="square" lIns="0" tIns="0" rIns="0" bIns="0" rtlCol="0" anchor="ctr"/>
          <a:lstStyle/>
          <a:p>
            <a:pPr marL="0" indent="0" algn="r">
              <a:spcAft>
                <a:spcPts val="400"/>
              </a:spcAft>
              <a:buNone/>
            </a:pPr>
            <a:r>
              <a:rPr lang="en-US" sz="1500" dirty="0">
                <a:solidFill>
                  <a:srgbClr val="CFE3F5"/>
                </a:solidFill>
                <a:latin typeface="Arial" pitchFamily="34" charset="0"/>
                <a:ea typeface="Arial" pitchFamily="34" charset="-122"/>
                <a:cs typeface="Arial" pitchFamily="34" charset="-120"/>
              </a:rPr>
              <a:t>Partie 01</a:t>
            </a:r>
            <a:endParaRPr lang="en-US" sz="1400" dirty="0"/>
          </a:p>
          <a:p>
            <a:pPr marL="0" indent="0" algn="r">
              <a:spcAft>
                <a:spcPts val="400"/>
              </a:spcAft>
              <a:buNone/>
            </a:pPr>
            <a:r>
              <a:rPr lang="en-US" sz="3000" b="1" dirty="0">
                <a:solidFill>
                  <a:srgbClr val="FFFFFF"/>
                </a:solidFill>
                <a:latin typeface="Arial" pitchFamily="34" charset="0"/>
                <a:ea typeface="Arial" pitchFamily="34" charset="-122"/>
                <a:cs typeface="Arial" pitchFamily="34" charset="-120"/>
              </a:rPr>
              <a:t>Contexte du projet</a:t>
            </a:r>
            <a:endParaRPr lang="en-US" sz="1400"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A0_80"/>
          <p:cNvSpPr/>
          <p:nvPr/>
        </p:nvSpPr>
        <p:spPr>
          <a:xfrm>
            <a:off x="6800850" y="274320"/>
            <a:ext cx="109728" cy="109728"/>
          </a:xfrm>
          <a:prstGeom prst="rect">
            <a:avLst/>
          </a:prstGeom>
          <a:solidFill>
            <a:srgbClr val="0A6EBD"/>
          </a:solidFill>
          <a:ln w="12700">
            <a:solidFill>
              <a:srgbClr val="0A6EBD"/>
            </a:solidFill>
            <a:prstDash val="solid"/>
          </a:ln>
        </p:spPr>
      </p:sp>
      <p:sp>
        <p:nvSpPr>
          <p:cNvPr id="4" name="A0_81"/>
          <p:cNvSpPr/>
          <p:nvPr/>
        </p:nvSpPr>
        <p:spPr>
          <a:xfrm>
            <a:off x="6992874" y="274320"/>
            <a:ext cx="109728" cy="109728"/>
          </a:xfrm>
          <a:prstGeom prst="rect">
            <a:avLst/>
          </a:prstGeom>
          <a:solidFill>
            <a:srgbClr val="0A6EBD"/>
          </a:solidFill>
          <a:ln w="12700">
            <a:solidFill>
              <a:srgbClr val="0A6EBD"/>
            </a:solidFill>
            <a:prstDash val="solid"/>
          </a:ln>
        </p:spPr>
      </p:sp>
      <p:sp>
        <p:nvSpPr>
          <p:cNvPr id="5" name="A0_82"/>
          <p:cNvSpPr/>
          <p:nvPr/>
        </p:nvSpPr>
        <p:spPr>
          <a:xfrm>
            <a:off x="7184898" y="274320"/>
            <a:ext cx="109728" cy="109728"/>
          </a:xfrm>
          <a:prstGeom prst="rect">
            <a:avLst/>
          </a:prstGeom>
          <a:solidFill>
            <a:srgbClr val="0A6EBD"/>
          </a:solidFill>
          <a:ln w="12700">
            <a:solidFill>
              <a:srgbClr val="0A6EBD"/>
            </a:solidFill>
            <a:prstDash val="solid"/>
          </a:ln>
        </p:spPr>
      </p:sp>
      <p:sp>
        <p:nvSpPr>
          <p:cNvPr id="6" name="A0_83"/>
          <p:cNvSpPr/>
          <p:nvPr/>
        </p:nvSpPr>
        <p:spPr>
          <a:xfrm>
            <a:off x="7376922" y="274320"/>
            <a:ext cx="109728" cy="109728"/>
          </a:xfrm>
          <a:prstGeom prst="rect">
            <a:avLst/>
          </a:prstGeom>
          <a:solidFill>
            <a:srgbClr val="0A6EBD"/>
          </a:solidFill>
          <a:ln w="12700">
            <a:solidFill>
              <a:srgbClr val="0A6EBD"/>
            </a:solidFill>
            <a:prstDash val="solid"/>
          </a:ln>
        </p:spPr>
      </p:sp>
      <p:sp>
        <p:nvSpPr>
          <p:cNvPr id="7" name="A0_84"/>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Organisme d'accueil</a:t>
            </a:r>
            <a:endParaRPr lang="en-US" sz="3600" dirty="0"/>
          </a:p>
        </p:txBody>
      </p:sp>
      <p:pic>
        <p:nvPicPr>
          <p:cNvPr id="8" name="A0_85"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99"/>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100"/>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pic>
        <p:nvPicPr>
          <p:cNvPr id="24" name="A1_101" descr="preencoded.png"/>
          <p:cNvPicPr>
            <a:picLocks noChangeAspect="1"/>
          </p:cNvPicPr>
          <p:nvPr/>
        </p:nvPicPr>
        <p:blipFill>
          <a:blip r:embed="rId3"/>
          <a:stretch>
            <a:fillRect/>
          </a:stretch>
        </p:blipFill>
        <p:spPr>
          <a:xfrm>
            <a:off x="1005840" y="1691640"/>
            <a:ext cx="3840480" cy="891680"/>
          </a:xfrm>
          <a:prstGeom prst="rect">
            <a:avLst/>
          </a:prstGeom>
        </p:spPr>
      </p:pic>
      <p:sp>
        <p:nvSpPr>
          <p:cNvPr id="25" name="A1_102"/>
          <p:cNvSpPr txBox="1"/>
          <p:nvPr/>
        </p:nvSpPr>
        <p:spPr>
          <a:xfrm>
            <a:off x="1005840" y="2743200"/>
            <a:ext cx="6217920" cy="731520"/>
          </a:xfrm>
          <a:prstGeom prst="rect">
            <a:avLst/>
          </a:prstGeom>
          <a:noFill/>
          <a:ln/>
        </p:spPr>
        <p:txBody>
          <a:bodyPr wrap="square" lIns="0" tIns="0" rIns="0" bIns="0" rtlCol="0" anchor="t"/>
          <a:lstStyle/>
          <a:p>
            <a:pPr marL="0" indent="0">
              <a:buNone/>
            </a:pPr>
            <a:r>
              <a:rPr lang="en-US" sz="1500" dirty="0">
                <a:solidFill>
                  <a:srgbClr val="595959"/>
                </a:solidFill>
                <a:latin typeface="Arial" pitchFamily="34" charset="0"/>
                <a:ea typeface="Arial" pitchFamily="34" charset="-122"/>
                <a:cs typeface="Arial" pitchFamily="34" charset="-120"/>
              </a:rPr>
              <a:t>Éditeur international de logiciels FinTech pour la banque, l'assurance et la gestion d'actifs</a:t>
            </a:r>
            <a:endParaRPr lang="en-US" sz="1500" dirty="0"/>
          </a:p>
        </p:txBody>
      </p:sp>
      <p:sp>
        <p:nvSpPr>
          <p:cNvPr id="26" name="A1_103"/>
          <p:cNvSpPr txBox="1"/>
          <p:nvPr/>
        </p:nvSpPr>
        <p:spPr>
          <a:xfrm>
            <a:off x="1005840" y="3520440"/>
            <a:ext cx="6217920" cy="411480"/>
          </a:xfrm>
          <a:prstGeom prst="rect">
            <a:avLst/>
          </a:prstGeom>
          <a:noFill/>
          <a:ln/>
        </p:spPr>
        <p:txBody>
          <a:bodyPr wrap="square" lIns="0" tIns="0" rIns="0" bIns="0" rtlCol="0" anchor="t"/>
          <a:lstStyle/>
          <a:p>
            <a:pPr marL="0" indent="0">
              <a:buNone/>
            </a:pPr>
            <a:r>
              <a:rPr lang="en-US" sz="1300" b="1" dirty="0">
                <a:solidFill>
                  <a:srgbClr val="0B3C66"/>
                </a:solidFill>
                <a:latin typeface="Arial" pitchFamily="34" charset="0"/>
                <a:ea typeface="Arial" pitchFamily="34" charset="-122"/>
                <a:cs typeface="Arial" pitchFamily="34" charset="-120"/>
              </a:rPr>
              <a:t>Produits : </a:t>
            </a:r>
            <a:r>
              <a:rPr lang="en-US" sz="1300" dirty="0">
                <a:solidFill>
                  <a:srgbClr val="595959"/>
                </a:solidFill>
                <a:latin typeface="Arial" pitchFamily="34" charset="0"/>
                <a:ea typeface="Arial" pitchFamily="34" charset="-122"/>
                <a:cs typeface="Arial" pitchFamily="34" charset="-120"/>
              </a:rPr>
              <a:t>Colline, Soliam, Solife, AGILE Reporter, Palmyra</a:t>
            </a:r>
            <a:endParaRPr lang="en-US" sz="1300" dirty="0"/>
          </a:p>
        </p:txBody>
      </p:sp>
      <p:sp>
        <p:nvSpPr>
          <p:cNvPr id="27" name="A2_104"/>
          <p:cNvSpPr/>
          <p:nvPr/>
        </p:nvSpPr>
        <p:spPr>
          <a:xfrm>
            <a:off x="1005840" y="4572000"/>
            <a:ext cx="1600200" cy="1600200"/>
          </a:xfrm>
          <a:prstGeom prst="ellipse">
            <a:avLst/>
          </a:prstGeom>
          <a:solidFill>
            <a:srgbClr val="FFFFFF"/>
          </a:solidFill>
          <a:ln w="122238">
            <a:solidFill>
              <a:srgbClr val="0A6EBD"/>
            </a:solidFill>
            <a:prstDash val="solid"/>
          </a:ln>
        </p:spPr>
        <p:txBody>
          <a:bodyPr/>
          <a:lstStyle/>
          <a:p>
            <a:endParaRPr lang="fr-FR"/>
          </a:p>
        </p:txBody>
      </p:sp>
      <p:pic>
        <p:nvPicPr>
          <p:cNvPr id="28" name="A2_105" descr="preencoded.png"/>
          <p:cNvPicPr>
            <a:picLocks noChangeAspect="1"/>
          </p:cNvPicPr>
          <p:nvPr/>
        </p:nvPicPr>
        <p:blipFill>
          <a:blip r:embed="rId4"/>
          <a:stretch>
            <a:fillRect/>
          </a:stretch>
        </p:blipFill>
        <p:spPr>
          <a:xfrm>
            <a:off x="1353312" y="4942076"/>
            <a:ext cx="896112" cy="896112"/>
          </a:xfrm>
          <a:prstGeom prst="rect">
            <a:avLst/>
          </a:prstGeom>
        </p:spPr>
      </p:pic>
      <p:sp>
        <p:nvSpPr>
          <p:cNvPr id="29" name="A2_106"/>
          <p:cNvSpPr txBox="1"/>
          <p:nvPr/>
        </p:nvSpPr>
        <p:spPr>
          <a:xfrm>
            <a:off x="2880360" y="4343400"/>
            <a:ext cx="4754880" cy="960120"/>
          </a:xfrm>
          <a:prstGeom prst="rect">
            <a:avLst/>
          </a:prstGeom>
          <a:noFill/>
          <a:ln/>
        </p:spPr>
        <p:txBody>
          <a:bodyPr wrap="square" lIns="0" tIns="0" rIns="0" bIns="0" rtlCol="0" anchor="ctr"/>
          <a:lstStyle/>
          <a:p>
            <a:pPr marL="0" indent="0">
              <a:buNone/>
            </a:pPr>
            <a:r>
              <a:rPr lang="en-US" sz="5000" b="1" dirty="0">
                <a:solidFill>
                  <a:srgbClr val="0A6EBD"/>
                </a:solidFill>
                <a:latin typeface="Arial" pitchFamily="34" charset="0"/>
                <a:ea typeface="Arial" pitchFamily="34" charset="-122"/>
                <a:cs typeface="Arial" pitchFamily="34" charset="-120"/>
              </a:rPr>
              <a:t>16 </a:t>
            </a:r>
            <a:r>
              <a:rPr lang="en-US" sz="1900" b="1" dirty="0">
                <a:solidFill>
                  <a:srgbClr val="262626"/>
                </a:solidFill>
                <a:latin typeface="Arial" pitchFamily="34" charset="0"/>
                <a:ea typeface="Arial" pitchFamily="34" charset="-122"/>
                <a:cs typeface="Arial" pitchFamily="34" charset="-120"/>
              </a:rPr>
              <a:t>pays d'implantation</a:t>
            </a:r>
            <a:endParaRPr lang="en-US" sz="1400" dirty="0"/>
          </a:p>
        </p:txBody>
      </p:sp>
      <p:sp>
        <p:nvSpPr>
          <p:cNvPr id="30" name="A2_107"/>
          <p:cNvSpPr txBox="1"/>
          <p:nvPr/>
        </p:nvSpPr>
        <p:spPr>
          <a:xfrm>
            <a:off x="2880360" y="5394960"/>
            <a:ext cx="4754880" cy="960120"/>
          </a:xfrm>
          <a:prstGeom prst="rect">
            <a:avLst/>
          </a:prstGeom>
          <a:noFill/>
          <a:ln/>
        </p:spPr>
        <p:txBody>
          <a:bodyPr wrap="square" lIns="0" tIns="0" rIns="0" bIns="0" rtlCol="0" anchor="ctr"/>
          <a:lstStyle/>
          <a:p>
            <a:pPr marL="0" indent="0">
              <a:buNone/>
            </a:pPr>
            <a:r>
              <a:rPr lang="en-US" sz="5000" b="1" dirty="0">
                <a:solidFill>
                  <a:srgbClr val="0A6EBD"/>
                </a:solidFill>
                <a:latin typeface="Arial" pitchFamily="34" charset="0"/>
                <a:ea typeface="Arial" pitchFamily="34" charset="-122"/>
                <a:cs typeface="Arial" pitchFamily="34" charset="-120"/>
              </a:rPr>
              <a:t>40+ </a:t>
            </a:r>
            <a:r>
              <a:rPr lang="en-US" sz="1900" b="1" dirty="0">
                <a:solidFill>
                  <a:srgbClr val="262626"/>
                </a:solidFill>
                <a:latin typeface="Arial" pitchFamily="34" charset="0"/>
                <a:ea typeface="Arial" pitchFamily="34" charset="-122"/>
                <a:cs typeface="Arial" pitchFamily="34" charset="-120"/>
              </a:rPr>
              <a:t>pays clients</a:t>
            </a:r>
            <a:endParaRPr lang="en-US" sz="1400" dirty="0"/>
          </a:p>
        </p:txBody>
      </p:sp>
      <p:sp>
        <p:nvSpPr>
          <p:cNvPr id="31" name="A3_108"/>
          <p:cNvSpPr/>
          <p:nvPr/>
        </p:nvSpPr>
        <p:spPr>
          <a:xfrm>
            <a:off x="8229600" y="1600200"/>
            <a:ext cx="5212080" cy="1143000"/>
          </a:xfrm>
          <a:prstGeom prst="roundRect">
            <a:avLst>
              <a:gd name="adj" fmla="val 49600"/>
            </a:avLst>
          </a:prstGeom>
          <a:solidFill>
            <a:srgbClr val="0A6EBD"/>
          </a:solidFill>
          <a:ln w="12700">
            <a:solidFill>
              <a:srgbClr val="0A6EBD"/>
            </a:solidFill>
            <a:prstDash val="solid"/>
          </a:ln>
          <a:effectLst>
            <a:outerShdw blurRad="63500" dist="25400" dir="5400000" algn="bl" rotWithShape="0">
              <a:srgbClr val="000000">
                <a:alpha val="20000"/>
              </a:srgbClr>
            </a:outerShdw>
          </a:effectLst>
        </p:spPr>
        <p:txBody>
          <a:bodyPr/>
          <a:lstStyle/>
          <a:p>
            <a:endParaRPr lang="fr-FR"/>
          </a:p>
        </p:txBody>
      </p:sp>
      <p:pic>
        <p:nvPicPr>
          <p:cNvPr id="32" name="A3_109" descr="preencoded.png"/>
          <p:cNvPicPr>
            <a:picLocks noChangeAspect="1"/>
          </p:cNvPicPr>
          <p:nvPr/>
        </p:nvPicPr>
        <p:blipFill>
          <a:blip r:embed="rId5"/>
          <a:stretch>
            <a:fillRect/>
          </a:stretch>
        </p:blipFill>
        <p:spPr>
          <a:xfrm>
            <a:off x="8595360" y="1828800"/>
            <a:ext cx="685800" cy="685800"/>
          </a:xfrm>
          <a:prstGeom prst="rect">
            <a:avLst/>
          </a:prstGeom>
        </p:spPr>
      </p:pic>
      <p:sp>
        <p:nvSpPr>
          <p:cNvPr id="33" name="A3_110"/>
          <p:cNvSpPr txBox="1"/>
          <p:nvPr/>
        </p:nvSpPr>
        <p:spPr>
          <a:xfrm>
            <a:off x="9555480" y="1600200"/>
            <a:ext cx="3657600" cy="1143000"/>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1993</a:t>
            </a:r>
            <a:endParaRPr lang="en-US" sz="1400" dirty="0"/>
          </a:p>
          <a:p>
            <a:pPr marL="0" indent="0">
              <a:buNone/>
            </a:pPr>
            <a:r>
              <a:rPr lang="en-US" sz="1300" dirty="0">
                <a:solidFill>
                  <a:srgbClr val="DCEAF7"/>
                </a:solidFill>
                <a:latin typeface="Arial" pitchFamily="34" charset="0"/>
                <a:ea typeface="Arial" pitchFamily="34" charset="-122"/>
                <a:cs typeface="Arial" pitchFamily="34" charset="-120"/>
              </a:rPr>
              <a:t>indépendante depuis 2002</a:t>
            </a:r>
            <a:endParaRPr lang="en-US" sz="1400" dirty="0"/>
          </a:p>
        </p:txBody>
      </p:sp>
      <p:sp>
        <p:nvSpPr>
          <p:cNvPr id="34" name="A4_111"/>
          <p:cNvSpPr/>
          <p:nvPr/>
        </p:nvSpPr>
        <p:spPr>
          <a:xfrm>
            <a:off x="8229600" y="3017520"/>
            <a:ext cx="5212080" cy="1143000"/>
          </a:xfrm>
          <a:prstGeom prst="roundRect">
            <a:avLst>
              <a:gd name="adj" fmla="val 49600"/>
            </a:avLst>
          </a:prstGeom>
          <a:solidFill>
            <a:srgbClr val="0A6EBD"/>
          </a:solidFill>
          <a:ln w="12700">
            <a:solidFill>
              <a:srgbClr val="0A6EBD"/>
            </a:solidFill>
            <a:prstDash val="solid"/>
          </a:ln>
          <a:effectLst>
            <a:outerShdw blurRad="63500" dist="25400" dir="5400000" algn="bl" rotWithShape="0">
              <a:srgbClr val="000000">
                <a:alpha val="20000"/>
              </a:srgbClr>
            </a:outerShdw>
          </a:effectLst>
        </p:spPr>
        <p:txBody>
          <a:bodyPr/>
          <a:lstStyle/>
          <a:p>
            <a:endParaRPr lang="fr-FR"/>
          </a:p>
        </p:txBody>
      </p:sp>
      <p:pic>
        <p:nvPicPr>
          <p:cNvPr id="35" name="A4_112" descr="preencoded.png"/>
          <p:cNvPicPr>
            <a:picLocks noChangeAspect="1"/>
          </p:cNvPicPr>
          <p:nvPr/>
        </p:nvPicPr>
        <p:blipFill>
          <a:blip r:embed="rId6"/>
          <a:stretch>
            <a:fillRect/>
          </a:stretch>
        </p:blipFill>
        <p:spPr>
          <a:xfrm>
            <a:off x="8595360" y="3246120"/>
            <a:ext cx="685800" cy="685800"/>
          </a:xfrm>
          <a:prstGeom prst="rect">
            <a:avLst/>
          </a:prstGeom>
        </p:spPr>
      </p:pic>
      <p:sp>
        <p:nvSpPr>
          <p:cNvPr id="36" name="A4_113"/>
          <p:cNvSpPr txBox="1"/>
          <p:nvPr/>
        </p:nvSpPr>
        <p:spPr>
          <a:xfrm>
            <a:off x="9555480" y="3017520"/>
            <a:ext cx="3657600" cy="1143000"/>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Amsterdam</a:t>
            </a:r>
            <a:endParaRPr lang="en-US" sz="1400" dirty="0"/>
          </a:p>
          <a:p>
            <a:pPr marL="0" indent="0">
              <a:buNone/>
            </a:pPr>
            <a:r>
              <a:rPr lang="en-US" sz="1300" dirty="0">
                <a:solidFill>
                  <a:srgbClr val="DCEAF7"/>
                </a:solidFill>
                <a:latin typeface="Arial" pitchFamily="34" charset="0"/>
                <a:ea typeface="Arial" pitchFamily="34" charset="-122"/>
                <a:cs typeface="Arial" pitchFamily="34" charset="-120"/>
              </a:rPr>
              <a:t>siège social, Pays-Bas</a:t>
            </a:r>
            <a:endParaRPr lang="en-US" sz="1400" dirty="0"/>
          </a:p>
        </p:txBody>
      </p:sp>
      <p:sp>
        <p:nvSpPr>
          <p:cNvPr id="37" name="A5_114"/>
          <p:cNvSpPr/>
          <p:nvPr/>
        </p:nvSpPr>
        <p:spPr>
          <a:xfrm>
            <a:off x="8229600" y="4434840"/>
            <a:ext cx="5212080" cy="1143000"/>
          </a:xfrm>
          <a:prstGeom prst="roundRect">
            <a:avLst>
              <a:gd name="adj" fmla="val 49600"/>
            </a:avLst>
          </a:prstGeom>
          <a:solidFill>
            <a:srgbClr val="0A6EBD"/>
          </a:solidFill>
          <a:ln w="12700">
            <a:solidFill>
              <a:srgbClr val="0A6EBD"/>
            </a:solidFill>
            <a:prstDash val="solid"/>
          </a:ln>
          <a:effectLst>
            <a:outerShdw blurRad="63500" dist="25400" dir="5400000" algn="bl" rotWithShape="0">
              <a:srgbClr val="000000">
                <a:alpha val="20000"/>
              </a:srgbClr>
            </a:outerShdw>
          </a:effectLst>
        </p:spPr>
        <p:txBody>
          <a:bodyPr/>
          <a:lstStyle/>
          <a:p>
            <a:endParaRPr lang="fr-FR"/>
          </a:p>
        </p:txBody>
      </p:sp>
      <p:pic>
        <p:nvPicPr>
          <p:cNvPr id="38" name="A5_115" descr="preencoded.png"/>
          <p:cNvPicPr>
            <a:picLocks noChangeAspect="1"/>
          </p:cNvPicPr>
          <p:nvPr/>
        </p:nvPicPr>
        <p:blipFill>
          <a:blip r:embed="rId7"/>
          <a:stretch>
            <a:fillRect/>
          </a:stretch>
        </p:blipFill>
        <p:spPr>
          <a:xfrm>
            <a:off x="8595360" y="4663440"/>
            <a:ext cx="685800" cy="685800"/>
          </a:xfrm>
          <a:prstGeom prst="rect">
            <a:avLst/>
          </a:prstGeom>
        </p:spPr>
      </p:pic>
      <p:sp>
        <p:nvSpPr>
          <p:cNvPr id="39" name="A5_116"/>
          <p:cNvSpPr txBox="1"/>
          <p:nvPr/>
        </p:nvSpPr>
        <p:spPr>
          <a:xfrm>
            <a:off x="9555480" y="4434840"/>
            <a:ext cx="3657600" cy="1143000"/>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+1 000</a:t>
            </a:r>
            <a:endParaRPr lang="en-US" sz="1400" dirty="0"/>
          </a:p>
          <a:p>
            <a:pPr marL="0" indent="0">
              <a:buNone/>
            </a:pPr>
            <a:r>
              <a:rPr lang="en-US" sz="1300" dirty="0">
                <a:solidFill>
                  <a:srgbClr val="DCEAF7"/>
                </a:solidFill>
                <a:latin typeface="Arial" pitchFamily="34" charset="0"/>
                <a:ea typeface="Arial" pitchFamily="34" charset="-122"/>
                <a:cs typeface="Arial" pitchFamily="34" charset="-120"/>
              </a:rPr>
              <a:t>collaborateurs</a:t>
            </a:r>
            <a:endParaRPr lang="en-US" sz="1400" dirty="0"/>
          </a:p>
        </p:txBody>
      </p:sp>
      <p:sp>
        <p:nvSpPr>
          <p:cNvPr id="40" name="A6_117"/>
          <p:cNvSpPr/>
          <p:nvPr/>
        </p:nvSpPr>
        <p:spPr>
          <a:xfrm>
            <a:off x="8229600" y="5852160"/>
            <a:ext cx="5212080" cy="1143000"/>
          </a:xfrm>
          <a:prstGeom prst="roundRect">
            <a:avLst>
              <a:gd name="adj" fmla="val 49600"/>
            </a:avLst>
          </a:prstGeom>
          <a:solidFill>
            <a:srgbClr val="0A6EBD"/>
          </a:solidFill>
          <a:ln w="12700">
            <a:solidFill>
              <a:srgbClr val="0A6EBD"/>
            </a:solidFill>
            <a:prstDash val="solid"/>
          </a:ln>
          <a:effectLst>
            <a:outerShdw blurRad="63500" dist="25400" dir="5400000" algn="bl" rotWithShape="0">
              <a:srgbClr val="000000">
                <a:alpha val="20000"/>
              </a:srgbClr>
            </a:outerShdw>
          </a:effectLst>
        </p:spPr>
        <p:txBody>
          <a:bodyPr/>
          <a:lstStyle/>
          <a:p>
            <a:endParaRPr lang="fr-FR"/>
          </a:p>
        </p:txBody>
      </p:sp>
      <p:pic>
        <p:nvPicPr>
          <p:cNvPr id="41" name="A6_118" descr="preencoded.png"/>
          <p:cNvPicPr>
            <a:picLocks noChangeAspect="1"/>
          </p:cNvPicPr>
          <p:nvPr/>
        </p:nvPicPr>
        <p:blipFill>
          <a:blip r:embed="rId8"/>
          <a:stretch>
            <a:fillRect/>
          </a:stretch>
        </p:blipFill>
        <p:spPr>
          <a:xfrm>
            <a:off x="8595360" y="6080760"/>
            <a:ext cx="685800" cy="685800"/>
          </a:xfrm>
          <a:prstGeom prst="rect">
            <a:avLst/>
          </a:prstGeom>
        </p:spPr>
      </p:pic>
      <p:sp>
        <p:nvSpPr>
          <p:cNvPr id="42" name="A6_119"/>
          <p:cNvSpPr txBox="1"/>
          <p:nvPr/>
        </p:nvSpPr>
        <p:spPr>
          <a:xfrm>
            <a:off x="9555480" y="5852160"/>
            <a:ext cx="3657600" cy="1143000"/>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FinTech</a:t>
            </a:r>
            <a:endParaRPr lang="en-US" sz="1400" dirty="0"/>
          </a:p>
          <a:p>
            <a:pPr marL="0" indent="0">
              <a:buNone/>
            </a:pPr>
            <a:r>
              <a:rPr lang="en-US" sz="1300" dirty="0">
                <a:solidFill>
                  <a:srgbClr val="DCEAF7"/>
                </a:solidFill>
                <a:latin typeface="Arial" pitchFamily="34" charset="0"/>
                <a:ea typeface="Arial" pitchFamily="34" charset="-122"/>
                <a:cs typeface="Arial" pitchFamily="34" charset="-120"/>
              </a:rPr>
              <a:t>banque, assurance, actifs</a:t>
            </a:r>
            <a:endParaRPr lang="en-US" sz="1400" dirty="0"/>
          </a:p>
        </p:txBody>
      </p:sp>
      <p:sp>
        <p:nvSpPr>
          <p:cNvPr id="2" name="Rectangle 1">
            <a:extLst>
              <a:ext uri="{FF2B5EF4-FFF2-40B4-BE49-F238E27FC236}">
                <a16:creationId xmlns:a16="http://schemas.microsoft.com/office/drawing/2014/main" id="{4CDCCCC6-1DD5-41C0-9D93-AA714761A2DB}"/>
              </a:ext>
            </a:extLst>
          </p:cNvPr>
          <p:cNvSpPr>
            <a:spLocks noChangeArrowheads="1"/>
          </p:cNvSpPr>
          <p:nvPr/>
        </p:nvSpPr>
        <p:spPr bwMode="auto">
          <a:xfrm>
            <a:off x="0" y="0"/>
            <a:ext cx="142875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43" name="Rectangle 2">
            <a:extLst>
              <a:ext uri="{FF2B5EF4-FFF2-40B4-BE49-F238E27FC236}">
                <a16:creationId xmlns:a16="http://schemas.microsoft.com/office/drawing/2014/main" id="{825A0922-F1A5-4FDF-AA03-18A300FDE1F9}"/>
              </a:ext>
            </a:extLst>
          </p:cNvPr>
          <p:cNvSpPr>
            <a:spLocks noChangeArrowheads="1"/>
          </p:cNvSpPr>
          <p:nvPr/>
        </p:nvSpPr>
        <p:spPr bwMode="auto">
          <a:xfrm>
            <a:off x="152400" y="152400"/>
            <a:ext cx="142875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pic>
        <p:nvPicPr>
          <p:cNvPr id="49" name="Graphic 48" descr="Europe with solid fill">
            <a:extLst>
              <a:ext uri="{FF2B5EF4-FFF2-40B4-BE49-F238E27FC236}">
                <a16:creationId xmlns:a16="http://schemas.microsoft.com/office/drawing/2014/main" id="{12ED2383-6ED5-4918-B8D4-CC08418A350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89704" y="4892040"/>
            <a:ext cx="3383280" cy="338328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par>
                                <p:cTn id="18" presetID="10" presetClass="entr" presetSubtype="0" fill="hold"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500"/>
                                        <p:tgtEl>
                                          <p:spTgt spid="2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500"/>
                                        <p:tgtEl>
                                          <p:spTgt spid="30"/>
                                        </p:tgtEl>
                                      </p:cBhvr>
                                    </p:animEffect>
                                  </p:childTnLst>
                                </p:cTn>
                              </p:par>
                            </p:childTnLst>
                          </p:cTn>
                        </p:par>
                        <p:par>
                          <p:cTn id="27"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childTnLst>
                                </p:cTn>
                              </p:par>
                              <p:par>
                                <p:cTn id="31" presetID="10" presetClass="entr" presetSubtype="0" fill="hold"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500"/>
                                        <p:tgtEl>
                                          <p:spTgt spid="33"/>
                                        </p:tgtEl>
                                      </p:cBhvr>
                                    </p:animEffect>
                                  </p:childTnLst>
                                </p:cTn>
                              </p:par>
                            </p:childTnLst>
                          </p:cTn>
                        </p:par>
                        <p:par>
                          <p:cTn id="37" fill="hold">
                            <p:stCondLst>
                              <p:cond delay="1050"/>
                            </p:stCondLst>
                            <p:childTnLst>
                              <p:par>
                                <p:cTn id="38" presetID="10" presetClass="entr" presetSubtype="0" fill="hold" grpId="0" nodeType="after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500"/>
                                        <p:tgtEl>
                                          <p:spTgt spid="34"/>
                                        </p:tgtEl>
                                      </p:cBhvr>
                                    </p:animEffect>
                                  </p:childTnLst>
                                </p:cTn>
                              </p:par>
                              <p:par>
                                <p:cTn id="41" presetID="10" presetClass="entr" presetSubtype="0" fill="hold"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500"/>
                                        <p:tgtEl>
                                          <p:spTgt spid="3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childTnLst>
                          </p:cTn>
                        </p:par>
                        <p:par>
                          <p:cTn id="47" fill="hold">
                            <p:stCondLst>
                              <p:cond delay="1400"/>
                            </p:stCondLst>
                            <p:childTnLst>
                              <p:par>
                                <p:cTn id="48" presetID="10" presetClass="entr" presetSubtype="0" fill="hold" grpId="0" nodeType="after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500"/>
                                        <p:tgtEl>
                                          <p:spTgt spid="37"/>
                                        </p:tgtEl>
                                      </p:cBhvr>
                                    </p:animEffect>
                                  </p:childTnLst>
                                </p:cTn>
                              </p:par>
                              <p:par>
                                <p:cTn id="51" presetID="10"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9"/>
                                        </p:tgtEl>
                                        <p:attrNameLst>
                                          <p:attrName>style.visibility</p:attrName>
                                        </p:attrNameLst>
                                      </p:cBhvr>
                                      <p:to>
                                        <p:strVal val="visible"/>
                                      </p:to>
                                    </p:set>
                                    <p:animEffect transition="in" filter="fade">
                                      <p:cBhvr>
                                        <p:cTn id="56" dur="500"/>
                                        <p:tgtEl>
                                          <p:spTgt spid="39"/>
                                        </p:tgtEl>
                                      </p:cBhvr>
                                    </p:animEffect>
                                  </p:childTnLst>
                                </p:cTn>
                              </p:par>
                            </p:childTnLst>
                          </p:cTn>
                        </p:par>
                        <p:par>
                          <p:cTn id="57" fill="hold">
                            <p:stCondLst>
                              <p:cond delay="1750"/>
                            </p:stCondLst>
                            <p:childTnLst>
                              <p:par>
                                <p:cTn id="58" presetID="10" presetClass="entr" presetSubtype="0" fill="hold" grpId="0" nodeType="afterEffect">
                                  <p:stCondLst>
                                    <p:cond delay="0"/>
                                  </p:stCondLst>
                                  <p:childTnLst>
                                    <p:set>
                                      <p:cBhvr>
                                        <p:cTn id="59" dur="1" fill="hold">
                                          <p:stCondLst>
                                            <p:cond delay="0"/>
                                          </p:stCondLst>
                                        </p:cTn>
                                        <p:tgtEl>
                                          <p:spTgt spid="40"/>
                                        </p:tgtEl>
                                        <p:attrNameLst>
                                          <p:attrName>style.visibility</p:attrName>
                                        </p:attrNameLst>
                                      </p:cBhvr>
                                      <p:to>
                                        <p:strVal val="visible"/>
                                      </p:to>
                                    </p:set>
                                    <p:animEffect transition="in" filter="fade">
                                      <p:cBhvr>
                                        <p:cTn id="60" dur="500"/>
                                        <p:tgtEl>
                                          <p:spTgt spid="40"/>
                                        </p:tgtEl>
                                      </p:cBhvr>
                                    </p:animEffect>
                                  </p:childTnLst>
                                </p:cTn>
                              </p:par>
                              <p:par>
                                <p:cTn id="61" presetID="10" presetClass="entr" presetSubtype="0" fill="hold" nodeType="with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500"/>
                                        <p:tgtEl>
                                          <p:spTgt spid="4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2"/>
                                        </p:tgtEl>
                                        <p:attrNameLst>
                                          <p:attrName>style.visibility</p:attrName>
                                        </p:attrNameLst>
                                      </p:cBhvr>
                                      <p:to>
                                        <p:strVal val="visible"/>
                                      </p:to>
                                    </p:set>
                                    <p:animEffect transition="in" filter="fade">
                                      <p:cBhvr>
                                        <p:cTn id="66"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9" grpId="0" animBg="1"/>
      <p:bldP spid="30" grpId="0" animBg="1"/>
      <p:bldP spid="31" grpId="0" animBg="1"/>
      <p:bldP spid="33" grpId="0" animBg="1"/>
      <p:bldP spid="34" grpId="0" animBg="1"/>
      <p:bldP spid="36" grpId="0" animBg="1"/>
      <p:bldP spid="37" grpId="0" animBg="1"/>
      <p:bldP spid="39" grpId="0" animBg="1"/>
      <p:bldP spid="40" grpId="0" animBg="1"/>
      <p:bldP spid="4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A0_120"/>
          <p:cNvSpPr/>
          <p:nvPr/>
        </p:nvSpPr>
        <p:spPr>
          <a:xfrm>
            <a:off x="6800850" y="274320"/>
            <a:ext cx="109728" cy="109728"/>
          </a:xfrm>
          <a:prstGeom prst="rect">
            <a:avLst/>
          </a:prstGeom>
          <a:solidFill>
            <a:srgbClr val="0A6EBD"/>
          </a:solidFill>
          <a:ln w="12700">
            <a:solidFill>
              <a:srgbClr val="0A6EBD"/>
            </a:solidFill>
            <a:prstDash val="solid"/>
          </a:ln>
        </p:spPr>
      </p:sp>
      <p:sp>
        <p:nvSpPr>
          <p:cNvPr id="4" name="A0_121"/>
          <p:cNvSpPr/>
          <p:nvPr/>
        </p:nvSpPr>
        <p:spPr>
          <a:xfrm>
            <a:off x="6992874" y="274320"/>
            <a:ext cx="109728" cy="109728"/>
          </a:xfrm>
          <a:prstGeom prst="rect">
            <a:avLst/>
          </a:prstGeom>
          <a:solidFill>
            <a:srgbClr val="0A6EBD"/>
          </a:solidFill>
          <a:ln w="12700">
            <a:solidFill>
              <a:srgbClr val="0A6EBD"/>
            </a:solidFill>
            <a:prstDash val="solid"/>
          </a:ln>
        </p:spPr>
      </p:sp>
      <p:sp>
        <p:nvSpPr>
          <p:cNvPr id="5" name="A0_122"/>
          <p:cNvSpPr/>
          <p:nvPr/>
        </p:nvSpPr>
        <p:spPr>
          <a:xfrm>
            <a:off x="7184898" y="274320"/>
            <a:ext cx="109728" cy="109728"/>
          </a:xfrm>
          <a:prstGeom prst="rect">
            <a:avLst/>
          </a:prstGeom>
          <a:solidFill>
            <a:srgbClr val="0A6EBD"/>
          </a:solidFill>
          <a:ln w="12700">
            <a:solidFill>
              <a:srgbClr val="0A6EBD"/>
            </a:solidFill>
            <a:prstDash val="solid"/>
          </a:ln>
        </p:spPr>
      </p:sp>
      <p:sp>
        <p:nvSpPr>
          <p:cNvPr id="6" name="A0_123"/>
          <p:cNvSpPr/>
          <p:nvPr/>
        </p:nvSpPr>
        <p:spPr>
          <a:xfrm>
            <a:off x="7376922" y="274320"/>
            <a:ext cx="109728" cy="109728"/>
          </a:xfrm>
          <a:prstGeom prst="rect">
            <a:avLst/>
          </a:prstGeom>
          <a:solidFill>
            <a:srgbClr val="0A6EBD"/>
          </a:solidFill>
          <a:ln w="12700">
            <a:solidFill>
              <a:srgbClr val="0A6EBD"/>
            </a:solidFill>
            <a:prstDash val="solid"/>
          </a:ln>
        </p:spPr>
      </p:sp>
      <p:sp>
        <p:nvSpPr>
          <p:cNvPr id="7" name="A0_124"/>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Étude de l'existant</a:t>
            </a:r>
            <a:endParaRPr lang="en-US" sz="3600" dirty="0"/>
          </a:p>
        </p:txBody>
      </p:sp>
      <p:pic>
        <p:nvPicPr>
          <p:cNvPr id="8" name="A0_125"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139"/>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140"/>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4" name="A1_141"/>
          <p:cNvSpPr txBox="1"/>
          <p:nvPr/>
        </p:nvSpPr>
        <p:spPr>
          <a:xfrm>
            <a:off x="822960" y="1463040"/>
            <a:ext cx="7680960" cy="411480"/>
          </a:xfrm>
          <a:prstGeom prst="rect">
            <a:avLst/>
          </a:prstGeom>
          <a:noFill/>
          <a:ln/>
        </p:spPr>
        <p:txBody>
          <a:bodyPr wrap="square" lIns="0" tIns="0" rIns="0" bIns="0" rtlCol="0" anchor="t"/>
          <a:lstStyle/>
          <a:p>
            <a:pPr marL="0" indent="0">
              <a:buNone/>
            </a:pPr>
            <a:r>
              <a:rPr lang="en-US" sz="1800" b="1" dirty="0">
                <a:solidFill>
                  <a:srgbClr val="0B3C66"/>
                </a:solidFill>
                <a:latin typeface="Arial" pitchFamily="34" charset="0"/>
                <a:ea typeface="Arial" pitchFamily="34" charset="-122"/>
                <a:cs typeface="Arial" pitchFamily="34" charset="-120"/>
              </a:rPr>
              <a:t>Comment un incident est traité aujourd'hui</a:t>
            </a:r>
            <a:endParaRPr lang="en-US" sz="1800" dirty="0"/>
          </a:p>
        </p:txBody>
      </p:sp>
      <p:sp>
        <p:nvSpPr>
          <p:cNvPr id="25" name="A2_142"/>
          <p:cNvSpPr/>
          <p:nvPr/>
        </p:nvSpPr>
        <p:spPr>
          <a:xfrm>
            <a:off x="3931920" y="3703320"/>
            <a:ext cx="1188720" cy="1188720"/>
          </a:xfrm>
          <a:prstGeom prst="ellipse">
            <a:avLst/>
          </a:prstGeom>
          <a:solidFill>
            <a:srgbClr val="FFFFFF"/>
          </a:solidFill>
          <a:ln w="90805">
            <a:solidFill>
              <a:srgbClr val="0A6EBD"/>
            </a:solidFill>
            <a:prstDash val="solid"/>
          </a:ln>
        </p:spPr>
        <p:txBody>
          <a:bodyPr/>
          <a:lstStyle/>
          <a:p>
            <a:endParaRPr lang="fr-FR"/>
          </a:p>
        </p:txBody>
      </p:sp>
      <p:pic>
        <p:nvPicPr>
          <p:cNvPr id="26" name="A2_143" descr="preencoded.png"/>
          <p:cNvPicPr>
            <a:picLocks noChangeAspect="1"/>
          </p:cNvPicPr>
          <p:nvPr/>
        </p:nvPicPr>
        <p:blipFill>
          <a:blip r:embed="rId4"/>
          <a:stretch>
            <a:fillRect/>
          </a:stretch>
        </p:blipFill>
        <p:spPr>
          <a:xfrm>
            <a:off x="4193438" y="3964838"/>
            <a:ext cx="665683" cy="665683"/>
          </a:xfrm>
          <a:prstGeom prst="rect">
            <a:avLst/>
          </a:prstGeom>
        </p:spPr>
      </p:pic>
      <p:sp>
        <p:nvSpPr>
          <p:cNvPr id="27" name="A2_144"/>
          <p:cNvSpPr txBox="1"/>
          <p:nvPr/>
        </p:nvSpPr>
        <p:spPr>
          <a:xfrm>
            <a:off x="3566160" y="4956048"/>
            <a:ext cx="1920240" cy="320040"/>
          </a:xfrm>
          <a:prstGeom prst="rect">
            <a:avLst/>
          </a:prstGeom>
          <a:noFill/>
          <a:ln/>
        </p:spPr>
        <p:txBody>
          <a:bodyPr wrap="square" lIns="0" tIns="0" rIns="0" bIns="0" rtlCol="0" anchor="t"/>
          <a:lstStyle/>
          <a:p>
            <a:pPr marL="0" indent="0" algn="ctr">
              <a:buNone/>
            </a:pPr>
            <a:r>
              <a:rPr lang="en-US" sz="1200" b="1" dirty="0">
                <a:solidFill>
                  <a:srgbClr val="0B3C66"/>
                </a:solidFill>
                <a:latin typeface="Arial" pitchFamily="34" charset="0"/>
                <a:ea typeface="Arial" pitchFamily="34" charset="-122"/>
                <a:cs typeface="Arial" pitchFamily="34" charset="-120"/>
              </a:rPr>
              <a:t>Équipe dév. / qualité</a:t>
            </a:r>
            <a:endParaRPr lang="en-US" sz="1200" dirty="0"/>
          </a:p>
        </p:txBody>
      </p:sp>
      <p:sp>
        <p:nvSpPr>
          <p:cNvPr id="28" name="A3_145"/>
          <p:cNvSpPr/>
          <p:nvPr/>
        </p:nvSpPr>
        <p:spPr>
          <a:xfrm>
            <a:off x="822960" y="2148840"/>
            <a:ext cx="2697480" cy="1143000"/>
          </a:xfrm>
          <a:prstGeom prst="rect">
            <a:avLst/>
          </a:prstGeom>
          <a:solidFill>
            <a:srgbClr val="FFFFFF"/>
          </a:solidFill>
          <a:ln w="19050">
            <a:solidFill>
              <a:srgbClr val="0A6EBD"/>
            </a:solidFill>
            <a:prstDash val="solid"/>
          </a:ln>
        </p:spPr>
        <p:txBody>
          <a:bodyPr/>
          <a:lstStyle/>
          <a:p>
            <a:endParaRPr lang="fr-FR"/>
          </a:p>
        </p:txBody>
      </p:sp>
      <p:pic>
        <p:nvPicPr>
          <p:cNvPr id="29" name="A3_146" descr="preencoded.png"/>
          <p:cNvPicPr>
            <a:picLocks noChangeAspect="1"/>
          </p:cNvPicPr>
          <p:nvPr/>
        </p:nvPicPr>
        <p:blipFill>
          <a:blip r:embed="rId5"/>
          <a:stretch>
            <a:fillRect/>
          </a:stretch>
        </p:blipFill>
        <p:spPr>
          <a:xfrm>
            <a:off x="1005840" y="2496312"/>
            <a:ext cx="457200" cy="457200"/>
          </a:xfrm>
          <a:prstGeom prst="rect">
            <a:avLst/>
          </a:prstGeom>
        </p:spPr>
      </p:pic>
      <p:sp>
        <p:nvSpPr>
          <p:cNvPr id="30" name="A3_147"/>
          <p:cNvSpPr txBox="1"/>
          <p:nvPr/>
        </p:nvSpPr>
        <p:spPr>
          <a:xfrm>
            <a:off x="1600200" y="2350008"/>
            <a:ext cx="1828800" cy="384048"/>
          </a:xfrm>
          <a:prstGeom prst="rect">
            <a:avLst/>
          </a:prstGeom>
          <a:noFill/>
          <a:ln/>
        </p:spPr>
        <p:txBody>
          <a:bodyPr wrap="square" lIns="0" tIns="0" rIns="0" bIns="0" rtlCol="0" anchor="ctr"/>
          <a:lstStyle/>
          <a:p>
            <a:pPr marL="0" indent="0">
              <a:buNone/>
            </a:pPr>
            <a:r>
              <a:rPr lang="en-US" sz="1300" b="1" dirty="0">
                <a:solidFill>
                  <a:srgbClr val="262626"/>
                </a:solidFill>
                <a:latin typeface="Arial" pitchFamily="34" charset="0"/>
                <a:ea typeface="Arial" pitchFamily="34" charset="-122"/>
                <a:cs typeface="Arial" pitchFamily="34" charset="-120"/>
              </a:rPr>
              <a:t>Fichiers de logs</a:t>
            </a:r>
            <a:endParaRPr lang="en-US" sz="1300" dirty="0"/>
          </a:p>
        </p:txBody>
      </p:sp>
      <p:sp>
        <p:nvSpPr>
          <p:cNvPr id="31" name="A3_148"/>
          <p:cNvSpPr txBox="1"/>
          <p:nvPr/>
        </p:nvSpPr>
        <p:spPr>
          <a:xfrm>
            <a:off x="1600200" y="2770632"/>
            <a:ext cx="1828800" cy="411480"/>
          </a:xfrm>
          <a:prstGeom prst="rect">
            <a:avLst/>
          </a:prstGeom>
          <a:noFill/>
          <a:ln/>
        </p:spPr>
        <p:txBody>
          <a:bodyPr wrap="square" lIns="0" tIns="0" rIns="0" bIns="0" rtlCol="0" anchor="t"/>
          <a:lstStyle/>
          <a:p>
            <a:pPr marL="0" indent="0">
              <a:buNone/>
            </a:pPr>
            <a:r>
              <a:rPr lang="en-US" sz="1100" dirty="0">
                <a:solidFill>
                  <a:srgbClr val="595959"/>
                </a:solidFill>
                <a:latin typeface="Arial" pitchFamily="34" charset="0"/>
                <a:ea typeface="Arial" pitchFamily="34" charset="-122"/>
                <a:cs typeface="Arial" pitchFamily="34" charset="-120"/>
              </a:rPr>
              <a:t>sur chaque serveur</a:t>
            </a:r>
            <a:endParaRPr lang="en-US" sz="1100" dirty="0"/>
          </a:p>
        </p:txBody>
      </p:sp>
      <p:pic>
        <p:nvPicPr>
          <p:cNvPr id="32" name="A3_149" descr="preencoded.png"/>
          <p:cNvPicPr>
            <a:picLocks noChangeAspect="1"/>
          </p:cNvPicPr>
          <p:nvPr/>
        </p:nvPicPr>
        <p:blipFill>
          <a:blip r:embed="rId6"/>
          <a:stretch>
            <a:fillRect/>
          </a:stretch>
        </p:blipFill>
        <p:spPr>
          <a:xfrm>
            <a:off x="2098548" y="3140385"/>
            <a:ext cx="2043684" cy="818967"/>
          </a:xfrm>
          <a:prstGeom prst="rect">
            <a:avLst/>
          </a:prstGeom>
        </p:spPr>
      </p:pic>
      <p:sp>
        <p:nvSpPr>
          <p:cNvPr id="33" name="A4_150"/>
          <p:cNvSpPr/>
          <p:nvPr/>
        </p:nvSpPr>
        <p:spPr>
          <a:xfrm>
            <a:off x="5715000" y="2148840"/>
            <a:ext cx="2697480" cy="1143000"/>
          </a:xfrm>
          <a:prstGeom prst="rect">
            <a:avLst/>
          </a:prstGeom>
          <a:solidFill>
            <a:srgbClr val="FFFFFF"/>
          </a:solidFill>
          <a:ln w="19050">
            <a:solidFill>
              <a:srgbClr val="0A6EBD"/>
            </a:solidFill>
            <a:prstDash val="solid"/>
          </a:ln>
        </p:spPr>
        <p:txBody>
          <a:bodyPr/>
          <a:lstStyle/>
          <a:p>
            <a:endParaRPr lang="fr-FR"/>
          </a:p>
        </p:txBody>
      </p:sp>
      <p:pic>
        <p:nvPicPr>
          <p:cNvPr id="34" name="A4_151" descr="preencoded.png"/>
          <p:cNvPicPr>
            <a:picLocks noChangeAspect="1"/>
          </p:cNvPicPr>
          <p:nvPr/>
        </p:nvPicPr>
        <p:blipFill>
          <a:blip r:embed="rId7"/>
          <a:stretch>
            <a:fillRect/>
          </a:stretch>
        </p:blipFill>
        <p:spPr>
          <a:xfrm>
            <a:off x="5897880" y="2496312"/>
            <a:ext cx="457200" cy="457200"/>
          </a:xfrm>
          <a:prstGeom prst="rect">
            <a:avLst/>
          </a:prstGeom>
        </p:spPr>
      </p:pic>
      <p:sp>
        <p:nvSpPr>
          <p:cNvPr id="35" name="A4_152"/>
          <p:cNvSpPr txBox="1"/>
          <p:nvPr/>
        </p:nvSpPr>
        <p:spPr>
          <a:xfrm>
            <a:off x="6492240" y="2350008"/>
            <a:ext cx="1828800" cy="384048"/>
          </a:xfrm>
          <a:prstGeom prst="rect">
            <a:avLst/>
          </a:prstGeom>
          <a:noFill/>
          <a:ln/>
        </p:spPr>
        <p:txBody>
          <a:bodyPr wrap="square" lIns="0" tIns="0" rIns="0" bIns="0" rtlCol="0" anchor="ctr"/>
          <a:lstStyle/>
          <a:p>
            <a:pPr marL="0" indent="0">
              <a:buNone/>
            </a:pPr>
            <a:r>
              <a:rPr lang="en-US" sz="1300" b="1" dirty="0">
                <a:solidFill>
                  <a:srgbClr val="262626"/>
                </a:solidFill>
                <a:latin typeface="Arial" pitchFamily="34" charset="0"/>
                <a:ea typeface="Arial" pitchFamily="34" charset="-122"/>
                <a:cs typeface="Arial" pitchFamily="34" charset="-120"/>
              </a:rPr>
              <a:t>Rapports de tests</a:t>
            </a:r>
            <a:endParaRPr lang="en-US" sz="1300" dirty="0"/>
          </a:p>
        </p:txBody>
      </p:sp>
      <p:sp>
        <p:nvSpPr>
          <p:cNvPr id="36" name="A4_153"/>
          <p:cNvSpPr txBox="1"/>
          <p:nvPr/>
        </p:nvSpPr>
        <p:spPr>
          <a:xfrm>
            <a:off x="6492240" y="2770632"/>
            <a:ext cx="1828800" cy="411480"/>
          </a:xfrm>
          <a:prstGeom prst="rect">
            <a:avLst/>
          </a:prstGeom>
          <a:noFill/>
          <a:ln/>
        </p:spPr>
        <p:txBody>
          <a:bodyPr wrap="square" lIns="0" tIns="0" rIns="0" bIns="0" rtlCol="0" anchor="t"/>
          <a:lstStyle/>
          <a:p>
            <a:pPr marL="0" indent="0">
              <a:buNone/>
            </a:pPr>
            <a:r>
              <a:rPr lang="en-US" sz="1100" dirty="0">
                <a:solidFill>
                  <a:srgbClr val="595959"/>
                </a:solidFill>
                <a:latin typeface="Arial" pitchFamily="34" charset="0"/>
                <a:ea typeface="Arial" pitchFamily="34" charset="-122"/>
                <a:cs typeface="Arial" pitchFamily="34" charset="-120"/>
              </a:rPr>
              <a:t>Surefire, JaCoCo</a:t>
            </a:r>
            <a:endParaRPr lang="en-US" sz="1100" dirty="0"/>
          </a:p>
        </p:txBody>
      </p:sp>
      <p:pic>
        <p:nvPicPr>
          <p:cNvPr id="37" name="A4_154" descr="preencoded.png"/>
          <p:cNvPicPr>
            <a:picLocks noChangeAspect="1"/>
          </p:cNvPicPr>
          <p:nvPr/>
        </p:nvPicPr>
        <p:blipFill>
          <a:blip r:embed="rId8"/>
          <a:stretch>
            <a:fillRect/>
          </a:stretch>
        </p:blipFill>
        <p:spPr>
          <a:xfrm>
            <a:off x="4910328" y="3130834"/>
            <a:ext cx="2226564" cy="828518"/>
          </a:xfrm>
          <a:prstGeom prst="rect">
            <a:avLst/>
          </a:prstGeom>
        </p:spPr>
      </p:pic>
      <p:sp>
        <p:nvSpPr>
          <p:cNvPr id="38" name="A5_155"/>
          <p:cNvSpPr/>
          <p:nvPr/>
        </p:nvSpPr>
        <p:spPr>
          <a:xfrm>
            <a:off x="822960" y="5623560"/>
            <a:ext cx="2697480" cy="1143000"/>
          </a:xfrm>
          <a:prstGeom prst="rect">
            <a:avLst/>
          </a:prstGeom>
          <a:solidFill>
            <a:srgbClr val="FFFFFF"/>
          </a:solidFill>
          <a:ln w="19050">
            <a:solidFill>
              <a:srgbClr val="0A6EBD"/>
            </a:solidFill>
            <a:prstDash val="solid"/>
          </a:ln>
        </p:spPr>
        <p:txBody>
          <a:bodyPr/>
          <a:lstStyle/>
          <a:p>
            <a:endParaRPr lang="fr-FR"/>
          </a:p>
        </p:txBody>
      </p:sp>
      <p:pic>
        <p:nvPicPr>
          <p:cNvPr id="39" name="A5_156" descr="preencoded.png"/>
          <p:cNvPicPr>
            <a:picLocks noChangeAspect="1"/>
          </p:cNvPicPr>
          <p:nvPr/>
        </p:nvPicPr>
        <p:blipFill>
          <a:blip r:embed="rId9"/>
          <a:stretch>
            <a:fillRect/>
          </a:stretch>
        </p:blipFill>
        <p:spPr>
          <a:xfrm>
            <a:off x="1005840" y="5971032"/>
            <a:ext cx="457200" cy="457200"/>
          </a:xfrm>
          <a:prstGeom prst="rect">
            <a:avLst/>
          </a:prstGeom>
        </p:spPr>
      </p:pic>
      <p:sp>
        <p:nvSpPr>
          <p:cNvPr id="40" name="A5_157"/>
          <p:cNvSpPr txBox="1"/>
          <p:nvPr/>
        </p:nvSpPr>
        <p:spPr>
          <a:xfrm>
            <a:off x="1600200" y="5824728"/>
            <a:ext cx="1828800" cy="384048"/>
          </a:xfrm>
          <a:prstGeom prst="rect">
            <a:avLst/>
          </a:prstGeom>
          <a:noFill/>
          <a:ln/>
        </p:spPr>
        <p:txBody>
          <a:bodyPr wrap="square" lIns="0" tIns="0" rIns="0" bIns="0" rtlCol="0" anchor="ctr"/>
          <a:lstStyle/>
          <a:p>
            <a:pPr marL="0" indent="0">
              <a:buNone/>
            </a:pPr>
            <a:r>
              <a:rPr lang="en-US" sz="1300" b="1" dirty="0">
                <a:solidFill>
                  <a:srgbClr val="262626"/>
                </a:solidFill>
                <a:latin typeface="Arial" pitchFamily="34" charset="0"/>
                <a:ea typeface="Arial" pitchFamily="34" charset="-122"/>
                <a:cs typeface="Arial" pitchFamily="34" charset="-120"/>
              </a:rPr>
              <a:t>Scanners sécurité</a:t>
            </a:r>
            <a:endParaRPr lang="en-US" sz="1300" dirty="0"/>
          </a:p>
        </p:txBody>
      </p:sp>
      <p:sp>
        <p:nvSpPr>
          <p:cNvPr id="41" name="A5_158"/>
          <p:cNvSpPr txBox="1"/>
          <p:nvPr/>
        </p:nvSpPr>
        <p:spPr>
          <a:xfrm>
            <a:off x="1600200" y="6245352"/>
            <a:ext cx="1828800" cy="411480"/>
          </a:xfrm>
          <a:prstGeom prst="rect">
            <a:avLst/>
          </a:prstGeom>
          <a:noFill/>
          <a:ln/>
        </p:spPr>
        <p:txBody>
          <a:bodyPr wrap="square" lIns="0" tIns="0" rIns="0" bIns="0" rtlCol="0" anchor="t"/>
          <a:lstStyle/>
          <a:p>
            <a:pPr marL="0" indent="0">
              <a:buNone/>
            </a:pPr>
            <a:r>
              <a:rPr lang="en-US" sz="1100" dirty="0">
                <a:solidFill>
                  <a:srgbClr val="595959"/>
                </a:solidFill>
                <a:latin typeface="Arial" pitchFamily="34" charset="0"/>
                <a:ea typeface="Arial" pitchFamily="34" charset="-122"/>
                <a:cs typeface="Arial" pitchFamily="34" charset="-120"/>
              </a:rPr>
              <a:t>SonarQube, OWASP, Trivy</a:t>
            </a:r>
            <a:endParaRPr lang="en-US" sz="1100" dirty="0"/>
          </a:p>
        </p:txBody>
      </p:sp>
      <p:pic>
        <p:nvPicPr>
          <p:cNvPr id="42" name="A5_159" descr="preencoded.png"/>
          <p:cNvPicPr>
            <a:picLocks noChangeAspect="1"/>
          </p:cNvPicPr>
          <p:nvPr/>
        </p:nvPicPr>
        <p:blipFill>
          <a:blip r:embed="rId10"/>
          <a:stretch>
            <a:fillRect/>
          </a:stretch>
        </p:blipFill>
        <p:spPr>
          <a:xfrm>
            <a:off x="2098548" y="4407408"/>
            <a:ext cx="2043684" cy="1336094"/>
          </a:xfrm>
          <a:prstGeom prst="rect">
            <a:avLst/>
          </a:prstGeom>
        </p:spPr>
      </p:pic>
      <p:sp>
        <p:nvSpPr>
          <p:cNvPr id="43" name="A6_160"/>
          <p:cNvSpPr/>
          <p:nvPr/>
        </p:nvSpPr>
        <p:spPr>
          <a:xfrm>
            <a:off x="5715000" y="5623560"/>
            <a:ext cx="2697480" cy="1143000"/>
          </a:xfrm>
          <a:prstGeom prst="rect">
            <a:avLst/>
          </a:prstGeom>
          <a:solidFill>
            <a:srgbClr val="FFFFFF"/>
          </a:solidFill>
          <a:ln w="19050">
            <a:solidFill>
              <a:srgbClr val="0A6EBD"/>
            </a:solidFill>
            <a:prstDash val="solid"/>
          </a:ln>
        </p:spPr>
        <p:txBody>
          <a:bodyPr/>
          <a:lstStyle/>
          <a:p>
            <a:endParaRPr lang="fr-FR"/>
          </a:p>
        </p:txBody>
      </p:sp>
      <p:pic>
        <p:nvPicPr>
          <p:cNvPr id="44" name="A6_161" descr="preencoded.png"/>
          <p:cNvPicPr>
            <a:picLocks noChangeAspect="1"/>
          </p:cNvPicPr>
          <p:nvPr/>
        </p:nvPicPr>
        <p:blipFill>
          <a:blip r:embed="rId11"/>
          <a:stretch>
            <a:fillRect/>
          </a:stretch>
        </p:blipFill>
        <p:spPr>
          <a:xfrm>
            <a:off x="5897880" y="5971032"/>
            <a:ext cx="457200" cy="457200"/>
          </a:xfrm>
          <a:prstGeom prst="rect">
            <a:avLst/>
          </a:prstGeom>
        </p:spPr>
      </p:pic>
      <p:sp>
        <p:nvSpPr>
          <p:cNvPr id="45" name="A6_162"/>
          <p:cNvSpPr txBox="1"/>
          <p:nvPr/>
        </p:nvSpPr>
        <p:spPr>
          <a:xfrm>
            <a:off x="6492240" y="5824728"/>
            <a:ext cx="1828800" cy="384048"/>
          </a:xfrm>
          <a:prstGeom prst="rect">
            <a:avLst/>
          </a:prstGeom>
          <a:noFill/>
          <a:ln/>
        </p:spPr>
        <p:txBody>
          <a:bodyPr wrap="square" lIns="0" tIns="0" rIns="0" bIns="0" rtlCol="0" anchor="ctr"/>
          <a:lstStyle/>
          <a:p>
            <a:pPr marL="0" indent="0">
              <a:buNone/>
            </a:pPr>
            <a:r>
              <a:rPr lang="en-US" sz="1300" b="1" dirty="0">
                <a:solidFill>
                  <a:srgbClr val="262626"/>
                </a:solidFill>
                <a:latin typeface="Arial" pitchFamily="34" charset="0"/>
                <a:ea typeface="Arial" pitchFamily="34" charset="-122"/>
                <a:cs typeface="Arial" pitchFamily="34" charset="-120"/>
              </a:rPr>
              <a:t>Recherche manuelle</a:t>
            </a:r>
            <a:endParaRPr lang="en-US" sz="1300" dirty="0"/>
          </a:p>
        </p:txBody>
      </p:sp>
      <p:sp>
        <p:nvSpPr>
          <p:cNvPr id="46" name="A6_163"/>
          <p:cNvSpPr txBox="1"/>
          <p:nvPr/>
        </p:nvSpPr>
        <p:spPr>
          <a:xfrm>
            <a:off x="6492240" y="6245352"/>
            <a:ext cx="1828800" cy="411480"/>
          </a:xfrm>
          <a:prstGeom prst="rect">
            <a:avLst/>
          </a:prstGeom>
          <a:noFill/>
          <a:ln/>
        </p:spPr>
        <p:txBody>
          <a:bodyPr wrap="square" lIns="0" tIns="0" rIns="0" bIns="0" rtlCol="0" anchor="t"/>
          <a:lstStyle/>
          <a:p>
            <a:pPr marL="0" indent="0">
              <a:buNone/>
            </a:pPr>
            <a:r>
              <a:rPr lang="en-US" sz="1100" dirty="0">
                <a:solidFill>
                  <a:srgbClr val="595959"/>
                </a:solidFill>
                <a:latin typeface="Arial" pitchFamily="34" charset="0"/>
                <a:ea typeface="Arial" pitchFamily="34" charset="-122"/>
                <a:cs typeface="Arial" pitchFamily="34" charset="-120"/>
              </a:rPr>
              <a:t>forums, collègues, docs</a:t>
            </a:r>
            <a:endParaRPr lang="en-US" sz="1100" dirty="0"/>
          </a:p>
        </p:txBody>
      </p:sp>
      <p:pic>
        <p:nvPicPr>
          <p:cNvPr id="47" name="A6_164" descr="preencoded.png"/>
          <p:cNvPicPr>
            <a:picLocks noChangeAspect="1"/>
          </p:cNvPicPr>
          <p:nvPr/>
        </p:nvPicPr>
        <p:blipFill>
          <a:blip r:embed="rId12"/>
          <a:stretch>
            <a:fillRect/>
          </a:stretch>
        </p:blipFill>
        <p:spPr>
          <a:xfrm>
            <a:off x="4910328" y="4407408"/>
            <a:ext cx="2226564" cy="1342767"/>
          </a:xfrm>
          <a:prstGeom prst="rect">
            <a:avLst/>
          </a:prstGeom>
        </p:spPr>
      </p:pic>
      <p:sp>
        <p:nvSpPr>
          <p:cNvPr id="48" name="A7_165"/>
          <p:cNvSpPr/>
          <p:nvPr/>
        </p:nvSpPr>
        <p:spPr>
          <a:xfrm>
            <a:off x="8915400" y="1463040"/>
            <a:ext cx="4617720" cy="5669280"/>
          </a:xfrm>
          <a:prstGeom prst="roundRect">
            <a:avLst>
              <a:gd name="adj" fmla="val 2376"/>
            </a:avLst>
          </a:prstGeom>
          <a:solidFill>
            <a:srgbClr val="EAF2FA"/>
          </a:solidFill>
          <a:ln w="12700">
            <a:solidFill>
              <a:srgbClr val="EAF2FA"/>
            </a:solidFill>
            <a:prstDash val="solid"/>
          </a:ln>
        </p:spPr>
        <p:txBody>
          <a:bodyPr/>
          <a:lstStyle/>
          <a:p>
            <a:endParaRPr lang="fr-FR"/>
          </a:p>
        </p:txBody>
      </p:sp>
      <p:sp>
        <p:nvSpPr>
          <p:cNvPr id="49" name="A7_166"/>
          <p:cNvSpPr txBox="1"/>
          <p:nvPr/>
        </p:nvSpPr>
        <p:spPr>
          <a:xfrm>
            <a:off x="9235440" y="1691640"/>
            <a:ext cx="4023360" cy="411480"/>
          </a:xfrm>
          <a:prstGeom prst="rect">
            <a:avLst/>
          </a:prstGeom>
          <a:noFill/>
          <a:ln/>
        </p:spPr>
        <p:txBody>
          <a:bodyPr wrap="square" lIns="0" tIns="0" rIns="0" bIns="0" rtlCol="0" anchor="t"/>
          <a:lstStyle/>
          <a:p>
            <a:pPr marL="0" indent="0">
              <a:buNone/>
            </a:pPr>
            <a:r>
              <a:rPr lang="en-US" sz="1700" b="1" dirty="0">
                <a:solidFill>
                  <a:srgbClr val="0B3C66"/>
                </a:solidFill>
                <a:latin typeface="Arial" pitchFamily="34" charset="0"/>
                <a:ea typeface="Arial" pitchFamily="34" charset="-122"/>
                <a:cs typeface="Arial" pitchFamily="34" charset="-120"/>
              </a:rPr>
              <a:t>Processus actuel</a:t>
            </a:r>
            <a:endParaRPr lang="en-US" sz="1700" dirty="0"/>
          </a:p>
        </p:txBody>
      </p:sp>
      <p:sp>
        <p:nvSpPr>
          <p:cNvPr id="50" name="A8_167"/>
          <p:cNvSpPr/>
          <p:nvPr/>
        </p:nvSpPr>
        <p:spPr>
          <a:xfrm>
            <a:off x="9235440" y="2286000"/>
            <a:ext cx="457200" cy="457200"/>
          </a:xfrm>
          <a:prstGeom prst="ellipse">
            <a:avLst/>
          </a:prstGeom>
          <a:solidFill>
            <a:srgbClr val="0A6EBD"/>
          </a:solidFill>
          <a:ln w="12700">
            <a:solidFill>
              <a:srgbClr val="0A6EBD"/>
            </a:solidFill>
            <a:prstDash val="solid"/>
          </a:ln>
        </p:spPr>
        <p:txBody>
          <a:bodyPr/>
          <a:lstStyle/>
          <a:p>
            <a:endParaRPr lang="fr-FR"/>
          </a:p>
        </p:txBody>
      </p:sp>
      <p:sp>
        <p:nvSpPr>
          <p:cNvPr id="51" name="A8_168"/>
          <p:cNvSpPr txBox="1"/>
          <p:nvPr/>
        </p:nvSpPr>
        <p:spPr>
          <a:xfrm>
            <a:off x="9235440" y="228600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2" name="A8_169"/>
          <p:cNvSpPr txBox="1"/>
          <p:nvPr/>
        </p:nvSpPr>
        <p:spPr>
          <a:xfrm>
            <a:off x="9875520" y="2267712"/>
            <a:ext cx="3429000" cy="914400"/>
          </a:xfrm>
          <a:prstGeom prst="rect">
            <a:avLst/>
          </a:prstGeom>
          <a:noFill/>
          <a:ln/>
        </p:spPr>
        <p:txBody>
          <a:bodyPr wrap="square" lIns="0" tIns="0" rIns="0" bIns="0" rtlCol="0" anchor="t"/>
          <a:lstStyle/>
          <a:p>
            <a:pPr marL="0" indent="0">
              <a:buNone/>
            </a:pPr>
            <a:r>
              <a:rPr lang="en-US" sz="1400" dirty="0">
                <a:solidFill>
                  <a:srgbClr val="262626"/>
                </a:solidFill>
                <a:latin typeface="Arial" pitchFamily="34" charset="0"/>
                <a:ea typeface="Arial" pitchFamily="34" charset="-122"/>
                <a:cs typeface="Arial" pitchFamily="34" charset="-120"/>
              </a:rPr>
              <a:t>Un incident est signalé (test en échec, erreur en production, alerte)</a:t>
            </a:r>
            <a:endParaRPr lang="en-US" sz="1400" dirty="0"/>
          </a:p>
        </p:txBody>
      </p:sp>
      <p:sp>
        <p:nvSpPr>
          <p:cNvPr id="53" name="A9_170"/>
          <p:cNvSpPr/>
          <p:nvPr/>
        </p:nvSpPr>
        <p:spPr>
          <a:xfrm>
            <a:off x="9235440" y="3474720"/>
            <a:ext cx="457200" cy="457200"/>
          </a:xfrm>
          <a:prstGeom prst="ellipse">
            <a:avLst/>
          </a:prstGeom>
          <a:solidFill>
            <a:srgbClr val="0A6EBD"/>
          </a:solidFill>
          <a:ln w="12700">
            <a:solidFill>
              <a:srgbClr val="0A6EBD"/>
            </a:solidFill>
            <a:prstDash val="solid"/>
          </a:ln>
        </p:spPr>
        <p:txBody>
          <a:bodyPr/>
          <a:lstStyle/>
          <a:p>
            <a:endParaRPr lang="fr-FR"/>
          </a:p>
        </p:txBody>
      </p:sp>
      <p:sp>
        <p:nvSpPr>
          <p:cNvPr id="54" name="A9_171"/>
          <p:cNvSpPr txBox="1"/>
          <p:nvPr/>
        </p:nvSpPr>
        <p:spPr>
          <a:xfrm>
            <a:off x="9235440" y="347472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55" name="A9_172"/>
          <p:cNvSpPr txBox="1"/>
          <p:nvPr/>
        </p:nvSpPr>
        <p:spPr>
          <a:xfrm>
            <a:off x="9875520" y="3456432"/>
            <a:ext cx="3429000" cy="914400"/>
          </a:xfrm>
          <a:prstGeom prst="rect">
            <a:avLst/>
          </a:prstGeom>
          <a:noFill/>
          <a:ln/>
        </p:spPr>
        <p:txBody>
          <a:bodyPr wrap="square" lIns="0" tIns="0" rIns="0" bIns="0" rtlCol="0" anchor="t"/>
          <a:lstStyle/>
          <a:p>
            <a:pPr marL="0" indent="0">
              <a:buNone/>
            </a:pPr>
            <a:r>
              <a:rPr lang="en-US" sz="1400" dirty="0">
                <a:solidFill>
                  <a:srgbClr val="262626"/>
                </a:solidFill>
                <a:latin typeface="Arial" pitchFamily="34" charset="0"/>
                <a:ea typeface="Arial" pitchFamily="34" charset="-122"/>
                <a:cs typeface="Arial" pitchFamily="34" charset="-120"/>
              </a:rPr>
              <a:t>Chaque outil est ouvert un par un</a:t>
            </a:r>
            <a:endParaRPr lang="en-US" sz="1400" dirty="0"/>
          </a:p>
        </p:txBody>
      </p:sp>
      <p:sp>
        <p:nvSpPr>
          <p:cNvPr id="56" name="A10_173"/>
          <p:cNvSpPr/>
          <p:nvPr/>
        </p:nvSpPr>
        <p:spPr>
          <a:xfrm>
            <a:off x="9235440" y="4663440"/>
            <a:ext cx="457200" cy="457200"/>
          </a:xfrm>
          <a:prstGeom prst="ellipse">
            <a:avLst/>
          </a:prstGeom>
          <a:solidFill>
            <a:srgbClr val="0A6EBD"/>
          </a:solidFill>
          <a:ln w="12700">
            <a:solidFill>
              <a:srgbClr val="0A6EBD"/>
            </a:solidFill>
            <a:prstDash val="solid"/>
          </a:ln>
        </p:spPr>
        <p:txBody>
          <a:bodyPr/>
          <a:lstStyle/>
          <a:p>
            <a:endParaRPr lang="fr-FR"/>
          </a:p>
        </p:txBody>
      </p:sp>
      <p:sp>
        <p:nvSpPr>
          <p:cNvPr id="57" name="A10_174"/>
          <p:cNvSpPr txBox="1"/>
          <p:nvPr/>
        </p:nvSpPr>
        <p:spPr>
          <a:xfrm>
            <a:off x="9235440" y="46634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58" name="A10_175"/>
          <p:cNvSpPr txBox="1"/>
          <p:nvPr/>
        </p:nvSpPr>
        <p:spPr>
          <a:xfrm>
            <a:off x="9875520" y="4645152"/>
            <a:ext cx="3429000" cy="914400"/>
          </a:xfrm>
          <a:prstGeom prst="rect">
            <a:avLst/>
          </a:prstGeom>
          <a:noFill/>
          <a:ln/>
        </p:spPr>
        <p:txBody>
          <a:bodyPr wrap="square" lIns="0" tIns="0" rIns="0" bIns="0" rtlCol="0" anchor="t"/>
          <a:lstStyle/>
          <a:p>
            <a:pPr marL="0" indent="0">
              <a:buNone/>
            </a:pPr>
            <a:r>
              <a:rPr lang="en-US" sz="1400" dirty="0">
                <a:solidFill>
                  <a:srgbClr val="262626"/>
                </a:solidFill>
                <a:latin typeface="Arial" pitchFamily="34" charset="0"/>
                <a:ea typeface="Arial" pitchFamily="34" charset="-122"/>
                <a:cs typeface="Arial" pitchFamily="34" charset="-120"/>
              </a:rPr>
              <a:t>La cause est recherchée à la main dans les logs</a:t>
            </a:r>
            <a:endParaRPr lang="en-US" sz="1400" dirty="0"/>
          </a:p>
        </p:txBody>
      </p:sp>
      <p:sp>
        <p:nvSpPr>
          <p:cNvPr id="59" name="A11_176"/>
          <p:cNvSpPr/>
          <p:nvPr/>
        </p:nvSpPr>
        <p:spPr>
          <a:xfrm>
            <a:off x="9235440" y="5852160"/>
            <a:ext cx="457200" cy="457200"/>
          </a:xfrm>
          <a:prstGeom prst="ellipse">
            <a:avLst/>
          </a:prstGeom>
          <a:solidFill>
            <a:srgbClr val="0A6EBD"/>
          </a:solidFill>
          <a:ln w="12700">
            <a:solidFill>
              <a:srgbClr val="0A6EBD"/>
            </a:solidFill>
            <a:prstDash val="solid"/>
          </a:ln>
        </p:spPr>
        <p:txBody>
          <a:bodyPr/>
          <a:lstStyle/>
          <a:p>
            <a:endParaRPr lang="fr-FR"/>
          </a:p>
        </p:txBody>
      </p:sp>
      <p:sp>
        <p:nvSpPr>
          <p:cNvPr id="60" name="A11_177"/>
          <p:cNvSpPr txBox="1"/>
          <p:nvPr/>
        </p:nvSpPr>
        <p:spPr>
          <a:xfrm>
            <a:off x="9235440" y="58521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61" name="A11_178"/>
          <p:cNvSpPr txBox="1"/>
          <p:nvPr/>
        </p:nvSpPr>
        <p:spPr>
          <a:xfrm>
            <a:off x="9875520" y="5833872"/>
            <a:ext cx="3429000" cy="914400"/>
          </a:xfrm>
          <a:prstGeom prst="rect">
            <a:avLst/>
          </a:prstGeom>
          <a:noFill/>
          <a:ln/>
        </p:spPr>
        <p:txBody>
          <a:bodyPr wrap="square" lIns="0" tIns="0" rIns="0" bIns="0" rtlCol="0" anchor="t"/>
          <a:lstStyle/>
          <a:p>
            <a:pPr marL="0" indent="0">
              <a:buNone/>
            </a:pPr>
            <a:r>
              <a:rPr lang="en-US" sz="1400" dirty="0">
                <a:solidFill>
                  <a:srgbClr val="262626"/>
                </a:solidFill>
                <a:latin typeface="Arial" pitchFamily="34" charset="0"/>
                <a:ea typeface="Arial" pitchFamily="34" charset="-122"/>
                <a:cs typeface="Arial" pitchFamily="34" charset="-120"/>
              </a:rPr>
              <a:t>La correction est choisie selon l'expérience de chacun</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500"/>
                                        <p:tgtEl>
                                          <p:spTgt spid="25"/>
                                        </p:tgtEl>
                                      </p:cBhvr>
                                    </p:animEffect>
                                  </p:childTnLst>
                                </p:cTn>
                              </p:par>
                              <p:par>
                                <p:cTn id="12" presetID="10" presetClass="entr" presetSubtype="0" fill="hold"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fade">
                                      <p:cBhvr>
                                        <p:cTn id="14" dur="500"/>
                                        <p:tgtEl>
                                          <p:spTgt spid="2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childTnLst>
                          </p:cTn>
                        </p:par>
                        <p:par>
                          <p:cTn id="18" fill="hold">
                            <p:stCondLst>
                              <p:cond delay="700"/>
                            </p:stCondLst>
                            <p:childTnLst>
                              <p:par>
                                <p:cTn id="19" presetID="10" presetClass="entr" presetSubtype="0"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00"/>
                                        <p:tgtEl>
                                          <p:spTgt spid="28"/>
                                        </p:tgtEl>
                                      </p:cBhvr>
                                    </p:animEffect>
                                  </p:childTnLst>
                                </p:cTn>
                              </p:par>
                              <p:par>
                                <p:cTn id="22" presetID="10" presetClass="entr" presetSubtype="0" fill="hold"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childTnLst>
                                </p:cTn>
                              </p:par>
                              <p:par>
                                <p:cTn id="31" presetID="10" presetClass="entr" presetSubtype="0" fill="hold"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500"/>
                                        <p:tgtEl>
                                          <p:spTgt spid="3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500"/>
                                        <p:tgtEl>
                                          <p:spTgt spid="3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par>
                                <p:cTn id="47" presetID="10" presetClass="entr" presetSubtype="0" fill="hold" nodeType="withEffect">
                                  <p:stCondLst>
                                    <p:cond delay="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500"/>
                                        <p:tgtEl>
                                          <p:spTgt spid="37"/>
                                        </p:tgtEl>
                                      </p:cBhvr>
                                    </p:animEffect>
                                  </p:childTnLst>
                                </p:cTn>
                              </p:par>
                            </p:childTnLst>
                          </p:cTn>
                        </p:par>
                        <p:par>
                          <p:cTn id="50" fill="hold">
                            <p:stCondLst>
                              <p:cond delay="1400"/>
                            </p:stCondLst>
                            <p:childTnLst>
                              <p:par>
                                <p:cTn id="51" presetID="10" presetClass="entr" presetSubtype="0" fill="hold" grpId="0" nodeType="after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childTnLst>
                                </p:cTn>
                              </p:par>
                              <p:par>
                                <p:cTn id="54" presetID="10" presetClass="entr" presetSubtype="0" fill="hold" nodeType="withEffect">
                                  <p:stCondLst>
                                    <p:cond delay="0"/>
                                  </p:stCondLst>
                                  <p:childTnLst>
                                    <p:set>
                                      <p:cBhvr>
                                        <p:cTn id="55" dur="1" fill="hold">
                                          <p:stCondLst>
                                            <p:cond delay="0"/>
                                          </p:stCondLst>
                                        </p:cTn>
                                        <p:tgtEl>
                                          <p:spTgt spid="39"/>
                                        </p:tgtEl>
                                        <p:attrNameLst>
                                          <p:attrName>style.visibility</p:attrName>
                                        </p:attrNameLst>
                                      </p:cBhvr>
                                      <p:to>
                                        <p:strVal val="visible"/>
                                      </p:to>
                                    </p:set>
                                    <p:animEffect transition="in" filter="fade">
                                      <p:cBhvr>
                                        <p:cTn id="56" dur="500"/>
                                        <p:tgtEl>
                                          <p:spTgt spid="3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animEffect transition="in" filter="fade">
                                      <p:cBhvr>
                                        <p:cTn id="59" dur="500"/>
                                        <p:tgtEl>
                                          <p:spTgt spid="4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500"/>
                                        <p:tgtEl>
                                          <p:spTgt spid="41"/>
                                        </p:tgtEl>
                                      </p:cBhvr>
                                    </p:animEffect>
                                  </p:childTnLst>
                                </p:cTn>
                              </p:par>
                              <p:par>
                                <p:cTn id="63" presetID="10" presetClass="entr" presetSubtype="0" fill="hold" nodeType="withEffect">
                                  <p:stCondLst>
                                    <p:cond delay="0"/>
                                  </p:stCondLst>
                                  <p:childTnLst>
                                    <p:set>
                                      <p:cBhvr>
                                        <p:cTn id="64" dur="1" fill="hold">
                                          <p:stCondLst>
                                            <p:cond delay="0"/>
                                          </p:stCondLst>
                                        </p:cTn>
                                        <p:tgtEl>
                                          <p:spTgt spid="42"/>
                                        </p:tgtEl>
                                        <p:attrNameLst>
                                          <p:attrName>style.visibility</p:attrName>
                                        </p:attrNameLst>
                                      </p:cBhvr>
                                      <p:to>
                                        <p:strVal val="visible"/>
                                      </p:to>
                                    </p:set>
                                    <p:animEffect transition="in" filter="fade">
                                      <p:cBhvr>
                                        <p:cTn id="65" dur="500"/>
                                        <p:tgtEl>
                                          <p:spTgt spid="42"/>
                                        </p:tgtEl>
                                      </p:cBhvr>
                                    </p:animEffect>
                                  </p:childTnLst>
                                </p:cTn>
                              </p:par>
                            </p:childTnLst>
                          </p:cTn>
                        </p:par>
                        <p:par>
                          <p:cTn id="66" fill="hold">
                            <p:stCondLst>
                              <p:cond delay="1750"/>
                            </p:stCondLst>
                            <p:childTnLst>
                              <p:par>
                                <p:cTn id="67" presetID="10" presetClass="entr" presetSubtype="0" fill="hold" grpId="0" nodeType="afterEffect">
                                  <p:stCondLst>
                                    <p:cond delay="0"/>
                                  </p:stCondLst>
                                  <p:childTnLst>
                                    <p:set>
                                      <p:cBhvr>
                                        <p:cTn id="68" dur="1" fill="hold">
                                          <p:stCondLst>
                                            <p:cond delay="0"/>
                                          </p:stCondLst>
                                        </p:cTn>
                                        <p:tgtEl>
                                          <p:spTgt spid="43"/>
                                        </p:tgtEl>
                                        <p:attrNameLst>
                                          <p:attrName>style.visibility</p:attrName>
                                        </p:attrNameLst>
                                      </p:cBhvr>
                                      <p:to>
                                        <p:strVal val="visible"/>
                                      </p:to>
                                    </p:set>
                                    <p:animEffect transition="in" filter="fade">
                                      <p:cBhvr>
                                        <p:cTn id="69" dur="500"/>
                                        <p:tgtEl>
                                          <p:spTgt spid="43"/>
                                        </p:tgtEl>
                                      </p:cBhvr>
                                    </p:animEffect>
                                  </p:childTnLst>
                                </p:cTn>
                              </p:par>
                              <p:par>
                                <p:cTn id="70" presetID="10" presetClass="entr" presetSubtype="0" fill="hold" nodeType="withEffect">
                                  <p:stCondLst>
                                    <p:cond delay="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500"/>
                                        <p:tgtEl>
                                          <p:spTgt spid="4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5"/>
                                        </p:tgtEl>
                                        <p:attrNameLst>
                                          <p:attrName>style.visibility</p:attrName>
                                        </p:attrNameLst>
                                      </p:cBhvr>
                                      <p:to>
                                        <p:strVal val="visible"/>
                                      </p:to>
                                    </p:set>
                                    <p:animEffect transition="in" filter="fade">
                                      <p:cBhvr>
                                        <p:cTn id="75" dur="500"/>
                                        <p:tgtEl>
                                          <p:spTgt spid="4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6"/>
                                        </p:tgtEl>
                                        <p:attrNameLst>
                                          <p:attrName>style.visibility</p:attrName>
                                        </p:attrNameLst>
                                      </p:cBhvr>
                                      <p:to>
                                        <p:strVal val="visible"/>
                                      </p:to>
                                    </p:set>
                                    <p:animEffect transition="in" filter="fade">
                                      <p:cBhvr>
                                        <p:cTn id="78" dur="500"/>
                                        <p:tgtEl>
                                          <p:spTgt spid="46"/>
                                        </p:tgtEl>
                                      </p:cBhvr>
                                    </p:animEffect>
                                  </p:childTnLst>
                                </p:cTn>
                              </p:par>
                              <p:par>
                                <p:cTn id="79" presetID="10" presetClass="entr" presetSubtype="0" fill="hold" nodeType="withEffect">
                                  <p:stCondLst>
                                    <p:cond delay="0"/>
                                  </p:stCondLst>
                                  <p:childTnLst>
                                    <p:set>
                                      <p:cBhvr>
                                        <p:cTn id="80" dur="1" fill="hold">
                                          <p:stCondLst>
                                            <p:cond delay="0"/>
                                          </p:stCondLst>
                                        </p:cTn>
                                        <p:tgtEl>
                                          <p:spTgt spid="47"/>
                                        </p:tgtEl>
                                        <p:attrNameLst>
                                          <p:attrName>style.visibility</p:attrName>
                                        </p:attrNameLst>
                                      </p:cBhvr>
                                      <p:to>
                                        <p:strVal val="visible"/>
                                      </p:to>
                                    </p:set>
                                    <p:animEffect transition="in" filter="fade">
                                      <p:cBhvr>
                                        <p:cTn id="81" dur="500"/>
                                        <p:tgtEl>
                                          <p:spTgt spid="47"/>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48"/>
                                        </p:tgtEl>
                                        <p:attrNameLst>
                                          <p:attrName>style.visibility</p:attrName>
                                        </p:attrNameLst>
                                      </p:cBhvr>
                                      <p:to>
                                        <p:strVal val="visible"/>
                                      </p:to>
                                    </p:set>
                                    <p:animEffect transition="in" filter="fade">
                                      <p:cBhvr>
                                        <p:cTn id="85" dur="500"/>
                                        <p:tgtEl>
                                          <p:spTgt spid="4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9"/>
                                        </p:tgtEl>
                                        <p:attrNameLst>
                                          <p:attrName>style.visibility</p:attrName>
                                        </p:attrNameLst>
                                      </p:cBhvr>
                                      <p:to>
                                        <p:strVal val="visible"/>
                                      </p:to>
                                    </p:set>
                                    <p:animEffect transition="in" filter="fade">
                                      <p:cBhvr>
                                        <p:cTn id="88" dur="500"/>
                                        <p:tgtEl>
                                          <p:spTgt spid="49"/>
                                        </p:tgtEl>
                                      </p:cBhvr>
                                    </p:animEffect>
                                  </p:childTnLst>
                                </p:cTn>
                              </p:par>
                            </p:childTnLst>
                          </p:cTn>
                        </p:par>
                        <p:par>
                          <p:cTn id="89" fill="hold">
                            <p:stCondLst>
                              <p:cond delay="2450"/>
                            </p:stCondLst>
                            <p:childTnLst>
                              <p:par>
                                <p:cTn id="90" presetID="10" presetClass="entr" presetSubtype="0" fill="hold" grpId="0" nodeType="after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1"/>
                                        </p:tgtEl>
                                        <p:attrNameLst>
                                          <p:attrName>style.visibility</p:attrName>
                                        </p:attrNameLst>
                                      </p:cBhvr>
                                      <p:to>
                                        <p:strVal val="visible"/>
                                      </p:to>
                                    </p:set>
                                    <p:animEffect transition="in" filter="fade">
                                      <p:cBhvr>
                                        <p:cTn id="95" dur="500"/>
                                        <p:tgtEl>
                                          <p:spTgt spid="5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2"/>
                                        </p:tgtEl>
                                        <p:attrNameLst>
                                          <p:attrName>style.visibility</p:attrName>
                                        </p:attrNameLst>
                                      </p:cBhvr>
                                      <p:to>
                                        <p:strVal val="visible"/>
                                      </p:to>
                                    </p:set>
                                    <p:animEffect transition="in" filter="fade">
                                      <p:cBhvr>
                                        <p:cTn id="98" dur="500"/>
                                        <p:tgtEl>
                                          <p:spTgt spid="52"/>
                                        </p:tgtEl>
                                      </p:cBhvr>
                                    </p:animEffect>
                                  </p:childTnLst>
                                </p:cTn>
                              </p:par>
                            </p:childTnLst>
                          </p:cTn>
                        </p:par>
                        <p:par>
                          <p:cTn id="99" fill="hold">
                            <p:stCondLst>
                              <p:cond delay="2800"/>
                            </p:stCondLst>
                            <p:childTnLst>
                              <p:par>
                                <p:cTn id="100" presetID="10" presetClass="entr" presetSubtype="0" fill="hold" grpId="0" nodeType="afterEffect">
                                  <p:stCondLst>
                                    <p:cond delay="0"/>
                                  </p:stCondLst>
                                  <p:childTnLst>
                                    <p:set>
                                      <p:cBhvr>
                                        <p:cTn id="101" dur="1" fill="hold">
                                          <p:stCondLst>
                                            <p:cond delay="0"/>
                                          </p:stCondLst>
                                        </p:cTn>
                                        <p:tgtEl>
                                          <p:spTgt spid="53"/>
                                        </p:tgtEl>
                                        <p:attrNameLst>
                                          <p:attrName>style.visibility</p:attrName>
                                        </p:attrNameLst>
                                      </p:cBhvr>
                                      <p:to>
                                        <p:strVal val="visible"/>
                                      </p:to>
                                    </p:set>
                                    <p:animEffect transition="in" filter="fade">
                                      <p:cBhvr>
                                        <p:cTn id="102" dur="500"/>
                                        <p:tgtEl>
                                          <p:spTgt spid="5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4"/>
                                        </p:tgtEl>
                                        <p:attrNameLst>
                                          <p:attrName>style.visibility</p:attrName>
                                        </p:attrNameLst>
                                      </p:cBhvr>
                                      <p:to>
                                        <p:strVal val="visible"/>
                                      </p:to>
                                    </p:set>
                                    <p:animEffect transition="in" filter="fade">
                                      <p:cBhvr>
                                        <p:cTn id="105" dur="500"/>
                                        <p:tgtEl>
                                          <p:spTgt spid="54"/>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5"/>
                                        </p:tgtEl>
                                        <p:attrNameLst>
                                          <p:attrName>style.visibility</p:attrName>
                                        </p:attrNameLst>
                                      </p:cBhvr>
                                      <p:to>
                                        <p:strVal val="visible"/>
                                      </p:to>
                                    </p:set>
                                    <p:animEffect transition="in" filter="fade">
                                      <p:cBhvr>
                                        <p:cTn id="108" dur="500"/>
                                        <p:tgtEl>
                                          <p:spTgt spid="55"/>
                                        </p:tgtEl>
                                      </p:cBhvr>
                                    </p:animEffect>
                                  </p:childTnLst>
                                </p:cTn>
                              </p:par>
                            </p:childTnLst>
                          </p:cTn>
                        </p:par>
                        <p:par>
                          <p:cTn id="109" fill="hold">
                            <p:stCondLst>
                              <p:cond delay="3150"/>
                            </p:stCondLst>
                            <p:childTnLst>
                              <p:par>
                                <p:cTn id="110" presetID="10" presetClass="entr" presetSubtype="0" fill="hold" grpId="0" nodeType="afterEffect">
                                  <p:stCondLst>
                                    <p:cond delay="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500"/>
                                        <p:tgtEl>
                                          <p:spTgt spid="56"/>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500"/>
                                        <p:tgtEl>
                                          <p:spTgt spid="57"/>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58"/>
                                        </p:tgtEl>
                                        <p:attrNameLst>
                                          <p:attrName>style.visibility</p:attrName>
                                        </p:attrNameLst>
                                      </p:cBhvr>
                                      <p:to>
                                        <p:strVal val="visible"/>
                                      </p:to>
                                    </p:set>
                                    <p:animEffect transition="in" filter="fade">
                                      <p:cBhvr>
                                        <p:cTn id="118" dur="500"/>
                                        <p:tgtEl>
                                          <p:spTgt spid="58"/>
                                        </p:tgtEl>
                                      </p:cBhvr>
                                    </p:animEffect>
                                  </p:childTnLst>
                                </p:cTn>
                              </p:par>
                            </p:childTnLst>
                          </p:cTn>
                        </p:par>
                        <p:par>
                          <p:cTn id="119" fill="hold">
                            <p:stCondLst>
                              <p:cond delay="3500"/>
                            </p:stCondLst>
                            <p:childTnLst>
                              <p:par>
                                <p:cTn id="120" presetID="10" presetClass="entr" presetSubtype="0" fill="hold" grpId="0" nodeType="afterEffect">
                                  <p:stCondLst>
                                    <p:cond delay="0"/>
                                  </p:stCondLst>
                                  <p:childTnLst>
                                    <p:set>
                                      <p:cBhvr>
                                        <p:cTn id="121" dur="1" fill="hold">
                                          <p:stCondLst>
                                            <p:cond delay="0"/>
                                          </p:stCondLst>
                                        </p:cTn>
                                        <p:tgtEl>
                                          <p:spTgt spid="59"/>
                                        </p:tgtEl>
                                        <p:attrNameLst>
                                          <p:attrName>style.visibility</p:attrName>
                                        </p:attrNameLst>
                                      </p:cBhvr>
                                      <p:to>
                                        <p:strVal val="visible"/>
                                      </p:to>
                                    </p:set>
                                    <p:animEffect transition="in" filter="fade">
                                      <p:cBhvr>
                                        <p:cTn id="122" dur="500"/>
                                        <p:tgtEl>
                                          <p:spTgt spid="59"/>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60"/>
                                        </p:tgtEl>
                                        <p:attrNameLst>
                                          <p:attrName>style.visibility</p:attrName>
                                        </p:attrNameLst>
                                      </p:cBhvr>
                                      <p:to>
                                        <p:strVal val="visible"/>
                                      </p:to>
                                    </p:set>
                                    <p:animEffect transition="in" filter="fade">
                                      <p:cBhvr>
                                        <p:cTn id="125" dur="500"/>
                                        <p:tgtEl>
                                          <p:spTgt spid="60"/>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61"/>
                                        </p:tgtEl>
                                        <p:attrNameLst>
                                          <p:attrName>style.visibility</p:attrName>
                                        </p:attrNameLst>
                                      </p:cBhvr>
                                      <p:to>
                                        <p:strVal val="visible"/>
                                      </p:to>
                                    </p:set>
                                    <p:animEffect transition="in" filter="fade">
                                      <p:cBhvr>
                                        <p:cTn id="128"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7" grpId="0" animBg="1"/>
      <p:bldP spid="28" grpId="0" animBg="1"/>
      <p:bldP spid="30" grpId="0" animBg="1"/>
      <p:bldP spid="31" grpId="0" animBg="1"/>
      <p:bldP spid="33" grpId="0" animBg="1"/>
      <p:bldP spid="35" grpId="0" animBg="1"/>
      <p:bldP spid="36" grpId="0" animBg="1"/>
      <p:bldP spid="38" grpId="0" animBg="1"/>
      <p:bldP spid="40" grpId="0" animBg="1"/>
      <p:bldP spid="41" grpId="0" animBg="1"/>
      <p:bldP spid="43" grpId="0" animBg="1"/>
      <p:bldP spid="45" grpId="0" animBg="1"/>
      <p:bldP spid="46"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A0_179"/>
          <p:cNvSpPr/>
          <p:nvPr/>
        </p:nvSpPr>
        <p:spPr>
          <a:xfrm>
            <a:off x="6800850" y="274320"/>
            <a:ext cx="109728" cy="109728"/>
          </a:xfrm>
          <a:prstGeom prst="rect">
            <a:avLst/>
          </a:prstGeom>
          <a:solidFill>
            <a:srgbClr val="0A6EBD"/>
          </a:solidFill>
          <a:ln w="12700">
            <a:solidFill>
              <a:srgbClr val="0A6EBD"/>
            </a:solidFill>
            <a:prstDash val="solid"/>
          </a:ln>
        </p:spPr>
      </p:sp>
      <p:sp>
        <p:nvSpPr>
          <p:cNvPr id="4" name="A0_180"/>
          <p:cNvSpPr/>
          <p:nvPr/>
        </p:nvSpPr>
        <p:spPr>
          <a:xfrm>
            <a:off x="6992874" y="274320"/>
            <a:ext cx="109728" cy="109728"/>
          </a:xfrm>
          <a:prstGeom prst="rect">
            <a:avLst/>
          </a:prstGeom>
          <a:solidFill>
            <a:srgbClr val="0A6EBD"/>
          </a:solidFill>
          <a:ln w="12700">
            <a:solidFill>
              <a:srgbClr val="0A6EBD"/>
            </a:solidFill>
            <a:prstDash val="solid"/>
          </a:ln>
        </p:spPr>
      </p:sp>
      <p:sp>
        <p:nvSpPr>
          <p:cNvPr id="5" name="A0_181"/>
          <p:cNvSpPr/>
          <p:nvPr/>
        </p:nvSpPr>
        <p:spPr>
          <a:xfrm>
            <a:off x="7184898" y="274320"/>
            <a:ext cx="109728" cy="109728"/>
          </a:xfrm>
          <a:prstGeom prst="rect">
            <a:avLst/>
          </a:prstGeom>
          <a:solidFill>
            <a:srgbClr val="0A6EBD"/>
          </a:solidFill>
          <a:ln w="12700">
            <a:solidFill>
              <a:srgbClr val="0A6EBD"/>
            </a:solidFill>
            <a:prstDash val="solid"/>
          </a:ln>
        </p:spPr>
      </p:sp>
      <p:sp>
        <p:nvSpPr>
          <p:cNvPr id="6" name="A0_182"/>
          <p:cNvSpPr/>
          <p:nvPr/>
        </p:nvSpPr>
        <p:spPr>
          <a:xfrm>
            <a:off x="7376922" y="274320"/>
            <a:ext cx="109728" cy="109728"/>
          </a:xfrm>
          <a:prstGeom prst="rect">
            <a:avLst/>
          </a:prstGeom>
          <a:solidFill>
            <a:srgbClr val="0A6EBD"/>
          </a:solidFill>
          <a:ln w="12700">
            <a:solidFill>
              <a:srgbClr val="0A6EBD"/>
            </a:solidFill>
            <a:prstDash val="solid"/>
          </a:ln>
        </p:spPr>
      </p:sp>
      <p:sp>
        <p:nvSpPr>
          <p:cNvPr id="7" name="A0_183"/>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Critique de l'existant</a:t>
            </a:r>
            <a:endParaRPr lang="en-US" sz="3600" dirty="0"/>
          </a:p>
        </p:txBody>
      </p:sp>
      <p:pic>
        <p:nvPicPr>
          <p:cNvPr id="8" name="A0_184"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198"/>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199"/>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4" name="A1_200"/>
          <p:cNvSpPr/>
          <p:nvPr/>
        </p:nvSpPr>
        <p:spPr>
          <a:xfrm>
            <a:off x="1190625" y="1645920"/>
            <a:ext cx="1371600" cy="1371600"/>
          </a:xfrm>
          <a:prstGeom prst="ellipse">
            <a:avLst/>
          </a:prstGeom>
          <a:solidFill>
            <a:srgbClr val="FFFFFF"/>
          </a:solidFill>
          <a:ln w="104775">
            <a:solidFill>
              <a:srgbClr val="0A6EBD"/>
            </a:solidFill>
            <a:prstDash val="solid"/>
          </a:ln>
        </p:spPr>
        <p:txBody>
          <a:bodyPr/>
          <a:lstStyle/>
          <a:p>
            <a:endParaRPr lang="fr-FR"/>
          </a:p>
        </p:txBody>
      </p:sp>
      <p:pic>
        <p:nvPicPr>
          <p:cNvPr id="25" name="A1_201" descr="preencoded.png"/>
          <p:cNvPicPr>
            <a:picLocks noChangeAspect="1"/>
          </p:cNvPicPr>
          <p:nvPr/>
        </p:nvPicPr>
        <p:blipFill>
          <a:blip r:embed="rId4"/>
          <a:stretch>
            <a:fillRect/>
          </a:stretch>
        </p:blipFill>
        <p:spPr>
          <a:xfrm>
            <a:off x="1492377" y="1947672"/>
            <a:ext cx="768096" cy="768096"/>
          </a:xfrm>
          <a:prstGeom prst="rect">
            <a:avLst/>
          </a:prstGeom>
        </p:spPr>
      </p:pic>
      <p:sp>
        <p:nvSpPr>
          <p:cNvPr id="26" name="A1_202"/>
          <p:cNvSpPr txBox="1"/>
          <p:nvPr/>
        </p:nvSpPr>
        <p:spPr>
          <a:xfrm>
            <a:off x="896112" y="3200400"/>
            <a:ext cx="1960626" cy="640080"/>
          </a:xfrm>
          <a:prstGeom prst="rect">
            <a:avLst/>
          </a:prstGeom>
          <a:noFill/>
          <a:ln/>
        </p:spPr>
        <p:txBody>
          <a:bodyPr wrap="square" lIns="0" tIns="0" rIns="0" bIns="0" rtlCol="0" anchor="t"/>
          <a:lstStyle/>
          <a:p>
            <a:pPr marL="0" indent="0" algn="ctr">
              <a:buNone/>
            </a:pPr>
            <a:r>
              <a:rPr lang="en-US" sz="1500" b="1" dirty="0">
                <a:solidFill>
                  <a:srgbClr val="262626"/>
                </a:solidFill>
                <a:latin typeface="Arial" pitchFamily="34" charset="0"/>
                <a:ea typeface="Arial" pitchFamily="34" charset="-122"/>
                <a:cs typeface="Arial" pitchFamily="34" charset="-120"/>
              </a:rPr>
              <a:t>Informations dispersées</a:t>
            </a:r>
            <a:endParaRPr lang="en-US" sz="1500" dirty="0"/>
          </a:p>
        </p:txBody>
      </p:sp>
      <p:sp>
        <p:nvSpPr>
          <p:cNvPr id="27" name="A1_203"/>
          <p:cNvSpPr txBox="1"/>
          <p:nvPr/>
        </p:nvSpPr>
        <p:spPr>
          <a:xfrm>
            <a:off x="896112" y="3840480"/>
            <a:ext cx="1960626" cy="365760"/>
          </a:xfrm>
          <a:prstGeom prst="rect">
            <a:avLst/>
          </a:prstGeom>
          <a:noFill/>
          <a:ln/>
        </p:spPr>
        <p:txBody>
          <a:bodyPr wrap="square" lIns="0" tIns="0" rIns="0" bIns="0" rtlCol="0" anchor="t"/>
          <a:lstStyle/>
          <a:p>
            <a:pPr marL="0" indent="0" algn="ctr">
              <a:buNone/>
            </a:pPr>
            <a:r>
              <a:rPr lang="en-US" sz="1200" i="1" dirty="0">
                <a:solidFill>
                  <a:srgbClr val="595959"/>
                </a:solidFill>
                <a:latin typeface="Arial" pitchFamily="34" charset="0"/>
                <a:ea typeface="Arial" pitchFamily="34" charset="-122"/>
                <a:cs typeface="Arial" pitchFamily="34" charset="-120"/>
              </a:rPr>
              <a:t>aucune vue d'ensemble</a:t>
            </a:r>
            <a:endParaRPr lang="en-US" sz="1200" dirty="0"/>
          </a:p>
        </p:txBody>
      </p:sp>
      <p:sp>
        <p:nvSpPr>
          <p:cNvPr id="28" name="A2_204"/>
          <p:cNvSpPr/>
          <p:nvPr/>
        </p:nvSpPr>
        <p:spPr>
          <a:xfrm>
            <a:off x="3297555" y="1645920"/>
            <a:ext cx="1371600" cy="1371600"/>
          </a:xfrm>
          <a:prstGeom prst="ellipse">
            <a:avLst/>
          </a:prstGeom>
          <a:solidFill>
            <a:srgbClr val="FFFFFF"/>
          </a:solidFill>
          <a:ln w="104775">
            <a:solidFill>
              <a:srgbClr val="0A6EBD"/>
            </a:solidFill>
            <a:prstDash val="solid"/>
          </a:ln>
        </p:spPr>
        <p:txBody>
          <a:bodyPr/>
          <a:lstStyle/>
          <a:p>
            <a:endParaRPr lang="fr-FR"/>
          </a:p>
        </p:txBody>
      </p:sp>
      <p:pic>
        <p:nvPicPr>
          <p:cNvPr id="29" name="A2_205" descr="preencoded.png"/>
          <p:cNvPicPr>
            <a:picLocks noChangeAspect="1"/>
          </p:cNvPicPr>
          <p:nvPr/>
        </p:nvPicPr>
        <p:blipFill>
          <a:blip r:embed="rId5"/>
          <a:stretch>
            <a:fillRect/>
          </a:stretch>
        </p:blipFill>
        <p:spPr>
          <a:xfrm>
            <a:off x="3599307" y="1947672"/>
            <a:ext cx="768096" cy="768096"/>
          </a:xfrm>
          <a:prstGeom prst="rect">
            <a:avLst/>
          </a:prstGeom>
        </p:spPr>
      </p:pic>
      <p:sp>
        <p:nvSpPr>
          <p:cNvPr id="30" name="A2_206"/>
          <p:cNvSpPr txBox="1"/>
          <p:nvPr/>
        </p:nvSpPr>
        <p:spPr>
          <a:xfrm>
            <a:off x="3003042" y="3200400"/>
            <a:ext cx="1960626" cy="640080"/>
          </a:xfrm>
          <a:prstGeom prst="rect">
            <a:avLst/>
          </a:prstGeom>
          <a:noFill/>
          <a:ln/>
        </p:spPr>
        <p:txBody>
          <a:bodyPr wrap="square" lIns="0" tIns="0" rIns="0" bIns="0" rtlCol="0" anchor="t"/>
          <a:lstStyle/>
          <a:p>
            <a:pPr marL="0" indent="0" algn="ctr">
              <a:buNone/>
            </a:pPr>
            <a:r>
              <a:rPr lang="en-US" sz="1500" b="1" dirty="0">
                <a:solidFill>
                  <a:srgbClr val="262626"/>
                </a:solidFill>
                <a:latin typeface="Arial" pitchFamily="34" charset="0"/>
                <a:ea typeface="Arial" pitchFamily="34" charset="-122"/>
                <a:cs typeface="Arial" pitchFamily="34" charset="-120"/>
              </a:rPr>
              <a:t>Diagnostic lent et manuel</a:t>
            </a:r>
            <a:endParaRPr lang="en-US" sz="1500" dirty="0"/>
          </a:p>
        </p:txBody>
      </p:sp>
      <p:sp>
        <p:nvSpPr>
          <p:cNvPr id="31" name="A2_207"/>
          <p:cNvSpPr txBox="1"/>
          <p:nvPr/>
        </p:nvSpPr>
        <p:spPr>
          <a:xfrm>
            <a:off x="3003042" y="3840480"/>
            <a:ext cx="1960626" cy="365760"/>
          </a:xfrm>
          <a:prstGeom prst="rect">
            <a:avLst/>
          </a:prstGeom>
          <a:noFill/>
          <a:ln/>
        </p:spPr>
        <p:txBody>
          <a:bodyPr wrap="square" lIns="0" tIns="0" rIns="0" bIns="0" rtlCol="0" anchor="t"/>
          <a:lstStyle/>
          <a:p>
            <a:pPr marL="0" indent="0" algn="ctr">
              <a:buNone/>
            </a:pPr>
            <a:r>
              <a:rPr lang="en-US" sz="1200" i="1" dirty="0">
                <a:solidFill>
                  <a:srgbClr val="595959"/>
                </a:solidFill>
                <a:latin typeface="Arial" pitchFamily="34" charset="0"/>
                <a:ea typeface="Arial" pitchFamily="34" charset="-122"/>
                <a:cs typeface="Arial" pitchFamily="34" charset="-120"/>
              </a:rPr>
              <a:t>logs lus « à l'œil »</a:t>
            </a:r>
            <a:endParaRPr lang="en-US" sz="1200" dirty="0"/>
          </a:p>
        </p:txBody>
      </p:sp>
      <p:sp>
        <p:nvSpPr>
          <p:cNvPr id="32" name="A3_208"/>
          <p:cNvSpPr/>
          <p:nvPr/>
        </p:nvSpPr>
        <p:spPr>
          <a:xfrm>
            <a:off x="5404485" y="1645920"/>
            <a:ext cx="1371600" cy="1371600"/>
          </a:xfrm>
          <a:prstGeom prst="ellipse">
            <a:avLst/>
          </a:prstGeom>
          <a:solidFill>
            <a:srgbClr val="FFFFFF"/>
          </a:solidFill>
          <a:ln w="104775">
            <a:solidFill>
              <a:srgbClr val="0A6EBD"/>
            </a:solidFill>
            <a:prstDash val="solid"/>
          </a:ln>
        </p:spPr>
        <p:txBody>
          <a:bodyPr/>
          <a:lstStyle/>
          <a:p>
            <a:endParaRPr lang="fr-FR"/>
          </a:p>
        </p:txBody>
      </p:sp>
      <p:pic>
        <p:nvPicPr>
          <p:cNvPr id="33" name="A3_209" descr="preencoded.png"/>
          <p:cNvPicPr>
            <a:picLocks noChangeAspect="1"/>
          </p:cNvPicPr>
          <p:nvPr/>
        </p:nvPicPr>
        <p:blipFill>
          <a:blip r:embed="rId6"/>
          <a:stretch>
            <a:fillRect/>
          </a:stretch>
        </p:blipFill>
        <p:spPr>
          <a:xfrm>
            <a:off x="5706237" y="1947672"/>
            <a:ext cx="768096" cy="768096"/>
          </a:xfrm>
          <a:prstGeom prst="rect">
            <a:avLst/>
          </a:prstGeom>
        </p:spPr>
      </p:pic>
      <p:sp>
        <p:nvSpPr>
          <p:cNvPr id="34" name="A3_210"/>
          <p:cNvSpPr txBox="1"/>
          <p:nvPr/>
        </p:nvSpPr>
        <p:spPr>
          <a:xfrm>
            <a:off x="5109972" y="3200400"/>
            <a:ext cx="1960626" cy="640080"/>
          </a:xfrm>
          <a:prstGeom prst="rect">
            <a:avLst/>
          </a:prstGeom>
          <a:noFill/>
          <a:ln/>
        </p:spPr>
        <p:txBody>
          <a:bodyPr wrap="square" lIns="0" tIns="0" rIns="0" bIns="0" rtlCol="0" anchor="t"/>
          <a:lstStyle/>
          <a:p>
            <a:pPr marL="0" indent="0" algn="ctr">
              <a:buNone/>
            </a:pPr>
            <a:r>
              <a:rPr lang="en-US" sz="1500" b="1" dirty="0">
                <a:solidFill>
                  <a:srgbClr val="262626"/>
                </a:solidFill>
                <a:latin typeface="Arial" pitchFamily="34" charset="0"/>
                <a:ea typeface="Arial" pitchFamily="34" charset="-122"/>
                <a:cs typeface="Arial" pitchFamily="34" charset="-120"/>
              </a:rPr>
              <a:t>Alertes non priorisées</a:t>
            </a:r>
            <a:endParaRPr lang="en-US" sz="1500" dirty="0"/>
          </a:p>
        </p:txBody>
      </p:sp>
      <p:sp>
        <p:nvSpPr>
          <p:cNvPr id="35" name="A3_211"/>
          <p:cNvSpPr txBox="1"/>
          <p:nvPr/>
        </p:nvSpPr>
        <p:spPr>
          <a:xfrm>
            <a:off x="5109972" y="3840480"/>
            <a:ext cx="1960626" cy="365760"/>
          </a:xfrm>
          <a:prstGeom prst="rect">
            <a:avLst/>
          </a:prstGeom>
          <a:noFill/>
          <a:ln/>
        </p:spPr>
        <p:txBody>
          <a:bodyPr wrap="square" lIns="0" tIns="0" rIns="0" bIns="0" rtlCol="0" anchor="t"/>
          <a:lstStyle/>
          <a:p>
            <a:pPr marL="0" indent="0" algn="ctr">
              <a:buNone/>
            </a:pPr>
            <a:r>
              <a:rPr lang="en-US" sz="1200" i="1" dirty="0">
                <a:solidFill>
                  <a:srgbClr val="595959"/>
                </a:solidFill>
                <a:latin typeface="Arial" pitchFamily="34" charset="0"/>
                <a:ea typeface="Arial" pitchFamily="34" charset="-122"/>
                <a:cs typeface="Arial" pitchFamily="34" charset="-120"/>
              </a:rPr>
              <a:t>par où commencer ?</a:t>
            </a:r>
            <a:endParaRPr lang="en-US" sz="1200" dirty="0"/>
          </a:p>
        </p:txBody>
      </p:sp>
      <p:sp>
        <p:nvSpPr>
          <p:cNvPr id="36" name="A4_212"/>
          <p:cNvSpPr/>
          <p:nvPr/>
        </p:nvSpPr>
        <p:spPr>
          <a:xfrm>
            <a:off x="7511415" y="1645920"/>
            <a:ext cx="1371600" cy="1371600"/>
          </a:xfrm>
          <a:prstGeom prst="ellipse">
            <a:avLst/>
          </a:prstGeom>
          <a:solidFill>
            <a:srgbClr val="FFFFFF"/>
          </a:solidFill>
          <a:ln w="104775">
            <a:solidFill>
              <a:srgbClr val="0A6EBD"/>
            </a:solidFill>
            <a:prstDash val="solid"/>
          </a:ln>
        </p:spPr>
        <p:txBody>
          <a:bodyPr/>
          <a:lstStyle/>
          <a:p>
            <a:endParaRPr lang="fr-FR"/>
          </a:p>
        </p:txBody>
      </p:sp>
      <p:pic>
        <p:nvPicPr>
          <p:cNvPr id="37" name="A4_213" descr="preencoded.png"/>
          <p:cNvPicPr>
            <a:picLocks noChangeAspect="1"/>
          </p:cNvPicPr>
          <p:nvPr/>
        </p:nvPicPr>
        <p:blipFill>
          <a:blip r:embed="rId7"/>
          <a:stretch>
            <a:fillRect/>
          </a:stretch>
        </p:blipFill>
        <p:spPr>
          <a:xfrm>
            <a:off x="7813167" y="1947672"/>
            <a:ext cx="768096" cy="768096"/>
          </a:xfrm>
          <a:prstGeom prst="rect">
            <a:avLst/>
          </a:prstGeom>
        </p:spPr>
      </p:pic>
      <p:sp>
        <p:nvSpPr>
          <p:cNvPr id="38" name="A4_214"/>
          <p:cNvSpPr txBox="1"/>
          <p:nvPr/>
        </p:nvSpPr>
        <p:spPr>
          <a:xfrm>
            <a:off x="7216902" y="3200400"/>
            <a:ext cx="1960626" cy="640080"/>
          </a:xfrm>
          <a:prstGeom prst="rect">
            <a:avLst/>
          </a:prstGeom>
          <a:noFill/>
          <a:ln/>
        </p:spPr>
        <p:txBody>
          <a:bodyPr wrap="square" lIns="0" tIns="0" rIns="0" bIns="0" rtlCol="0" anchor="t"/>
          <a:lstStyle/>
          <a:p>
            <a:pPr marL="0" indent="0" algn="ctr">
              <a:buNone/>
            </a:pPr>
            <a:r>
              <a:rPr lang="en-US" sz="1500" b="1" dirty="0">
                <a:solidFill>
                  <a:srgbClr val="262626"/>
                </a:solidFill>
                <a:latin typeface="Arial" pitchFamily="34" charset="0"/>
                <a:ea typeface="Arial" pitchFamily="34" charset="-122"/>
                <a:cs typeface="Arial" pitchFamily="34" charset="-120"/>
              </a:rPr>
              <a:t>Sources non reliées</a:t>
            </a:r>
            <a:endParaRPr lang="en-US" sz="1500" dirty="0"/>
          </a:p>
        </p:txBody>
      </p:sp>
      <p:sp>
        <p:nvSpPr>
          <p:cNvPr id="39" name="A4_215"/>
          <p:cNvSpPr txBox="1"/>
          <p:nvPr/>
        </p:nvSpPr>
        <p:spPr>
          <a:xfrm>
            <a:off x="7216902" y="3840480"/>
            <a:ext cx="1960626" cy="365760"/>
          </a:xfrm>
          <a:prstGeom prst="rect">
            <a:avLst/>
          </a:prstGeom>
          <a:noFill/>
          <a:ln/>
        </p:spPr>
        <p:txBody>
          <a:bodyPr wrap="square" lIns="0" tIns="0" rIns="0" bIns="0" rtlCol="0" anchor="t"/>
          <a:lstStyle/>
          <a:p>
            <a:pPr marL="0" indent="0" algn="ctr">
              <a:buNone/>
            </a:pPr>
            <a:r>
              <a:rPr lang="en-US" sz="1200" i="1" dirty="0">
                <a:solidFill>
                  <a:srgbClr val="595959"/>
                </a:solidFill>
                <a:latin typeface="Arial" pitchFamily="34" charset="0"/>
                <a:ea typeface="Arial" pitchFamily="34" charset="-122"/>
                <a:cs typeface="Arial" pitchFamily="34" charset="-120"/>
              </a:rPr>
              <a:t>tests et logs isolés</a:t>
            </a:r>
            <a:endParaRPr lang="en-US" sz="1200" dirty="0"/>
          </a:p>
        </p:txBody>
      </p:sp>
      <p:sp>
        <p:nvSpPr>
          <p:cNvPr id="40" name="A5_216"/>
          <p:cNvSpPr/>
          <p:nvPr/>
        </p:nvSpPr>
        <p:spPr>
          <a:xfrm>
            <a:off x="9618345" y="1645920"/>
            <a:ext cx="1371600" cy="1371600"/>
          </a:xfrm>
          <a:prstGeom prst="ellipse">
            <a:avLst/>
          </a:prstGeom>
          <a:solidFill>
            <a:srgbClr val="FFFFFF"/>
          </a:solidFill>
          <a:ln w="104775">
            <a:solidFill>
              <a:srgbClr val="0A6EBD"/>
            </a:solidFill>
            <a:prstDash val="solid"/>
          </a:ln>
        </p:spPr>
        <p:txBody>
          <a:bodyPr/>
          <a:lstStyle/>
          <a:p>
            <a:endParaRPr lang="fr-FR"/>
          </a:p>
        </p:txBody>
      </p:sp>
      <p:pic>
        <p:nvPicPr>
          <p:cNvPr id="41" name="A5_217" descr="preencoded.png"/>
          <p:cNvPicPr>
            <a:picLocks noChangeAspect="1"/>
          </p:cNvPicPr>
          <p:nvPr/>
        </p:nvPicPr>
        <p:blipFill>
          <a:blip r:embed="rId8"/>
          <a:stretch>
            <a:fillRect/>
          </a:stretch>
        </p:blipFill>
        <p:spPr>
          <a:xfrm>
            <a:off x="9920097" y="1947672"/>
            <a:ext cx="768096" cy="768096"/>
          </a:xfrm>
          <a:prstGeom prst="rect">
            <a:avLst/>
          </a:prstGeom>
        </p:spPr>
      </p:pic>
      <p:sp>
        <p:nvSpPr>
          <p:cNvPr id="42" name="A5_218"/>
          <p:cNvSpPr txBox="1"/>
          <p:nvPr/>
        </p:nvSpPr>
        <p:spPr>
          <a:xfrm>
            <a:off x="9323832" y="3200400"/>
            <a:ext cx="1960626" cy="640080"/>
          </a:xfrm>
          <a:prstGeom prst="rect">
            <a:avLst/>
          </a:prstGeom>
          <a:noFill/>
          <a:ln/>
        </p:spPr>
        <p:txBody>
          <a:bodyPr wrap="square" lIns="0" tIns="0" rIns="0" bIns="0" rtlCol="0" anchor="t"/>
          <a:lstStyle/>
          <a:p>
            <a:pPr marL="0" indent="0" algn="ctr">
              <a:buNone/>
            </a:pPr>
            <a:r>
              <a:rPr lang="en-US" sz="1500" b="1" dirty="0">
                <a:solidFill>
                  <a:srgbClr val="262626"/>
                </a:solidFill>
                <a:latin typeface="Arial" pitchFamily="34" charset="0"/>
                <a:ea typeface="Arial" pitchFamily="34" charset="-122"/>
                <a:cs typeface="Arial" pitchFamily="34" charset="-120"/>
              </a:rPr>
              <a:t>Dépendance aux experts</a:t>
            </a:r>
            <a:endParaRPr lang="en-US" sz="1500" dirty="0"/>
          </a:p>
        </p:txBody>
      </p:sp>
      <p:sp>
        <p:nvSpPr>
          <p:cNvPr id="43" name="A5_219"/>
          <p:cNvSpPr txBox="1"/>
          <p:nvPr/>
        </p:nvSpPr>
        <p:spPr>
          <a:xfrm>
            <a:off x="9323832" y="3840480"/>
            <a:ext cx="1960626" cy="365760"/>
          </a:xfrm>
          <a:prstGeom prst="rect">
            <a:avLst/>
          </a:prstGeom>
          <a:noFill/>
          <a:ln/>
        </p:spPr>
        <p:txBody>
          <a:bodyPr wrap="square" lIns="0" tIns="0" rIns="0" bIns="0" rtlCol="0" anchor="t"/>
          <a:lstStyle/>
          <a:p>
            <a:pPr marL="0" indent="0" algn="ctr">
              <a:buNone/>
            </a:pPr>
            <a:r>
              <a:rPr lang="en-US" sz="1200" i="1" dirty="0">
                <a:solidFill>
                  <a:srgbClr val="595959"/>
                </a:solidFill>
                <a:latin typeface="Arial" pitchFamily="34" charset="0"/>
                <a:ea typeface="Arial" pitchFamily="34" charset="-122"/>
                <a:cs typeface="Arial" pitchFamily="34" charset="-120"/>
              </a:rPr>
              <a:t>savoir concentré</a:t>
            </a:r>
            <a:endParaRPr lang="en-US" sz="1200" dirty="0"/>
          </a:p>
        </p:txBody>
      </p:sp>
      <p:sp>
        <p:nvSpPr>
          <p:cNvPr id="44" name="A6_220"/>
          <p:cNvSpPr/>
          <p:nvPr/>
        </p:nvSpPr>
        <p:spPr>
          <a:xfrm>
            <a:off x="11725275" y="1645920"/>
            <a:ext cx="1371600" cy="1371600"/>
          </a:xfrm>
          <a:prstGeom prst="ellipse">
            <a:avLst/>
          </a:prstGeom>
          <a:solidFill>
            <a:srgbClr val="FFFFFF"/>
          </a:solidFill>
          <a:ln w="104775">
            <a:solidFill>
              <a:srgbClr val="0A6EBD"/>
            </a:solidFill>
            <a:prstDash val="solid"/>
          </a:ln>
        </p:spPr>
        <p:txBody>
          <a:bodyPr/>
          <a:lstStyle/>
          <a:p>
            <a:endParaRPr lang="fr-FR"/>
          </a:p>
        </p:txBody>
      </p:sp>
      <p:pic>
        <p:nvPicPr>
          <p:cNvPr id="45" name="A6_221" descr="preencoded.png"/>
          <p:cNvPicPr>
            <a:picLocks noChangeAspect="1"/>
          </p:cNvPicPr>
          <p:nvPr/>
        </p:nvPicPr>
        <p:blipFill>
          <a:blip r:embed="rId9"/>
          <a:stretch>
            <a:fillRect/>
          </a:stretch>
        </p:blipFill>
        <p:spPr>
          <a:xfrm>
            <a:off x="12027027" y="1947672"/>
            <a:ext cx="768096" cy="768096"/>
          </a:xfrm>
          <a:prstGeom prst="rect">
            <a:avLst/>
          </a:prstGeom>
        </p:spPr>
      </p:pic>
      <p:sp>
        <p:nvSpPr>
          <p:cNvPr id="46" name="A6_222"/>
          <p:cNvSpPr txBox="1"/>
          <p:nvPr/>
        </p:nvSpPr>
        <p:spPr>
          <a:xfrm>
            <a:off x="11430762" y="3200400"/>
            <a:ext cx="1960626" cy="640080"/>
          </a:xfrm>
          <a:prstGeom prst="rect">
            <a:avLst/>
          </a:prstGeom>
          <a:noFill/>
          <a:ln/>
        </p:spPr>
        <p:txBody>
          <a:bodyPr wrap="square" lIns="0" tIns="0" rIns="0" bIns="0" rtlCol="0" anchor="t"/>
          <a:lstStyle/>
          <a:p>
            <a:pPr marL="0" indent="0" algn="ctr">
              <a:buNone/>
            </a:pPr>
            <a:r>
              <a:rPr lang="en-US" sz="1500" b="1" dirty="0">
                <a:solidFill>
                  <a:srgbClr val="262626"/>
                </a:solidFill>
                <a:latin typeface="Arial" pitchFamily="34" charset="0"/>
                <a:ea typeface="Arial" pitchFamily="34" charset="-122"/>
                <a:cs typeface="Arial" pitchFamily="34" charset="-120"/>
              </a:rPr>
              <a:t>Qualité non mesurée</a:t>
            </a:r>
            <a:endParaRPr lang="en-US" sz="1500" dirty="0"/>
          </a:p>
        </p:txBody>
      </p:sp>
      <p:sp>
        <p:nvSpPr>
          <p:cNvPr id="47" name="A6_223"/>
          <p:cNvSpPr txBox="1"/>
          <p:nvPr/>
        </p:nvSpPr>
        <p:spPr>
          <a:xfrm>
            <a:off x="11430762" y="3840480"/>
            <a:ext cx="1960626" cy="365760"/>
          </a:xfrm>
          <a:prstGeom prst="rect">
            <a:avLst/>
          </a:prstGeom>
          <a:noFill/>
          <a:ln/>
        </p:spPr>
        <p:txBody>
          <a:bodyPr wrap="square" lIns="0" tIns="0" rIns="0" bIns="0" rtlCol="0" anchor="t"/>
          <a:lstStyle/>
          <a:p>
            <a:pPr marL="0" indent="0" algn="ctr">
              <a:buNone/>
            </a:pPr>
            <a:r>
              <a:rPr lang="en-US" sz="1200" i="1" dirty="0">
                <a:solidFill>
                  <a:srgbClr val="595959"/>
                </a:solidFill>
                <a:latin typeface="Arial" pitchFamily="34" charset="0"/>
                <a:ea typeface="Arial" pitchFamily="34" charset="-122"/>
                <a:cs typeface="Arial" pitchFamily="34" charset="-120"/>
              </a:rPr>
              <a:t>pas de « feu vert »</a:t>
            </a:r>
            <a:endParaRPr lang="en-US" sz="1200" dirty="0"/>
          </a:p>
        </p:txBody>
      </p:sp>
      <p:pic>
        <p:nvPicPr>
          <p:cNvPr id="48" name="A7_224" descr="preencoded.png"/>
          <p:cNvPicPr>
            <a:picLocks noChangeAspect="1"/>
          </p:cNvPicPr>
          <p:nvPr/>
        </p:nvPicPr>
        <p:blipFill>
          <a:blip r:embed="rId10"/>
          <a:stretch>
            <a:fillRect/>
          </a:stretch>
        </p:blipFill>
        <p:spPr>
          <a:xfrm>
            <a:off x="914400" y="4800600"/>
            <a:ext cx="1600200" cy="1600200"/>
          </a:xfrm>
          <a:prstGeom prst="rect">
            <a:avLst/>
          </a:prstGeom>
        </p:spPr>
      </p:pic>
      <p:sp>
        <p:nvSpPr>
          <p:cNvPr id="49" name="A7_225"/>
          <p:cNvSpPr/>
          <p:nvPr/>
        </p:nvSpPr>
        <p:spPr>
          <a:xfrm>
            <a:off x="2834640" y="4846320"/>
            <a:ext cx="10607040" cy="1554480"/>
          </a:xfrm>
          <a:prstGeom prst="rect">
            <a:avLst/>
          </a:prstGeom>
          <a:solidFill>
            <a:srgbClr val="EAF2FA"/>
          </a:solidFill>
          <a:ln w="28575">
            <a:solidFill>
              <a:srgbClr val="EF2B41"/>
            </a:solidFill>
            <a:prstDash val="solid"/>
          </a:ln>
        </p:spPr>
        <p:txBody>
          <a:bodyPr/>
          <a:lstStyle/>
          <a:p>
            <a:endParaRPr lang="fr-FR"/>
          </a:p>
        </p:txBody>
      </p:sp>
      <p:pic>
        <p:nvPicPr>
          <p:cNvPr id="50" name="A8_226" descr="preencoded.png"/>
          <p:cNvPicPr>
            <a:picLocks noChangeAspect="1"/>
          </p:cNvPicPr>
          <p:nvPr/>
        </p:nvPicPr>
        <p:blipFill>
          <a:blip r:embed="rId11"/>
          <a:stretch>
            <a:fillRect/>
          </a:stretch>
        </p:blipFill>
        <p:spPr>
          <a:xfrm>
            <a:off x="3035808" y="5093208"/>
            <a:ext cx="498051" cy="1060704"/>
          </a:xfrm>
          <a:prstGeom prst="rect">
            <a:avLst/>
          </a:prstGeom>
        </p:spPr>
      </p:pic>
      <p:sp>
        <p:nvSpPr>
          <p:cNvPr id="51" name="A8_227"/>
          <p:cNvSpPr txBox="1"/>
          <p:nvPr/>
        </p:nvSpPr>
        <p:spPr>
          <a:xfrm>
            <a:off x="3611880" y="4846320"/>
            <a:ext cx="2286000" cy="1554480"/>
          </a:xfrm>
          <a:prstGeom prst="rect">
            <a:avLst/>
          </a:prstGeom>
          <a:noFill/>
          <a:ln/>
        </p:spPr>
        <p:txBody>
          <a:bodyPr wrap="square" lIns="0" tIns="0" rIns="0" bIns="0" rtlCol="0" anchor="ctr"/>
          <a:lstStyle/>
          <a:p>
            <a:pPr marL="0" indent="0">
              <a:buNone/>
            </a:pPr>
            <a:r>
              <a:rPr lang="en-US" sz="1700" b="1" dirty="0">
                <a:solidFill>
                  <a:srgbClr val="262626"/>
                </a:solidFill>
                <a:latin typeface="Arial" pitchFamily="34" charset="0"/>
                <a:ea typeface="Arial" pitchFamily="34" charset="-122"/>
                <a:cs typeface="Arial" pitchFamily="34" charset="-120"/>
              </a:rPr>
              <a:t>Temps de diagnostic</a:t>
            </a:r>
            <a:endParaRPr lang="en-US" sz="1700" dirty="0"/>
          </a:p>
        </p:txBody>
      </p:sp>
      <p:sp>
        <p:nvSpPr>
          <p:cNvPr id="52" name="A8_228"/>
          <p:cNvSpPr txBox="1"/>
          <p:nvPr/>
        </p:nvSpPr>
        <p:spPr>
          <a:xfrm>
            <a:off x="5943600" y="4846320"/>
            <a:ext cx="640080" cy="1554480"/>
          </a:xfrm>
          <a:prstGeom prst="rect">
            <a:avLst/>
          </a:prstGeom>
          <a:noFill/>
          <a:ln/>
        </p:spPr>
        <p:txBody>
          <a:bodyPr wrap="square" lIns="0" tIns="0" rIns="0" bIns="0" rtlCol="0" anchor="ctr"/>
          <a:lstStyle/>
          <a:p>
            <a:pPr marL="0" indent="0" algn="ctr">
              <a:buNone/>
            </a:pPr>
            <a:r>
              <a:rPr lang="en-US" sz="3400" b="1" dirty="0">
                <a:solidFill>
                  <a:srgbClr val="0B3C66"/>
                </a:solidFill>
                <a:latin typeface="Arial" pitchFamily="34" charset="0"/>
                <a:ea typeface="Arial" pitchFamily="34" charset="-122"/>
                <a:cs typeface="Arial" pitchFamily="34" charset="-120"/>
              </a:rPr>
              <a:t>⇒</a:t>
            </a:r>
            <a:endParaRPr lang="en-US" sz="3400" dirty="0"/>
          </a:p>
        </p:txBody>
      </p:sp>
      <p:pic>
        <p:nvPicPr>
          <p:cNvPr id="53" name="A9_229" descr="preencoded.png"/>
          <p:cNvPicPr>
            <a:picLocks noChangeAspect="1"/>
          </p:cNvPicPr>
          <p:nvPr/>
        </p:nvPicPr>
        <p:blipFill>
          <a:blip r:embed="rId12"/>
          <a:stretch>
            <a:fillRect/>
          </a:stretch>
        </p:blipFill>
        <p:spPr>
          <a:xfrm>
            <a:off x="6784848" y="5093208"/>
            <a:ext cx="497352" cy="1060704"/>
          </a:xfrm>
          <a:prstGeom prst="rect">
            <a:avLst/>
          </a:prstGeom>
        </p:spPr>
      </p:pic>
      <p:sp>
        <p:nvSpPr>
          <p:cNvPr id="54" name="A9_230"/>
          <p:cNvSpPr txBox="1"/>
          <p:nvPr/>
        </p:nvSpPr>
        <p:spPr>
          <a:xfrm>
            <a:off x="7360920" y="4846320"/>
            <a:ext cx="2286000" cy="1554480"/>
          </a:xfrm>
          <a:prstGeom prst="rect">
            <a:avLst/>
          </a:prstGeom>
          <a:noFill/>
          <a:ln/>
        </p:spPr>
        <p:txBody>
          <a:bodyPr wrap="square" lIns="0" tIns="0" rIns="0" bIns="0" rtlCol="0" anchor="ctr"/>
          <a:lstStyle/>
          <a:p>
            <a:pPr marL="0" indent="0">
              <a:buNone/>
            </a:pPr>
            <a:r>
              <a:rPr lang="en-US" sz="1700" b="1" dirty="0">
                <a:solidFill>
                  <a:srgbClr val="262626"/>
                </a:solidFill>
                <a:latin typeface="Arial" pitchFamily="34" charset="0"/>
                <a:ea typeface="Arial" pitchFamily="34" charset="-122"/>
                <a:cs typeface="Arial" pitchFamily="34" charset="-120"/>
              </a:rPr>
              <a:t>Risque d'erreurs en production</a:t>
            </a:r>
            <a:endParaRPr lang="en-US" sz="1700" dirty="0"/>
          </a:p>
        </p:txBody>
      </p:sp>
      <p:sp>
        <p:nvSpPr>
          <p:cNvPr id="55" name="A9_231"/>
          <p:cNvSpPr txBox="1"/>
          <p:nvPr/>
        </p:nvSpPr>
        <p:spPr>
          <a:xfrm>
            <a:off x="9692640" y="4846320"/>
            <a:ext cx="640080" cy="1554480"/>
          </a:xfrm>
          <a:prstGeom prst="rect">
            <a:avLst/>
          </a:prstGeom>
          <a:noFill/>
          <a:ln/>
        </p:spPr>
        <p:txBody>
          <a:bodyPr wrap="square" lIns="0" tIns="0" rIns="0" bIns="0" rtlCol="0" anchor="ctr"/>
          <a:lstStyle/>
          <a:p>
            <a:pPr marL="0" indent="0" algn="ctr">
              <a:buNone/>
            </a:pPr>
            <a:r>
              <a:rPr lang="en-US" sz="3400" b="1" dirty="0">
                <a:solidFill>
                  <a:srgbClr val="0B3C66"/>
                </a:solidFill>
                <a:latin typeface="Arial" pitchFamily="34" charset="0"/>
                <a:ea typeface="Arial" pitchFamily="34" charset="-122"/>
                <a:cs typeface="Arial" pitchFamily="34" charset="-120"/>
              </a:rPr>
              <a:t>⇒</a:t>
            </a:r>
            <a:endParaRPr lang="en-US" sz="3400" dirty="0"/>
          </a:p>
        </p:txBody>
      </p:sp>
      <p:pic>
        <p:nvPicPr>
          <p:cNvPr id="56" name="A10_232" descr="preencoded.png"/>
          <p:cNvPicPr>
            <a:picLocks noChangeAspect="1"/>
          </p:cNvPicPr>
          <p:nvPr/>
        </p:nvPicPr>
        <p:blipFill>
          <a:blip r:embed="rId13"/>
          <a:stretch>
            <a:fillRect/>
          </a:stretch>
        </p:blipFill>
        <p:spPr>
          <a:xfrm>
            <a:off x="10533888" y="5093208"/>
            <a:ext cx="499305" cy="1060704"/>
          </a:xfrm>
          <a:prstGeom prst="rect">
            <a:avLst/>
          </a:prstGeom>
        </p:spPr>
      </p:pic>
      <p:sp>
        <p:nvSpPr>
          <p:cNvPr id="57" name="A10_233"/>
          <p:cNvSpPr txBox="1"/>
          <p:nvPr/>
        </p:nvSpPr>
        <p:spPr>
          <a:xfrm>
            <a:off x="11109960" y="4846320"/>
            <a:ext cx="2286000" cy="1554480"/>
          </a:xfrm>
          <a:prstGeom prst="rect">
            <a:avLst/>
          </a:prstGeom>
          <a:noFill/>
          <a:ln/>
        </p:spPr>
        <p:txBody>
          <a:bodyPr wrap="square" lIns="0" tIns="0" rIns="0" bIns="0" rtlCol="0" anchor="ctr"/>
          <a:lstStyle/>
          <a:p>
            <a:pPr marL="0" indent="0">
              <a:buNone/>
            </a:pPr>
            <a:r>
              <a:rPr lang="en-US" sz="1700" b="1" dirty="0">
                <a:solidFill>
                  <a:srgbClr val="262626"/>
                </a:solidFill>
                <a:latin typeface="Arial" pitchFamily="34" charset="0"/>
                <a:ea typeface="Arial" pitchFamily="34" charset="-122"/>
                <a:cs typeface="Arial" pitchFamily="34" charset="-120"/>
              </a:rPr>
              <a:t>Qualité des livraisons</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par>
                                <p:cTn id="21" presetID="10" presetClass="entr" presetSubtype="0" fill="hold" nodeType="with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500"/>
                                        <p:tgtEl>
                                          <p:spTgt spid="2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500"/>
                                        <p:tgtEl>
                                          <p:spTgt spid="3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par>
                                <p:cTn id="34" presetID="10" presetClass="entr" presetSubtype="0" fill="hold"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5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5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500"/>
                                        <p:tgtEl>
                                          <p:spTgt spid="35"/>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par>
                                <p:cTn id="47" presetID="10" presetClass="entr" presetSubtype="0" fill="hold" nodeType="withEffect">
                                  <p:stCondLst>
                                    <p:cond delay="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500"/>
                                        <p:tgtEl>
                                          <p:spTgt spid="3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500"/>
                                        <p:tgtEl>
                                          <p:spTgt spid="39"/>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40"/>
                                        </p:tgtEl>
                                        <p:attrNameLst>
                                          <p:attrName>style.visibility</p:attrName>
                                        </p:attrNameLst>
                                      </p:cBhvr>
                                      <p:to>
                                        <p:strVal val="visible"/>
                                      </p:to>
                                    </p:set>
                                    <p:animEffect transition="in" filter="fade">
                                      <p:cBhvr>
                                        <p:cTn id="59" dur="500"/>
                                        <p:tgtEl>
                                          <p:spTgt spid="40"/>
                                        </p:tgtEl>
                                      </p:cBhvr>
                                    </p:animEffect>
                                  </p:childTnLst>
                                </p:cTn>
                              </p:par>
                              <p:par>
                                <p:cTn id="60" presetID="10" presetClass="entr" presetSubtype="0" fill="hold" nodeType="with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500"/>
                                        <p:tgtEl>
                                          <p:spTgt spid="4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42"/>
                                        </p:tgtEl>
                                        <p:attrNameLst>
                                          <p:attrName>style.visibility</p:attrName>
                                        </p:attrNameLst>
                                      </p:cBhvr>
                                      <p:to>
                                        <p:strVal val="visible"/>
                                      </p:to>
                                    </p:set>
                                    <p:animEffect transition="in" filter="fade">
                                      <p:cBhvr>
                                        <p:cTn id="65" dur="500"/>
                                        <p:tgtEl>
                                          <p:spTgt spid="4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500"/>
                                        <p:tgtEl>
                                          <p:spTgt spid="43"/>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500"/>
                                        <p:tgtEl>
                                          <p:spTgt spid="44"/>
                                        </p:tgtEl>
                                      </p:cBhvr>
                                    </p:animEffect>
                                  </p:childTnLst>
                                </p:cTn>
                              </p:par>
                              <p:par>
                                <p:cTn id="73" presetID="10" presetClass="entr" presetSubtype="0" fill="hold" nodeType="withEffect">
                                  <p:stCondLst>
                                    <p:cond delay="0"/>
                                  </p:stCondLst>
                                  <p:childTnLst>
                                    <p:set>
                                      <p:cBhvr>
                                        <p:cTn id="74" dur="1" fill="hold">
                                          <p:stCondLst>
                                            <p:cond delay="0"/>
                                          </p:stCondLst>
                                        </p:cTn>
                                        <p:tgtEl>
                                          <p:spTgt spid="45"/>
                                        </p:tgtEl>
                                        <p:attrNameLst>
                                          <p:attrName>style.visibility</p:attrName>
                                        </p:attrNameLst>
                                      </p:cBhvr>
                                      <p:to>
                                        <p:strVal val="visible"/>
                                      </p:to>
                                    </p:set>
                                    <p:animEffect transition="in" filter="fade">
                                      <p:cBhvr>
                                        <p:cTn id="75" dur="500"/>
                                        <p:tgtEl>
                                          <p:spTgt spid="4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6"/>
                                        </p:tgtEl>
                                        <p:attrNameLst>
                                          <p:attrName>style.visibility</p:attrName>
                                        </p:attrNameLst>
                                      </p:cBhvr>
                                      <p:to>
                                        <p:strVal val="visible"/>
                                      </p:to>
                                    </p:set>
                                    <p:animEffect transition="in" filter="fade">
                                      <p:cBhvr>
                                        <p:cTn id="78" dur="500"/>
                                        <p:tgtEl>
                                          <p:spTgt spid="4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7"/>
                                        </p:tgtEl>
                                        <p:attrNameLst>
                                          <p:attrName>style.visibility</p:attrName>
                                        </p:attrNameLst>
                                      </p:cBhvr>
                                      <p:to>
                                        <p:strVal val="visible"/>
                                      </p:to>
                                    </p:set>
                                    <p:animEffect transition="in" filter="fade">
                                      <p:cBhvr>
                                        <p:cTn id="81" dur="500"/>
                                        <p:tgtEl>
                                          <p:spTgt spid="47"/>
                                        </p:tgtEl>
                                      </p:cBhvr>
                                    </p:animEffect>
                                  </p:childTnLst>
                                </p:cTn>
                              </p:par>
                            </p:childTnLst>
                          </p:cTn>
                        </p:par>
                        <p:par>
                          <p:cTn id="82" fill="hold">
                            <p:stCondLst>
                              <p:cond delay="2100"/>
                            </p:stCondLst>
                            <p:childTnLst>
                              <p:par>
                                <p:cTn id="83" presetID="10" presetClass="entr" presetSubtype="0" fill="hold" nodeType="afterEffect">
                                  <p:stCondLst>
                                    <p:cond delay="0"/>
                                  </p:stCondLst>
                                  <p:childTnLst>
                                    <p:set>
                                      <p:cBhvr>
                                        <p:cTn id="84" dur="1" fill="hold">
                                          <p:stCondLst>
                                            <p:cond delay="0"/>
                                          </p:stCondLst>
                                        </p:cTn>
                                        <p:tgtEl>
                                          <p:spTgt spid="48"/>
                                        </p:tgtEl>
                                        <p:attrNameLst>
                                          <p:attrName>style.visibility</p:attrName>
                                        </p:attrNameLst>
                                      </p:cBhvr>
                                      <p:to>
                                        <p:strVal val="visible"/>
                                      </p:to>
                                    </p:set>
                                    <p:animEffect transition="in" filter="fade">
                                      <p:cBhvr>
                                        <p:cTn id="85" dur="500"/>
                                        <p:tgtEl>
                                          <p:spTgt spid="4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9"/>
                                        </p:tgtEl>
                                        <p:attrNameLst>
                                          <p:attrName>style.visibility</p:attrName>
                                        </p:attrNameLst>
                                      </p:cBhvr>
                                      <p:to>
                                        <p:strVal val="visible"/>
                                      </p:to>
                                    </p:set>
                                    <p:animEffect transition="in" filter="fade">
                                      <p:cBhvr>
                                        <p:cTn id="88" dur="500"/>
                                        <p:tgtEl>
                                          <p:spTgt spid="49"/>
                                        </p:tgtEl>
                                      </p:cBhvr>
                                    </p:animEffect>
                                  </p:childTnLst>
                                </p:cTn>
                              </p:par>
                            </p:childTnLst>
                          </p:cTn>
                        </p:par>
                        <p:par>
                          <p:cTn id="89" fill="hold">
                            <p:stCondLst>
                              <p:cond delay="2450"/>
                            </p:stCondLst>
                            <p:childTnLst>
                              <p:par>
                                <p:cTn id="90" presetID="10" presetClass="entr" presetSubtype="0" fill="hold" nodeType="after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1"/>
                                        </p:tgtEl>
                                        <p:attrNameLst>
                                          <p:attrName>style.visibility</p:attrName>
                                        </p:attrNameLst>
                                      </p:cBhvr>
                                      <p:to>
                                        <p:strVal val="visible"/>
                                      </p:to>
                                    </p:set>
                                    <p:animEffect transition="in" filter="fade">
                                      <p:cBhvr>
                                        <p:cTn id="95" dur="500"/>
                                        <p:tgtEl>
                                          <p:spTgt spid="5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2"/>
                                        </p:tgtEl>
                                        <p:attrNameLst>
                                          <p:attrName>style.visibility</p:attrName>
                                        </p:attrNameLst>
                                      </p:cBhvr>
                                      <p:to>
                                        <p:strVal val="visible"/>
                                      </p:to>
                                    </p:set>
                                    <p:animEffect transition="in" filter="fade">
                                      <p:cBhvr>
                                        <p:cTn id="98" dur="500"/>
                                        <p:tgtEl>
                                          <p:spTgt spid="52"/>
                                        </p:tgtEl>
                                      </p:cBhvr>
                                    </p:animEffect>
                                  </p:childTnLst>
                                </p:cTn>
                              </p:par>
                            </p:childTnLst>
                          </p:cTn>
                        </p:par>
                        <p:par>
                          <p:cTn id="99" fill="hold">
                            <p:stCondLst>
                              <p:cond delay="2800"/>
                            </p:stCondLst>
                            <p:childTnLst>
                              <p:par>
                                <p:cTn id="100" presetID="10" presetClass="entr" presetSubtype="0" fill="hold" nodeType="afterEffect">
                                  <p:stCondLst>
                                    <p:cond delay="0"/>
                                  </p:stCondLst>
                                  <p:childTnLst>
                                    <p:set>
                                      <p:cBhvr>
                                        <p:cTn id="101" dur="1" fill="hold">
                                          <p:stCondLst>
                                            <p:cond delay="0"/>
                                          </p:stCondLst>
                                        </p:cTn>
                                        <p:tgtEl>
                                          <p:spTgt spid="53"/>
                                        </p:tgtEl>
                                        <p:attrNameLst>
                                          <p:attrName>style.visibility</p:attrName>
                                        </p:attrNameLst>
                                      </p:cBhvr>
                                      <p:to>
                                        <p:strVal val="visible"/>
                                      </p:to>
                                    </p:set>
                                    <p:animEffect transition="in" filter="fade">
                                      <p:cBhvr>
                                        <p:cTn id="102" dur="500"/>
                                        <p:tgtEl>
                                          <p:spTgt spid="5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4"/>
                                        </p:tgtEl>
                                        <p:attrNameLst>
                                          <p:attrName>style.visibility</p:attrName>
                                        </p:attrNameLst>
                                      </p:cBhvr>
                                      <p:to>
                                        <p:strVal val="visible"/>
                                      </p:to>
                                    </p:set>
                                    <p:animEffect transition="in" filter="fade">
                                      <p:cBhvr>
                                        <p:cTn id="105" dur="500"/>
                                        <p:tgtEl>
                                          <p:spTgt spid="54"/>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5"/>
                                        </p:tgtEl>
                                        <p:attrNameLst>
                                          <p:attrName>style.visibility</p:attrName>
                                        </p:attrNameLst>
                                      </p:cBhvr>
                                      <p:to>
                                        <p:strVal val="visible"/>
                                      </p:to>
                                    </p:set>
                                    <p:animEffect transition="in" filter="fade">
                                      <p:cBhvr>
                                        <p:cTn id="108" dur="500"/>
                                        <p:tgtEl>
                                          <p:spTgt spid="55"/>
                                        </p:tgtEl>
                                      </p:cBhvr>
                                    </p:animEffect>
                                  </p:childTnLst>
                                </p:cTn>
                              </p:par>
                            </p:childTnLst>
                          </p:cTn>
                        </p:par>
                        <p:par>
                          <p:cTn id="109" fill="hold">
                            <p:stCondLst>
                              <p:cond delay="3150"/>
                            </p:stCondLst>
                            <p:childTnLst>
                              <p:par>
                                <p:cTn id="110" presetID="10" presetClass="entr" presetSubtype="0" fill="hold" nodeType="afterEffect">
                                  <p:stCondLst>
                                    <p:cond delay="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500"/>
                                        <p:tgtEl>
                                          <p:spTgt spid="56"/>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7" grpId="0" animBg="1"/>
      <p:bldP spid="28" grpId="0" animBg="1"/>
      <p:bldP spid="30" grpId="0" animBg="1"/>
      <p:bldP spid="31" grpId="0" animBg="1"/>
      <p:bldP spid="32" grpId="0" animBg="1"/>
      <p:bldP spid="34" grpId="0" animBg="1"/>
      <p:bldP spid="35" grpId="0" animBg="1"/>
      <p:bldP spid="36" grpId="0" animBg="1"/>
      <p:bldP spid="38" grpId="0" animBg="1"/>
      <p:bldP spid="39" grpId="0" animBg="1"/>
      <p:bldP spid="40" grpId="0" animBg="1"/>
      <p:bldP spid="42" grpId="0" animBg="1"/>
      <p:bldP spid="43" grpId="0" animBg="1"/>
      <p:bldP spid="44" grpId="0" animBg="1"/>
      <p:bldP spid="46" grpId="0" animBg="1"/>
      <p:bldP spid="47" grpId="0" animBg="1"/>
      <p:bldP spid="49" grpId="0" animBg="1"/>
      <p:bldP spid="51" grpId="0" animBg="1"/>
      <p:bldP spid="52" grpId="0" animBg="1"/>
      <p:bldP spid="54" grpId="0" animBg="1"/>
      <p:bldP spid="55" grpId="0" animBg="1"/>
      <p:bldP spid="5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A0_234"/>
          <p:cNvSpPr/>
          <p:nvPr/>
        </p:nvSpPr>
        <p:spPr>
          <a:xfrm>
            <a:off x="6800850" y="274320"/>
            <a:ext cx="109728" cy="109728"/>
          </a:xfrm>
          <a:prstGeom prst="rect">
            <a:avLst/>
          </a:prstGeom>
          <a:solidFill>
            <a:srgbClr val="0A6EBD"/>
          </a:solidFill>
          <a:ln w="12700">
            <a:solidFill>
              <a:srgbClr val="0A6EBD"/>
            </a:solidFill>
            <a:prstDash val="solid"/>
          </a:ln>
        </p:spPr>
      </p:sp>
      <p:sp>
        <p:nvSpPr>
          <p:cNvPr id="4" name="A0_235"/>
          <p:cNvSpPr/>
          <p:nvPr/>
        </p:nvSpPr>
        <p:spPr>
          <a:xfrm>
            <a:off x="6992874" y="274320"/>
            <a:ext cx="109728" cy="109728"/>
          </a:xfrm>
          <a:prstGeom prst="rect">
            <a:avLst/>
          </a:prstGeom>
          <a:solidFill>
            <a:srgbClr val="0A6EBD"/>
          </a:solidFill>
          <a:ln w="12700">
            <a:solidFill>
              <a:srgbClr val="0A6EBD"/>
            </a:solidFill>
            <a:prstDash val="solid"/>
          </a:ln>
        </p:spPr>
      </p:sp>
      <p:sp>
        <p:nvSpPr>
          <p:cNvPr id="5" name="A0_236"/>
          <p:cNvSpPr/>
          <p:nvPr/>
        </p:nvSpPr>
        <p:spPr>
          <a:xfrm>
            <a:off x="7184898" y="274320"/>
            <a:ext cx="109728" cy="109728"/>
          </a:xfrm>
          <a:prstGeom prst="rect">
            <a:avLst/>
          </a:prstGeom>
          <a:solidFill>
            <a:srgbClr val="0A6EBD"/>
          </a:solidFill>
          <a:ln w="12700">
            <a:solidFill>
              <a:srgbClr val="0A6EBD"/>
            </a:solidFill>
            <a:prstDash val="solid"/>
          </a:ln>
        </p:spPr>
      </p:sp>
      <p:sp>
        <p:nvSpPr>
          <p:cNvPr id="6" name="A0_237"/>
          <p:cNvSpPr/>
          <p:nvPr/>
        </p:nvSpPr>
        <p:spPr>
          <a:xfrm>
            <a:off x="7376922" y="274320"/>
            <a:ext cx="109728" cy="109728"/>
          </a:xfrm>
          <a:prstGeom prst="rect">
            <a:avLst/>
          </a:prstGeom>
          <a:solidFill>
            <a:srgbClr val="0A6EBD"/>
          </a:solidFill>
          <a:ln w="12700">
            <a:solidFill>
              <a:srgbClr val="0A6EBD"/>
            </a:solidFill>
            <a:prstDash val="solid"/>
          </a:ln>
        </p:spPr>
      </p:sp>
      <p:sp>
        <p:nvSpPr>
          <p:cNvPr id="7" name="A0_238"/>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Problématique</a:t>
            </a:r>
            <a:endParaRPr lang="en-US" sz="3600" dirty="0"/>
          </a:p>
        </p:txBody>
      </p:sp>
      <p:pic>
        <p:nvPicPr>
          <p:cNvPr id="8" name="A0_239"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253"/>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254"/>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8</a:t>
            </a:r>
            <a:endParaRPr lang="en-US" sz="1500" dirty="0"/>
          </a:p>
        </p:txBody>
      </p:sp>
      <p:sp>
        <p:nvSpPr>
          <p:cNvPr id="24" name="A1_255"/>
          <p:cNvSpPr/>
          <p:nvPr/>
        </p:nvSpPr>
        <p:spPr>
          <a:xfrm>
            <a:off x="1280160" y="1691640"/>
            <a:ext cx="11727180" cy="3108960"/>
          </a:xfrm>
          <a:prstGeom prst="roundRect">
            <a:avLst>
              <a:gd name="adj" fmla="val 4412"/>
            </a:avLst>
          </a:prstGeom>
          <a:solidFill>
            <a:srgbClr val="0A6EBD"/>
          </a:solidFill>
          <a:ln w="12700">
            <a:solidFill>
              <a:srgbClr val="0A6EBD"/>
            </a:solidFill>
            <a:prstDash val="solid"/>
          </a:ln>
        </p:spPr>
        <p:txBody>
          <a:bodyPr/>
          <a:lstStyle/>
          <a:p>
            <a:endParaRPr lang="fr-FR"/>
          </a:p>
        </p:txBody>
      </p:sp>
      <p:pic>
        <p:nvPicPr>
          <p:cNvPr id="25" name="A1_256" descr="preencoded.png"/>
          <p:cNvPicPr>
            <a:picLocks noChangeAspect="1"/>
          </p:cNvPicPr>
          <p:nvPr/>
        </p:nvPicPr>
        <p:blipFill>
          <a:blip r:embed="rId4"/>
          <a:stretch>
            <a:fillRect/>
          </a:stretch>
        </p:blipFill>
        <p:spPr>
          <a:xfrm>
            <a:off x="1691640" y="2011680"/>
            <a:ext cx="685800" cy="685800"/>
          </a:xfrm>
          <a:prstGeom prst="rect">
            <a:avLst/>
          </a:prstGeom>
        </p:spPr>
      </p:pic>
      <p:sp>
        <p:nvSpPr>
          <p:cNvPr id="26" name="A1_257"/>
          <p:cNvSpPr txBox="1"/>
          <p:nvPr/>
        </p:nvSpPr>
        <p:spPr>
          <a:xfrm>
            <a:off x="2651760" y="1965960"/>
            <a:ext cx="9509760" cy="2560320"/>
          </a:xfrm>
          <a:prstGeom prst="rect">
            <a:avLst/>
          </a:prstGeom>
          <a:noFill/>
          <a:ln/>
        </p:spPr>
        <p:txBody>
          <a:bodyPr wrap="square" lIns="0" tIns="0" rIns="0" bIns="0" rtlCol="0" anchor="ctr"/>
          <a:lstStyle/>
          <a:p>
            <a:pPr marL="0" indent="0">
              <a:buNone/>
            </a:pPr>
            <a:r>
              <a:rPr lang="en-US" sz="2300" dirty="0">
                <a:solidFill>
                  <a:srgbClr val="FFFFFF"/>
                </a:solidFill>
                <a:latin typeface="Arial" pitchFamily="34" charset="0"/>
                <a:ea typeface="Arial" pitchFamily="34" charset="-122"/>
                <a:cs typeface="Arial" pitchFamily="34" charset="-120"/>
              </a:rPr>
              <a:t>Comment centraliser et analyser automatiquement les logs, les tests et les vulnérabilités d'une application, afin d'aider les équipes à comprendre plus vite les incidents et à les corriger, avec l'appui de l'intelligence artificielle ?</a:t>
            </a:r>
            <a:endParaRPr lang="en-US" sz="2300" dirty="0"/>
          </a:p>
        </p:txBody>
      </p:sp>
      <p:sp>
        <p:nvSpPr>
          <p:cNvPr id="27" name="A2_258"/>
          <p:cNvSpPr/>
          <p:nvPr/>
        </p:nvSpPr>
        <p:spPr>
          <a:xfrm>
            <a:off x="1280160" y="5303520"/>
            <a:ext cx="3657600" cy="1280160"/>
          </a:xfrm>
          <a:prstGeom prst="roundRect">
            <a:avLst>
              <a:gd name="adj" fmla="val 8571"/>
            </a:avLst>
          </a:prstGeom>
          <a:solidFill>
            <a:srgbClr val="EAF2FA"/>
          </a:solidFill>
          <a:ln w="12700">
            <a:solidFill>
              <a:srgbClr val="EAF2FA"/>
            </a:solidFill>
            <a:prstDash val="solid"/>
          </a:ln>
        </p:spPr>
        <p:txBody>
          <a:bodyPr/>
          <a:lstStyle/>
          <a:p>
            <a:endParaRPr lang="fr-FR"/>
          </a:p>
        </p:txBody>
      </p:sp>
      <p:sp>
        <p:nvSpPr>
          <p:cNvPr id="28" name="A2_259"/>
          <p:cNvSpPr/>
          <p:nvPr/>
        </p:nvSpPr>
        <p:spPr>
          <a:xfrm>
            <a:off x="1554480" y="5577840"/>
            <a:ext cx="731520" cy="731520"/>
          </a:xfrm>
          <a:prstGeom prst="ellipse">
            <a:avLst/>
          </a:prstGeom>
          <a:solidFill>
            <a:srgbClr val="FFFFFF"/>
          </a:solidFill>
          <a:ln w="55880">
            <a:solidFill>
              <a:srgbClr val="0A6EBD"/>
            </a:solidFill>
            <a:prstDash val="solid"/>
          </a:ln>
        </p:spPr>
        <p:txBody>
          <a:bodyPr/>
          <a:lstStyle/>
          <a:p>
            <a:endParaRPr lang="fr-FR"/>
          </a:p>
        </p:txBody>
      </p:sp>
      <p:pic>
        <p:nvPicPr>
          <p:cNvPr id="29" name="A2_260" descr="preencoded.png"/>
          <p:cNvPicPr>
            <a:picLocks noChangeAspect="1"/>
          </p:cNvPicPr>
          <p:nvPr/>
        </p:nvPicPr>
        <p:blipFill>
          <a:blip r:embed="rId5"/>
          <a:stretch>
            <a:fillRect/>
          </a:stretch>
        </p:blipFill>
        <p:spPr>
          <a:xfrm>
            <a:off x="1715414" y="5738774"/>
            <a:ext cx="409651" cy="409651"/>
          </a:xfrm>
          <a:prstGeom prst="rect">
            <a:avLst/>
          </a:prstGeom>
        </p:spPr>
      </p:pic>
      <p:sp>
        <p:nvSpPr>
          <p:cNvPr id="30" name="A2_261"/>
          <p:cNvSpPr txBox="1"/>
          <p:nvPr/>
        </p:nvSpPr>
        <p:spPr>
          <a:xfrm>
            <a:off x="2468880" y="5577840"/>
            <a:ext cx="2377440" cy="731520"/>
          </a:xfrm>
          <a:prstGeom prst="rect">
            <a:avLst/>
          </a:prstGeom>
          <a:noFill/>
          <a:ln/>
        </p:spPr>
        <p:txBody>
          <a:bodyPr wrap="square" lIns="0" tIns="0" rIns="0" bIns="0" rtlCol="0" anchor="ctr"/>
          <a:lstStyle/>
          <a:p>
            <a:pPr marL="0" indent="0">
              <a:buNone/>
            </a:pPr>
            <a:r>
              <a:rPr lang="en-US" sz="1700" b="1" dirty="0">
                <a:solidFill>
                  <a:srgbClr val="0B3C66"/>
                </a:solidFill>
                <a:latin typeface="Arial" pitchFamily="34" charset="0"/>
                <a:ea typeface="Arial" pitchFamily="34" charset="-122"/>
                <a:cs typeface="Arial" pitchFamily="34" charset="-120"/>
              </a:rPr>
              <a:t>Où est le problème ?</a:t>
            </a:r>
            <a:endParaRPr lang="en-US" sz="1700" dirty="0"/>
          </a:p>
        </p:txBody>
      </p:sp>
      <p:sp>
        <p:nvSpPr>
          <p:cNvPr id="31" name="A3_262"/>
          <p:cNvSpPr/>
          <p:nvPr/>
        </p:nvSpPr>
        <p:spPr>
          <a:xfrm>
            <a:off x="5330952" y="5303520"/>
            <a:ext cx="3657600" cy="1280160"/>
          </a:xfrm>
          <a:prstGeom prst="roundRect">
            <a:avLst>
              <a:gd name="adj" fmla="val 8571"/>
            </a:avLst>
          </a:prstGeom>
          <a:solidFill>
            <a:srgbClr val="EAF2FA"/>
          </a:solidFill>
          <a:ln w="12700">
            <a:solidFill>
              <a:srgbClr val="EAF2FA"/>
            </a:solidFill>
            <a:prstDash val="solid"/>
          </a:ln>
        </p:spPr>
        <p:txBody>
          <a:bodyPr/>
          <a:lstStyle/>
          <a:p>
            <a:endParaRPr lang="fr-FR"/>
          </a:p>
        </p:txBody>
      </p:sp>
      <p:sp>
        <p:nvSpPr>
          <p:cNvPr id="32" name="A3_263"/>
          <p:cNvSpPr/>
          <p:nvPr/>
        </p:nvSpPr>
        <p:spPr>
          <a:xfrm>
            <a:off x="5605272" y="5577840"/>
            <a:ext cx="731520" cy="731520"/>
          </a:xfrm>
          <a:prstGeom prst="ellipse">
            <a:avLst/>
          </a:prstGeom>
          <a:solidFill>
            <a:srgbClr val="FFFFFF"/>
          </a:solidFill>
          <a:ln w="55880">
            <a:solidFill>
              <a:srgbClr val="0A6EBD"/>
            </a:solidFill>
            <a:prstDash val="solid"/>
          </a:ln>
        </p:spPr>
        <p:txBody>
          <a:bodyPr/>
          <a:lstStyle/>
          <a:p>
            <a:endParaRPr lang="fr-FR"/>
          </a:p>
        </p:txBody>
      </p:sp>
      <p:pic>
        <p:nvPicPr>
          <p:cNvPr id="33" name="A3_264" descr="preencoded.png"/>
          <p:cNvPicPr>
            <a:picLocks noChangeAspect="1"/>
          </p:cNvPicPr>
          <p:nvPr/>
        </p:nvPicPr>
        <p:blipFill>
          <a:blip r:embed="rId6"/>
          <a:stretch>
            <a:fillRect/>
          </a:stretch>
        </p:blipFill>
        <p:spPr>
          <a:xfrm>
            <a:off x="5766206" y="5738774"/>
            <a:ext cx="409651" cy="409651"/>
          </a:xfrm>
          <a:prstGeom prst="rect">
            <a:avLst/>
          </a:prstGeom>
        </p:spPr>
      </p:pic>
      <p:sp>
        <p:nvSpPr>
          <p:cNvPr id="34" name="A3_265"/>
          <p:cNvSpPr txBox="1"/>
          <p:nvPr/>
        </p:nvSpPr>
        <p:spPr>
          <a:xfrm>
            <a:off x="6519672" y="5577840"/>
            <a:ext cx="2377440" cy="731520"/>
          </a:xfrm>
          <a:prstGeom prst="rect">
            <a:avLst/>
          </a:prstGeom>
          <a:noFill/>
          <a:ln/>
        </p:spPr>
        <p:txBody>
          <a:bodyPr wrap="square" lIns="0" tIns="0" rIns="0" bIns="0" rtlCol="0" anchor="ctr"/>
          <a:lstStyle/>
          <a:p>
            <a:pPr marL="0" indent="0">
              <a:buNone/>
            </a:pPr>
            <a:r>
              <a:rPr lang="en-US" sz="1700" b="1" dirty="0">
                <a:solidFill>
                  <a:srgbClr val="0B3C66"/>
                </a:solidFill>
                <a:latin typeface="Arial" pitchFamily="34" charset="0"/>
                <a:ea typeface="Arial" pitchFamily="34" charset="-122"/>
                <a:cs typeface="Arial" pitchFamily="34" charset="-120"/>
              </a:rPr>
              <a:t>Pourquoi est-il arrivé ?</a:t>
            </a:r>
            <a:endParaRPr lang="en-US" sz="1700" dirty="0"/>
          </a:p>
        </p:txBody>
      </p:sp>
      <p:sp>
        <p:nvSpPr>
          <p:cNvPr id="35" name="A4_266"/>
          <p:cNvSpPr/>
          <p:nvPr/>
        </p:nvSpPr>
        <p:spPr>
          <a:xfrm>
            <a:off x="9381744" y="5303520"/>
            <a:ext cx="3657600" cy="1280160"/>
          </a:xfrm>
          <a:prstGeom prst="roundRect">
            <a:avLst>
              <a:gd name="adj" fmla="val 8571"/>
            </a:avLst>
          </a:prstGeom>
          <a:solidFill>
            <a:srgbClr val="EAF2FA"/>
          </a:solidFill>
          <a:ln w="12700">
            <a:solidFill>
              <a:srgbClr val="EAF2FA"/>
            </a:solidFill>
            <a:prstDash val="solid"/>
          </a:ln>
        </p:spPr>
        <p:txBody>
          <a:bodyPr/>
          <a:lstStyle/>
          <a:p>
            <a:endParaRPr lang="fr-FR"/>
          </a:p>
        </p:txBody>
      </p:sp>
      <p:sp>
        <p:nvSpPr>
          <p:cNvPr id="36" name="A4_267"/>
          <p:cNvSpPr/>
          <p:nvPr/>
        </p:nvSpPr>
        <p:spPr>
          <a:xfrm>
            <a:off x="9656064" y="5577840"/>
            <a:ext cx="731520" cy="731520"/>
          </a:xfrm>
          <a:prstGeom prst="ellipse">
            <a:avLst/>
          </a:prstGeom>
          <a:solidFill>
            <a:srgbClr val="FFFFFF"/>
          </a:solidFill>
          <a:ln w="55880">
            <a:solidFill>
              <a:srgbClr val="0A6EBD"/>
            </a:solidFill>
            <a:prstDash val="solid"/>
          </a:ln>
        </p:spPr>
        <p:txBody>
          <a:bodyPr/>
          <a:lstStyle/>
          <a:p>
            <a:endParaRPr lang="fr-FR"/>
          </a:p>
        </p:txBody>
      </p:sp>
      <p:pic>
        <p:nvPicPr>
          <p:cNvPr id="37" name="A4_268" descr="preencoded.png"/>
          <p:cNvPicPr>
            <a:picLocks noChangeAspect="1"/>
          </p:cNvPicPr>
          <p:nvPr/>
        </p:nvPicPr>
        <p:blipFill>
          <a:blip r:embed="rId7"/>
          <a:stretch>
            <a:fillRect/>
          </a:stretch>
        </p:blipFill>
        <p:spPr>
          <a:xfrm>
            <a:off x="9816998" y="5738774"/>
            <a:ext cx="409651" cy="409651"/>
          </a:xfrm>
          <a:prstGeom prst="rect">
            <a:avLst/>
          </a:prstGeom>
        </p:spPr>
      </p:pic>
      <p:sp>
        <p:nvSpPr>
          <p:cNvPr id="38" name="A4_269"/>
          <p:cNvSpPr txBox="1"/>
          <p:nvPr/>
        </p:nvSpPr>
        <p:spPr>
          <a:xfrm>
            <a:off x="10570464" y="5577840"/>
            <a:ext cx="2377440" cy="731520"/>
          </a:xfrm>
          <a:prstGeom prst="rect">
            <a:avLst/>
          </a:prstGeom>
          <a:noFill/>
          <a:ln/>
        </p:spPr>
        <p:txBody>
          <a:bodyPr wrap="square" lIns="0" tIns="0" rIns="0" bIns="0" rtlCol="0" anchor="ctr"/>
          <a:lstStyle/>
          <a:p>
            <a:pPr marL="0" indent="0">
              <a:buNone/>
            </a:pPr>
            <a:r>
              <a:rPr lang="en-US" sz="1700" b="1" dirty="0">
                <a:solidFill>
                  <a:srgbClr val="0B3C66"/>
                </a:solidFill>
                <a:latin typeface="Arial" pitchFamily="34" charset="0"/>
                <a:ea typeface="Arial" pitchFamily="34" charset="-122"/>
                <a:cs typeface="Arial" pitchFamily="34" charset="-120"/>
              </a:rPr>
              <a:t>Comment le corriger ?</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par>
                                <p:cTn id="21" presetID="10" presetClass="entr" presetSubtype="0" fill="hold" nodeType="with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500"/>
                                        <p:tgtEl>
                                          <p:spTgt spid="2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500"/>
                                        <p:tgtEl>
                                          <p:spTgt spid="30"/>
                                        </p:tgtEl>
                                      </p:cBhvr>
                                    </p:animEffect>
                                  </p:childTnLst>
                                </p:cTn>
                              </p:par>
                            </p:childTnLst>
                          </p:cTn>
                        </p:par>
                        <p:par>
                          <p:cTn id="27"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par>
                                <p:cTn id="34" presetID="10" presetClass="entr" presetSubtype="0" fill="hold"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5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500"/>
                                        <p:tgtEl>
                                          <p:spTgt spid="34"/>
                                        </p:tgtEl>
                                      </p:cBhvr>
                                    </p:animEffect>
                                  </p:childTnLst>
                                </p:cTn>
                              </p:par>
                            </p:childTnLst>
                          </p:cTn>
                        </p:par>
                        <p:par>
                          <p:cTn id="40" fill="hold">
                            <p:stCondLst>
                              <p:cond delay="1050"/>
                            </p:stCondLst>
                            <p:childTnLst>
                              <p:par>
                                <p:cTn id="41" presetID="10" presetClass="entr" presetSubtype="0" fill="hold" grpId="0"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500"/>
                                        <p:tgtEl>
                                          <p:spTgt spid="3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par>
                                <p:cTn id="47" presetID="10" presetClass="entr" presetSubtype="0" fill="hold" nodeType="withEffect">
                                  <p:stCondLst>
                                    <p:cond delay="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500"/>
                                        <p:tgtEl>
                                          <p:spTgt spid="3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7" grpId="0" animBg="1"/>
      <p:bldP spid="28" grpId="0" animBg="1"/>
      <p:bldP spid="30" grpId="0" animBg="1"/>
      <p:bldP spid="31" grpId="0" animBg="1"/>
      <p:bldP spid="32" grpId="0" animBg="1"/>
      <p:bldP spid="34" grpId="0" animBg="1"/>
      <p:bldP spid="35" grpId="0" animBg="1"/>
      <p:bldP spid="36" grpId="0" animBg="1"/>
      <p:bldP spid="3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A0_270" descr="preencoded.png"/>
          <p:cNvPicPr>
            <a:picLocks noChangeAspect="1"/>
          </p:cNvPicPr>
          <p:nvPr/>
        </p:nvPicPr>
        <p:blipFill>
          <a:blip r:embed="rId3"/>
          <a:stretch>
            <a:fillRect/>
          </a:stretch>
        </p:blipFill>
        <p:spPr>
          <a:xfrm>
            <a:off x="0" y="0"/>
            <a:ext cx="14287500" cy="8058150"/>
          </a:xfrm>
          <a:prstGeom prst="rect">
            <a:avLst/>
          </a:prstGeom>
        </p:spPr>
      </p:pic>
      <p:sp>
        <p:nvSpPr>
          <p:cNvPr id="4" name="A1_271"/>
          <p:cNvSpPr txBox="1"/>
          <p:nvPr/>
        </p:nvSpPr>
        <p:spPr>
          <a:xfrm>
            <a:off x="411480" y="1087755"/>
            <a:ext cx="7825740" cy="2844165"/>
          </a:xfrm>
          <a:prstGeom prst="rect">
            <a:avLst/>
          </a:prstGeom>
          <a:noFill/>
          <a:ln/>
        </p:spPr>
        <p:txBody>
          <a:bodyPr wrap="square" lIns="0" tIns="0" rIns="0" bIns="0" rtlCol="0" anchor="ctr"/>
          <a:lstStyle/>
          <a:p>
            <a:pPr marL="0" indent="0" algn="r">
              <a:spcAft>
                <a:spcPts val="400"/>
              </a:spcAft>
              <a:buNone/>
            </a:pPr>
            <a:r>
              <a:rPr lang="en-US" sz="1500" dirty="0">
                <a:solidFill>
                  <a:srgbClr val="CFE3F5"/>
                </a:solidFill>
                <a:latin typeface="Arial" pitchFamily="34" charset="0"/>
                <a:ea typeface="Arial" pitchFamily="34" charset="-122"/>
                <a:cs typeface="Arial" pitchFamily="34" charset="-120"/>
              </a:rPr>
              <a:t>Partie 02</a:t>
            </a:r>
            <a:endParaRPr lang="en-US" sz="1400" dirty="0"/>
          </a:p>
          <a:p>
            <a:pPr marL="0" indent="0" algn="r">
              <a:spcAft>
                <a:spcPts val="400"/>
              </a:spcAft>
              <a:buNone/>
            </a:pPr>
            <a:r>
              <a:rPr lang="en-US" sz="3000" b="1" dirty="0">
                <a:solidFill>
                  <a:srgbClr val="FFFFFF"/>
                </a:solidFill>
                <a:latin typeface="Arial" pitchFamily="34" charset="0"/>
                <a:ea typeface="Arial" pitchFamily="34" charset="-122"/>
                <a:cs typeface="Arial" pitchFamily="34" charset="-120"/>
              </a:rPr>
              <a:t>Solution proposée et besoins</a:t>
            </a:r>
            <a:endParaRPr lang="en-US" sz="1400"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A0_272"/>
          <p:cNvSpPr/>
          <p:nvPr/>
        </p:nvSpPr>
        <p:spPr>
          <a:xfrm>
            <a:off x="6800850" y="274320"/>
            <a:ext cx="109728" cy="109728"/>
          </a:xfrm>
          <a:prstGeom prst="rect">
            <a:avLst/>
          </a:prstGeom>
          <a:solidFill>
            <a:srgbClr val="0A6EBD"/>
          </a:solidFill>
          <a:ln w="12700">
            <a:solidFill>
              <a:srgbClr val="0A6EBD"/>
            </a:solidFill>
            <a:prstDash val="solid"/>
          </a:ln>
        </p:spPr>
      </p:sp>
      <p:sp>
        <p:nvSpPr>
          <p:cNvPr id="4" name="A0_273"/>
          <p:cNvSpPr/>
          <p:nvPr/>
        </p:nvSpPr>
        <p:spPr>
          <a:xfrm>
            <a:off x="6992874" y="274320"/>
            <a:ext cx="109728" cy="109728"/>
          </a:xfrm>
          <a:prstGeom prst="rect">
            <a:avLst/>
          </a:prstGeom>
          <a:solidFill>
            <a:srgbClr val="0A6EBD"/>
          </a:solidFill>
          <a:ln w="12700">
            <a:solidFill>
              <a:srgbClr val="0A6EBD"/>
            </a:solidFill>
            <a:prstDash val="solid"/>
          </a:ln>
        </p:spPr>
      </p:sp>
      <p:sp>
        <p:nvSpPr>
          <p:cNvPr id="5" name="A0_274"/>
          <p:cNvSpPr/>
          <p:nvPr/>
        </p:nvSpPr>
        <p:spPr>
          <a:xfrm>
            <a:off x="7184898" y="274320"/>
            <a:ext cx="109728" cy="109728"/>
          </a:xfrm>
          <a:prstGeom prst="rect">
            <a:avLst/>
          </a:prstGeom>
          <a:solidFill>
            <a:srgbClr val="0A6EBD"/>
          </a:solidFill>
          <a:ln w="12700">
            <a:solidFill>
              <a:srgbClr val="0A6EBD"/>
            </a:solidFill>
            <a:prstDash val="solid"/>
          </a:ln>
        </p:spPr>
      </p:sp>
      <p:sp>
        <p:nvSpPr>
          <p:cNvPr id="6" name="A0_275"/>
          <p:cNvSpPr/>
          <p:nvPr/>
        </p:nvSpPr>
        <p:spPr>
          <a:xfrm>
            <a:off x="7376922" y="274320"/>
            <a:ext cx="109728" cy="109728"/>
          </a:xfrm>
          <a:prstGeom prst="rect">
            <a:avLst/>
          </a:prstGeom>
          <a:solidFill>
            <a:srgbClr val="0A6EBD"/>
          </a:solidFill>
          <a:ln w="12700">
            <a:solidFill>
              <a:srgbClr val="0A6EBD"/>
            </a:solidFill>
            <a:prstDash val="solid"/>
          </a:ln>
        </p:spPr>
      </p:sp>
      <p:sp>
        <p:nvSpPr>
          <p:cNvPr id="7" name="A0_276"/>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Solution proposée</a:t>
            </a:r>
            <a:endParaRPr lang="en-US" sz="3600" dirty="0"/>
          </a:p>
        </p:txBody>
      </p:sp>
      <p:pic>
        <p:nvPicPr>
          <p:cNvPr id="8" name="A0_277"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291"/>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292"/>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10</a:t>
            </a:r>
            <a:endParaRPr lang="en-US" sz="1500" dirty="0"/>
          </a:p>
        </p:txBody>
      </p:sp>
      <p:sp>
        <p:nvSpPr>
          <p:cNvPr id="24" name="A1_293"/>
          <p:cNvSpPr/>
          <p:nvPr/>
        </p:nvSpPr>
        <p:spPr>
          <a:xfrm>
            <a:off x="5817870" y="2651760"/>
            <a:ext cx="2651760" cy="2651760"/>
          </a:xfrm>
          <a:prstGeom prst="ellipse">
            <a:avLst/>
          </a:prstGeom>
          <a:solidFill>
            <a:srgbClr val="0A6EBD"/>
          </a:solidFill>
          <a:ln w="12700">
            <a:solidFill>
              <a:srgbClr val="0A6EBD"/>
            </a:solidFill>
            <a:prstDash val="solid"/>
          </a:ln>
        </p:spPr>
        <p:txBody>
          <a:bodyPr/>
          <a:lstStyle/>
          <a:p>
            <a:endParaRPr lang="fr-FR"/>
          </a:p>
        </p:txBody>
      </p:sp>
      <p:sp>
        <p:nvSpPr>
          <p:cNvPr id="26" name="A1_295"/>
          <p:cNvSpPr txBox="1"/>
          <p:nvPr/>
        </p:nvSpPr>
        <p:spPr>
          <a:xfrm>
            <a:off x="5817870" y="3886200"/>
            <a:ext cx="2651760" cy="822960"/>
          </a:xfrm>
          <a:prstGeom prst="rect">
            <a:avLst/>
          </a:prstGeom>
          <a:noFill/>
          <a:ln/>
        </p:spPr>
        <p:txBody>
          <a:bodyPr wrap="square" lIns="0" tIns="0" rIns="0" bIns="0" rtlCol="0" anchor="ctr"/>
          <a:lstStyle/>
          <a:p>
            <a:pPr marL="0" indent="0" algn="ctr">
              <a:buNone/>
            </a:pPr>
            <a:r>
              <a:rPr lang="en-US" sz="1900" b="1" dirty="0">
                <a:solidFill>
                  <a:srgbClr val="FFFFFF"/>
                </a:solidFill>
                <a:latin typeface="Arial" pitchFamily="34" charset="0"/>
                <a:ea typeface="Arial" pitchFamily="34" charset="-122"/>
                <a:cs typeface="Arial" pitchFamily="34" charset="-120"/>
              </a:rPr>
              <a:t>Assistant </a:t>
            </a:r>
          </a:p>
          <a:p>
            <a:pPr marL="0" indent="0" algn="ctr">
              <a:buNone/>
            </a:pPr>
            <a:r>
              <a:rPr lang="en-US" sz="1900" b="1" dirty="0" err="1">
                <a:solidFill>
                  <a:srgbClr val="FFFFFF"/>
                </a:solidFill>
                <a:latin typeface="Arial" pitchFamily="34" charset="0"/>
                <a:ea typeface="Arial" pitchFamily="34" charset="-122"/>
                <a:cs typeface="Arial" pitchFamily="34" charset="-120"/>
              </a:rPr>
              <a:t>DevSecOps</a:t>
            </a:r>
            <a:endParaRPr lang="en-US" sz="1900" dirty="0"/>
          </a:p>
        </p:txBody>
      </p:sp>
      <p:pic>
        <p:nvPicPr>
          <p:cNvPr id="27" name="A2_296" descr="preencoded.png"/>
          <p:cNvPicPr>
            <a:picLocks noChangeAspect="1"/>
          </p:cNvPicPr>
          <p:nvPr/>
        </p:nvPicPr>
        <p:blipFill>
          <a:blip r:embed="rId4"/>
          <a:stretch>
            <a:fillRect/>
          </a:stretch>
        </p:blipFill>
        <p:spPr>
          <a:xfrm>
            <a:off x="5212080" y="2228107"/>
            <a:ext cx="1023671" cy="921087"/>
          </a:xfrm>
          <a:prstGeom prst="rect">
            <a:avLst/>
          </a:prstGeom>
        </p:spPr>
      </p:pic>
      <p:sp>
        <p:nvSpPr>
          <p:cNvPr id="28" name="A2_297"/>
          <p:cNvSpPr/>
          <p:nvPr/>
        </p:nvSpPr>
        <p:spPr>
          <a:xfrm>
            <a:off x="4297680" y="1874520"/>
            <a:ext cx="914400" cy="914400"/>
          </a:xfrm>
          <a:prstGeom prst="ellipse">
            <a:avLst/>
          </a:prstGeom>
          <a:solidFill>
            <a:srgbClr val="FFFFFF"/>
          </a:solidFill>
          <a:ln w="69850">
            <a:solidFill>
              <a:srgbClr val="0A6EBD"/>
            </a:solidFill>
            <a:prstDash val="solid"/>
          </a:ln>
        </p:spPr>
        <p:txBody>
          <a:bodyPr/>
          <a:lstStyle/>
          <a:p>
            <a:endParaRPr lang="fr-FR"/>
          </a:p>
        </p:txBody>
      </p:sp>
      <p:pic>
        <p:nvPicPr>
          <p:cNvPr id="29" name="A2_298" descr="preencoded.png"/>
          <p:cNvPicPr>
            <a:picLocks noChangeAspect="1"/>
          </p:cNvPicPr>
          <p:nvPr/>
        </p:nvPicPr>
        <p:blipFill>
          <a:blip r:embed="rId5"/>
          <a:stretch>
            <a:fillRect/>
          </a:stretch>
        </p:blipFill>
        <p:spPr>
          <a:xfrm>
            <a:off x="4498848" y="2075688"/>
            <a:ext cx="512064" cy="512064"/>
          </a:xfrm>
          <a:prstGeom prst="rect">
            <a:avLst/>
          </a:prstGeom>
        </p:spPr>
      </p:pic>
      <p:sp>
        <p:nvSpPr>
          <p:cNvPr id="30" name="A2_299"/>
          <p:cNvSpPr txBox="1"/>
          <p:nvPr/>
        </p:nvSpPr>
        <p:spPr>
          <a:xfrm>
            <a:off x="822960" y="1828800"/>
            <a:ext cx="3200400" cy="411480"/>
          </a:xfrm>
          <a:prstGeom prst="rect">
            <a:avLst/>
          </a:prstGeom>
          <a:noFill/>
          <a:ln/>
        </p:spPr>
        <p:txBody>
          <a:bodyPr wrap="square" lIns="0" tIns="0" rIns="0" bIns="0" rtlCol="0" anchor="t"/>
          <a:lstStyle/>
          <a:p>
            <a:pPr marL="0" indent="0" algn="r">
              <a:buNone/>
            </a:pPr>
            <a:r>
              <a:rPr lang="en-US" sz="1800" b="1" dirty="0">
                <a:solidFill>
                  <a:srgbClr val="0B3C66"/>
                </a:solidFill>
                <a:latin typeface="Arial" pitchFamily="34" charset="0"/>
                <a:ea typeface="Arial" pitchFamily="34" charset="-122"/>
                <a:cs typeface="Arial" pitchFamily="34" charset="-120"/>
              </a:rPr>
              <a:t>Logs</a:t>
            </a:r>
            <a:endParaRPr lang="en-US" sz="1800" dirty="0"/>
          </a:p>
        </p:txBody>
      </p:sp>
      <p:sp>
        <p:nvSpPr>
          <p:cNvPr id="31" name="A2_300"/>
          <p:cNvSpPr txBox="1"/>
          <p:nvPr/>
        </p:nvSpPr>
        <p:spPr>
          <a:xfrm>
            <a:off x="822960" y="2258568"/>
            <a:ext cx="3200400" cy="731520"/>
          </a:xfrm>
          <a:prstGeom prst="rect">
            <a:avLst/>
          </a:prstGeom>
          <a:noFill/>
          <a:ln/>
        </p:spPr>
        <p:txBody>
          <a:bodyPr wrap="square" lIns="0" tIns="0" rIns="0" bIns="0" rtlCol="0" anchor="t"/>
          <a:lstStyle/>
          <a:p>
            <a:pPr marL="0" indent="0" algn="r">
              <a:buNone/>
            </a:pPr>
            <a:r>
              <a:rPr lang="en-US" sz="1300" dirty="0">
                <a:solidFill>
                  <a:srgbClr val="595959"/>
                </a:solidFill>
                <a:latin typeface="Arial" pitchFamily="34" charset="0"/>
                <a:ea typeface="Arial" pitchFamily="34" charset="-122"/>
                <a:cs typeface="Arial" pitchFamily="34" charset="-120"/>
              </a:rPr>
              <a:t>Regroupe les erreurs similaires et détecte les pics anormaux</a:t>
            </a:r>
            <a:endParaRPr lang="en-US" sz="1300" dirty="0"/>
          </a:p>
        </p:txBody>
      </p:sp>
      <p:pic>
        <p:nvPicPr>
          <p:cNvPr id="32" name="A3_301" descr="preencoded.png"/>
          <p:cNvPicPr>
            <a:picLocks noChangeAspect="1"/>
          </p:cNvPicPr>
          <p:nvPr/>
        </p:nvPicPr>
        <p:blipFill>
          <a:blip r:embed="rId6"/>
          <a:stretch>
            <a:fillRect/>
          </a:stretch>
        </p:blipFill>
        <p:spPr>
          <a:xfrm>
            <a:off x="8051749" y="2222680"/>
            <a:ext cx="1023671" cy="926513"/>
          </a:xfrm>
          <a:prstGeom prst="rect">
            <a:avLst/>
          </a:prstGeom>
        </p:spPr>
      </p:pic>
      <p:sp>
        <p:nvSpPr>
          <p:cNvPr id="33" name="A3_302"/>
          <p:cNvSpPr/>
          <p:nvPr/>
        </p:nvSpPr>
        <p:spPr>
          <a:xfrm>
            <a:off x="9075420" y="1874520"/>
            <a:ext cx="914400" cy="914400"/>
          </a:xfrm>
          <a:prstGeom prst="ellipse">
            <a:avLst/>
          </a:prstGeom>
          <a:solidFill>
            <a:srgbClr val="FFFFFF"/>
          </a:solidFill>
          <a:ln w="69850">
            <a:solidFill>
              <a:srgbClr val="0A6EBD"/>
            </a:solidFill>
            <a:prstDash val="solid"/>
          </a:ln>
        </p:spPr>
        <p:txBody>
          <a:bodyPr/>
          <a:lstStyle/>
          <a:p>
            <a:endParaRPr lang="fr-FR"/>
          </a:p>
        </p:txBody>
      </p:sp>
      <p:pic>
        <p:nvPicPr>
          <p:cNvPr id="34" name="A3_303" descr="preencoded.png"/>
          <p:cNvPicPr>
            <a:picLocks noChangeAspect="1"/>
          </p:cNvPicPr>
          <p:nvPr/>
        </p:nvPicPr>
        <p:blipFill>
          <a:blip r:embed="rId7"/>
          <a:stretch>
            <a:fillRect/>
          </a:stretch>
        </p:blipFill>
        <p:spPr>
          <a:xfrm>
            <a:off x="9276588" y="2075688"/>
            <a:ext cx="512064" cy="512064"/>
          </a:xfrm>
          <a:prstGeom prst="rect">
            <a:avLst/>
          </a:prstGeom>
        </p:spPr>
      </p:pic>
      <p:sp>
        <p:nvSpPr>
          <p:cNvPr id="35" name="A3_304"/>
          <p:cNvSpPr txBox="1"/>
          <p:nvPr/>
        </p:nvSpPr>
        <p:spPr>
          <a:xfrm>
            <a:off x="10264140" y="1828800"/>
            <a:ext cx="3200400" cy="411480"/>
          </a:xfrm>
          <a:prstGeom prst="rect">
            <a:avLst/>
          </a:prstGeom>
          <a:noFill/>
          <a:ln/>
        </p:spPr>
        <p:txBody>
          <a:bodyPr wrap="square" lIns="0" tIns="0" rIns="0" bIns="0" rtlCol="0" anchor="t"/>
          <a:lstStyle/>
          <a:p>
            <a:pPr marL="0" indent="0" algn="l">
              <a:buNone/>
            </a:pPr>
            <a:r>
              <a:rPr lang="en-US" sz="1800" b="1" dirty="0">
                <a:solidFill>
                  <a:srgbClr val="0B3C66"/>
                </a:solidFill>
                <a:latin typeface="Arial" pitchFamily="34" charset="0"/>
                <a:ea typeface="Arial" pitchFamily="34" charset="-122"/>
                <a:cs typeface="Arial" pitchFamily="34" charset="-120"/>
              </a:rPr>
              <a:t>Tests</a:t>
            </a:r>
            <a:endParaRPr lang="en-US" sz="1800" dirty="0"/>
          </a:p>
        </p:txBody>
      </p:sp>
      <p:sp>
        <p:nvSpPr>
          <p:cNvPr id="36" name="A3_305"/>
          <p:cNvSpPr txBox="1"/>
          <p:nvPr/>
        </p:nvSpPr>
        <p:spPr>
          <a:xfrm>
            <a:off x="10264140" y="2258568"/>
            <a:ext cx="3200400" cy="731520"/>
          </a:xfrm>
          <a:prstGeom prst="rect">
            <a:avLst/>
          </a:prstGeom>
          <a:noFill/>
          <a:ln/>
        </p:spPr>
        <p:txBody>
          <a:bodyPr wrap="square" lIns="0" tIns="0" rIns="0" bIns="0" rtlCol="0" anchor="t"/>
          <a:lstStyle/>
          <a:p>
            <a:pPr marL="0" indent="0" algn="l">
              <a:buNone/>
            </a:pPr>
            <a:r>
              <a:rPr lang="en-US" sz="1300" dirty="0">
                <a:solidFill>
                  <a:srgbClr val="595959"/>
                </a:solidFill>
                <a:latin typeface="Arial" pitchFamily="34" charset="0"/>
                <a:ea typeface="Arial" pitchFamily="34" charset="-122"/>
                <a:cs typeface="Arial" pitchFamily="34" charset="-120"/>
              </a:rPr>
              <a:t>Suit les résultats et relie chaque échec aux logs</a:t>
            </a:r>
            <a:endParaRPr lang="en-US" sz="1300" dirty="0"/>
          </a:p>
        </p:txBody>
      </p:sp>
      <p:pic>
        <p:nvPicPr>
          <p:cNvPr id="37" name="A4_306" descr="preencoded.png"/>
          <p:cNvPicPr>
            <a:picLocks noChangeAspect="1"/>
          </p:cNvPicPr>
          <p:nvPr/>
        </p:nvPicPr>
        <p:blipFill>
          <a:blip r:embed="rId8"/>
          <a:stretch>
            <a:fillRect/>
          </a:stretch>
        </p:blipFill>
        <p:spPr>
          <a:xfrm>
            <a:off x="5212080" y="4806086"/>
            <a:ext cx="1023671" cy="600052"/>
          </a:xfrm>
          <a:prstGeom prst="rect">
            <a:avLst/>
          </a:prstGeom>
        </p:spPr>
      </p:pic>
      <p:sp>
        <p:nvSpPr>
          <p:cNvPr id="38" name="A4_307"/>
          <p:cNvSpPr/>
          <p:nvPr/>
        </p:nvSpPr>
        <p:spPr>
          <a:xfrm>
            <a:off x="4297680" y="4800600"/>
            <a:ext cx="914400" cy="914400"/>
          </a:xfrm>
          <a:prstGeom prst="ellipse">
            <a:avLst/>
          </a:prstGeom>
          <a:solidFill>
            <a:srgbClr val="FFFFFF"/>
          </a:solidFill>
          <a:ln w="69850">
            <a:solidFill>
              <a:srgbClr val="0A6EBD"/>
            </a:solidFill>
            <a:prstDash val="solid"/>
          </a:ln>
        </p:spPr>
        <p:txBody>
          <a:bodyPr/>
          <a:lstStyle/>
          <a:p>
            <a:endParaRPr lang="fr-FR"/>
          </a:p>
        </p:txBody>
      </p:sp>
      <p:pic>
        <p:nvPicPr>
          <p:cNvPr id="39" name="A4_308" descr="preencoded.png"/>
          <p:cNvPicPr>
            <a:picLocks noChangeAspect="1"/>
          </p:cNvPicPr>
          <p:nvPr/>
        </p:nvPicPr>
        <p:blipFill>
          <a:blip r:embed="rId9"/>
          <a:stretch>
            <a:fillRect/>
          </a:stretch>
        </p:blipFill>
        <p:spPr>
          <a:xfrm>
            <a:off x="4498848" y="5001768"/>
            <a:ext cx="512064" cy="512064"/>
          </a:xfrm>
          <a:prstGeom prst="rect">
            <a:avLst/>
          </a:prstGeom>
        </p:spPr>
      </p:pic>
      <p:sp>
        <p:nvSpPr>
          <p:cNvPr id="40" name="A4_309"/>
          <p:cNvSpPr txBox="1"/>
          <p:nvPr/>
        </p:nvSpPr>
        <p:spPr>
          <a:xfrm>
            <a:off x="822960" y="4754880"/>
            <a:ext cx="3200400" cy="411480"/>
          </a:xfrm>
          <a:prstGeom prst="rect">
            <a:avLst/>
          </a:prstGeom>
          <a:noFill/>
          <a:ln/>
        </p:spPr>
        <p:txBody>
          <a:bodyPr wrap="square" lIns="0" tIns="0" rIns="0" bIns="0" rtlCol="0" anchor="t"/>
          <a:lstStyle/>
          <a:p>
            <a:pPr marL="0" indent="0" algn="r">
              <a:buNone/>
            </a:pPr>
            <a:r>
              <a:rPr lang="en-US" sz="1800" b="1" dirty="0">
                <a:solidFill>
                  <a:srgbClr val="0B3C66"/>
                </a:solidFill>
                <a:latin typeface="Arial" pitchFamily="34" charset="0"/>
                <a:ea typeface="Arial" pitchFamily="34" charset="-122"/>
                <a:cs typeface="Arial" pitchFamily="34" charset="-120"/>
              </a:rPr>
              <a:t>Sécurité</a:t>
            </a:r>
            <a:endParaRPr lang="en-US" sz="1800" dirty="0"/>
          </a:p>
        </p:txBody>
      </p:sp>
      <p:sp>
        <p:nvSpPr>
          <p:cNvPr id="41" name="A4_310"/>
          <p:cNvSpPr txBox="1"/>
          <p:nvPr/>
        </p:nvSpPr>
        <p:spPr>
          <a:xfrm>
            <a:off x="822960" y="5184648"/>
            <a:ext cx="3200400" cy="731520"/>
          </a:xfrm>
          <a:prstGeom prst="rect">
            <a:avLst/>
          </a:prstGeom>
          <a:noFill/>
          <a:ln/>
        </p:spPr>
        <p:txBody>
          <a:bodyPr wrap="square" lIns="0" tIns="0" rIns="0" bIns="0" rtlCol="0" anchor="t"/>
          <a:lstStyle/>
          <a:p>
            <a:pPr marL="0" indent="0" algn="r">
              <a:buNone/>
            </a:pPr>
            <a:r>
              <a:rPr lang="en-US" sz="1300" dirty="0">
                <a:solidFill>
                  <a:srgbClr val="595959"/>
                </a:solidFill>
                <a:latin typeface="Arial" pitchFamily="34" charset="0"/>
                <a:ea typeface="Arial" pitchFamily="34" charset="-122"/>
                <a:cs typeface="Arial" pitchFamily="34" charset="-120"/>
              </a:rPr>
              <a:t>Rassemble les failles de 3 outils et les priorise</a:t>
            </a:r>
            <a:endParaRPr lang="en-US" sz="1300" dirty="0"/>
          </a:p>
        </p:txBody>
      </p:sp>
      <p:pic>
        <p:nvPicPr>
          <p:cNvPr id="42" name="A5_311" descr="preencoded.png"/>
          <p:cNvPicPr>
            <a:picLocks noChangeAspect="1"/>
          </p:cNvPicPr>
          <p:nvPr/>
        </p:nvPicPr>
        <p:blipFill>
          <a:blip r:embed="rId10"/>
          <a:stretch>
            <a:fillRect/>
          </a:stretch>
        </p:blipFill>
        <p:spPr>
          <a:xfrm>
            <a:off x="8051749" y="4806086"/>
            <a:ext cx="1023671" cy="603392"/>
          </a:xfrm>
          <a:prstGeom prst="rect">
            <a:avLst/>
          </a:prstGeom>
        </p:spPr>
      </p:pic>
      <p:sp>
        <p:nvSpPr>
          <p:cNvPr id="43" name="A5_312"/>
          <p:cNvSpPr/>
          <p:nvPr/>
        </p:nvSpPr>
        <p:spPr>
          <a:xfrm>
            <a:off x="9075420" y="4800600"/>
            <a:ext cx="914400" cy="914400"/>
          </a:xfrm>
          <a:prstGeom prst="ellipse">
            <a:avLst/>
          </a:prstGeom>
          <a:solidFill>
            <a:srgbClr val="FFFFFF"/>
          </a:solidFill>
          <a:ln w="69850">
            <a:solidFill>
              <a:srgbClr val="0A6EBD"/>
            </a:solidFill>
            <a:prstDash val="solid"/>
          </a:ln>
        </p:spPr>
        <p:txBody>
          <a:bodyPr/>
          <a:lstStyle/>
          <a:p>
            <a:endParaRPr lang="fr-FR"/>
          </a:p>
        </p:txBody>
      </p:sp>
      <p:pic>
        <p:nvPicPr>
          <p:cNvPr id="44" name="A5_313" descr="preencoded.png"/>
          <p:cNvPicPr>
            <a:picLocks noChangeAspect="1"/>
          </p:cNvPicPr>
          <p:nvPr/>
        </p:nvPicPr>
        <p:blipFill>
          <a:blip r:embed="rId11"/>
          <a:stretch>
            <a:fillRect/>
          </a:stretch>
        </p:blipFill>
        <p:spPr>
          <a:xfrm>
            <a:off x="9276588" y="5001768"/>
            <a:ext cx="512064" cy="512064"/>
          </a:xfrm>
          <a:prstGeom prst="rect">
            <a:avLst/>
          </a:prstGeom>
        </p:spPr>
      </p:pic>
      <p:sp>
        <p:nvSpPr>
          <p:cNvPr id="45" name="A5_314"/>
          <p:cNvSpPr txBox="1"/>
          <p:nvPr/>
        </p:nvSpPr>
        <p:spPr>
          <a:xfrm>
            <a:off x="10264140" y="4754880"/>
            <a:ext cx="3200400" cy="411480"/>
          </a:xfrm>
          <a:prstGeom prst="rect">
            <a:avLst/>
          </a:prstGeom>
          <a:noFill/>
          <a:ln/>
        </p:spPr>
        <p:txBody>
          <a:bodyPr wrap="square" lIns="0" tIns="0" rIns="0" bIns="0" rtlCol="0" anchor="t"/>
          <a:lstStyle/>
          <a:p>
            <a:pPr marL="0" indent="0" algn="l">
              <a:buNone/>
            </a:pPr>
            <a:r>
              <a:rPr lang="en-US" sz="1800" b="1" dirty="0">
                <a:solidFill>
                  <a:srgbClr val="0B3C66"/>
                </a:solidFill>
                <a:latin typeface="Arial" pitchFamily="34" charset="0"/>
                <a:ea typeface="Arial" pitchFamily="34" charset="-122"/>
                <a:cs typeface="Arial" pitchFamily="34" charset="-120"/>
              </a:rPr>
              <a:t>Intelligence artificielle</a:t>
            </a:r>
            <a:endParaRPr lang="en-US" sz="1800" dirty="0"/>
          </a:p>
        </p:txBody>
      </p:sp>
      <p:sp>
        <p:nvSpPr>
          <p:cNvPr id="46" name="A5_315"/>
          <p:cNvSpPr txBox="1"/>
          <p:nvPr/>
        </p:nvSpPr>
        <p:spPr>
          <a:xfrm>
            <a:off x="10264140" y="5184648"/>
            <a:ext cx="3200400" cy="731520"/>
          </a:xfrm>
          <a:prstGeom prst="rect">
            <a:avLst/>
          </a:prstGeom>
          <a:noFill/>
          <a:ln/>
        </p:spPr>
        <p:txBody>
          <a:bodyPr wrap="square" lIns="0" tIns="0" rIns="0" bIns="0" rtlCol="0" anchor="t"/>
          <a:lstStyle/>
          <a:p>
            <a:pPr marL="0" indent="0" algn="l">
              <a:buNone/>
            </a:pPr>
            <a:r>
              <a:rPr lang="en-US" sz="1300" dirty="0">
                <a:solidFill>
                  <a:srgbClr val="595959"/>
                </a:solidFill>
                <a:latin typeface="Arial" pitchFamily="34" charset="0"/>
                <a:ea typeface="Arial" pitchFamily="34" charset="-122"/>
                <a:cs typeface="Arial" pitchFamily="34" charset="-120"/>
              </a:rPr>
              <a:t>Explique l'incident et propose un correctif</a:t>
            </a:r>
            <a:endParaRPr lang="en-US" sz="1300" dirty="0"/>
          </a:p>
        </p:txBody>
      </p:sp>
      <p:sp>
        <p:nvSpPr>
          <p:cNvPr id="47" name="A6_316"/>
          <p:cNvSpPr/>
          <p:nvPr/>
        </p:nvSpPr>
        <p:spPr>
          <a:xfrm>
            <a:off x="2377440" y="6355080"/>
            <a:ext cx="9532620" cy="868680"/>
          </a:xfrm>
          <a:prstGeom prst="roundRect">
            <a:avLst>
              <a:gd name="adj" fmla="val 12632"/>
            </a:avLst>
          </a:prstGeom>
          <a:solidFill>
            <a:srgbClr val="EAF2FA"/>
          </a:solidFill>
          <a:ln w="12700">
            <a:solidFill>
              <a:srgbClr val="EAF2FA"/>
            </a:solidFill>
            <a:prstDash val="solid"/>
          </a:ln>
        </p:spPr>
        <p:txBody>
          <a:bodyPr/>
          <a:lstStyle/>
          <a:p>
            <a:endParaRPr lang="fr-FR"/>
          </a:p>
        </p:txBody>
      </p:sp>
      <p:pic>
        <p:nvPicPr>
          <p:cNvPr id="48" name="A6_317" descr="preencoded.png"/>
          <p:cNvPicPr>
            <a:picLocks noChangeAspect="1"/>
          </p:cNvPicPr>
          <p:nvPr/>
        </p:nvPicPr>
        <p:blipFill>
          <a:blip r:embed="rId12"/>
          <a:stretch>
            <a:fillRect/>
          </a:stretch>
        </p:blipFill>
        <p:spPr>
          <a:xfrm>
            <a:off x="2697480" y="6556248"/>
            <a:ext cx="457200" cy="457200"/>
          </a:xfrm>
          <a:prstGeom prst="rect">
            <a:avLst/>
          </a:prstGeom>
        </p:spPr>
      </p:pic>
      <p:sp>
        <p:nvSpPr>
          <p:cNvPr id="49" name="A6_318"/>
          <p:cNvSpPr txBox="1"/>
          <p:nvPr/>
        </p:nvSpPr>
        <p:spPr>
          <a:xfrm>
            <a:off x="3337560" y="6355080"/>
            <a:ext cx="8138160" cy="868680"/>
          </a:xfrm>
          <a:prstGeom prst="rect">
            <a:avLst/>
          </a:prstGeom>
          <a:noFill/>
          <a:ln/>
        </p:spPr>
        <p:txBody>
          <a:bodyPr wrap="square" lIns="0" tIns="0" rIns="0" bIns="0" rtlCol="0" anchor="ctr"/>
          <a:lstStyle/>
          <a:p>
            <a:pPr marL="0" indent="0">
              <a:buNone/>
            </a:pPr>
            <a:r>
              <a:rPr lang="en-US" sz="1600" b="1" dirty="0">
                <a:solidFill>
                  <a:srgbClr val="0B3C66"/>
                </a:solidFill>
                <a:latin typeface="Arial" pitchFamily="34" charset="0"/>
                <a:ea typeface="Arial" pitchFamily="34" charset="-122"/>
                <a:cs typeface="Arial" pitchFamily="34" charset="-120"/>
              </a:rPr>
              <a:t>Un tableau de bord unique : </a:t>
            </a:r>
            <a:r>
              <a:rPr lang="en-US" sz="1600" dirty="0">
                <a:solidFill>
                  <a:srgbClr val="262626"/>
                </a:solidFill>
                <a:latin typeface="Arial" pitchFamily="34" charset="0"/>
                <a:ea typeface="Arial" pitchFamily="34" charset="-122"/>
                <a:cs typeface="Arial" pitchFamily="34" charset="-120"/>
              </a:rPr>
              <a:t>score de santé, quality gate et alertes en temps réel</a:t>
            </a:r>
            <a:endParaRPr lang="en-US" sz="1600" dirty="0"/>
          </a:p>
        </p:txBody>
      </p:sp>
      <p:pic>
        <p:nvPicPr>
          <p:cNvPr id="50" name="Graphic 49" descr="Robot with solid fill">
            <a:extLst>
              <a:ext uri="{FF2B5EF4-FFF2-40B4-BE49-F238E27FC236}">
                <a16:creationId xmlns:a16="http://schemas.microsoft.com/office/drawing/2014/main" id="{5BFC9965-47F2-4133-A56B-90A03BDA44A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592139" y="3031702"/>
            <a:ext cx="1023671" cy="1023671"/>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500"/>
                                        <p:tgtEl>
                                          <p:spTgt spid="26"/>
                                        </p:tgtEl>
                                      </p:cBhvr>
                                    </p:animEffec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500"/>
                                        <p:tgtEl>
                                          <p:spTgt spid="2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500"/>
                                        <p:tgtEl>
                                          <p:spTgt spid="28"/>
                                        </p:tgtEl>
                                      </p:cBhvr>
                                    </p:animEffect>
                                  </p:childTnLst>
                                </p:cTn>
                              </p:par>
                              <p:par>
                                <p:cTn id="18" presetID="10" presetClass="entr" presetSubtype="0" fill="hold" nodeType="withEffect">
                                  <p:stCondLst>
                                    <p:cond delay="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500"/>
                                        <p:tgtEl>
                                          <p:spTgt spid="2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500"/>
                                        <p:tgtEl>
                                          <p:spTgt spid="3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1"/>
                                        </p:tgtEl>
                                        <p:attrNameLst>
                                          <p:attrName>style.visibility</p:attrName>
                                        </p:attrNameLst>
                                      </p:cBhvr>
                                      <p:to>
                                        <p:strVal val="visible"/>
                                      </p:to>
                                    </p:set>
                                    <p:animEffect transition="in" filter="fade">
                                      <p:cBhvr>
                                        <p:cTn id="26" dur="500"/>
                                        <p:tgtEl>
                                          <p:spTgt spid="31"/>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32"/>
                                        </p:tgtEl>
                                        <p:attrNameLst>
                                          <p:attrName>style.visibility</p:attrName>
                                        </p:attrNameLst>
                                      </p:cBhvr>
                                      <p:to>
                                        <p:strVal val="visible"/>
                                      </p:to>
                                    </p:set>
                                    <p:animEffect transition="in" filter="fade">
                                      <p:cBhvr>
                                        <p:cTn id="30" dur="500"/>
                                        <p:tgtEl>
                                          <p:spTgt spid="3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fade">
                                      <p:cBhvr>
                                        <p:cTn id="33" dur="500"/>
                                        <p:tgtEl>
                                          <p:spTgt spid="33"/>
                                        </p:tgtEl>
                                      </p:cBhvr>
                                    </p:animEffect>
                                  </p:childTnLst>
                                </p:cTn>
                              </p:par>
                              <p:par>
                                <p:cTn id="34" presetID="10" presetClass="entr" presetSubtype="0" fill="hold" nodeType="withEffect">
                                  <p:stCondLst>
                                    <p:cond delay="0"/>
                                  </p:stCondLst>
                                  <p:childTnLst>
                                    <p:set>
                                      <p:cBhvr>
                                        <p:cTn id="35" dur="1" fill="hold">
                                          <p:stCondLst>
                                            <p:cond delay="0"/>
                                          </p:stCondLst>
                                        </p:cTn>
                                        <p:tgtEl>
                                          <p:spTgt spid="34"/>
                                        </p:tgtEl>
                                        <p:attrNameLst>
                                          <p:attrName>style.visibility</p:attrName>
                                        </p:attrNameLst>
                                      </p:cBhvr>
                                      <p:to>
                                        <p:strVal val="visible"/>
                                      </p:to>
                                    </p:set>
                                    <p:animEffect transition="in" filter="fade">
                                      <p:cBhvr>
                                        <p:cTn id="36" dur="500"/>
                                        <p:tgtEl>
                                          <p:spTgt spid="3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500"/>
                                        <p:tgtEl>
                                          <p:spTgt spid="3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500"/>
                                        <p:tgtEl>
                                          <p:spTgt spid="36"/>
                                        </p:tgtEl>
                                      </p:cBhvr>
                                    </p:animEffect>
                                  </p:childTnLst>
                                </p:cTn>
                              </p:par>
                            </p:childTnLst>
                          </p:cTn>
                        </p:par>
                        <p:par>
                          <p:cTn id="43" fill="hold">
                            <p:stCondLst>
                              <p:cond delay="1500"/>
                            </p:stCondLst>
                            <p:childTnLst>
                              <p:par>
                                <p:cTn id="44" presetID="10" presetClass="entr" presetSubtype="0" fill="hold" nodeType="afterEffect">
                                  <p:stCondLst>
                                    <p:cond delay="0"/>
                                  </p:stCondLst>
                                  <p:childTnLst>
                                    <p:set>
                                      <p:cBhvr>
                                        <p:cTn id="45" dur="1" fill="hold">
                                          <p:stCondLst>
                                            <p:cond delay="0"/>
                                          </p:stCondLst>
                                        </p:cTn>
                                        <p:tgtEl>
                                          <p:spTgt spid="37"/>
                                        </p:tgtEl>
                                        <p:attrNameLst>
                                          <p:attrName>style.visibility</p:attrName>
                                        </p:attrNameLst>
                                      </p:cBhvr>
                                      <p:to>
                                        <p:strVal val="visible"/>
                                      </p:to>
                                    </p:set>
                                    <p:animEffect transition="in" filter="fade">
                                      <p:cBhvr>
                                        <p:cTn id="46" dur="500"/>
                                        <p:tgtEl>
                                          <p:spTgt spid="3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8"/>
                                        </p:tgtEl>
                                        <p:attrNameLst>
                                          <p:attrName>style.visibility</p:attrName>
                                        </p:attrNameLst>
                                      </p:cBhvr>
                                      <p:to>
                                        <p:strVal val="visible"/>
                                      </p:to>
                                    </p:set>
                                    <p:animEffect transition="in" filter="fade">
                                      <p:cBhvr>
                                        <p:cTn id="49" dur="500"/>
                                        <p:tgtEl>
                                          <p:spTgt spid="38"/>
                                        </p:tgtEl>
                                      </p:cBhvr>
                                    </p:animEffect>
                                  </p:childTnLst>
                                </p:cTn>
                              </p:par>
                              <p:par>
                                <p:cTn id="50" presetID="10" presetClass="entr" presetSubtype="0" fill="hold" nodeType="withEffect">
                                  <p:stCondLst>
                                    <p:cond delay="0"/>
                                  </p:stCondLst>
                                  <p:childTnLst>
                                    <p:set>
                                      <p:cBhvr>
                                        <p:cTn id="51" dur="1" fill="hold">
                                          <p:stCondLst>
                                            <p:cond delay="0"/>
                                          </p:stCondLst>
                                        </p:cTn>
                                        <p:tgtEl>
                                          <p:spTgt spid="39"/>
                                        </p:tgtEl>
                                        <p:attrNameLst>
                                          <p:attrName>style.visibility</p:attrName>
                                        </p:attrNameLst>
                                      </p:cBhvr>
                                      <p:to>
                                        <p:strVal val="visible"/>
                                      </p:to>
                                    </p:set>
                                    <p:animEffect transition="in" filter="fade">
                                      <p:cBhvr>
                                        <p:cTn id="52" dur="500"/>
                                        <p:tgtEl>
                                          <p:spTgt spid="3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0"/>
                                        </p:tgtEl>
                                        <p:attrNameLst>
                                          <p:attrName>style.visibility</p:attrName>
                                        </p:attrNameLst>
                                      </p:cBhvr>
                                      <p:to>
                                        <p:strVal val="visible"/>
                                      </p:to>
                                    </p:set>
                                    <p:animEffect transition="in" filter="fade">
                                      <p:cBhvr>
                                        <p:cTn id="55" dur="500"/>
                                        <p:tgtEl>
                                          <p:spTgt spid="4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1"/>
                                        </p:tgtEl>
                                        <p:attrNameLst>
                                          <p:attrName>style.visibility</p:attrName>
                                        </p:attrNameLst>
                                      </p:cBhvr>
                                      <p:to>
                                        <p:strVal val="visible"/>
                                      </p:to>
                                    </p:set>
                                    <p:animEffect transition="in" filter="fade">
                                      <p:cBhvr>
                                        <p:cTn id="58" dur="500"/>
                                        <p:tgtEl>
                                          <p:spTgt spid="41"/>
                                        </p:tgtEl>
                                      </p:cBhvr>
                                    </p:animEffect>
                                  </p:childTnLst>
                                </p:cTn>
                              </p:par>
                            </p:childTnLst>
                          </p:cTn>
                        </p:par>
                        <p:par>
                          <p:cTn id="59" fill="hold">
                            <p:stCondLst>
                              <p:cond delay="2000"/>
                            </p:stCondLst>
                            <p:childTnLst>
                              <p:par>
                                <p:cTn id="60" presetID="10" presetClass="entr" presetSubtype="0" fill="hold" nodeType="after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fade">
                                      <p:cBhvr>
                                        <p:cTn id="62" dur="500"/>
                                        <p:tgtEl>
                                          <p:spTgt spid="4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43"/>
                                        </p:tgtEl>
                                        <p:attrNameLst>
                                          <p:attrName>style.visibility</p:attrName>
                                        </p:attrNameLst>
                                      </p:cBhvr>
                                      <p:to>
                                        <p:strVal val="visible"/>
                                      </p:to>
                                    </p:set>
                                    <p:animEffect transition="in" filter="fade">
                                      <p:cBhvr>
                                        <p:cTn id="65" dur="500"/>
                                        <p:tgtEl>
                                          <p:spTgt spid="43"/>
                                        </p:tgtEl>
                                      </p:cBhvr>
                                    </p:animEffect>
                                  </p:childTnLst>
                                </p:cTn>
                              </p:par>
                              <p:par>
                                <p:cTn id="66" presetID="10" presetClass="entr" presetSubtype="0" fill="hold" nodeType="withEffect">
                                  <p:stCondLst>
                                    <p:cond delay="0"/>
                                  </p:stCondLst>
                                  <p:childTnLst>
                                    <p:set>
                                      <p:cBhvr>
                                        <p:cTn id="67" dur="1" fill="hold">
                                          <p:stCondLst>
                                            <p:cond delay="0"/>
                                          </p:stCondLst>
                                        </p:cTn>
                                        <p:tgtEl>
                                          <p:spTgt spid="44"/>
                                        </p:tgtEl>
                                        <p:attrNameLst>
                                          <p:attrName>style.visibility</p:attrName>
                                        </p:attrNameLst>
                                      </p:cBhvr>
                                      <p:to>
                                        <p:strVal val="visible"/>
                                      </p:to>
                                    </p:set>
                                    <p:animEffect transition="in" filter="fade">
                                      <p:cBhvr>
                                        <p:cTn id="68" dur="500"/>
                                        <p:tgtEl>
                                          <p:spTgt spid="44"/>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5"/>
                                        </p:tgtEl>
                                        <p:attrNameLst>
                                          <p:attrName>style.visibility</p:attrName>
                                        </p:attrNameLst>
                                      </p:cBhvr>
                                      <p:to>
                                        <p:strVal val="visible"/>
                                      </p:to>
                                    </p:set>
                                    <p:animEffect transition="in" filter="fade">
                                      <p:cBhvr>
                                        <p:cTn id="71" dur="500"/>
                                        <p:tgtEl>
                                          <p:spTgt spid="4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6"/>
                                        </p:tgtEl>
                                        <p:attrNameLst>
                                          <p:attrName>style.visibility</p:attrName>
                                        </p:attrNameLst>
                                      </p:cBhvr>
                                      <p:to>
                                        <p:strVal val="visible"/>
                                      </p:to>
                                    </p:set>
                                    <p:animEffect transition="in" filter="fade">
                                      <p:cBhvr>
                                        <p:cTn id="74" dur="500"/>
                                        <p:tgtEl>
                                          <p:spTgt spid="46"/>
                                        </p:tgtEl>
                                      </p:cBhvr>
                                    </p:animEffect>
                                  </p:childTnLst>
                                </p:cTn>
                              </p:par>
                            </p:childTnLst>
                          </p:cTn>
                        </p:par>
                        <p:par>
                          <p:cTn id="75" fill="hold">
                            <p:stCondLst>
                              <p:cond delay="2500"/>
                            </p:stCondLst>
                            <p:childTnLst>
                              <p:par>
                                <p:cTn id="76" presetID="10" presetClass="entr" presetSubtype="0" fill="hold" grpId="0" nodeType="afterEffect">
                                  <p:stCondLst>
                                    <p:cond delay="0"/>
                                  </p:stCondLst>
                                  <p:childTnLst>
                                    <p:set>
                                      <p:cBhvr>
                                        <p:cTn id="77" dur="1" fill="hold">
                                          <p:stCondLst>
                                            <p:cond delay="0"/>
                                          </p:stCondLst>
                                        </p:cTn>
                                        <p:tgtEl>
                                          <p:spTgt spid="47"/>
                                        </p:tgtEl>
                                        <p:attrNameLst>
                                          <p:attrName>style.visibility</p:attrName>
                                        </p:attrNameLst>
                                      </p:cBhvr>
                                      <p:to>
                                        <p:strVal val="visible"/>
                                      </p:to>
                                    </p:set>
                                    <p:animEffect transition="in" filter="fade">
                                      <p:cBhvr>
                                        <p:cTn id="78" dur="500"/>
                                        <p:tgtEl>
                                          <p:spTgt spid="47"/>
                                        </p:tgtEl>
                                      </p:cBhvr>
                                    </p:animEffect>
                                  </p:childTnLst>
                                </p:cTn>
                              </p:par>
                              <p:par>
                                <p:cTn id="79" presetID="10" presetClass="entr" presetSubtype="0" fill="hold" nodeType="withEffect">
                                  <p:stCondLst>
                                    <p:cond delay="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500"/>
                                        <p:tgtEl>
                                          <p:spTgt spid="4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9"/>
                                        </p:tgtEl>
                                        <p:attrNameLst>
                                          <p:attrName>style.visibility</p:attrName>
                                        </p:attrNameLst>
                                      </p:cBhvr>
                                      <p:to>
                                        <p:strVal val="visible"/>
                                      </p:to>
                                    </p:set>
                                    <p:animEffect transition="in" filter="fade">
                                      <p:cBhvr>
                                        <p:cTn id="84"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8" grpId="0" animBg="1"/>
      <p:bldP spid="30" grpId="0" animBg="1"/>
      <p:bldP spid="31" grpId="0" animBg="1"/>
      <p:bldP spid="33" grpId="0" animBg="1"/>
      <p:bldP spid="35" grpId="0" animBg="1"/>
      <p:bldP spid="36" grpId="0" animBg="1"/>
      <p:bldP spid="38" grpId="0" animBg="1"/>
      <p:bldP spid="40" grpId="0" animBg="1"/>
      <p:bldP spid="41" grpId="0" animBg="1"/>
      <p:bldP spid="43" grpId="0" animBg="1"/>
      <p:bldP spid="45" grpId="0" animBg="1"/>
      <p:bldP spid="46" grpId="0" animBg="1"/>
      <p:bldP spid="47" grpId="0" animBg="1"/>
      <p:bldP spid="4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A0_319"/>
          <p:cNvSpPr/>
          <p:nvPr/>
        </p:nvSpPr>
        <p:spPr>
          <a:xfrm>
            <a:off x="6800850" y="274320"/>
            <a:ext cx="109728" cy="109728"/>
          </a:xfrm>
          <a:prstGeom prst="rect">
            <a:avLst/>
          </a:prstGeom>
          <a:solidFill>
            <a:srgbClr val="0A6EBD"/>
          </a:solidFill>
          <a:ln w="12700">
            <a:solidFill>
              <a:srgbClr val="0A6EBD"/>
            </a:solidFill>
            <a:prstDash val="solid"/>
          </a:ln>
        </p:spPr>
      </p:sp>
      <p:sp>
        <p:nvSpPr>
          <p:cNvPr id="4" name="A0_320"/>
          <p:cNvSpPr/>
          <p:nvPr/>
        </p:nvSpPr>
        <p:spPr>
          <a:xfrm>
            <a:off x="6992874" y="274320"/>
            <a:ext cx="109728" cy="109728"/>
          </a:xfrm>
          <a:prstGeom prst="rect">
            <a:avLst/>
          </a:prstGeom>
          <a:solidFill>
            <a:srgbClr val="0A6EBD"/>
          </a:solidFill>
          <a:ln w="12700">
            <a:solidFill>
              <a:srgbClr val="0A6EBD"/>
            </a:solidFill>
            <a:prstDash val="solid"/>
          </a:ln>
        </p:spPr>
      </p:sp>
      <p:sp>
        <p:nvSpPr>
          <p:cNvPr id="5" name="A0_321"/>
          <p:cNvSpPr/>
          <p:nvPr/>
        </p:nvSpPr>
        <p:spPr>
          <a:xfrm>
            <a:off x="7184898" y="274320"/>
            <a:ext cx="109728" cy="109728"/>
          </a:xfrm>
          <a:prstGeom prst="rect">
            <a:avLst/>
          </a:prstGeom>
          <a:solidFill>
            <a:srgbClr val="0A6EBD"/>
          </a:solidFill>
          <a:ln w="12700">
            <a:solidFill>
              <a:srgbClr val="0A6EBD"/>
            </a:solidFill>
            <a:prstDash val="solid"/>
          </a:ln>
        </p:spPr>
      </p:sp>
      <p:sp>
        <p:nvSpPr>
          <p:cNvPr id="6" name="A0_322"/>
          <p:cNvSpPr/>
          <p:nvPr/>
        </p:nvSpPr>
        <p:spPr>
          <a:xfrm>
            <a:off x="7376922" y="274320"/>
            <a:ext cx="109728" cy="109728"/>
          </a:xfrm>
          <a:prstGeom prst="rect">
            <a:avLst/>
          </a:prstGeom>
          <a:solidFill>
            <a:srgbClr val="0A6EBD"/>
          </a:solidFill>
          <a:ln w="12700">
            <a:solidFill>
              <a:srgbClr val="0A6EBD"/>
            </a:solidFill>
            <a:prstDash val="solid"/>
          </a:ln>
        </p:spPr>
      </p:sp>
      <p:sp>
        <p:nvSpPr>
          <p:cNvPr id="7" name="A0_323"/>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Besoins fonctionnels</a:t>
            </a:r>
            <a:endParaRPr lang="en-US" sz="3600" dirty="0"/>
          </a:p>
        </p:txBody>
      </p:sp>
      <p:pic>
        <p:nvPicPr>
          <p:cNvPr id="8" name="A0_324"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338"/>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339"/>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11</a:t>
            </a:r>
            <a:endParaRPr lang="en-US" sz="1500" dirty="0"/>
          </a:p>
        </p:txBody>
      </p:sp>
      <p:sp>
        <p:nvSpPr>
          <p:cNvPr id="24" name="A1_340"/>
          <p:cNvSpPr/>
          <p:nvPr/>
        </p:nvSpPr>
        <p:spPr>
          <a:xfrm>
            <a:off x="822960" y="1600200"/>
            <a:ext cx="3977640" cy="2514600"/>
          </a:xfrm>
          <a:prstGeom prst="rect">
            <a:avLst/>
          </a:prstGeom>
          <a:solidFill>
            <a:srgbClr val="FFFFFF"/>
          </a:solidFill>
          <a:ln w="15875">
            <a:solidFill>
              <a:srgbClr val="A9C4DE"/>
            </a:solidFill>
            <a:prstDash val="solid"/>
          </a:ln>
        </p:spPr>
        <p:txBody>
          <a:bodyPr/>
          <a:lstStyle/>
          <a:p>
            <a:endParaRPr lang="fr-FR"/>
          </a:p>
        </p:txBody>
      </p:sp>
      <p:sp>
        <p:nvSpPr>
          <p:cNvPr id="25" name="A1_341"/>
          <p:cNvSpPr/>
          <p:nvPr/>
        </p:nvSpPr>
        <p:spPr>
          <a:xfrm>
            <a:off x="1097280" y="1874520"/>
            <a:ext cx="731520" cy="731520"/>
          </a:xfrm>
          <a:prstGeom prst="ellipse">
            <a:avLst/>
          </a:prstGeom>
          <a:solidFill>
            <a:srgbClr val="FFFFFF"/>
          </a:solidFill>
          <a:ln w="55880">
            <a:solidFill>
              <a:srgbClr val="0A6EBD"/>
            </a:solidFill>
            <a:prstDash val="solid"/>
          </a:ln>
        </p:spPr>
        <p:txBody>
          <a:bodyPr/>
          <a:lstStyle/>
          <a:p>
            <a:endParaRPr lang="fr-FR"/>
          </a:p>
        </p:txBody>
      </p:sp>
      <p:pic>
        <p:nvPicPr>
          <p:cNvPr id="26" name="A1_342" descr="preencoded.png"/>
          <p:cNvPicPr>
            <a:picLocks noChangeAspect="1"/>
          </p:cNvPicPr>
          <p:nvPr/>
        </p:nvPicPr>
        <p:blipFill>
          <a:blip r:embed="rId4"/>
          <a:stretch>
            <a:fillRect/>
          </a:stretch>
        </p:blipFill>
        <p:spPr>
          <a:xfrm>
            <a:off x="1258214" y="2035454"/>
            <a:ext cx="409651" cy="409651"/>
          </a:xfrm>
          <a:prstGeom prst="rect">
            <a:avLst/>
          </a:prstGeom>
        </p:spPr>
      </p:pic>
      <p:sp>
        <p:nvSpPr>
          <p:cNvPr id="27" name="A1_343"/>
          <p:cNvSpPr txBox="1"/>
          <p:nvPr/>
        </p:nvSpPr>
        <p:spPr>
          <a:xfrm>
            <a:off x="2011680" y="1874520"/>
            <a:ext cx="2606040" cy="731520"/>
          </a:xfrm>
          <a:prstGeom prst="rect">
            <a:avLst/>
          </a:prstGeom>
          <a:noFill/>
          <a:ln/>
        </p:spPr>
        <p:txBody>
          <a:bodyPr wrap="square" lIns="0" tIns="0" rIns="0" bIns="0" rtlCol="0" anchor="ctr"/>
          <a:lstStyle/>
          <a:p>
            <a:pPr marL="0" indent="0">
              <a:buNone/>
            </a:pPr>
            <a:r>
              <a:rPr lang="en-US" sz="1700" b="1" dirty="0">
                <a:solidFill>
                  <a:srgbClr val="0B3C66"/>
                </a:solidFill>
                <a:latin typeface="Arial" pitchFamily="34" charset="0"/>
                <a:ea typeface="Arial" pitchFamily="34" charset="-122"/>
                <a:cs typeface="Arial" pitchFamily="34" charset="-120"/>
              </a:rPr>
              <a:t>Gérer les logs</a:t>
            </a:r>
            <a:endParaRPr lang="en-US" sz="1700" dirty="0"/>
          </a:p>
        </p:txBody>
      </p:sp>
      <p:sp>
        <p:nvSpPr>
          <p:cNvPr id="28" name="A1_344"/>
          <p:cNvSpPr txBox="1"/>
          <p:nvPr/>
        </p:nvSpPr>
        <p:spPr>
          <a:xfrm>
            <a:off x="1097280" y="2834640"/>
            <a:ext cx="3429000" cy="1097280"/>
          </a:xfrm>
          <a:prstGeom prst="rect">
            <a:avLst/>
          </a:prstGeom>
          <a:noFill/>
          <a:ln/>
        </p:spPr>
        <p:txBody>
          <a:bodyPr wrap="square" lIns="0" tIns="0" rIns="0" bIns="0" rtlCol="0" anchor="t"/>
          <a:lstStyle/>
          <a:p>
            <a:pPr marL="0" indent="0">
              <a:buNone/>
            </a:pPr>
            <a:r>
              <a:rPr lang="en-US" sz="1400" dirty="0">
                <a:solidFill>
                  <a:srgbClr val="595959"/>
                </a:solidFill>
                <a:latin typeface="Arial" pitchFamily="34" charset="0"/>
                <a:ea typeface="Arial" pitchFamily="34" charset="-122"/>
                <a:cs typeface="Arial" pitchFamily="34" charset="-120"/>
              </a:rPr>
              <a:t>Importer (fichier, pipeline CI, Loki), rechercher et regrouper les erreurs similaires</a:t>
            </a:r>
            <a:endParaRPr lang="en-US" sz="1400" dirty="0"/>
          </a:p>
        </p:txBody>
      </p:sp>
      <p:sp>
        <p:nvSpPr>
          <p:cNvPr id="29" name="A2_345"/>
          <p:cNvSpPr/>
          <p:nvPr/>
        </p:nvSpPr>
        <p:spPr>
          <a:xfrm>
            <a:off x="5138928" y="1600200"/>
            <a:ext cx="3977640" cy="2514600"/>
          </a:xfrm>
          <a:prstGeom prst="rect">
            <a:avLst/>
          </a:prstGeom>
          <a:solidFill>
            <a:srgbClr val="FFFFFF"/>
          </a:solidFill>
          <a:ln w="15875">
            <a:solidFill>
              <a:srgbClr val="A9C4DE"/>
            </a:solidFill>
            <a:prstDash val="solid"/>
          </a:ln>
        </p:spPr>
        <p:txBody>
          <a:bodyPr/>
          <a:lstStyle/>
          <a:p>
            <a:endParaRPr lang="fr-FR"/>
          </a:p>
        </p:txBody>
      </p:sp>
      <p:sp>
        <p:nvSpPr>
          <p:cNvPr id="30" name="A2_346"/>
          <p:cNvSpPr/>
          <p:nvPr/>
        </p:nvSpPr>
        <p:spPr>
          <a:xfrm>
            <a:off x="5413248" y="1874520"/>
            <a:ext cx="731520" cy="731520"/>
          </a:xfrm>
          <a:prstGeom prst="ellipse">
            <a:avLst/>
          </a:prstGeom>
          <a:solidFill>
            <a:srgbClr val="FFFFFF"/>
          </a:solidFill>
          <a:ln w="55880">
            <a:solidFill>
              <a:srgbClr val="0A6EBD"/>
            </a:solidFill>
            <a:prstDash val="solid"/>
          </a:ln>
        </p:spPr>
        <p:txBody>
          <a:bodyPr/>
          <a:lstStyle/>
          <a:p>
            <a:endParaRPr lang="fr-FR"/>
          </a:p>
        </p:txBody>
      </p:sp>
      <p:pic>
        <p:nvPicPr>
          <p:cNvPr id="31" name="A2_347" descr="preencoded.png"/>
          <p:cNvPicPr>
            <a:picLocks noChangeAspect="1"/>
          </p:cNvPicPr>
          <p:nvPr/>
        </p:nvPicPr>
        <p:blipFill>
          <a:blip r:embed="rId5"/>
          <a:stretch>
            <a:fillRect/>
          </a:stretch>
        </p:blipFill>
        <p:spPr>
          <a:xfrm>
            <a:off x="5574182" y="2035454"/>
            <a:ext cx="409651" cy="409651"/>
          </a:xfrm>
          <a:prstGeom prst="rect">
            <a:avLst/>
          </a:prstGeom>
        </p:spPr>
      </p:pic>
      <p:sp>
        <p:nvSpPr>
          <p:cNvPr id="32" name="A2_348"/>
          <p:cNvSpPr txBox="1"/>
          <p:nvPr/>
        </p:nvSpPr>
        <p:spPr>
          <a:xfrm>
            <a:off x="6327648" y="1874520"/>
            <a:ext cx="2606040" cy="731520"/>
          </a:xfrm>
          <a:prstGeom prst="rect">
            <a:avLst/>
          </a:prstGeom>
          <a:noFill/>
          <a:ln/>
        </p:spPr>
        <p:txBody>
          <a:bodyPr wrap="square" lIns="0" tIns="0" rIns="0" bIns="0" rtlCol="0" anchor="ctr"/>
          <a:lstStyle/>
          <a:p>
            <a:pPr marL="0" indent="0">
              <a:buNone/>
            </a:pPr>
            <a:r>
              <a:rPr lang="en-US" sz="1700" b="1" dirty="0">
                <a:solidFill>
                  <a:srgbClr val="0B3C66"/>
                </a:solidFill>
                <a:latin typeface="Arial" pitchFamily="34" charset="0"/>
                <a:ea typeface="Arial" pitchFamily="34" charset="-122"/>
                <a:cs typeface="Arial" pitchFamily="34" charset="-120"/>
              </a:rPr>
              <a:t>Détecter les anomalies</a:t>
            </a:r>
            <a:endParaRPr lang="en-US" sz="1700" dirty="0"/>
          </a:p>
        </p:txBody>
      </p:sp>
      <p:sp>
        <p:nvSpPr>
          <p:cNvPr id="33" name="A2_349"/>
          <p:cNvSpPr txBox="1"/>
          <p:nvPr/>
        </p:nvSpPr>
        <p:spPr>
          <a:xfrm>
            <a:off x="5413248" y="2834640"/>
            <a:ext cx="3429000" cy="1097280"/>
          </a:xfrm>
          <a:prstGeom prst="rect">
            <a:avLst/>
          </a:prstGeom>
          <a:noFill/>
          <a:ln/>
        </p:spPr>
        <p:txBody>
          <a:bodyPr wrap="square" lIns="0" tIns="0" rIns="0" bIns="0" rtlCol="0" anchor="t"/>
          <a:lstStyle/>
          <a:p>
            <a:pPr marL="0" indent="0">
              <a:buNone/>
            </a:pPr>
            <a:r>
              <a:rPr lang="en-US" sz="1400" dirty="0">
                <a:solidFill>
                  <a:srgbClr val="595959"/>
                </a:solidFill>
                <a:latin typeface="Arial" pitchFamily="34" charset="0"/>
                <a:ea typeface="Arial" pitchFamily="34" charset="-122"/>
                <a:cs typeface="Arial" pitchFamily="34" charset="-120"/>
              </a:rPr>
              <a:t>Repérer les pics d'erreurs et classer chaque anomalie par type</a:t>
            </a:r>
            <a:endParaRPr lang="en-US" sz="1400" dirty="0"/>
          </a:p>
        </p:txBody>
      </p:sp>
      <p:sp>
        <p:nvSpPr>
          <p:cNvPr id="34" name="A3_350"/>
          <p:cNvSpPr/>
          <p:nvPr/>
        </p:nvSpPr>
        <p:spPr>
          <a:xfrm>
            <a:off x="9454896" y="1600200"/>
            <a:ext cx="3977640" cy="2514600"/>
          </a:xfrm>
          <a:prstGeom prst="rect">
            <a:avLst/>
          </a:prstGeom>
          <a:solidFill>
            <a:srgbClr val="FFFFFF"/>
          </a:solidFill>
          <a:ln w="15875">
            <a:solidFill>
              <a:srgbClr val="A9C4DE"/>
            </a:solidFill>
            <a:prstDash val="solid"/>
          </a:ln>
        </p:spPr>
        <p:txBody>
          <a:bodyPr/>
          <a:lstStyle/>
          <a:p>
            <a:endParaRPr lang="fr-FR"/>
          </a:p>
        </p:txBody>
      </p:sp>
      <p:sp>
        <p:nvSpPr>
          <p:cNvPr id="35" name="A3_351"/>
          <p:cNvSpPr/>
          <p:nvPr/>
        </p:nvSpPr>
        <p:spPr>
          <a:xfrm>
            <a:off x="9729216" y="1874520"/>
            <a:ext cx="731520" cy="731520"/>
          </a:xfrm>
          <a:prstGeom prst="ellipse">
            <a:avLst/>
          </a:prstGeom>
          <a:solidFill>
            <a:srgbClr val="FFFFFF"/>
          </a:solidFill>
          <a:ln w="55880">
            <a:solidFill>
              <a:srgbClr val="0A6EBD"/>
            </a:solidFill>
            <a:prstDash val="solid"/>
          </a:ln>
        </p:spPr>
        <p:txBody>
          <a:bodyPr/>
          <a:lstStyle/>
          <a:p>
            <a:endParaRPr lang="fr-FR"/>
          </a:p>
        </p:txBody>
      </p:sp>
      <p:pic>
        <p:nvPicPr>
          <p:cNvPr id="36" name="A3_352" descr="preencoded.png"/>
          <p:cNvPicPr>
            <a:picLocks noChangeAspect="1"/>
          </p:cNvPicPr>
          <p:nvPr/>
        </p:nvPicPr>
        <p:blipFill>
          <a:blip r:embed="rId6"/>
          <a:stretch>
            <a:fillRect/>
          </a:stretch>
        </p:blipFill>
        <p:spPr>
          <a:xfrm>
            <a:off x="9890150" y="2035454"/>
            <a:ext cx="409651" cy="409651"/>
          </a:xfrm>
          <a:prstGeom prst="rect">
            <a:avLst/>
          </a:prstGeom>
        </p:spPr>
      </p:pic>
      <p:sp>
        <p:nvSpPr>
          <p:cNvPr id="37" name="A3_353"/>
          <p:cNvSpPr txBox="1"/>
          <p:nvPr/>
        </p:nvSpPr>
        <p:spPr>
          <a:xfrm>
            <a:off x="10643616" y="1874520"/>
            <a:ext cx="2606040" cy="731520"/>
          </a:xfrm>
          <a:prstGeom prst="rect">
            <a:avLst/>
          </a:prstGeom>
          <a:noFill/>
          <a:ln/>
        </p:spPr>
        <p:txBody>
          <a:bodyPr wrap="square" lIns="0" tIns="0" rIns="0" bIns="0" rtlCol="0" anchor="ctr"/>
          <a:lstStyle/>
          <a:p>
            <a:pPr marL="0" indent="0">
              <a:buNone/>
            </a:pPr>
            <a:r>
              <a:rPr lang="en-US" sz="1700" b="1" dirty="0">
                <a:solidFill>
                  <a:srgbClr val="0B3C66"/>
                </a:solidFill>
                <a:latin typeface="Arial" pitchFamily="34" charset="0"/>
                <a:ea typeface="Arial" pitchFamily="34" charset="-122"/>
                <a:cs typeface="Arial" pitchFamily="34" charset="-120"/>
              </a:rPr>
              <a:t>Gérer les tests</a:t>
            </a:r>
            <a:endParaRPr lang="en-US" sz="1700" dirty="0"/>
          </a:p>
        </p:txBody>
      </p:sp>
      <p:sp>
        <p:nvSpPr>
          <p:cNvPr id="38" name="A3_354"/>
          <p:cNvSpPr txBox="1"/>
          <p:nvPr/>
        </p:nvSpPr>
        <p:spPr>
          <a:xfrm>
            <a:off x="9729216" y="2834640"/>
            <a:ext cx="3429000" cy="1097280"/>
          </a:xfrm>
          <a:prstGeom prst="rect">
            <a:avLst/>
          </a:prstGeom>
          <a:noFill/>
          <a:ln/>
        </p:spPr>
        <p:txBody>
          <a:bodyPr wrap="square" lIns="0" tIns="0" rIns="0" bIns="0" rtlCol="0" anchor="t"/>
          <a:lstStyle/>
          <a:p>
            <a:pPr marL="0" indent="0">
              <a:buNone/>
            </a:pPr>
            <a:r>
              <a:rPr lang="en-US" sz="1400" dirty="0">
                <a:solidFill>
                  <a:srgbClr val="595959"/>
                </a:solidFill>
                <a:latin typeface="Arial" pitchFamily="34" charset="0"/>
                <a:ea typeface="Arial" pitchFamily="34" charset="-122"/>
                <a:cs typeface="Arial" pitchFamily="34" charset="-120"/>
              </a:rPr>
              <a:t>Lancer ou importer les tests, suivre l'historique, repérer les tests instables</a:t>
            </a:r>
            <a:endParaRPr lang="en-US" sz="1400" dirty="0"/>
          </a:p>
        </p:txBody>
      </p:sp>
      <p:sp>
        <p:nvSpPr>
          <p:cNvPr id="39" name="A4_355"/>
          <p:cNvSpPr/>
          <p:nvPr/>
        </p:nvSpPr>
        <p:spPr>
          <a:xfrm>
            <a:off x="822960" y="4434840"/>
            <a:ext cx="3977640" cy="2514600"/>
          </a:xfrm>
          <a:prstGeom prst="rect">
            <a:avLst/>
          </a:prstGeom>
          <a:solidFill>
            <a:srgbClr val="FFFFFF"/>
          </a:solidFill>
          <a:ln w="15875">
            <a:solidFill>
              <a:srgbClr val="A9C4DE"/>
            </a:solidFill>
            <a:prstDash val="solid"/>
          </a:ln>
        </p:spPr>
        <p:txBody>
          <a:bodyPr/>
          <a:lstStyle/>
          <a:p>
            <a:endParaRPr lang="fr-FR"/>
          </a:p>
        </p:txBody>
      </p:sp>
      <p:sp>
        <p:nvSpPr>
          <p:cNvPr id="40" name="A4_356"/>
          <p:cNvSpPr/>
          <p:nvPr/>
        </p:nvSpPr>
        <p:spPr>
          <a:xfrm>
            <a:off x="1097280" y="4709160"/>
            <a:ext cx="731520" cy="731520"/>
          </a:xfrm>
          <a:prstGeom prst="ellipse">
            <a:avLst/>
          </a:prstGeom>
          <a:solidFill>
            <a:srgbClr val="FFFFFF"/>
          </a:solidFill>
          <a:ln w="55880">
            <a:solidFill>
              <a:srgbClr val="0A6EBD"/>
            </a:solidFill>
            <a:prstDash val="solid"/>
          </a:ln>
        </p:spPr>
        <p:txBody>
          <a:bodyPr/>
          <a:lstStyle/>
          <a:p>
            <a:endParaRPr lang="fr-FR"/>
          </a:p>
        </p:txBody>
      </p:sp>
      <p:pic>
        <p:nvPicPr>
          <p:cNvPr id="41" name="A4_357" descr="preencoded.png"/>
          <p:cNvPicPr>
            <a:picLocks noChangeAspect="1"/>
          </p:cNvPicPr>
          <p:nvPr/>
        </p:nvPicPr>
        <p:blipFill>
          <a:blip r:embed="rId7"/>
          <a:stretch>
            <a:fillRect/>
          </a:stretch>
        </p:blipFill>
        <p:spPr>
          <a:xfrm>
            <a:off x="1258214" y="4870094"/>
            <a:ext cx="409651" cy="409651"/>
          </a:xfrm>
          <a:prstGeom prst="rect">
            <a:avLst/>
          </a:prstGeom>
        </p:spPr>
      </p:pic>
      <p:sp>
        <p:nvSpPr>
          <p:cNvPr id="42" name="A4_358"/>
          <p:cNvSpPr txBox="1"/>
          <p:nvPr/>
        </p:nvSpPr>
        <p:spPr>
          <a:xfrm>
            <a:off x="2011680" y="4709160"/>
            <a:ext cx="2606040" cy="731520"/>
          </a:xfrm>
          <a:prstGeom prst="rect">
            <a:avLst/>
          </a:prstGeom>
          <a:noFill/>
          <a:ln/>
        </p:spPr>
        <p:txBody>
          <a:bodyPr wrap="square" lIns="0" tIns="0" rIns="0" bIns="0" rtlCol="0" anchor="ctr"/>
          <a:lstStyle/>
          <a:p>
            <a:pPr marL="0" indent="0">
              <a:buNone/>
            </a:pPr>
            <a:r>
              <a:rPr lang="en-US" sz="1700" b="1" dirty="0">
                <a:solidFill>
                  <a:srgbClr val="0B3C66"/>
                </a:solidFill>
                <a:latin typeface="Arial" pitchFamily="34" charset="0"/>
                <a:ea typeface="Arial" pitchFamily="34" charset="-122"/>
                <a:cs typeface="Arial" pitchFamily="34" charset="-120"/>
              </a:rPr>
              <a:t>Gérer la sécurité</a:t>
            </a:r>
            <a:endParaRPr lang="en-US" sz="1700" dirty="0"/>
          </a:p>
        </p:txBody>
      </p:sp>
      <p:sp>
        <p:nvSpPr>
          <p:cNvPr id="43" name="A4_359"/>
          <p:cNvSpPr txBox="1"/>
          <p:nvPr/>
        </p:nvSpPr>
        <p:spPr>
          <a:xfrm>
            <a:off x="1097280" y="5669280"/>
            <a:ext cx="3429000" cy="1097280"/>
          </a:xfrm>
          <a:prstGeom prst="rect">
            <a:avLst/>
          </a:prstGeom>
          <a:noFill/>
          <a:ln/>
        </p:spPr>
        <p:txBody>
          <a:bodyPr wrap="square" lIns="0" tIns="0" rIns="0" bIns="0" rtlCol="0" anchor="t"/>
          <a:lstStyle/>
          <a:p>
            <a:pPr marL="0" indent="0">
              <a:buNone/>
            </a:pPr>
            <a:r>
              <a:rPr lang="en-US" sz="1400" dirty="0">
                <a:solidFill>
                  <a:srgbClr val="595959"/>
                </a:solidFill>
                <a:latin typeface="Arial" pitchFamily="34" charset="0"/>
                <a:ea typeface="Arial" pitchFamily="34" charset="-122"/>
                <a:cs typeface="Arial" pitchFamily="34" charset="-120"/>
              </a:rPr>
              <a:t>Scanner, prioriser les failles (score 0-100) et suivre leur correction</a:t>
            </a:r>
            <a:endParaRPr lang="en-US" sz="1400" dirty="0"/>
          </a:p>
        </p:txBody>
      </p:sp>
      <p:sp>
        <p:nvSpPr>
          <p:cNvPr id="44" name="A5_360"/>
          <p:cNvSpPr/>
          <p:nvPr/>
        </p:nvSpPr>
        <p:spPr>
          <a:xfrm>
            <a:off x="5138928" y="4434840"/>
            <a:ext cx="3977640" cy="2514600"/>
          </a:xfrm>
          <a:prstGeom prst="rect">
            <a:avLst/>
          </a:prstGeom>
          <a:solidFill>
            <a:srgbClr val="FFFFFF"/>
          </a:solidFill>
          <a:ln w="15875">
            <a:solidFill>
              <a:srgbClr val="A9C4DE"/>
            </a:solidFill>
            <a:prstDash val="solid"/>
          </a:ln>
        </p:spPr>
        <p:txBody>
          <a:bodyPr/>
          <a:lstStyle/>
          <a:p>
            <a:endParaRPr lang="fr-FR"/>
          </a:p>
        </p:txBody>
      </p:sp>
      <p:sp>
        <p:nvSpPr>
          <p:cNvPr id="45" name="A5_361"/>
          <p:cNvSpPr/>
          <p:nvPr/>
        </p:nvSpPr>
        <p:spPr>
          <a:xfrm>
            <a:off x="5413248" y="4709160"/>
            <a:ext cx="731520" cy="731520"/>
          </a:xfrm>
          <a:prstGeom prst="ellipse">
            <a:avLst/>
          </a:prstGeom>
          <a:solidFill>
            <a:srgbClr val="FFFFFF"/>
          </a:solidFill>
          <a:ln w="55880">
            <a:solidFill>
              <a:srgbClr val="0A6EBD"/>
            </a:solidFill>
            <a:prstDash val="solid"/>
          </a:ln>
        </p:spPr>
        <p:txBody>
          <a:bodyPr/>
          <a:lstStyle/>
          <a:p>
            <a:endParaRPr lang="fr-FR"/>
          </a:p>
        </p:txBody>
      </p:sp>
      <p:pic>
        <p:nvPicPr>
          <p:cNvPr id="46" name="A5_362" descr="preencoded.png"/>
          <p:cNvPicPr>
            <a:picLocks noChangeAspect="1"/>
          </p:cNvPicPr>
          <p:nvPr/>
        </p:nvPicPr>
        <p:blipFill>
          <a:blip r:embed="rId8"/>
          <a:stretch>
            <a:fillRect/>
          </a:stretch>
        </p:blipFill>
        <p:spPr>
          <a:xfrm>
            <a:off x="5574182" y="4870094"/>
            <a:ext cx="409651" cy="409651"/>
          </a:xfrm>
          <a:prstGeom prst="rect">
            <a:avLst/>
          </a:prstGeom>
        </p:spPr>
      </p:pic>
      <p:sp>
        <p:nvSpPr>
          <p:cNvPr id="47" name="A5_363"/>
          <p:cNvSpPr txBox="1"/>
          <p:nvPr/>
        </p:nvSpPr>
        <p:spPr>
          <a:xfrm>
            <a:off x="6327648" y="4709160"/>
            <a:ext cx="2606040" cy="731520"/>
          </a:xfrm>
          <a:prstGeom prst="rect">
            <a:avLst/>
          </a:prstGeom>
          <a:noFill/>
          <a:ln/>
        </p:spPr>
        <p:txBody>
          <a:bodyPr wrap="square" lIns="0" tIns="0" rIns="0" bIns="0" rtlCol="0" anchor="ctr"/>
          <a:lstStyle/>
          <a:p>
            <a:pPr marL="0" indent="0">
              <a:buNone/>
            </a:pPr>
            <a:r>
              <a:rPr lang="en-US" sz="1700" b="1" dirty="0">
                <a:solidFill>
                  <a:srgbClr val="0B3C66"/>
                </a:solidFill>
                <a:latin typeface="Arial" pitchFamily="34" charset="0"/>
                <a:ea typeface="Arial" pitchFamily="34" charset="-122"/>
                <a:cs typeface="Arial" pitchFamily="34" charset="-120"/>
              </a:rPr>
              <a:t>Assistance par l'IA</a:t>
            </a:r>
            <a:endParaRPr lang="en-US" sz="1700" dirty="0"/>
          </a:p>
        </p:txBody>
      </p:sp>
      <p:sp>
        <p:nvSpPr>
          <p:cNvPr id="48" name="A5_364"/>
          <p:cNvSpPr txBox="1"/>
          <p:nvPr/>
        </p:nvSpPr>
        <p:spPr>
          <a:xfrm>
            <a:off x="5413248" y="5669280"/>
            <a:ext cx="3429000" cy="1097280"/>
          </a:xfrm>
          <a:prstGeom prst="rect">
            <a:avLst/>
          </a:prstGeom>
          <a:noFill/>
          <a:ln/>
        </p:spPr>
        <p:txBody>
          <a:bodyPr wrap="square" lIns="0" tIns="0" rIns="0" bIns="0" rtlCol="0" anchor="t"/>
          <a:lstStyle/>
          <a:p>
            <a:pPr marL="0" indent="0">
              <a:buNone/>
            </a:pPr>
            <a:r>
              <a:rPr lang="en-US" sz="1400" dirty="0">
                <a:solidFill>
                  <a:srgbClr val="595959"/>
                </a:solidFill>
                <a:latin typeface="Arial" pitchFamily="34" charset="0"/>
                <a:ea typeface="Arial" pitchFamily="34" charset="-122"/>
                <a:cs typeface="Arial" pitchFamily="34" charset="-120"/>
              </a:rPr>
              <a:t>Expliquer un incident, proposer un correctif, répondre via un copilote</a:t>
            </a:r>
            <a:endParaRPr lang="en-US" sz="1400" dirty="0"/>
          </a:p>
        </p:txBody>
      </p:sp>
      <p:sp>
        <p:nvSpPr>
          <p:cNvPr id="49" name="A6_365"/>
          <p:cNvSpPr/>
          <p:nvPr/>
        </p:nvSpPr>
        <p:spPr>
          <a:xfrm>
            <a:off x="9454896" y="4434840"/>
            <a:ext cx="3977640" cy="2514600"/>
          </a:xfrm>
          <a:prstGeom prst="rect">
            <a:avLst/>
          </a:prstGeom>
          <a:solidFill>
            <a:srgbClr val="FFFFFF"/>
          </a:solidFill>
          <a:ln w="15875">
            <a:solidFill>
              <a:srgbClr val="A9C4DE"/>
            </a:solidFill>
            <a:prstDash val="solid"/>
          </a:ln>
        </p:spPr>
        <p:txBody>
          <a:bodyPr/>
          <a:lstStyle/>
          <a:p>
            <a:endParaRPr lang="fr-FR"/>
          </a:p>
        </p:txBody>
      </p:sp>
      <p:sp>
        <p:nvSpPr>
          <p:cNvPr id="50" name="A6_366"/>
          <p:cNvSpPr/>
          <p:nvPr/>
        </p:nvSpPr>
        <p:spPr>
          <a:xfrm>
            <a:off x="9729216" y="4709160"/>
            <a:ext cx="731520" cy="731520"/>
          </a:xfrm>
          <a:prstGeom prst="ellipse">
            <a:avLst/>
          </a:prstGeom>
          <a:solidFill>
            <a:srgbClr val="FFFFFF"/>
          </a:solidFill>
          <a:ln w="55880">
            <a:solidFill>
              <a:srgbClr val="0A6EBD"/>
            </a:solidFill>
            <a:prstDash val="solid"/>
          </a:ln>
        </p:spPr>
        <p:txBody>
          <a:bodyPr/>
          <a:lstStyle/>
          <a:p>
            <a:endParaRPr lang="fr-FR"/>
          </a:p>
        </p:txBody>
      </p:sp>
      <p:pic>
        <p:nvPicPr>
          <p:cNvPr id="51" name="A6_367" descr="preencoded.png"/>
          <p:cNvPicPr>
            <a:picLocks noChangeAspect="1"/>
          </p:cNvPicPr>
          <p:nvPr/>
        </p:nvPicPr>
        <p:blipFill>
          <a:blip r:embed="rId9"/>
          <a:stretch>
            <a:fillRect/>
          </a:stretch>
        </p:blipFill>
        <p:spPr>
          <a:xfrm>
            <a:off x="9890150" y="4870094"/>
            <a:ext cx="409651" cy="409651"/>
          </a:xfrm>
          <a:prstGeom prst="rect">
            <a:avLst/>
          </a:prstGeom>
        </p:spPr>
      </p:pic>
      <p:sp>
        <p:nvSpPr>
          <p:cNvPr id="52" name="A6_368"/>
          <p:cNvSpPr txBox="1"/>
          <p:nvPr/>
        </p:nvSpPr>
        <p:spPr>
          <a:xfrm>
            <a:off x="10643616" y="4709160"/>
            <a:ext cx="2606040" cy="731520"/>
          </a:xfrm>
          <a:prstGeom prst="rect">
            <a:avLst/>
          </a:prstGeom>
          <a:noFill/>
          <a:ln/>
        </p:spPr>
        <p:txBody>
          <a:bodyPr wrap="square" lIns="0" tIns="0" rIns="0" bIns="0" rtlCol="0" anchor="ctr"/>
          <a:lstStyle/>
          <a:p>
            <a:pPr marL="0" indent="0">
              <a:buNone/>
            </a:pPr>
            <a:r>
              <a:rPr lang="en-US" sz="1700" b="1" dirty="0">
                <a:solidFill>
                  <a:srgbClr val="0B3C66"/>
                </a:solidFill>
                <a:latin typeface="Arial" pitchFamily="34" charset="0"/>
                <a:ea typeface="Arial" pitchFamily="34" charset="-122"/>
                <a:cs typeface="Arial" pitchFamily="34" charset="-120"/>
              </a:rPr>
              <a:t>Piloter et administrer</a:t>
            </a:r>
            <a:endParaRPr lang="en-US" sz="1700" dirty="0"/>
          </a:p>
        </p:txBody>
      </p:sp>
      <p:sp>
        <p:nvSpPr>
          <p:cNvPr id="53" name="A6_369"/>
          <p:cNvSpPr txBox="1"/>
          <p:nvPr/>
        </p:nvSpPr>
        <p:spPr>
          <a:xfrm>
            <a:off x="9729216" y="5669280"/>
            <a:ext cx="3429000" cy="1097280"/>
          </a:xfrm>
          <a:prstGeom prst="rect">
            <a:avLst/>
          </a:prstGeom>
          <a:noFill/>
          <a:ln/>
        </p:spPr>
        <p:txBody>
          <a:bodyPr wrap="square" lIns="0" tIns="0" rIns="0" bIns="0" rtlCol="0" anchor="t"/>
          <a:lstStyle/>
          <a:p>
            <a:pPr marL="0" indent="0">
              <a:buNone/>
            </a:pPr>
            <a:r>
              <a:rPr lang="en-US" sz="1400" dirty="0">
                <a:solidFill>
                  <a:srgbClr val="595959"/>
                </a:solidFill>
                <a:latin typeface="Arial" pitchFamily="34" charset="0"/>
                <a:ea typeface="Arial" pitchFamily="34" charset="-122"/>
                <a:cs typeface="Arial" pitchFamily="34" charset="-120"/>
              </a:rPr>
              <a:t>Tableau de bord, quality gate, journal d'audit, gestion des utilisateurs</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500"/>
                                        <p:tgtEl>
                                          <p:spTgt spid="2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500"/>
                                        <p:tgtEl>
                                          <p:spTgt spid="30"/>
                                        </p:tgtEl>
                                      </p:cBhvr>
                                    </p:animEffect>
                                  </p:childTnLst>
                                </p:cTn>
                              </p:par>
                              <p:par>
                                <p:cTn id="27" presetID="10"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500"/>
                                        <p:tgtEl>
                                          <p:spTgt spid="3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5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500"/>
                                        <p:tgtEl>
                                          <p:spTgt spid="35"/>
                                        </p:tgtEl>
                                      </p:cBhvr>
                                    </p:animEffect>
                                  </p:childTnLst>
                                </p:cTn>
                              </p:par>
                              <p:par>
                                <p:cTn id="43" presetID="10" presetClass="entr" presetSubtype="0" fill="hold"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500"/>
                                        <p:tgtEl>
                                          <p:spTgt spid="3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5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500"/>
                                        <p:tgtEl>
                                          <p:spTgt spid="3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500"/>
                                        <p:tgtEl>
                                          <p:spTgt spid="3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500"/>
                                        <p:tgtEl>
                                          <p:spTgt spid="40"/>
                                        </p:tgtEl>
                                      </p:cBhvr>
                                    </p:animEffect>
                                  </p:childTnLst>
                                </p:cTn>
                              </p:par>
                              <p:par>
                                <p:cTn id="59" presetID="10" presetClass="entr" presetSubtype="0" fill="hold" nodeType="withEffect">
                                  <p:stCondLst>
                                    <p:cond delay="0"/>
                                  </p:stCondLst>
                                  <p:childTnLst>
                                    <p:set>
                                      <p:cBhvr>
                                        <p:cTn id="60" dur="1" fill="hold">
                                          <p:stCondLst>
                                            <p:cond delay="0"/>
                                          </p:stCondLst>
                                        </p:cTn>
                                        <p:tgtEl>
                                          <p:spTgt spid="41"/>
                                        </p:tgtEl>
                                        <p:attrNameLst>
                                          <p:attrName>style.visibility</p:attrName>
                                        </p:attrNameLst>
                                      </p:cBhvr>
                                      <p:to>
                                        <p:strVal val="visible"/>
                                      </p:to>
                                    </p:set>
                                    <p:animEffect transition="in" filter="fade">
                                      <p:cBhvr>
                                        <p:cTn id="61" dur="500"/>
                                        <p:tgtEl>
                                          <p:spTgt spid="4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500"/>
                                        <p:tgtEl>
                                          <p:spTgt spid="4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3"/>
                                        </p:tgtEl>
                                        <p:attrNameLst>
                                          <p:attrName>style.visibility</p:attrName>
                                        </p:attrNameLst>
                                      </p:cBhvr>
                                      <p:to>
                                        <p:strVal val="visible"/>
                                      </p:to>
                                    </p:set>
                                    <p:animEffect transition="in" filter="fade">
                                      <p:cBhvr>
                                        <p:cTn id="67" dur="500"/>
                                        <p:tgtEl>
                                          <p:spTgt spid="43"/>
                                        </p:tgtEl>
                                      </p:cBhvr>
                                    </p:animEffect>
                                  </p:childTnLst>
                                </p:cTn>
                              </p:par>
                            </p:childTnLst>
                          </p:cTn>
                        </p:par>
                        <p:par>
                          <p:cTn id="68" fill="hold">
                            <p:stCondLst>
                              <p:cond delay="1400"/>
                            </p:stCondLst>
                            <p:childTnLst>
                              <p:par>
                                <p:cTn id="69" presetID="10" presetClass="entr" presetSubtype="0" fill="hold" grpId="0" nodeType="after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500"/>
                                        <p:tgtEl>
                                          <p:spTgt spid="4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500"/>
                                        <p:tgtEl>
                                          <p:spTgt spid="45"/>
                                        </p:tgtEl>
                                      </p:cBhvr>
                                    </p:animEffect>
                                  </p:childTnLst>
                                </p:cTn>
                              </p:par>
                              <p:par>
                                <p:cTn id="75" presetID="10" presetClass="entr" presetSubtype="0" fill="hold"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500"/>
                                        <p:tgtEl>
                                          <p:spTgt spid="4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7"/>
                                        </p:tgtEl>
                                        <p:attrNameLst>
                                          <p:attrName>style.visibility</p:attrName>
                                        </p:attrNameLst>
                                      </p:cBhvr>
                                      <p:to>
                                        <p:strVal val="visible"/>
                                      </p:to>
                                    </p:set>
                                    <p:animEffect transition="in" filter="fade">
                                      <p:cBhvr>
                                        <p:cTn id="80" dur="500"/>
                                        <p:tgtEl>
                                          <p:spTgt spid="4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8"/>
                                        </p:tgtEl>
                                        <p:attrNameLst>
                                          <p:attrName>style.visibility</p:attrName>
                                        </p:attrNameLst>
                                      </p:cBhvr>
                                      <p:to>
                                        <p:strVal val="visible"/>
                                      </p:to>
                                    </p:set>
                                    <p:animEffect transition="in" filter="fade">
                                      <p:cBhvr>
                                        <p:cTn id="83" dur="500"/>
                                        <p:tgtEl>
                                          <p:spTgt spid="48"/>
                                        </p:tgtEl>
                                      </p:cBhvr>
                                    </p:animEffect>
                                  </p:childTnLst>
                                </p:cTn>
                              </p:par>
                            </p:childTnLst>
                          </p:cTn>
                        </p:par>
                        <p:par>
                          <p:cTn id="84" fill="hold">
                            <p:stCondLst>
                              <p:cond delay="1750"/>
                            </p:stCondLst>
                            <p:childTnLst>
                              <p:par>
                                <p:cTn id="85" presetID="10" presetClass="entr" presetSubtype="0" fill="hold" grpId="0" nodeType="afterEffect">
                                  <p:stCondLst>
                                    <p:cond delay="0"/>
                                  </p:stCondLst>
                                  <p:childTnLst>
                                    <p:set>
                                      <p:cBhvr>
                                        <p:cTn id="86" dur="1" fill="hold">
                                          <p:stCondLst>
                                            <p:cond delay="0"/>
                                          </p:stCondLst>
                                        </p:cTn>
                                        <p:tgtEl>
                                          <p:spTgt spid="49"/>
                                        </p:tgtEl>
                                        <p:attrNameLst>
                                          <p:attrName>style.visibility</p:attrName>
                                        </p:attrNameLst>
                                      </p:cBhvr>
                                      <p:to>
                                        <p:strVal val="visible"/>
                                      </p:to>
                                    </p:set>
                                    <p:animEffect transition="in" filter="fade">
                                      <p:cBhvr>
                                        <p:cTn id="87" dur="500"/>
                                        <p:tgtEl>
                                          <p:spTgt spid="49"/>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0"/>
                                        </p:tgtEl>
                                        <p:attrNameLst>
                                          <p:attrName>style.visibility</p:attrName>
                                        </p:attrNameLst>
                                      </p:cBhvr>
                                      <p:to>
                                        <p:strVal val="visible"/>
                                      </p:to>
                                    </p:set>
                                    <p:animEffect transition="in" filter="fade">
                                      <p:cBhvr>
                                        <p:cTn id="90" dur="500"/>
                                        <p:tgtEl>
                                          <p:spTgt spid="50"/>
                                        </p:tgtEl>
                                      </p:cBhvr>
                                    </p:animEffect>
                                  </p:childTnLst>
                                </p:cTn>
                              </p:par>
                              <p:par>
                                <p:cTn id="91" presetID="10" presetClass="entr" presetSubtype="0" fill="hold" nodeType="withEffect">
                                  <p:stCondLst>
                                    <p:cond delay="0"/>
                                  </p:stCondLst>
                                  <p:childTnLst>
                                    <p:set>
                                      <p:cBhvr>
                                        <p:cTn id="92" dur="1" fill="hold">
                                          <p:stCondLst>
                                            <p:cond delay="0"/>
                                          </p:stCondLst>
                                        </p:cTn>
                                        <p:tgtEl>
                                          <p:spTgt spid="51"/>
                                        </p:tgtEl>
                                        <p:attrNameLst>
                                          <p:attrName>style.visibility</p:attrName>
                                        </p:attrNameLst>
                                      </p:cBhvr>
                                      <p:to>
                                        <p:strVal val="visible"/>
                                      </p:to>
                                    </p:set>
                                    <p:animEffect transition="in" filter="fade">
                                      <p:cBhvr>
                                        <p:cTn id="93" dur="500"/>
                                        <p:tgtEl>
                                          <p:spTgt spid="5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2"/>
                                        </p:tgtEl>
                                        <p:attrNameLst>
                                          <p:attrName>style.visibility</p:attrName>
                                        </p:attrNameLst>
                                      </p:cBhvr>
                                      <p:to>
                                        <p:strVal val="visible"/>
                                      </p:to>
                                    </p:set>
                                    <p:animEffect transition="in" filter="fade">
                                      <p:cBhvr>
                                        <p:cTn id="96" dur="500"/>
                                        <p:tgtEl>
                                          <p:spTgt spid="5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3"/>
                                        </p:tgtEl>
                                        <p:attrNameLst>
                                          <p:attrName>style.visibility</p:attrName>
                                        </p:attrNameLst>
                                      </p:cBhvr>
                                      <p:to>
                                        <p:strVal val="visible"/>
                                      </p:to>
                                    </p:set>
                                    <p:animEffect transition="in" filter="fade">
                                      <p:cBhvr>
                                        <p:cTn id="99"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7" grpId="0" animBg="1"/>
      <p:bldP spid="28" grpId="0" animBg="1"/>
      <p:bldP spid="29" grpId="0" animBg="1"/>
      <p:bldP spid="30" grpId="0" animBg="1"/>
      <p:bldP spid="32" grpId="0" animBg="1"/>
      <p:bldP spid="33" grpId="0" animBg="1"/>
      <p:bldP spid="34" grpId="0" animBg="1"/>
      <p:bldP spid="35" grpId="0" animBg="1"/>
      <p:bldP spid="37" grpId="0" animBg="1"/>
      <p:bldP spid="38" grpId="0" animBg="1"/>
      <p:bldP spid="39" grpId="0" animBg="1"/>
      <p:bldP spid="40" grpId="0" animBg="1"/>
      <p:bldP spid="42" grpId="0" animBg="1"/>
      <p:bldP spid="43" grpId="0" animBg="1"/>
      <p:bldP spid="44" grpId="0" animBg="1"/>
      <p:bldP spid="45" grpId="0" animBg="1"/>
      <p:bldP spid="47" grpId="0" animBg="1"/>
      <p:bldP spid="48" grpId="0" animBg="1"/>
      <p:bldP spid="49" grpId="0" animBg="1"/>
      <p:bldP spid="50" grpId="0" animBg="1"/>
      <p:bldP spid="52" grpId="0" animBg="1"/>
      <p:bldP spid="5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A0_370"/>
          <p:cNvSpPr/>
          <p:nvPr/>
        </p:nvSpPr>
        <p:spPr>
          <a:xfrm>
            <a:off x="6800850" y="274320"/>
            <a:ext cx="109728" cy="109728"/>
          </a:xfrm>
          <a:prstGeom prst="rect">
            <a:avLst/>
          </a:prstGeom>
          <a:solidFill>
            <a:srgbClr val="0A6EBD"/>
          </a:solidFill>
          <a:ln w="12700">
            <a:solidFill>
              <a:srgbClr val="0A6EBD"/>
            </a:solidFill>
            <a:prstDash val="solid"/>
          </a:ln>
        </p:spPr>
      </p:sp>
      <p:sp>
        <p:nvSpPr>
          <p:cNvPr id="4" name="A0_371"/>
          <p:cNvSpPr/>
          <p:nvPr/>
        </p:nvSpPr>
        <p:spPr>
          <a:xfrm>
            <a:off x="6992874" y="274320"/>
            <a:ext cx="109728" cy="109728"/>
          </a:xfrm>
          <a:prstGeom prst="rect">
            <a:avLst/>
          </a:prstGeom>
          <a:solidFill>
            <a:srgbClr val="0A6EBD"/>
          </a:solidFill>
          <a:ln w="12700">
            <a:solidFill>
              <a:srgbClr val="0A6EBD"/>
            </a:solidFill>
            <a:prstDash val="solid"/>
          </a:ln>
        </p:spPr>
      </p:sp>
      <p:sp>
        <p:nvSpPr>
          <p:cNvPr id="5" name="A0_372"/>
          <p:cNvSpPr/>
          <p:nvPr/>
        </p:nvSpPr>
        <p:spPr>
          <a:xfrm>
            <a:off x="7184898" y="274320"/>
            <a:ext cx="109728" cy="109728"/>
          </a:xfrm>
          <a:prstGeom prst="rect">
            <a:avLst/>
          </a:prstGeom>
          <a:solidFill>
            <a:srgbClr val="0A6EBD"/>
          </a:solidFill>
          <a:ln w="12700">
            <a:solidFill>
              <a:srgbClr val="0A6EBD"/>
            </a:solidFill>
            <a:prstDash val="solid"/>
          </a:ln>
        </p:spPr>
      </p:sp>
      <p:sp>
        <p:nvSpPr>
          <p:cNvPr id="6" name="A0_373"/>
          <p:cNvSpPr/>
          <p:nvPr/>
        </p:nvSpPr>
        <p:spPr>
          <a:xfrm>
            <a:off x="7376922" y="274320"/>
            <a:ext cx="109728" cy="109728"/>
          </a:xfrm>
          <a:prstGeom prst="rect">
            <a:avLst/>
          </a:prstGeom>
          <a:solidFill>
            <a:srgbClr val="0A6EBD"/>
          </a:solidFill>
          <a:ln w="12700">
            <a:solidFill>
              <a:srgbClr val="0A6EBD"/>
            </a:solidFill>
            <a:prstDash val="solid"/>
          </a:ln>
        </p:spPr>
      </p:sp>
      <p:sp>
        <p:nvSpPr>
          <p:cNvPr id="7" name="A0_374"/>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Besoins non fonctionnels</a:t>
            </a:r>
            <a:endParaRPr lang="en-US" sz="3600" dirty="0"/>
          </a:p>
        </p:txBody>
      </p:sp>
      <p:pic>
        <p:nvPicPr>
          <p:cNvPr id="8" name="A0_375"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389"/>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390"/>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12</a:t>
            </a:r>
            <a:endParaRPr lang="en-US" sz="1500" dirty="0"/>
          </a:p>
        </p:txBody>
      </p:sp>
      <p:sp>
        <p:nvSpPr>
          <p:cNvPr id="24" name="A1_391"/>
          <p:cNvSpPr/>
          <p:nvPr/>
        </p:nvSpPr>
        <p:spPr>
          <a:xfrm>
            <a:off x="264566" y="1466697"/>
            <a:ext cx="9326880" cy="5577840"/>
          </a:xfrm>
          <a:prstGeom prst="rect">
            <a:avLst/>
          </a:prstGeom>
          <a:solidFill>
            <a:srgbClr val="0A6EBD"/>
          </a:solidFill>
          <a:ln w="12700">
            <a:solidFill>
              <a:srgbClr val="0A6EBD"/>
            </a:solidFill>
            <a:prstDash val="solid"/>
          </a:ln>
        </p:spPr>
        <p:txBody>
          <a:bodyPr/>
          <a:lstStyle/>
          <a:p>
            <a:endParaRPr lang="fr-FR"/>
          </a:p>
        </p:txBody>
      </p:sp>
      <p:sp>
        <p:nvSpPr>
          <p:cNvPr id="25" name="A2_392"/>
          <p:cNvSpPr/>
          <p:nvPr/>
        </p:nvSpPr>
        <p:spPr>
          <a:xfrm>
            <a:off x="731520" y="2011680"/>
            <a:ext cx="731520" cy="731520"/>
          </a:xfrm>
          <a:prstGeom prst="ellipse">
            <a:avLst/>
          </a:prstGeom>
          <a:solidFill>
            <a:srgbClr val="FFFFFF"/>
          </a:solidFill>
          <a:ln w="12700">
            <a:solidFill>
              <a:srgbClr val="FFFFFF"/>
            </a:solidFill>
            <a:prstDash val="solid"/>
          </a:ln>
        </p:spPr>
        <p:txBody>
          <a:bodyPr/>
          <a:lstStyle/>
          <a:p>
            <a:endParaRPr lang="fr-FR"/>
          </a:p>
        </p:txBody>
      </p:sp>
      <p:pic>
        <p:nvPicPr>
          <p:cNvPr id="26" name="A2_393" descr="preencoded.png"/>
          <p:cNvPicPr>
            <a:picLocks noChangeAspect="1"/>
          </p:cNvPicPr>
          <p:nvPr/>
        </p:nvPicPr>
        <p:blipFill>
          <a:blip r:embed="rId4"/>
          <a:stretch>
            <a:fillRect/>
          </a:stretch>
        </p:blipFill>
        <p:spPr>
          <a:xfrm>
            <a:off x="907085" y="2187245"/>
            <a:ext cx="380390" cy="380390"/>
          </a:xfrm>
          <a:prstGeom prst="rect">
            <a:avLst/>
          </a:prstGeom>
        </p:spPr>
      </p:pic>
      <p:sp>
        <p:nvSpPr>
          <p:cNvPr id="27" name="A2_394"/>
          <p:cNvSpPr txBox="1"/>
          <p:nvPr/>
        </p:nvSpPr>
        <p:spPr>
          <a:xfrm>
            <a:off x="1645920" y="1993392"/>
            <a:ext cx="3200400" cy="384048"/>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Sécurité</a:t>
            </a:r>
            <a:endParaRPr lang="en-US" sz="1700" dirty="0"/>
          </a:p>
        </p:txBody>
      </p:sp>
      <p:sp>
        <p:nvSpPr>
          <p:cNvPr id="28" name="A2_395"/>
          <p:cNvSpPr txBox="1"/>
          <p:nvPr/>
        </p:nvSpPr>
        <p:spPr>
          <a:xfrm>
            <a:off x="1645920" y="2395728"/>
            <a:ext cx="3200400" cy="731520"/>
          </a:xfrm>
          <a:prstGeom prst="rect">
            <a:avLst/>
          </a:prstGeom>
          <a:noFill/>
          <a:ln/>
        </p:spPr>
        <p:txBody>
          <a:bodyPr wrap="square" lIns="0" tIns="0" rIns="0" bIns="0" rtlCol="0" anchor="t"/>
          <a:lstStyle/>
          <a:p>
            <a:pPr marL="0" indent="0">
              <a:buNone/>
            </a:pPr>
            <a:r>
              <a:rPr lang="en-US" sz="1300" dirty="0">
                <a:solidFill>
                  <a:srgbClr val="DCEAF7"/>
                </a:solidFill>
                <a:latin typeface="Arial" pitchFamily="34" charset="0"/>
                <a:ea typeface="Arial" pitchFamily="34" charset="-122"/>
                <a:cs typeface="Arial" pitchFamily="34" charset="-120"/>
              </a:rPr>
              <a:t>Connexion par jeton, rôles, mots de passe chiffrés</a:t>
            </a:r>
            <a:endParaRPr lang="en-US" sz="1300" dirty="0"/>
          </a:p>
        </p:txBody>
      </p:sp>
      <p:sp>
        <p:nvSpPr>
          <p:cNvPr id="29" name="A3_396"/>
          <p:cNvSpPr/>
          <p:nvPr/>
        </p:nvSpPr>
        <p:spPr>
          <a:xfrm>
            <a:off x="5074920" y="2011680"/>
            <a:ext cx="731520" cy="731520"/>
          </a:xfrm>
          <a:prstGeom prst="ellipse">
            <a:avLst/>
          </a:prstGeom>
          <a:solidFill>
            <a:srgbClr val="FFFFFF"/>
          </a:solidFill>
          <a:ln w="12700">
            <a:solidFill>
              <a:srgbClr val="FFFFFF"/>
            </a:solidFill>
            <a:prstDash val="solid"/>
          </a:ln>
        </p:spPr>
        <p:txBody>
          <a:bodyPr/>
          <a:lstStyle/>
          <a:p>
            <a:endParaRPr lang="fr-FR"/>
          </a:p>
        </p:txBody>
      </p:sp>
      <p:pic>
        <p:nvPicPr>
          <p:cNvPr id="30" name="A3_397" descr="preencoded.png"/>
          <p:cNvPicPr>
            <a:picLocks noChangeAspect="1"/>
          </p:cNvPicPr>
          <p:nvPr/>
        </p:nvPicPr>
        <p:blipFill>
          <a:blip r:embed="rId5"/>
          <a:stretch>
            <a:fillRect/>
          </a:stretch>
        </p:blipFill>
        <p:spPr>
          <a:xfrm>
            <a:off x="5250485" y="2187245"/>
            <a:ext cx="380390" cy="380390"/>
          </a:xfrm>
          <a:prstGeom prst="rect">
            <a:avLst/>
          </a:prstGeom>
        </p:spPr>
      </p:pic>
      <p:sp>
        <p:nvSpPr>
          <p:cNvPr id="31" name="A3_398"/>
          <p:cNvSpPr txBox="1"/>
          <p:nvPr/>
        </p:nvSpPr>
        <p:spPr>
          <a:xfrm>
            <a:off x="5989320" y="1993392"/>
            <a:ext cx="3200400" cy="384048"/>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Disponibilité</a:t>
            </a:r>
            <a:endParaRPr lang="en-US" sz="1700" dirty="0"/>
          </a:p>
        </p:txBody>
      </p:sp>
      <p:sp>
        <p:nvSpPr>
          <p:cNvPr id="32" name="A3_399"/>
          <p:cNvSpPr txBox="1"/>
          <p:nvPr/>
        </p:nvSpPr>
        <p:spPr>
          <a:xfrm>
            <a:off x="5989320" y="2395728"/>
            <a:ext cx="3200400" cy="731520"/>
          </a:xfrm>
          <a:prstGeom prst="rect">
            <a:avLst/>
          </a:prstGeom>
          <a:noFill/>
          <a:ln/>
        </p:spPr>
        <p:txBody>
          <a:bodyPr wrap="square" lIns="0" tIns="0" rIns="0" bIns="0" rtlCol="0" anchor="t"/>
          <a:lstStyle/>
          <a:p>
            <a:pPr marL="0" indent="0">
              <a:buNone/>
            </a:pPr>
            <a:r>
              <a:rPr lang="en-US" sz="1300" dirty="0">
                <a:solidFill>
                  <a:srgbClr val="DCEAF7"/>
                </a:solidFill>
                <a:latin typeface="Arial" pitchFamily="34" charset="0"/>
                <a:ea typeface="Arial" pitchFamily="34" charset="-122"/>
                <a:cs typeface="Arial" pitchFamily="34" charset="-120"/>
              </a:rPr>
              <a:t>Mode dégradé : l'IA locale prend le relais</a:t>
            </a:r>
            <a:endParaRPr lang="en-US" sz="1300" dirty="0"/>
          </a:p>
        </p:txBody>
      </p:sp>
      <p:sp>
        <p:nvSpPr>
          <p:cNvPr id="33" name="A4_400"/>
          <p:cNvSpPr/>
          <p:nvPr/>
        </p:nvSpPr>
        <p:spPr>
          <a:xfrm>
            <a:off x="731520" y="3749040"/>
            <a:ext cx="731520" cy="731520"/>
          </a:xfrm>
          <a:prstGeom prst="ellipse">
            <a:avLst/>
          </a:prstGeom>
          <a:solidFill>
            <a:srgbClr val="FFFFFF"/>
          </a:solidFill>
          <a:ln w="12700">
            <a:solidFill>
              <a:srgbClr val="FFFFFF"/>
            </a:solidFill>
            <a:prstDash val="solid"/>
          </a:ln>
        </p:spPr>
        <p:txBody>
          <a:bodyPr/>
          <a:lstStyle/>
          <a:p>
            <a:endParaRPr lang="fr-FR"/>
          </a:p>
        </p:txBody>
      </p:sp>
      <p:pic>
        <p:nvPicPr>
          <p:cNvPr id="34" name="A4_401" descr="preencoded.png"/>
          <p:cNvPicPr>
            <a:picLocks noChangeAspect="1"/>
          </p:cNvPicPr>
          <p:nvPr/>
        </p:nvPicPr>
        <p:blipFill>
          <a:blip r:embed="rId6"/>
          <a:stretch>
            <a:fillRect/>
          </a:stretch>
        </p:blipFill>
        <p:spPr>
          <a:xfrm>
            <a:off x="907085" y="3924605"/>
            <a:ext cx="380390" cy="380390"/>
          </a:xfrm>
          <a:prstGeom prst="rect">
            <a:avLst/>
          </a:prstGeom>
        </p:spPr>
      </p:pic>
      <p:sp>
        <p:nvSpPr>
          <p:cNvPr id="35" name="A4_402"/>
          <p:cNvSpPr txBox="1"/>
          <p:nvPr/>
        </p:nvSpPr>
        <p:spPr>
          <a:xfrm>
            <a:off x="1645920" y="3730752"/>
            <a:ext cx="3200400" cy="384048"/>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Performance</a:t>
            </a:r>
            <a:endParaRPr lang="en-US" sz="1700" dirty="0"/>
          </a:p>
        </p:txBody>
      </p:sp>
      <p:sp>
        <p:nvSpPr>
          <p:cNvPr id="36" name="A4_403"/>
          <p:cNvSpPr txBox="1"/>
          <p:nvPr/>
        </p:nvSpPr>
        <p:spPr>
          <a:xfrm>
            <a:off x="1645920" y="4133088"/>
            <a:ext cx="3200400" cy="731520"/>
          </a:xfrm>
          <a:prstGeom prst="rect">
            <a:avLst/>
          </a:prstGeom>
          <a:noFill/>
          <a:ln/>
        </p:spPr>
        <p:txBody>
          <a:bodyPr wrap="square" lIns="0" tIns="0" rIns="0" bIns="0" rtlCol="0" anchor="t"/>
          <a:lstStyle/>
          <a:p>
            <a:pPr marL="0" indent="0">
              <a:buNone/>
            </a:pPr>
            <a:r>
              <a:rPr lang="en-US" sz="1300" dirty="0">
                <a:solidFill>
                  <a:srgbClr val="DCEAF7"/>
                </a:solidFill>
                <a:latin typeface="Arial" pitchFamily="34" charset="0"/>
                <a:ea typeface="Arial" pitchFamily="34" charset="-122"/>
                <a:cs typeface="Arial" pitchFamily="34" charset="-120"/>
              </a:rPr>
              <a:t>Traitements longs exécutés en arrière-plan</a:t>
            </a:r>
            <a:endParaRPr lang="en-US" sz="1300" dirty="0"/>
          </a:p>
        </p:txBody>
      </p:sp>
      <p:sp>
        <p:nvSpPr>
          <p:cNvPr id="37" name="A5_404"/>
          <p:cNvSpPr/>
          <p:nvPr/>
        </p:nvSpPr>
        <p:spPr>
          <a:xfrm>
            <a:off x="5074920" y="3749040"/>
            <a:ext cx="731520" cy="731520"/>
          </a:xfrm>
          <a:prstGeom prst="ellipse">
            <a:avLst/>
          </a:prstGeom>
          <a:solidFill>
            <a:srgbClr val="FFFFFF"/>
          </a:solidFill>
          <a:ln w="12700">
            <a:solidFill>
              <a:srgbClr val="FFFFFF"/>
            </a:solidFill>
            <a:prstDash val="solid"/>
          </a:ln>
        </p:spPr>
        <p:txBody>
          <a:bodyPr/>
          <a:lstStyle/>
          <a:p>
            <a:endParaRPr lang="fr-FR"/>
          </a:p>
        </p:txBody>
      </p:sp>
      <p:pic>
        <p:nvPicPr>
          <p:cNvPr id="38" name="A5_405" descr="preencoded.png"/>
          <p:cNvPicPr>
            <a:picLocks noChangeAspect="1"/>
          </p:cNvPicPr>
          <p:nvPr/>
        </p:nvPicPr>
        <p:blipFill>
          <a:blip r:embed="rId7"/>
          <a:stretch>
            <a:fillRect/>
          </a:stretch>
        </p:blipFill>
        <p:spPr>
          <a:xfrm>
            <a:off x="5250485" y="3924605"/>
            <a:ext cx="380390" cy="380390"/>
          </a:xfrm>
          <a:prstGeom prst="rect">
            <a:avLst/>
          </a:prstGeom>
        </p:spPr>
      </p:pic>
      <p:sp>
        <p:nvSpPr>
          <p:cNvPr id="39" name="A5_406"/>
          <p:cNvSpPr txBox="1"/>
          <p:nvPr/>
        </p:nvSpPr>
        <p:spPr>
          <a:xfrm>
            <a:off x="5989320" y="3730752"/>
            <a:ext cx="3200400" cy="384048"/>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Ergonomie</a:t>
            </a:r>
            <a:endParaRPr lang="en-US" sz="1700" dirty="0"/>
          </a:p>
        </p:txBody>
      </p:sp>
      <p:sp>
        <p:nvSpPr>
          <p:cNvPr id="40" name="A5_407"/>
          <p:cNvSpPr txBox="1"/>
          <p:nvPr/>
        </p:nvSpPr>
        <p:spPr>
          <a:xfrm>
            <a:off x="5989320" y="4133088"/>
            <a:ext cx="3200400" cy="731520"/>
          </a:xfrm>
          <a:prstGeom prst="rect">
            <a:avLst/>
          </a:prstGeom>
          <a:noFill/>
          <a:ln/>
        </p:spPr>
        <p:txBody>
          <a:bodyPr wrap="square" lIns="0" tIns="0" rIns="0" bIns="0" rtlCol="0" anchor="t"/>
          <a:lstStyle/>
          <a:p>
            <a:pPr marL="0" indent="0">
              <a:buNone/>
            </a:pPr>
            <a:r>
              <a:rPr lang="en-US" sz="1300" dirty="0">
                <a:solidFill>
                  <a:srgbClr val="DCEAF7"/>
                </a:solidFill>
                <a:latin typeface="Arial" pitchFamily="34" charset="0"/>
                <a:ea typeface="Arial" pitchFamily="34" charset="-122"/>
                <a:cs typeface="Arial" pitchFamily="34" charset="-120"/>
              </a:rPr>
              <a:t>Interface claire, alertes en temps réel</a:t>
            </a:r>
            <a:endParaRPr lang="en-US" sz="1300" dirty="0"/>
          </a:p>
        </p:txBody>
      </p:sp>
      <p:sp>
        <p:nvSpPr>
          <p:cNvPr id="41" name="A6_408"/>
          <p:cNvSpPr/>
          <p:nvPr/>
        </p:nvSpPr>
        <p:spPr>
          <a:xfrm>
            <a:off x="731520" y="5486400"/>
            <a:ext cx="731520" cy="731520"/>
          </a:xfrm>
          <a:prstGeom prst="ellipse">
            <a:avLst/>
          </a:prstGeom>
          <a:solidFill>
            <a:srgbClr val="FFFFFF"/>
          </a:solidFill>
          <a:ln w="12700">
            <a:solidFill>
              <a:srgbClr val="FFFFFF"/>
            </a:solidFill>
            <a:prstDash val="solid"/>
          </a:ln>
        </p:spPr>
        <p:txBody>
          <a:bodyPr/>
          <a:lstStyle/>
          <a:p>
            <a:endParaRPr lang="fr-FR"/>
          </a:p>
        </p:txBody>
      </p:sp>
      <p:pic>
        <p:nvPicPr>
          <p:cNvPr id="42" name="A6_409" descr="preencoded.png"/>
          <p:cNvPicPr>
            <a:picLocks noChangeAspect="1"/>
          </p:cNvPicPr>
          <p:nvPr/>
        </p:nvPicPr>
        <p:blipFill>
          <a:blip r:embed="rId8"/>
          <a:stretch>
            <a:fillRect/>
          </a:stretch>
        </p:blipFill>
        <p:spPr>
          <a:xfrm>
            <a:off x="907085" y="5661965"/>
            <a:ext cx="380390" cy="380390"/>
          </a:xfrm>
          <a:prstGeom prst="rect">
            <a:avLst/>
          </a:prstGeom>
        </p:spPr>
      </p:pic>
      <p:sp>
        <p:nvSpPr>
          <p:cNvPr id="43" name="A6_410"/>
          <p:cNvSpPr txBox="1"/>
          <p:nvPr/>
        </p:nvSpPr>
        <p:spPr>
          <a:xfrm>
            <a:off x="1645920" y="5468112"/>
            <a:ext cx="3200400" cy="384048"/>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Maintenabilité</a:t>
            </a:r>
            <a:endParaRPr lang="en-US" sz="1700" dirty="0"/>
          </a:p>
        </p:txBody>
      </p:sp>
      <p:sp>
        <p:nvSpPr>
          <p:cNvPr id="44" name="A6_411"/>
          <p:cNvSpPr txBox="1"/>
          <p:nvPr/>
        </p:nvSpPr>
        <p:spPr>
          <a:xfrm>
            <a:off x="1645920" y="5870448"/>
            <a:ext cx="3200400" cy="731520"/>
          </a:xfrm>
          <a:prstGeom prst="rect">
            <a:avLst/>
          </a:prstGeom>
          <a:noFill/>
          <a:ln/>
        </p:spPr>
        <p:txBody>
          <a:bodyPr wrap="square" lIns="0" tIns="0" rIns="0" bIns="0" rtlCol="0" anchor="t"/>
          <a:lstStyle/>
          <a:p>
            <a:pPr marL="0" indent="0">
              <a:buNone/>
            </a:pPr>
            <a:r>
              <a:rPr lang="en-US" sz="1300" dirty="0">
                <a:solidFill>
                  <a:srgbClr val="DCEAF7"/>
                </a:solidFill>
                <a:latin typeface="Arial" pitchFamily="34" charset="0"/>
                <a:ea typeface="Arial" pitchFamily="34" charset="-122"/>
                <a:cs typeface="Arial" pitchFamily="34" charset="-120"/>
              </a:rPr>
              <a:t>3 services indépendants et testés</a:t>
            </a:r>
            <a:endParaRPr lang="en-US" sz="1300" dirty="0"/>
          </a:p>
        </p:txBody>
      </p:sp>
      <p:sp>
        <p:nvSpPr>
          <p:cNvPr id="45" name="A7_412"/>
          <p:cNvSpPr/>
          <p:nvPr/>
        </p:nvSpPr>
        <p:spPr>
          <a:xfrm>
            <a:off x="5074920" y="5486400"/>
            <a:ext cx="731520" cy="731520"/>
          </a:xfrm>
          <a:prstGeom prst="ellipse">
            <a:avLst/>
          </a:prstGeom>
          <a:solidFill>
            <a:srgbClr val="FFFFFF"/>
          </a:solidFill>
          <a:ln w="12700">
            <a:solidFill>
              <a:srgbClr val="FFFFFF"/>
            </a:solidFill>
            <a:prstDash val="solid"/>
          </a:ln>
        </p:spPr>
        <p:txBody>
          <a:bodyPr/>
          <a:lstStyle/>
          <a:p>
            <a:endParaRPr lang="fr-FR"/>
          </a:p>
        </p:txBody>
      </p:sp>
      <p:pic>
        <p:nvPicPr>
          <p:cNvPr id="46" name="A7_413" descr="preencoded.png"/>
          <p:cNvPicPr>
            <a:picLocks noChangeAspect="1"/>
          </p:cNvPicPr>
          <p:nvPr/>
        </p:nvPicPr>
        <p:blipFill>
          <a:blip r:embed="rId9"/>
          <a:stretch>
            <a:fillRect/>
          </a:stretch>
        </p:blipFill>
        <p:spPr>
          <a:xfrm>
            <a:off x="5250485" y="5661965"/>
            <a:ext cx="380390" cy="380390"/>
          </a:xfrm>
          <a:prstGeom prst="rect">
            <a:avLst/>
          </a:prstGeom>
        </p:spPr>
      </p:pic>
      <p:sp>
        <p:nvSpPr>
          <p:cNvPr id="47" name="A7_414"/>
          <p:cNvSpPr txBox="1"/>
          <p:nvPr/>
        </p:nvSpPr>
        <p:spPr>
          <a:xfrm>
            <a:off x="5989320" y="5468112"/>
            <a:ext cx="3200400" cy="384048"/>
          </a:xfrm>
          <a:prstGeom prst="rect">
            <a:avLst/>
          </a:prstGeom>
          <a:noFill/>
          <a:ln/>
        </p:spPr>
        <p:txBody>
          <a:bodyPr wrap="square" lIns="0" tIns="0" rIns="0" bIns="0" rtlCol="0" anchor="t"/>
          <a:lstStyle/>
          <a:p>
            <a:pPr marL="0" indent="0">
              <a:buNone/>
            </a:pPr>
            <a:r>
              <a:rPr lang="en-US" sz="1700" b="1" dirty="0">
                <a:solidFill>
                  <a:srgbClr val="FFFFFF"/>
                </a:solidFill>
                <a:latin typeface="Arial" pitchFamily="34" charset="0"/>
                <a:ea typeface="Arial" pitchFamily="34" charset="-122"/>
                <a:cs typeface="Arial" pitchFamily="34" charset="-120"/>
              </a:rPr>
              <a:t>Portabilité</a:t>
            </a:r>
            <a:endParaRPr lang="en-US" sz="1700" dirty="0"/>
          </a:p>
        </p:txBody>
      </p:sp>
      <p:sp>
        <p:nvSpPr>
          <p:cNvPr id="48" name="A7_415"/>
          <p:cNvSpPr txBox="1"/>
          <p:nvPr/>
        </p:nvSpPr>
        <p:spPr>
          <a:xfrm>
            <a:off x="5989320" y="5870448"/>
            <a:ext cx="3200400" cy="731520"/>
          </a:xfrm>
          <a:prstGeom prst="rect">
            <a:avLst/>
          </a:prstGeom>
          <a:noFill/>
          <a:ln/>
        </p:spPr>
        <p:txBody>
          <a:bodyPr wrap="square" lIns="0" tIns="0" rIns="0" bIns="0" rtlCol="0" anchor="t"/>
          <a:lstStyle/>
          <a:p>
            <a:pPr marL="0" indent="0">
              <a:buNone/>
            </a:pPr>
            <a:r>
              <a:rPr lang="en-US" sz="1300" dirty="0">
                <a:solidFill>
                  <a:srgbClr val="DCEAF7"/>
                </a:solidFill>
                <a:latin typeface="Arial" pitchFamily="34" charset="0"/>
                <a:ea typeface="Arial" pitchFamily="34" charset="-122"/>
                <a:cs typeface="Arial" pitchFamily="34" charset="-120"/>
              </a:rPr>
              <a:t>Déploiement Docker en une seule commande</a:t>
            </a:r>
            <a:endParaRPr lang="en-US" sz="1300" dirty="0"/>
          </a:p>
        </p:txBody>
      </p:sp>
      <p:sp>
        <p:nvSpPr>
          <p:cNvPr id="49" name="A8_416"/>
          <p:cNvSpPr/>
          <p:nvPr/>
        </p:nvSpPr>
        <p:spPr>
          <a:xfrm>
            <a:off x="10241280" y="2240280"/>
            <a:ext cx="2651760" cy="2651760"/>
          </a:xfrm>
          <a:prstGeom prst="ellipse">
            <a:avLst/>
          </a:prstGeom>
          <a:solidFill>
            <a:srgbClr val="EAF2FA"/>
          </a:solidFill>
          <a:ln w="12700">
            <a:solidFill>
              <a:srgbClr val="EAF2FA"/>
            </a:solidFill>
            <a:prstDash val="solid"/>
          </a:ln>
        </p:spPr>
        <p:txBody>
          <a:bodyPr/>
          <a:lstStyle/>
          <a:p>
            <a:endParaRPr lang="fr-FR"/>
          </a:p>
        </p:txBody>
      </p:sp>
      <p:pic>
        <p:nvPicPr>
          <p:cNvPr id="50" name="A8_417" descr="preencoded.png"/>
          <p:cNvPicPr>
            <a:picLocks noChangeAspect="1"/>
          </p:cNvPicPr>
          <p:nvPr/>
        </p:nvPicPr>
        <p:blipFill>
          <a:blip r:embed="rId10"/>
          <a:stretch>
            <a:fillRect/>
          </a:stretch>
        </p:blipFill>
        <p:spPr>
          <a:xfrm>
            <a:off x="10877702" y="2876702"/>
            <a:ext cx="1378915" cy="1378915"/>
          </a:xfrm>
          <a:prstGeom prst="rect">
            <a:avLst/>
          </a:prstGeom>
        </p:spPr>
      </p:pic>
      <p:sp>
        <p:nvSpPr>
          <p:cNvPr id="51" name="A8_418"/>
          <p:cNvSpPr txBox="1"/>
          <p:nvPr/>
        </p:nvSpPr>
        <p:spPr>
          <a:xfrm>
            <a:off x="9692640" y="5120640"/>
            <a:ext cx="3749040" cy="411480"/>
          </a:xfrm>
          <a:prstGeom prst="rect">
            <a:avLst/>
          </a:prstGeom>
          <a:noFill/>
          <a:ln/>
        </p:spPr>
        <p:txBody>
          <a:bodyPr wrap="square" lIns="0" tIns="0" rIns="0" bIns="0" rtlCol="0" anchor="t"/>
          <a:lstStyle/>
          <a:p>
            <a:pPr marL="0" indent="0" algn="ctr">
              <a:buNone/>
            </a:pPr>
            <a:r>
              <a:rPr lang="en-US" sz="1800" b="1" dirty="0">
                <a:solidFill>
                  <a:srgbClr val="0B3C66"/>
                </a:solidFill>
                <a:latin typeface="Arial" pitchFamily="34" charset="0"/>
                <a:ea typeface="Arial" pitchFamily="34" charset="-122"/>
                <a:cs typeface="Arial" pitchFamily="34" charset="-120"/>
              </a:rPr>
              <a:t>Sécurité dès la conception</a:t>
            </a:r>
            <a:endParaRPr lang="en-US" sz="1800" dirty="0"/>
          </a:p>
        </p:txBody>
      </p:sp>
      <p:sp>
        <p:nvSpPr>
          <p:cNvPr id="52" name="A8_419"/>
          <p:cNvSpPr txBox="1"/>
          <p:nvPr/>
        </p:nvSpPr>
        <p:spPr>
          <a:xfrm>
            <a:off x="9692640" y="5577840"/>
            <a:ext cx="3749040" cy="731520"/>
          </a:xfrm>
          <a:prstGeom prst="rect">
            <a:avLst/>
          </a:prstGeom>
          <a:noFill/>
          <a:ln/>
        </p:spPr>
        <p:txBody>
          <a:bodyPr wrap="square" lIns="0" tIns="0" rIns="0" bIns="0" rtlCol="0" anchor="t"/>
          <a:lstStyle/>
          <a:p>
            <a:pPr marL="0" indent="0" algn="ctr">
              <a:buNone/>
            </a:pPr>
            <a:r>
              <a:rPr lang="en-US" sz="1400" dirty="0">
                <a:solidFill>
                  <a:srgbClr val="595959"/>
                </a:solidFill>
                <a:latin typeface="Arial" pitchFamily="34" charset="0"/>
                <a:ea typeface="Arial" pitchFamily="34" charset="-122"/>
                <a:cs typeface="Arial" pitchFamily="34" charset="-120"/>
              </a:rPr>
              <a:t>Un outil DevSecOps doit lui-même être exemplaire</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500"/>
                                        <p:tgtEl>
                                          <p:spTgt spid="25"/>
                                        </p:tgtEl>
                                      </p:cBhvr>
                                    </p:animEffect>
                                  </p:childTnLst>
                                </p:cTn>
                              </p:par>
                              <p:par>
                                <p:cTn id="12" presetID="10" presetClass="entr" presetSubtype="0" fill="hold"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fade">
                                      <p:cBhvr>
                                        <p:cTn id="14" dur="500"/>
                                        <p:tgtEl>
                                          <p:spTgt spid="2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childTnLst>
                          </p:cTn>
                        </p:par>
                        <p:par>
                          <p:cTn id="21" fill="hold">
                            <p:stCondLst>
                              <p:cond delay="700"/>
                            </p:stCondLst>
                            <p:childTnLst>
                              <p:par>
                                <p:cTn id="22" presetID="10" presetClass="entr" presetSubtype="0" fill="hold" grpId="0" nodeType="after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childTnLst>
                                </p:cTn>
                              </p:par>
                              <p:par>
                                <p:cTn id="25" presetID="10" presetClass="entr" presetSubtype="0" fill="hold"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500"/>
                                        <p:tgtEl>
                                          <p:spTgt spid="3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500"/>
                                        <p:tgtEl>
                                          <p:spTgt spid="3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childTnLst>
                          </p:cTn>
                        </p:par>
                        <p:par>
                          <p:cTn id="47" fill="hold">
                            <p:stCondLst>
                              <p:cond delay="1400"/>
                            </p:stCondLst>
                            <p:childTnLst>
                              <p:par>
                                <p:cTn id="48" presetID="10" presetClass="entr" presetSubtype="0" fill="hold" grpId="0" nodeType="after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500"/>
                                        <p:tgtEl>
                                          <p:spTgt spid="37"/>
                                        </p:tgtEl>
                                      </p:cBhvr>
                                    </p:animEffect>
                                  </p:childTnLst>
                                </p:cTn>
                              </p:par>
                              <p:par>
                                <p:cTn id="51" presetID="10"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9"/>
                                        </p:tgtEl>
                                        <p:attrNameLst>
                                          <p:attrName>style.visibility</p:attrName>
                                        </p:attrNameLst>
                                      </p:cBhvr>
                                      <p:to>
                                        <p:strVal val="visible"/>
                                      </p:to>
                                    </p:set>
                                    <p:animEffect transition="in" filter="fade">
                                      <p:cBhvr>
                                        <p:cTn id="56" dur="500"/>
                                        <p:tgtEl>
                                          <p:spTgt spid="3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animEffect transition="in" filter="fade">
                                      <p:cBhvr>
                                        <p:cTn id="59" dur="500"/>
                                        <p:tgtEl>
                                          <p:spTgt spid="40"/>
                                        </p:tgtEl>
                                      </p:cBhvr>
                                    </p:animEffect>
                                  </p:childTnLst>
                                </p:cTn>
                              </p:par>
                            </p:childTnLst>
                          </p:cTn>
                        </p:par>
                        <p:par>
                          <p:cTn id="60" fill="hold">
                            <p:stCondLst>
                              <p:cond delay="1750"/>
                            </p:stCondLst>
                            <p:childTnLst>
                              <p:par>
                                <p:cTn id="61" presetID="10" presetClass="entr" presetSubtype="0" fill="hold" grpId="0" nodeType="after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500"/>
                                        <p:tgtEl>
                                          <p:spTgt spid="41"/>
                                        </p:tgtEl>
                                      </p:cBhvr>
                                    </p:animEffect>
                                  </p:childTnLst>
                                </p:cTn>
                              </p:par>
                              <p:par>
                                <p:cTn id="64" presetID="10" presetClass="entr" presetSubtype="0" fill="hold" nodeType="withEffect">
                                  <p:stCondLst>
                                    <p:cond delay="0"/>
                                  </p:stCondLst>
                                  <p:childTnLst>
                                    <p:set>
                                      <p:cBhvr>
                                        <p:cTn id="65" dur="1" fill="hold">
                                          <p:stCondLst>
                                            <p:cond delay="0"/>
                                          </p:stCondLst>
                                        </p:cTn>
                                        <p:tgtEl>
                                          <p:spTgt spid="42"/>
                                        </p:tgtEl>
                                        <p:attrNameLst>
                                          <p:attrName>style.visibility</p:attrName>
                                        </p:attrNameLst>
                                      </p:cBhvr>
                                      <p:to>
                                        <p:strVal val="visible"/>
                                      </p:to>
                                    </p:set>
                                    <p:animEffect transition="in" filter="fade">
                                      <p:cBhvr>
                                        <p:cTn id="66" dur="500"/>
                                        <p:tgtEl>
                                          <p:spTgt spid="4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3"/>
                                        </p:tgtEl>
                                        <p:attrNameLst>
                                          <p:attrName>style.visibility</p:attrName>
                                        </p:attrNameLst>
                                      </p:cBhvr>
                                      <p:to>
                                        <p:strVal val="visible"/>
                                      </p:to>
                                    </p:set>
                                    <p:animEffect transition="in" filter="fade">
                                      <p:cBhvr>
                                        <p:cTn id="69" dur="500"/>
                                        <p:tgtEl>
                                          <p:spTgt spid="4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500"/>
                                        <p:tgtEl>
                                          <p:spTgt spid="44"/>
                                        </p:tgtEl>
                                      </p:cBhvr>
                                    </p:animEffect>
                                  </p:childTnLst>
                                </p:cTn>
                              </p:par>
                            </p:childTnLst>
                          </p:cTn>
                        </p:par>
                        <p:par>
                          <p:cTn id="73" fill="hold">
                            <p:stCondLst>
                              <p:cond delay="2100"/>
                            </p:stCondLst>
                            <p:childTnLst>
                              <p:par>
                                <p:cTn id="74" presetID="10" presetClass="entr" presetSubtype="0" fill="hold" grpId="0" nodeType="afterEffect">
                                  <p:stCondLst>
                                    <p:cond delay="0"/>
                                  </p:stCondLst>
                                  <p:childTnLst>
                                    <p:set>
                                      <p:cBhvr>
                                        <p:cTn id="75" dur="1" fill="hold">
                                          <p:stCondLst>
                                            <p:cond delay="0"/>
                                          </p:stCondLst>
                                        </p:cTn>
                                        <p:tgtEl>
                                          <p:spTgt spid="45"/>
                                        </p:tgtEl>
                                        <p:attrNameLst>
                                          <p:attrName>style.visibility</p:attrName>
                                        </p:attrNameLst>
                                      </p:cBhvr>
                                      <p:to>
                                        <p:strVal val="visible"/>
                                      </p:to>
                                    </p:set>
                                    <p:animEffect transition="in" filter="fade">
                                      <p:cBhvr>
                                        <p:cTn id="76" dur="500"/>
                                        <p:tgtEl>
                                          <p:spTgt spid="45"/>
                                        </p:tgtEl>
                                      </p:cBhvr>
                                    </p:animEffect>
                                  </p:childTnLst>
                                </p:cTn>
                              </p:par>
                              <p:par>
                                <p:cTn id="77" presetID="10" presetClass="entr" presetSubtype="0" fill="hold" nodeType="withEffect">
                                  <p:stCondLst>
                                    <p:cond delay="0"/>
                                  </p:stCondLst>
                                  <p:childTnLst>
                                    <p:set>
                                      <p:cBhvr>
                                        <p:cTn id="78" dur="1" fill="hold">
                                          <p:stCondLst>
                                            <p:cond delay="0"/>
                                          </p:stCondLst>
                                        </p:cTn>
                                        <p:tgtEl>
                                          <p:spTgt spid="46"/>
                                        </p:tgtEl>
                                        <p:attrNameLst>
                                          <p:attrName>style.visibility</p:attrName>
                                        </p:attrNameLst>
                                      </p:cBhvr>
                                      <p:to>
                                        <p:strVal val="visible"/>
                                      </p:to>
                                    </p:set>
                                    <p:animEffect transition="in" filter="fade">
                                      <p:cBhvr>
                                        <p:cTn id="79" dur="500"/>
                                        <p:tgtEl>
                                          <p:spTgt spid="4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7"/>
                                        </p:tgtEl>
                                        <p:attrNameLst>
                                          <p:attrName>style.visibility</p:attrName>
                                        </p:attrNameLst>
                                      </p:cBhvr>
                                      <p:to>
                                        <p:strVal val="visible"/>
                                      </p:to>
                                    </p:set>
                                    <p:animEffect transition="in" filter="fade">
                                      <p:cBhvr>
                                        <p:cTn id="82" dur="500"/>
                                        <p:tgtEl>
                                          <p:spTgt spid="4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8"/>
                                        </p:tgtEl>
                                        <p:attrNameLst>
                                          <p:attrName>style.visibility</p:attrName>
                                        </p:attrNameLst>
                                      </p:cBhvr>
                                      <p:to>
                                        <p:strVal val="visible"/>
                                      </p:to>
                                    </p:set>
                                    <p:animEffect transition="in" filter="fade">
                                      <p:cBhvr>
                                        <p:cTn id="85" dur="500"/>
                                        <p:tgtEl>
                                          <p:spTgt spid="48"/>
                                        </p:tgtEl>
                                      </p:cBhvr>
                                    </p:animEffect>
                                  </p:childTnLst>
                                </p:cTn>
                              </p:par>
                            </p:childTnLst>
                          </p:cTn>
                        </p:par>
                        <p:par>
                          <p:cTn id="86" fill="hold">
                            <p:stCondLst>
                              <p:cond delay="2450"/>
                            </p:stCondLst>
                            <p:childTnLst>
                              <p:par>
                                <p:cTn id="87" presetID="10" presetClass="entr" presetSubtype="0" fill="hold" grpId="0" nodeType="afterEffect">
                                  <p:stCondLst>
                                    <p:cond delay="0"/>
                                  </p:stCondLst>
                                  <p:childTnLst>
                                    <p:set>
                                      <p:cBhvr>
                                        <p:cTn id="88" dur="1" fill="hold">
                                          <p:stCondLst>
                                            <p:cond delay="0"/>
                                          </p:stCondLst>
                                        </p:cTn>
                                        <p:tgtEl>
                                          <p:spTgt spid="49"/>
                                        </p:tgtEl>
                                        <p:attrNameLst>
                                          <p:attrName>style.visibility</p:attrName>
                                        </p:attrNameLst>
                                      </p:cBhvr>
                                      <p:to>
                                        <p:strVal val="visible"/>
                                      </p:to>
                                    </p:set>
                                    <p:animEffect transition="in" filter="fade">
                                      <p:cBhvr>
                                        <p:cTn id="89" dur="500"/>
                                        <p:tgtEl>
                                          <p:spTgt spid="49"/>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1"/>
                                        </p:tgtEl>
                                        <p:attrNameLst>
                                          <p:attrName>style.visibility</p:attrName>
                                        </p:attrNameLst>
                                      </p:cBhvr>
                                      <p:to>
                                        <p:strVal val="visible"/>
                                      </p:to>
                                    </p:set>
                                    <p:animEffect transition="in" filter="fade">
                                      <p:cBhvr>
                                        <p:cTn id="95" dur="500"/>
                                        <p:tgtEl>
                                          <p:spTgt spid="5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2"/>
                                        </p:tgtEl>
                                        <p:attrNameLst>
                                          <p:attrName>style.visibility</p:attrName>
                                        </p:attrNameLst>
                                      </p:cBhvr>
                                      <p:to>
                                        <p:strVal val="visible"/>
                                      </p:to>
                                    </p:set>
                                    <p:animEffect transition="in" filter="fade">
                                      <p:cBhvr>
                                        <p:cTn id="98"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7" grpId="0" animBg="1"/>
      <p:bldP spid="28" grpId="0" animBg="1"/>
      <p:bldP spid="29" grpId="0" animBg="1"/>
      <p:bldP spid="31" grpId="0" animBg="1"/>
      <p:bldP spid="32" grpId="0" animBg="1"/>
      <p:bldP spid="33" grpId="0" animBg="1"/>
      <p:bldP spid="35" grpId="0" animBg="1"/>
      <p:bldP spid="36" grpId="0" animBg="1"/>
      <p:bldP spid="37" grpId="0" animBg="1"/>
      <p:bldP spid="39" grpId="0" animBg="1"/>
      <p:bldP spid="40" grpId="0" animBg="1"/>
      <p:bldP spid="41" grpId="0" animBg="1"/>
      <p:bldP spid="43" grpId="0" animBg="1"/>
      <p:bldP spid="44" grpId="0" animBg="1"/>
      <p:bldP spid="45" grpId="0" animBg="1"/>
      <p:bldP spid="47" grpId="0" animBg="1"/>
      <p:bldP spid="48" grpId="0" animBg="1"/>
      <p:bldP spid="49" grpId="0" animBg="1"/>
      <p:bldP spid="51" grpId="0" animBg="1"/>
      <p:bldP spid="5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A0_420" descr="preencoded.png"/>
          <p:cNvPicPr>
            <a:picLocks noChangeAspect="1"/>
          </p:cNvPicPr>
          <p:nvPr/>
        </p:nvPicPr>
        <p:blipFill>
          <a:blip r:embed="rId3"/>
          <a:stretch>
            <a:fillRect/>
          </a:stretch>
        </p:blipFill>
        <p:spPr>
          <a:xfrm>
            <a:off x="0" y="0"/>
            <a:ext cx="14287500" cy="8058150"/>
          </a:xfrm>
          <a:prstGeom prst="rect">
            <a:avLst/>
          </a:prstGeom>
        </p:spPr>
      </p:pic>
      <p:sp>
        <p:nvSpPr>
          <p:cNvPr id="4" name="A1_421"/>
          <p:cNvSpPr txBox="1"/>
          <p:nvPr/>
        </p:nvSpPr>
        <p:spPr>
          <a:xfrm>
            <a:off x="411480" y="4135755"/>
            <a:ext cx="4301490" cy="2301240"/>
          </a:xfrm>
          <a:prstGeom prst="rect">
            <a:avLst/>
          </a:prstGeom>
          <a:noFill/>
          <a:ln/>
        </p:spPr>
        <p:txBody>
          <a:bodyPr wrap="square" lIns="0" tIns="0" rIns="0" bIns="0" rtlCol="0" anchor="ctr"/>
          <a:lstStyle/>
          <a:p>
            <a:pPr marL="0" indent="0" algn="r">
              <a:spcAft>
                <a:spcPts val="400"/>
              </a:spcAft>
              <a:buNone/>
            </a:pPr>
            <a:r>
              <a:rPr lang="en-US" sz="1500" dirty="0">
                <a:solidFill>
                  <a:srgbClr val="CFE3F5"/>
                </a:solidFill>
                <a:latin typeface="Arial" pitchFamily="34" charset="0"/>
                <a:ea typeface="Arial" pitchFamily="34" charset="-122"/>
                <a:cs typeface="Arial" pitchFamily="34" charset="-120"/>
              </a:rPr>
              <a:t>Partie 03</a:t>
            </a:r>
            <a:endParaRPr lang="en-US" sz="1400" dirty="0"/>
          </a:p>
          <a:p>
            <a:pPr marL="0" indent="0" algn="r">
              <a:spcAft>
                <a:spcPts val="400"/>
              </a:spcAft>
              <a:buNone/>
            </a:pPr>
            <a:r>
              <a:rPr lang="en-US" sz="3000" b="1" dirty="0">
                <a:solidFill>
                  <a:srgbClr val="FFFFFF"/>
                </a:solidFill>
                <a:latin typeface="Arial" pitchFamily="34" charset="0"/>
                <a:ea typeface="Arial" pitchFamily="34" charset="-122"/>
                <a:cs typeface="Arial" pitchFamily="34" charset="-120"/>
              </a:rPr>
              <a:t>Conception</a:t>
            </a:r>
            <a:endParaRPr lang="en-US" sz="1400"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3" name="A0_422"/>
          <p:cNvSpPr/>
          <p:nvPr/>
        </p:nvSpPr>
        <p:spPr>
          <a:xfrm>
            <a:off x="6800850" y="274320"/>
            <a:ext cx="109728" cy="109728"/>
          </a:xfrm>
          <a:prstGeom prst="rect">
            <a:avLst/>
          </a:prstGeom>
          <a:solidFill>
            <a:srgbClr val="0A6EBD"/>
          </a:solidFill>
          <a:ln w="12700">
            <a:solidFill>
              <a:srgbClr val="0A6EBD"/>
            </a:solidFill>
            <a:prstDash val="solid"/>
          </a:ln>
        </p:spPr>
      </p:sp>
      <p:sp>
        <p:nvSpPr>
          <p:cNvPr id="4" name="A0_423"/>
          <p:cNvSpPr/>
          <p:nvPr/>
        </p:nvSpPr>
        <p:spPr>
          <a:xfrm>
            <a:off x="6992874" y="274320"/>
            <a:ext cx="109728" cy="109728"/>
          </a:xfrm>
          <a:prstGeom prst="rect">
            <a:avLst/>
          </a:prstGeom>
          <a:solidFill>
            <a:srgbClr val="0A6EBD"/>
          </a:solidFill>
          <a:ln w="12700">
            <a:solidFill>
              <a:srgbClr val="0A6EBD"/>
            </a:solidFill>
            <a:prstDash val="solid"/>
          </a:ln>
        </p:spPr>
      </p:sp>
      <p:sp>
        <p:nvSpPr>
          <p:cNvPr id="5" name="A0_424"/>
          <p:cNvSpPr/>
          <p:nvPr/>
        </p:nvSpPr>
        <p:spPr>
          <a:xfrm>
            <a:off x="7184898" y="274320"/>
            <a:ext cx="109728" cy="109728"/>
          </a:xfrm>
          <a:prstGeom prst="rect">
            <a:avLst/>
          </a:prstGeom>
          <a:solidFill>
            <a:srgbClr val="0A6EBD"/>
          </a:solidFill>
          <a:ln w="12700">
            <a:solidFill>
              <a:srgbClr val="0A6EBD"/>
            </a:solidFill>
            <a:prstDash val="solid"/>
          </a:ln>
        </p:spPr>
      </p:sp>
      <p:sp>
        <p:nvSpPr>
          <p:cNvPr id="6" name="A0_425"/>
          <p:cNvSpPr/>
          <p:nvPr/>
        </p:nvSpPr>
        <p:spPr>
          <a:xfrm>
            <a:off x="7376922" y="274320"/>
            <a:ext cx="109728" cy="109728"/>
          </a:xfrm>
          <a:prstGeom prst="rect">
            <a:avLst/>
          </a:prstGeom>
          <a:solidFill>
            <a:srgbClr val="0A6EBD"/>
          </a:solidFill>
          <a:ln w="12700">
            <a:solidFill>
              <a:srgbClr val="0A6EBD"/>
            </a:solidFill>
            <a:prstDash val="solid"/>
          </a:ln>
        </p:spPr>
      </p:sp>
      <p:sp>
        <p:nvSpPr>
          <p:cNvPr id="7" name="A0_426"/>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Diagramme de cas d'utilisation global</a:t>
            </a:r>
            <a:endParaRPr lang="en-US" sz="3600" dirty="0"/>
          </a:p>
        </p:txBody>
      </p:sp>
      <p:pic>
        <p:nvPicPr>
          <p:cNvPr id="8" name="A0_427"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441"/>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442"/>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14</a:t>
            </a:r>
            <a:endParaRPr lang="en-US" sz="1500" dirty="0"/>
          </a:p>
        </p:txBody>
      </p:sp>
      <p:sp>
        <p:nvSpPr>
          <p:cNvPr id="24" name="A1_443"/>
          <p:cNvSpPr/>
          <p:nvPr/>
        </p:nvSpPr>
        <p:spPr>
          <a:xfrm>
            <a:off x="3246120" y="1481328"/>
            <a:ext cx="8001000" cy="5760720"/>
          </a:xfrm>
          <a:prstGeom prst="rect">
            <a:avLst/>
          </a:prstGeom>
          <a:solidFill>
            <a:srgbClr val="F7FAFD"/>
          </a:solidFill>
          <a:ln w="15875">
            <a:solidFill>
              <a:srgbClr val="0B3C66"/>
            </a:solidFill>
            <a:prstDash val="solid"/>
          </a:ln>
        </p:spPr>
        <p:txBody>
          <a:bodyPr/>
          <a:lstStyle/>
          <a:p>
            <a:endParaRPr lang="fr-FR"/>
          </a:p>
        </p:txBody>
      </p:sp>
      <p:sp>
        <p:nvSpPr>
          <p:cNvPr id="25" name="A1_444"/>
          <p:cNvSpPr txBox="1"/>
          <p:nvPr/>
        </p:nvSpPr>
        <p:spPr>
          <a:xfrm>
            <a:off x="7452360" y="1572768"/>
            <a:ext cx="3657600" cy="320040"/>
          </a:xfrm>
          <a:prstGeom prst="rect">
            <a:avLst/>
          </a:prstGeom>
          <a:noFill/>
          <a:ln/>
        </p:spPr>
        <p:txBody>
          <a:bodyPr wrap="square" lIns="0" tIns="0" rIns="0" bIns="0" rtlCol="0" anchor="t"/>
          <a:lstStyle/>
          <a:p>
            <a:pPr marL="0" indent="0" algn="r">
              <a:buNone/>
            </a:pPr>
            <a:r>
              <a:rPr lang="en-US" sz="1300" b="1" dirty="0">
                <a:solidFill>
                  <a:srgbClr val="0B3C66"/>
                </a:solidFill>
                <a:latin typeface="Arial" pitchFamily="34" charset="0"/>
                <a:ea typeface="Arial" pitchFamily="34" charset="-122"/>
                <a:cs typeface="Arial" pitchFamily="34" charset="-120"/>
              </a:rPr>
              <a:t>Assistant DevSecOps</a:t>
            </a:r>
            <a:endParaRPr lang="en-US" sz="1300" dirty="0"/>
          </a:p>
        </p:txBody>
      </p:sp>
      <p:sp>
        <p:nvSpPr>
          <p:cNvPr id="26" name="A2_445"/>
          <p:cNvSpPr/>
          <p:nvPr/>
        </p:nvSpPr>
        <p:spPr>
          <a:xfrm>
            <a:off x="3749040" y="1645920"/>
            <a:ext cx="3566160" cy="530352"/>
          </a:xfrm>
          <a:prstGeom prst="ellipse">
            <a:avLst/>
          </a:prstGeom>
          <a:solidFill>
            <a:srgbClr val="FFFFFF"/>
          </a:solidFill>
          <a:ln w="15875">
            <a:solidFill>
              <a:srgbClr val="0A6EBD"/>
            </a:solidFill>
            <a:prstDash val="solid"/>
          </a:ln>
        </p:spPr>
        <p:txBody>
          <a:bodyPr/>
          <a:lstStyle/>
          <a:p>
            <a:endParaRPr lang="fr-FR"/>
          </a:p>
        </p:txBody>
      </p:sp>
      <p:sp>
        <p:nvSpPr>
          <p:cNvPr id="27" name="A2_446"/>
          <p:cNvSpPr txBox="1"/>
          <p:nvPr/>
        </p:nvSpPr>
        <p:spPr>
          <a:xfrm>
            <a:off x="3931920" y="1645920"/>
            <a:ext cx="3200400" cy="530352"/>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Consulter le tableau de bord</a:t>
            </a:r>
            <a:endParaRPr lang="en-US" sz="1200" dirty="0"/>
          </a:p>
        </p:txBody>
      </p:sp>
      <p:sp>
        <p:nvSpPr>
          <p:cNvPr id="28" name="A2_447"/>
          <p:cNvSpPr/>
          <p:nvPr/>
        </p:nvSpPr>
        <p:spPr>
          <a:xfrm>
            <a:off x="3749040" y="2304288"/>
            <a:ext cx="3566160" cy="530352"/>
          </a:xfrm>
          <a:prstGeom prst="ellipse">
            <a:avLst/>
          </a:prstGeom>
          <a:solidFill>
            <a:srgbClr val="FFFFFF"/>
          </a:solidFill>
          <a:ln w="15875">
            <a:solidFill>
              <a:srgbClr val="0A6EBD"/>
            </a:solidFill>
            <a:prstDash val="solid"/>
          </a:ln>
        </p:spPr>
        <p:txBody>
          <a:bodyPr/>
          <a:lstStyle/>
          <a:p>
            <a:endParaRPr lang="fr-FR"/>
          </a:p>
        </p:txBody>
      </p:sp>
      <p:sp>
        <p:nvSpPr>
          <p:cNvPr id="29" name="A2_448"/>
          <p:cNvSpPr txBox="1"/>
          <p:nvPr/>
        </p:nvSpPr>
        <p:spPr>
          <a:xfrm>
            <a:off x="3931920" y="2304288"/>
            <a:ext cx="3200400" cy="530352"/>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Analyser les logs et anomalies</a:t>
            </a:r>
            <a:endParaRPr lang="en-US" sz="1200" dirty="0"/>
          </a:p>
        </p:txBody>
      </p:sp>
      <p:sp>
        <p:nvSpPr>
          <p:cNvPr id="30" name="A2_449"/>
          <p:cNvSpPr/>
          <p:nvPr/>
        </p:nvSpPr>
        <p:spPr>
          <a:xfrm>
            <a:off x="3749040" y="2962656"/>
            <a:ext cx="3566160" cy="530352"/>
          </a:xfrm>
          <a:prstGeom prst="ellipse">
            <a:avLst/>
          </a:prstGeom>
          <a:solidFill>
            <a:srgbClr val="FFFFFF"/>
          </a:solidFill>
          <a:ln w="15875">
            <a:solidFill>
              <a:srgbClr val="0A6EBD"/>
            </a:solidFill>
            <a:prstDash val="solid"/>
          </a:ln>
        </p:spPr>
        <p:txBody>
          <a:bodyPr/>
          <a:lstStyle/>
          <a:p>
            <a:endParaRPr lang="fr-FR"/>
          </a:p>
        </p:txBody>
      </p:sp>
      <p:sp>
        <p:nvSpPr>
          <p:cNvPr id="31" name="A2_450"/>
          <p:cNvSpPr txBox="1"/>
          <p:nvPr/>
        </p:nvSpPr>
        <p:spPr>
          <a:xfrm>
            <a:off x="3931920" y="2962656"/>
            <a:ext cx="3200400" cy="530352"/>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Gérer les tests</a:t>
            </a:r>
            <a:endParaRPr lang="en-US" sz="1200" dirty="0"/>
          </a:p>
        </p:txBody>
      </p:sp>
      <p:sp>
        <p:nvSpPr>
          <p:cNvPr id="32" name="A2_451"/>
          <p:cNvSpPr/>
          <p:nvPr/>
        </p:nvSpPr>
        <p:spPr>
          <a:xfrm>
            <a:off x="3749040" y="3621024"/>
            <a:ext cx="3566160" cy="530352"/>
          </a:xfrm>
          <a:prstGeom prst="ellipse">
            <a:avLst/>
          </a:prstGeom>
          <a:solidFill>
            <a:srgbClr val="FFFFFF"/>
          </a:solidFill>
          <a:ln w="15875">
            <a:solidFill>
              <a:srgbClr val="0A6EBD"/>
            </a:solidFill>
            <a:prstDash val="solid"/>
          </a:ln>
        </p:spPr>
        <p:txBody>
          <a:bodyPr/>
          <a:lstStyle/>
          <a:p>
            <a:endParaRPr lang="fr-FR"/>
          </a:p>
        </p:txBody>
      </p:sp>
      <p:sp>
        <p:nvSpPr>
          <p:cNvPr id="33" name="A2_452"/>
          <p:cNvSpPr txBox="1"/>
          <p:nvPr/>
        </p:nvSpPr>
        <p:spPr>
          <a:xfrm>
            <a:off x="3931920" y="3621024"/>
            <a:ext cx="3200400" cy="530352"/>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Utiliser l'assistant IA (explication, copilote)</a:t>
            </a:r>
            <a:endParaRPr lang="en-US" sz="1200" dirty="0"/>
          </a:p>
        </p:txBody>
      </p:sp>
      <p:sp>
        <p:nvSpPr>
          <p:cNvPr id="34" name="A2_453"/>
          <p:cNvSpPr/>
          <p:nvPr/>
        </p:nvSpPr>
        <p:spPr>
          <a:xfrm>
            <a:off x="3749040" y="4279392"/>
            <a:ext cx="3566160" cy="530352"/>
          </a:xfrm>
          <a:prstGeom prst="ellipse">
            <a:avLst/>
          </a:prstGeom>
          <a:solidFill>
            <a:srgbClr val="FFFFFF"/>
          </a:solidFill>
          <a:ln w="15875">
            <a:solidFill>
              <a:srgbClr val="0A6EBD"/>
            </a:solidFill>
            <a:prstDash val="solid"/>
          </a:ln>
        </p:spPr>
        <p:txBody>
          <a:bodyPr/>
          <a:lstStyle/>
          <a:p>
            <a:endParaRPr lang="fr-FR"/>
          </a:p>
        </p:txBody>
      </p:sp>
      <p:sp>
        <p:nvSpPr>
          <p:cNvPr id="35" name="A2_454"/>
          <p:cNvSpPr txBox="1"/>
          <p:nvPr/>
        </p:nvSpPr>
        <p:spPr>
          <a:xfrm>
            <a:off x="3931920" y="4279392"/>
            <a:ext cx="3200400" cy="530352"/>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Gérer les vulnérabilités</a:t>
            </a:r>
            <a:endParaRPr lang="en-US" sz="1200" dirty="0"/>
          </a:p>
        </p:txBody>
      </p:sp>
      <p:sp>
        <p:nvSpPr>
          <p:cNvPr id="36" name="A2_455"/>
          <p:cNvSpPr/>
          <p:nvPr/>
        </p:nvSpPr>
        <p:spPr>
          <a:xfrm>
            <a:off x="3749040" y="4937760"/>
            <a:ext cx="3566160" cy="530352"/>
          </a:xfrm>
          <a:prstGeom prst="ellipse">
            <a:avLst/>
          </a:prstGeom>
          <a:solidFill>
            <a:srgbClr val="FFFFFF"/>
          </a:solidFill>
          <a:ln w="15875">
            <a:solidFill>
              <a:srgbClr val="0A6EBD"/>
            </a:solidFill>
            <a:prstDash val="solid"/>
          </a:ln>
        </p:spPr>
        <p:txBody>
          <a:bodyPr/>
          <a:lstStyle/>
          <a:p>
            <a:endParaRPr lang="fr-FR"/>
          </a:p>
        </p:txBody>
      </p:sp>
      <p:sp>
        <p:nvSpPr>
          <p:cNvPr id="37" name="A2_456"/>
          <p:cNvSpPr txBox="1"/>
          <p:nvPr/>
        </p:nvSpPr>
        <p:spPr>
          <a:xfrm>
            <a:off x="3931920" y="4937760"/>
            <a:ext cx="3200400" cy="530352"/>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Valider une recommandation IA</a:t>
            </a:r>
            <a:endParaRPr lang="en-US" sz="1200" dirty="0"/>
          </a:p>
        </p:txBody>
      </p:sp>
      <p:sp>
        <p:nvSpPr>
          <p:cNvPr id="38" name="A2_457"/>
          <p:cNvSpPr/>
          <p:nvPr/>
        </p:nvSpPr>
        <p:spPr>
          <a:xfrm>
            <a:off x="3749040" y="5596128"/>
            <a:ext cx="3566160" cy="530352"/>
          </a:xfrm>
          <a:prstGeom prst="ellipse">
            <a:avLst/>
          </a:prstGeom>
          <a:solidFill>
            <a:srgbClr val="FFFFFF"/>
          </a:solidFill>
          <a:ln w="15875">
            <a:solidFill>
              <a:srgbClr val="0A6EBD"/>
            </a:solidFill>
            <a:prstDash val="solid"/>
          </a:ln>
        </p:spPr>
        <p:txBody>
          <a:bodyPr/>
          <a:lstStyle/>
          <a:p>
            <a:endParaRPr lang="fr-FR"/>
          </a:p>
        </p:txBody>
      </p:sp>
      <p:sp>
        <p:nvSpPr>
          <p:cNvPr id="39" name="A2_458"/>
          <p:cNvSpPr txBox="1"/>
          <p:nvPr/>
        </p:nvSpPr>
        <p:spPr>
          <a:xfrm>
            <a:off x="3931920" y="5596128"/>
            <a:ext cx="3200400" cy="530352"/>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Consulter le journal d'audit</a:t>
            </a:r>
            <a:endParaRPr lang="en-US" sz="1200" dirty="0"/>
          </a:p>
        </p:txBody>
      </p:sp>
      <p:sp>
        <p:nvSpPr>
          <p:cNvPr id="40" name="A2_459"/>
          <p:cNvSpPr/>
          <p:nvPr/>
        </p:nvSpPr>
        <p:spPr>
          <a:xfrm>
            <a:off x="3749040" y="6254496"/>
            <a:ext cx="3566160" cy="530352"/>
          </a:xfrm>
          <a:prstGeom prst="ellipse">
            <a:avLst/>
          </a:prstGeom>
          <a:solidFill>
            <a:srgbClr val="FFFFFF"/>
          </a:solidFill>
          <a:ln w="15875">
            <a:solidFill>
              <a:srgbClr val="0A6EBD"/>
            </a:solidFill>
            <a:prstDash val="solid"/>
          </a:ln>
        </p:spPr>
        <p:txBody>
          <a:bodyPr/>
          <a:lstStyle/>
          <a:p>
            <a:endParaRPr lang="fr-FR"/>
          </a:p>
        </p:txBody>
      </p:sp>
      <p:sp>
        <p:nvSpPr>
          <p:cNvPr id="41" name="A2_460"/>
          <p:cNvSpPr txBox="1"/>
          <p:nvPr/>
        </p:nvSpPr>
        <p:spPr>
          <a:xfrm>
            <a:off x="3931920" y="6254496"/>
            <a:ext cx="3200400" cy="530352"/>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Gérer les utilisateurs</a:t>
            </a:r>
            <a:endParaRPr lang="en-US" sz="1200" dirty="0"/>
          </a:p>
        </p:txBody>
      </p:sp>
      <p:sp>
        <p:nvSpPr>
          <p:cNvPr id="42" name="A3_461"/>
          <p:cNvSpPr/>
          <p:nvPr/>
        </p:nvSpPr>
        <p:spPr>
          <a:xfrm>
            <a:off x="1444752" y="2057400"/>
            <a:ext cx="310896" cy="310896"/>
          </a:xfrm>
          <a:prstGeom prst="ellipse">
            <a:avLst/>
          </a:prstGeom>
          <a:solidFill>
            <a:srgbClr val="FFFFFF"/>
          </a:solidFill>
          <a:ln w="19050">
            <a:solidFill>
              <a:srgbClr val="262626"/>
            </a:solidFill>
            <a:prstDash val="solid"/>
          </a:ln>
        </p:spPr>
        <p:txBody>
          <a:bodyPr/>
          <a:lstStyle/>
          <a:p>
            <a:endParaRPr lang="fr-FR"/>
          </a:p>
        </p:txBody>
      </p:sp>
      <p:sp>
        <p:nvSpPr>
          <p:cNvPr id="43" name="A3_462"/>
          <p:cNvSpPr/>
          <p:nvPr/>
        </p:nvSpPr>
        <p:spPr>
          <a:xfrm>
            <a:off x="1600200" y="2368296"/>
            <a:ext cx="0" cy="466344"/>
          </a:xfrm>
          <a:prstGeom prst="line">
            <a:avLst/>
          </a:prstGeom>
          <a:noFill/>
          <a:ln w="19050">
            <a:solidFill>
              <a:srgbClr val="262626"/>
            </a:solidFill>
            <a:prstDash val="solid"/>
          </a:ln>
        </p:spPr>
        <p:txBody>
          <a:bodyPr/>
          <a:lstStyle/>
          <a:p>
            <a:endParaRPr lang="fr-FR"/>
          </a:p>
        </p:txBody>
      </p:sp>
      <p:sp>
        <p:nvSpPr>
          <p:cNvPr id="44" name="A3_463"/>
          <p:cNvSpPr/>
          <p:nvPr/>
        </p:nvSpPr>
        <p:spPr>
          <a:xfrm>
            <a:off x="1325880" y="2532888"/>
            <a:ext cx="548640" cy="0"/>
          </a:xfrm>
          <a:prstGeom prst="line">
            <a:avLst/>
          </a:prstGeom>
          <a:noFill/>
          <a:ln w="19050">
            <a:solidFill>
              <a:srgbClr val="262626"/>
            </a:solidFill>
            <a:prstDash val="solid"/>
          </a:ln>
        </p:spPr>
        <p:txBody>
          <a:bodyPr/>
          <a:lstStyle/>
          <a:p>
            <a:endParaRPr lang="fr-FR"/>
          </a:p>
        </p:txBody>
      </p:sp>
      <p:sp>
        <p:nvSpPr>
          <p:cNvPr id="45" name="A3_464"/>
          <p:cNvSpPr/>
          <p:nvPr/>
        </p:nvSpPr>
        <p:spPr>
          <a:xfrm flipH="1">
            <a:off x="1380744" y="2834640"/>
            <a:ext cx="219456" cy="320040"/>
          </a:xfrm>
          <a:prstGeom prst="line">
            <a:avLst/>
          </a:prstGeom>
          <a:noFill/>
          <a:ln w="19050">
            <a:solidFill>
              <a:srgbClr val="262626"/>
            </a:solidFill>
            <a:prstDash val="solid"/>
          </a:ln>
        </p:spPr>
        <p:txBody>
          <a:bodyPr/>
          <a:lstStyle/>
          <a:p>
            <a:endParaRPr lang="fr-FR"/>
          </a:p>
        </p:txBody>
      </p:sp>
      <p:sp>
        <p:nvSpPr>
          <p:cNvPr id="46" name="A3_465"/>
          <p:cNvSpPr/>
          <p:nvPr/>
        </p:nvSpPr>
        <p:spPr>
          <a:xfrm>
            <a:off x="1600200" y="2834640"/>
            <a:ext cx="219456" cy="320040"/>
          </a:xfrm>
          <a:prstGeom prst="line">
            <a:avLst/>
          </a:prstGeom>
          <a:noFill/>
          <a:ln w="19050">
            <a:solidFill>
              <a:srgbClr val="262626"/>
            </a:solidFill>
            <a:prstDash val="solid"/>
          </a:ln>
        </p:spPr>
        <p:txBody>
          <a:bodyPr/>
          <a:lstStyle/>
          <a:p>
            <a:endParaRPr lang="fr-FR"/>
          </a:p>
        </p:txBody>
      </p:sp>
      <p:sp>
        <p:nvSpPr>
          <p:cNvPr id="47" name="A3_466"/>
          <p:cNvSpPr txBox="1"/>
          <p:nvPr/>
        </p:nvSpPr>
        <p:spPr>
          <a:xfrm>
            <a:off x="411480" y="3200400"/>
            <a:ext cx="2377440" cy="502920"/>
          </a:xfrm>
          <a:prstGeom prst="rect">
            <a:avLst/>
          </a:prstGeom>
          <a:noFill/>
          <a:ln/>
        </p:spPr>
        <p:txBody>
          <a:bodyPr wrap="square" lIns="0" tIns="0" rIns="0" bIns="0" rtlCol="0" anchor="t"/>
          <a:lstStyle/>
          <a:p>
            <a:pPr marL="0" indent="0" algn="ctr">
              <a:buNone/>
            </a:pPr>
            <a:r>
              <a:rPr lang="en-US" sz="1200" b="1" dirty="0">
                <a:solidFill>
                  <a:srgbClr val="262626"/>
                </a:solidFill>
                <a:latin typeface="Arial" pitchFamily="34" charset="0"/>
                <a:ea typeface="Arial" pitchFamily="34" charset="-122"/>
                <a:cs typeface="Arial" pitchFamily="34" charset="-120"/>
              </a:rPr>
              <a:t>Développeur</a:t>
            </a:r>
            <a:endParaRPr lang="en-US" sz="1200" dirty="0"/>
          </a:p>
        </p:txBody>
      </p:sp>
      <p:sp>
        <p:nvSpPr>
          <p:cNvPr id="48" name="A3_467"/>
          <p:cNvSpPr/>
          <p:nvPr/>
        </p:nvSpPr>
        <p:spPr>
          <a:xfrm>
            <a:off x="1444752" y="4069080"/>
            <a:ext cx="310896" cy="310896"/>
          </a:xfrm>
          <a:prstGeom prst="ellipse">
            <a:avLst/>
          </a:prstGeom>
          <a:solidFill>
            <a:srgbClr val="FFFFFF"/>
          </a:solidFill>
          <a:ln w="19050">
            <a:solidFill>
              <a:srgbClr val="262626"/>
            </a:solidFill>
            <a:prstDash val="solid"/>
          </a:ln>
        </p:spPr>
        <p:txBody>
          <a:bodyPr/>
          <a:lstStyle/>
          <a:p>
            <a:endParaRPr lang="fr-FR"/>
          </a:p>
        </p:txBody>
      </p:sp>
      <p:sp>
        <p:nvSpPr>
          <p:cNvPr id="49" name="A3_468"/>
          <p:cNvSpPr/>
          <p:nvPr/>
        </p:nvSpPr>
        <p:spPr>
          <a:xfrm>
            <a:off x="1600200" y="4379976"/>
            <a:ext cx="0" cy="466344"/>
          </a:xfrm>
          <a:prstGeom prst="line">
            <a:avLst/>
          </a:prstGeom>
          <a:noFill/>
          <a:ln w="19050">
            <a:solidFill>
              <a:srgbClr val="262626"/>
            </a:solidFill>
            <a:prstDash val="solid"/>
          </a:ln>
        </p:spPr>
        <p:txBody>
          <a:bodyPr/>
          <a:lstStyle/>
          <a:p>
            <a:endParaRPr lang="fr-FR"/>
          </a:p>
        </p:txBody>
      </p:sp>
      <p:sp>
        <p:nvSpPr>
          <p:cNvPr id="50" name="A3_469"/>
          <p:cNvSpPr/>
          <p:nvPr/>
        </p:nvSpPr>
        <p:spPr>
          <a:xfrm>
            <a:off x="1325880" y="4544568"/>
            <a:ext cx="548640" cy="0"/>
          </a:xfrm>
          <a:prstGeom prst="line">
            <a:avLst/>
          </a:prstGeom>
          <a:noFill/>
          <a:ln w="19050">
            <a:solidFill>
              <a:srgbClr val="262626"/>
            </a:solidFill>
            <a:prstDash val="solid"/>
          </a:ln>
        </p:spPr>
        <p:txBody>
          <a:bodyPr/>
          <a:lstStyle/>
          <a:p>
            <a:endParaRPr lang="fr-FR"/>
          </a:p>
        </p:txBody>
      </p:sp>
      <p:sp>
        <p:nvSpPr>
          <p:cNvPr id="51" name="A3_470"/>
          <p:cNvSpPr/>
          <p:nvPr/>
        </p:nvSpPr>
        <p:spPr>
          <a:xfrm flipH="1">
            <a:off x="1380744" y="4846320"/>
            <a:ext cx="219456" cy="320040"/>
          </a:xfrm>
          <a:prstGeom prst="line">
            <a:avLst/>
          </a:prstGeom>
          <a:noFill/>
          <a:ln w="19050">
            <a:solidFill>
              <a:srgbClr val="262626"/>
            </a:solidFill>
            <a:prstDash val="solid"/>
          </a:ln>
        </p:spPr>
        <p:txBody>
          <a:bodyPr/>
          <a:lstStyle/>
          <a:p>
            <a:endParaRPr lang="fr-FR"/>
          </a:p>
        </p:txBody>
      </p:sp>
      <p:sp>
        <p:nvSpPr>
          <p:cNvPr id="52" name="A3_471"/>
          <p:cNvSpPr/>
          <p:nvPr/>
        </p:nvSpPr>
        <p:spPr>
          <a:xfrm>
            <a:off x="1600200" y="4846320"/>
            <a:ext cx="219456" cy="320040"/>
          </a:xfrm>
          <a:prstGeom prst="line">
            <a:avLst/>
          </a:prstGeom>
          <a:noFill/>
          <a:ln w="19050">
            <a:solidFill>
              <a:srgbClr val="262626"/>
            </a:solidFill>
            <a:prstDash val="solid"/>
          </a:ln>
        </p:spPr>
        <p:txBody>
          <a:bodyPr/>
          <a:lstStyle/>
          <a:p>
            <a:endParaRPr lang="fr-FR"/>
          </a:p>
        </p:txBody>
      </p:sp>
      <p:sp>
        <p:nvSpPr>
          <p:cNvPr id="53" name="A3_472"/>
          <p:cNvSpPr txBox="1"/>
          <p:nvPr/>
        </p:nvSpPr>
        <p:spPr>
          <a:xfrm>
            <a:off x="411480" y="5212080"/>
            <a:ext cx="2377440" cy="502920"/>
          </a:xfrm>
          <a:prstGeom prst="rect">
            <a:avLst/>
          </a:prstGeom>
          <a:noFill/>
          <a:ln/>
        </p:spPr>
        <p:txBody>
          <a:bodyPr wrap="square" lIns="0" tIns="0" rIns="0" bIns="0" rtlCol="0" anchor="t"/>
          <a:lstStyle/>
          <a:p>
            <a:pPr marL="0" indent="0" algn="ctr">
              <a:buNone/>
            </a:pPr>
            <a:r>
              <a:rPr lang="en-US" sz="1200" b="1" dirty="0">
                <a:solidFill>
                  <a:srgbClr val="262626"/>
                </a:solidFill>
                <a:latin typeface="Arial" pitchFamily="34" charset="0"/>
                <a:ea typeface="Arial" pitchFamily="34" charset="-122"/>
                <a:cs typeface="Arial" pitchFamily="34" charset="-120"/>
              </a:rPr>
              <a:t>Responsable qualité / sécurité</a:t>
            </a:r>
            <a:endParaRPr lang="en-US" sz="1200" dirty="0"/>
          </a:p>
        </p:txBody>
      </p:sp>
      <p:sp>
        <p:nvSpPr>
          <p:cNvPr id="54" name="A3_473"/>
          <p:cNvSpPr/>
          <p:nvPr/>
        </p:nvSpPr>
        <p:spPr>
          <a:xfrm>
            <a:off x="1444752" y="5852160"/>
            <a:ext cx="310896" cy="310896"/>
          </a:xfrm>
          <a:prstGeom prst="ellipse">
            <a:avLst/>
          </a:prstGeom>
          <a:solidFill>
            <a:srgbClr val="FFFFFF"/>
          </a:solidFill>
          <a:ln w="19050">
            <a:solidFill>
              <a:srgbClr val="262626"/>
            </a:solidFill>
            <a:prstDash val="solid"/>
          </a:ln>
        </p:spPr>
        <p:txBody>
          <a:bodyPr/>
          <a:lstStyle/>
          <a:p>
            <a:endParaRPr lang="fr-FR"/>
          </a:p>
        </p:txBody>
      </p:sp>
      <p:sp>
        <p:nvSpPr>
          <p:cNvPr id="55" name="A3_474"/>
          <p:cNvSpPr/>
          <p:nvPr/>
        </p:nvSpPr>
        <p:spPr>
          <a:xfrm>
            <a:off x="1600200" y="6163056"/>
            <a:ext cx="0" cy="466344"/>
          </a:xfrm>
          <a:prstGeom prst="line">
            <a:avLst/>
          </a:prstGeom>
          <a:noFill/>
          <a:ln w="19050">
            <a:solidFill>
              <a:srgbClr val="262626"/>
            </a:solidFill>
            <a:prstDash val="solid"/>
          </a:ln>
        </p:spPr>
        <p:txBody>
          <a:bodyPr/>
          <a:lstStyle/>
          <a:p>
            <a:endParaRPr lang="fr-FR"/>
          </a:p>
        </p:txBody>
      </p:sp>
      <p:sp>
        <p:nvSpPr>
          <p:cNvPr id="56" name="A3_475"/>
          <p:cNvSpPr/>
          <p:nvPr/>
        </p:nvSpPr>
        <p:spPr>
          <a:xfrm>
            <a:off x="1325880" y="6327648"/>
            <a:ext cx="548640" cy="0"/>
          </a:xfrm>
          <a:prstGeom prst="line">
            <a:avLst/>
          </a:prstGeom>
          <a:noFill/>
          <a:ln w="19050">
            <a:solidFill>
              <a:srgbClr val="262626"/>
            </a:solidFill>
            <a:prstDash val="solid"/>
          </a:ln>
        </p:spPr>
        <p:txBody>
          <a:bodyPr/>
          <a:lstStyle/>
          <a:p>
            <a:endParaRPr lang="fr-FR"/>
          </a:p>
        </p:txBody>
      </p:sp>
      <p:sp>
        <p:nvSpPr>
          <p:cNvPr id="57" name="A3_476"/>
          <p:cNvSpPr/>
          <p:nvPr/>
        </p:nvSpPr>
        <p:spPr>
          <a:xfrm flipH="1">
            <a:off x="1380744" y="6629400"/>
            <a:ext cx="219456" cy="320040"/>
          </a:xfrm>
          <a:prstGeom prst="line">
            <a:avLst/>
          </a:prstGeom>
          <a:noFill/>
          <a:ln w="19050">
            <a:solidFill>
              <a:srgbClr val="262626"/>
            </a:solidFill>
            <a:prstDash val="solid"/>
          </a:ln>
        </p:spPr>
        <p:txBody>
          <a:bodyPr/>
          <a:lstStyle/>
          <a:p>
            <a:endParaRPr lang="fr-FR"/>
          </a:p>
        </p:txBody>
      </p:sp>
      <p:sp>
        <p:nvSpPr>
          <p:cNvPr id="58" name="A3_477"/>
          <p:cNvSpPr/>
          <p:nvPr/>
        </p:nvSpPr>
        <p:spPr>
          <a:xfrm>
            <a:off x="1600200" y="6629400"/>
            <a:ext cx="219456" cy="320040"/>
          </a:xfrm>
          <a:prstGeom prst="line">
            <a:avLst/>
          </a:prstGeom>
          <a:noFill/>
          <a:ln w="19050">
            <a:solidFill>
              <a:srgbClr val="262626"/>
            </a:solidFill>
            <a:prstDash val="solid"/>
          </a:ln>
        </p:spPr>
        <p:txBody>
          <a:bodyPr/>
          <a:lstStyle/>
          <a:p>
            <a:endParaRPr lang="fr-FR"/>
          </a:p>
        </p:txBody>
      </p:sp>
      <p:sp>
        <p:nvSpPr>
          <p:cNvPr id="59" name="A3_478"/>
          <p:cNvSpPr txBox="1"/>
          <p:nvPr/>
        </p:nvSpPr>
        <p:spPr>
          <a:xfrm>
            <a:off x="411480" y="6995160"/>
            <a:ext cx="2377440" cy="502920"/>
          </a:xfrm>
          <a:prstGeom prst="rect">
            <a:avLst/>
          </a:prstGeom>
          <a:noFill/>
          <a:ln/>
        </p:spPr>
        <p:txBody>
          <a:bodyPr wrap="square" lIns="0" tIns="0" rIns="0" bIns="0" rtlCol="0" anchor="t"/>
          <a:lstStyle/>
          <a:p>
            <a:pPr marL="0" indent="0" algn="ctr">
              <a:buNone/>
            </a:pPr>
            <a:r>
              <a:rPr lang="en-US" sz="1200" b="1" dirty="0">
                <a:solidFill>
                  <a:srgbClr val="262626"/>
                </a:solidFill>
                <a:latin typeface="Arial" pitchFamily="34" charset="0"/>
                <a:ea typeface="Arial" pitchFamily="34" charset="-122"/>
                <a:cs typeface="Arial" pitchFamily="34" charset="-120"/>
              </a:rPr>
              <a:t>Administrateur</a:t>
            </a:r>
            <a:endParaRPr lang="en-US" sz="1200" dirty="0"/>
          </a:p>
        </p:txBody>
      </p:sp>
      <p:sp>
        <p:nvSpPr>
          <p:cNvPr id="60" name="A3_479"/>
          <p:cNvSpPr/>
          <p:nvPr/>
        </p:nvSpPr>
        <p:spPr>
          <a:xfrm flipV="1">
            <a:off x="1600200" y="3520440"/>
            <a:ext cx="0" cy="521208"/>
          </a:xfrm>
          <a:prstGeom prst="line">
            <a:avLst/>
          </a:prstGeom>
          <a:noFill/>
          <a:ln w="12700">
            <a:solidFill>
              <a:srgbClr val="262626"/>
            </a:solidFill>
            <a:prstDash val="solid"/>
            <a:tailEnd type="triangle"/>
          </a:ln>
        </p:spPr>
        <p:txBody>
          <a:bodyPr/>
          <a:lstStyle/>
          <a:p>
            <a:endParaRPr lang="fr-FR"/>
          </a:p>
        </p:txBody>
      </p:sp>
      <p:sp>
        <p:nvSpPr>
          <p:cNvPr id="61" name="A3_480"/>
          <p:cNvSpPr/>
          <p:nvPr/>
        </p:nvSpPr>
        <p:spPr>
          <a:xfrm flipV="1">
            <a:off x="1600200" y="5532120"/>
            <a:ext cx="0" cy="292608"/>
          </a:xfrm>
          <a:prstGeom prst="line">
            <a:avLst/>
          </a:prstGeom>
          <a:noFill/>
          <a:ln w="12700">
            <a:solidFill>
              <a:srgbClr val="262626"/>
            </a:solidFill>
            <a:prstDash val="solid"/>
            <a:tailEnd type="triangle"/>
          </a:ln>
        </p:spPr>
        <p:txBody>
          <a:bodyPr/>
          <a:lstStyle/>
          <a:p>
            <a:endParaRPr lang="fr-FR"/>
          </a:p>
        </p:txBody>
      </p:sp>
      <p:sp>
        <p:nvSpPr>
          <p:cNvPr id="62" name="A4_481"/>
          <p:cNvSpPr/>
          <p:nvPr/>
        </p:nvSpPr>
        <p:spPr>
          <a:xfrm flipV="1">
            <a:off x="1920240" y="1911096"/>
            <a:ext cx="1828800" cy="576072"/>
          </a:xfrm>
          <a:prstGeom prst="line">
            <a:avLst/>
          </a:prstGeom>
          <a:noFill/>
          <a:ln w="12700">
            <a:solidFill>
              <a:srgbClr val="262626"/>
            </a:solidFill>
            <a:prstDash val="solid"/>
          </a:ln>
        </p:spPr>
        <p:txBody>
          <a:bodyPr/>
          <a:lstStyle/>
          <a:p>
            <a:endParaRPr lang="fr-FR"/>
          </a:p>
        </p:txBody>
      </p:sp>
      <p:sp>
        <p:nvSpPr>
          <p:cNvPr id="63" name="A4_482"/>
          <p:cNvSpPr/>
          <p:nvPr/>
        </p:nvSpPr>
        <p:spPr>
          <a:xfrm>
            <a:off x="1920240" y="2487168"/>
            <a:ext cx="1828800" cy="82296"/>
          </a:xfrm>
          <a:prstGeom prst="line">
            <a:avLst/>
          </a:prstGeom>
          <a:noFill/>
          <a:ln w="12700">
            <a:solidFill>
              <a:srgbClr val="262626"/>
            </a:solidFill>
            <a:prstDash val="solid"/>
          </a:ln>
        </p:spPr>
        <p:txBody>
          <a:bodyPr/>
          <a:lstStyle/>
          <a:p>
            <a:endParaRPr lang="fr-FR"/>
          </a:p>
        </p:txBody>
      </p:sp>
      <p:sp>
        <p:nvSpPr>
          <p:cNvPr id="64" name="A4_483"/>
          <p:cNvSpPr/>
          <p:nvPr/>
        </p:nvSpPr>
        <p:spPr>
          <a:xfrm>
            <a:off x="1920240" y="2487168"/>
            <a:ext cx="1828800" cy="740664"/>
          </a:xfrm>
          <a:prstGeom prst="line">
            <a:avLst/>
          </a:prstGeom>
          <a:noFill/>
          <a:ln w="12700">
            <a:solidFill>
              <a:srgbClr val="262626"/>
            </a:solidFill>
            <a:prstDash val="solid"/>
          </a:ln>
        </p:spPr>
        <p:txBody>
          <a:bodyPr/>
          <a:lstStyle/>
          <a:p>
            <a:endParaRPr lang="fr-FR"/>
          </a:p>
        </p:txBody>
      </p:sp>
      <p:sp>
        <p:nvSpPr>
          <p:cNvPr id="65" name="A4_484"/>
          <p:cNvSpPr/>
          <p:nvPr/>
        </p:nvSpPr>
        <p:spPr>
          <a:xfrm>
            <a:off x="1920240" y="2487168"/>
            <a:ext cx="1828800" cy="1399032"/>
          </a:xfrm>
          <a:prstGeom prst="line">
            <a:avLst/>
          </a:prstGeom>
          <a:noFill/>
          <a:ln w="12700">
            <a:solidFill>
              <a:srgbClr val="262626"/>
            </a:solidFill>
            <a:prstDash val="solid"/>
          </a:ln>
        </p:spPr>
        <p:txBody>
          <a:bodyPr/>
          <a:lstStyle/>
          <a:p>
            <a:endParaRPr lang="fr-FR"/>
          </a:p>
        </p:txBody>
      </p:sp>
      <p:sp>
        <p:nvSpPr>
          <p:cNvPr id="66" name="A4_485"/>
          <p:cNvSpPr/>
          <p:nvPr/>
        </p:nvSpPr>
        <p:spPr>
          <a:xfrm>
            <a:off x="1920240" y="4498848"/>
            <a:ext cx="1828800" cy="45720"/>
          </a:xfrm>
          <a:prstGeom prst="line">
            <a:avLst/>
          </a:prstGeom>
          <a:noFill/>
          <a:ln w="12700">
            <a:solidFill>
              <a:srgbClr val="262626"/>
            </a:solidFill>
            <a:prstDash val="solid"/>
          </a:ln>
        </p:spPr>
        <p:txBody>
          <a:bodyPr/>
          <a:lstStyle/>
          <a:p>
            <a:endParaRPr lang="fr-FR"/>
          </a:p>
        </p:txBody>
      </p:sp>
      <p:sp>
        <p:nvSpPr>
          <p:cNvPr id="67" name="A4_486"/>
          <p:cNvSpPr/>
          <p:nvPr/>
        </p:nvSpPr>
        <p:spPr>
          <a:xfrm>
            <a:off x="1920240" y="4498848"/>
            <a:ext cx="1828800" cy="704088"/>
          </a:xfrm>
          <a:prstGeom prst="line">
            <a:avLst/>
          </a:prstGeom>
          <a:noFill/>
          <a:ln w="12700">
            <a:solidFill>
              <a:srgbClr val="262626"/>
            </a:solidFill>
            <a:prstDash val="solid"/>
          </a:ln>
        </p:spPr>
        <p:txBody>
          <a:bodyPr/>
          <a:lstStyle/>
          <a:p>
            <a:endParaRPr lang="fr-FR"/>
          </a:p>
        </p:txBody>
      </p:sp>
      <p:sp>
        <p:nvSpPr>
          <p:cNvPr id="68" name="A4_487"/>
          <p:cNvSpPr/>
          <p:nvPr/>
        </p:nvSpPr>
        <p:spPr>
          <a:xfrm>
            <a:off x="1920240" y="4498848"/>
            <a:ext cx="1828800" cy="1362456"/>
          </a:xfrm>
          <a:prstGeom prst="line">
            <a:avLst/>
          </a:prstGeom>
          <a:noFill/>
          <a:ln w="12700">
            <a:solidFill>
              <a:srgbClr val="262626"/>
            </a:solidFill>
            <a:prstDash val="solid"/>
          </a:ln>
        </p:spPr>
        <p:txBody>
          <a:bodyPr/>
          <a:lstStyle/>
          <a:p>
            <a:endParaRPr lang="fr-FR"/>
          </a:p>
        </p:txBody>
      </p:sp>
      <p:sp>
        <p:nvSpPr>
          <p:cNvPr id="69" name="A4_488"/>
          <p:cNvSpPr/>
          <p:nvPr/>
        </p:nvSpPr>
        <p:spPr>
          <a:xfrm>
            <a:off x="1920240" y="6281928"/>
            <a:ext cx="1828800" cy="237744"/>
          </a:xfrm>
          <a:prstGeom prst="line">
            <a:avLst/>
          </a:prstGeom>
          <a:noFill/>
          <a:ln w="12700">
            <a:solidFill>
              <a:srgbClr val="262626"/>
            </a:solidFill>
            <a:prstDash val="solid"/>
          </a:ln>
        </p:spPr>
        <p:txBody>
          <a:bodyPr/>
          <a:lstStyle/>
          <a:p>
            <a:endParaRPr lang="fr-FR"/>
          </a:p>
        </p:txBody>
      </p:sp>
      <p:sp>
        <p:nvSpPr>
          <p:cNvPr id="70" name="A5_489"/>
          <p:cNvSpPr/>
          <p:nvPr/>
        </p:nvSpPr>
        <p:spPr>
          <a:xfrm>
            <a:off x="7818120" y="2103120"/>
            <a:ext cx="3108960" cy="603504"/>
          </a:xfrm>
          <a:prstGeom prst="ellipse">
            <a:avLst/>
          </a:prstGeom>
          <a:solidFill>
            <a:srgbClr val="FFFFFF"/>
          </a:solidFill>
          <a:ln w="15875">
            <a:solidFill>
              <a:srgbClr val="0A6EBD"/>
            </a:solidFill>
            <a:prstDash val="solid"/>
          </a:ln>
        </p:spPr>
        <p:txBody>
          <a:bodyPr/>
          <a:lstStyle/>
          <a:p>
            <a:endParaRPr lang="fr-FR"/>
          </a:p>
        </p:txBody>
      </p:sp>
      <p:sp>
        <p:nvSpPr>
          <p:cNvPr id="71" name="A5_490"/>
          <p:cNvSpPr txBox="1"/>
          <p:nvPr/>
        </p:nvSpPr>
        <p:spPr>
          <a:xfrm>
            <a:off x="8001000" y="2103120"/>
            <a:ext cx="2743200" cy="603504"/>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Publier les résultats (logs, tests, scans)</a:t>
            </a:r>
            <a:endParaRPr lang="en-US" sz="1200" dirty="0"/>
          </a:p>
        </p:txBody>
      </p:sp>
      <p:sp>
        <p:nvSpPr>
          <p:cNvPr id="72" name="A5_491"/>
          <p:cNvSpPr/>
          <p:nvPr/>
        </p:nvSpPr>
        <p:spPr>
          <a:xfrm>
            <a:off x="7818120" y="3154680"/>
            <a:ext cx="3108960" cy="603504"/>
          </a:xfrm>
          <a:prstGeom prst="ellipse">
            <a:avLst/>
          </a:prstGeom>
          <a:solidFill>
            <a:srgbClr val="FFFFFF"/>
          </a:solidFill>
          <a:ln w="15875">
            <a:solidFill>
              <a:srgbClr val="0A6EBD"/>
            </a:solidFill>
            <a:prstDash val="solid"/>
          </a:ln>
        </p:spPr>
        <p:txBody>
          <a:bodyPr/>
          <a:lstStyle/>
          <a:p>
            <a:endParaRPr lang="fr-FR"/>
          </a:p>
        </p:txBody>
      </p:sp>
      <p:sp>
        <p:nvSpPr>
          <p:cNvPr id="73" name="A5_492"/>
          <p:cNvSpPr txBox="1"/>
          <p:nvPr/>
        </p:nvSpPr>
        <p:spPr>
          <a:xfrm>
            <a:off x="8001000" y="3154680"/>
            <a:ext cx="2743200" cy="603504"/>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Vérifier la quality gate</a:t>
            </a:r>
            <a:endParaRPr lang="en-US" sz="1200" dirty="0"/>
          </a:p>
        </p:txBody>
      </p:sp>
      <p:sp>
        <p:nvSpPr>
          <p:cNvPr id="74" name="A5_493"/>
          <p:cNvSpPr/>
          <p:nvPr/>
        </p:nvSpPr>
        <p:spPr>
          <a:xfrm>
            <a:off x="7818120" y="5120640"/>
            <a:ext cx="3108960" cy="603504"/>
          </a:xfrm>
          <a:prstGeom prst="ellipse">
            <a:avLst/>
          </a:prstGeom>
          <a:solidFill>
            <a:srgbClr val="FFFFFF"/>
          </a:solidFill>
          <a:ln w="15875">
            <a:solidFill>
              <a:srgbClr val="0A6EBD"/>
            </a:solidFill>
            <a:prstDash val="solid"/>
          </a:ln>
        </p:spPr>
        <p:txBody>
          <a:bodyPr/>
          <a:lstStyle/>
          <a:p>
            <a:endParaRPr lang="fr-FR"/>
          </a:p>
        </p:txBody>
      </p:sp>
      <p:sp>
        <p:nvSpPr>
          <p:cNvPr id="75" name="A5_494"/>
          <p:cNvSpPr txBox="1"/>
          <p:nvPr/>
        </p:nvSpPr>
        <p:spPr>
          <a:xfrm>
            <a:off x="8001000" y="5120640"/>
            <a:ext cx="2743200" cy="603504"/>
          </a:xfrm>
          <a:prstGeom prst="rect">
            <a:avLst/>
          </a:prstGeom>
          <a:noFill/>
          <a:ln/>
        </p:spPr>
        <p:txBody>
          <a:bodyPr wrap="square" lIns="0" tIns="0" rIns="0" bIns="0" rtlCol="0" anchor="ctr"/>
          <a:lstStyle/>
          <a:p>
            <a:pPr marL="0" indent="0" algn="ctr">
              <a:buNone/>
            </a:pPr>
            <a:r>
              <a:rPr lang="en-US" sz="1200" dirty="0">
                <a:solidFill>
                  <a:srgbClr val="262626"/>
                </a:solidFill>
                <a:latin typeface="Arial" pitchFamily="34" charset="0"/>
                <a:ea typeface="Arial" pitchFamily="34" charset="-122"/>
                <a:cs typeface="Arial" pitchFamily="34" charset="-120"/>
              </a:rPr>
              <a:t>S'authentifier</a:t>
            </a:r>
            <a:endParaRPr lang="en-US" sz="1200" dirty="0"/>
          </a:p>
        </p:txBody>
      </p:sp>
      <p:sp>
        <p:nvSpPr>
          <p:cNvPr id="76" name="A6_495"/>
          <p:cNvSpPr/>
          <p:nvPr/>
        </p:nvSpPr>
        <p:spPr>
          <a:xfrm>
            <a:off x="12600432" y="2240280"/>
            <a:ext cx="310896" cy="310896"/>
          </a:xfrm>
          <a:prstGeom prst="ellipse">
            <a:avLst/>
          </a:prstGeom>
          <a:solidFill>
            <a:srgbClr val="FFFFFF"/>
          </a:solidFill>
          <a:ln w="19050">
            <a:solidFill>
              <a:srgbClr val="262626"/>
            </a:solidFill>
            <a:prstDash val="solid"/>
          </a:ln>
        </p:spPr>
        <p:txBody>
          <a:bodyPr/>
          <a:lstStyle/>
          <a:p>
            <a:endParaRPr lang="fr-FR"/>
          </a:p>
        </p:txBody>
      </p:sp>
      <p:sp>
        <p:nvSpPr>
          <p:cNvPr id="77" name="A6_496"/>
          <p:cNvSpPr/>
          <p:nvPr/>
        </p:nvSpPr>
        <p:spPr>
          <a:xfrm>
            <a:off x="12755880" y="2551176"/>
            <a:ext cx="0" cy="466344"/>
          </a:xfrm>
          <a:prstGeom prst="line">
            <a:avLst/>
          </a:prstGeom>
          <a:noFill/>
          <a:ln w="19050">
            <a:solidFill>
              <a:srgbClr val="262626"/>
            </a:solidFill>
            <a:prstDash val="solid"/>
          </a:ln>
        </p:spPr>
        <p:txBody>
          <a:bodyPr/>
          <a:lstStyle/>
          <a:p>
            <a:endParaRPr lang="fr-FR"/>
          </a:p>
        </p:txBody>
      </p:sp>
      <p:sp>
        <p:nvSpPr>
          <p:cNvPr id="78" name="A6_497"/>
          <p:cNvSpPr/>
          <p:nvPr/>
        </p:nvSpPr>
        <p:spPr>
          <a:xfrm>
            <a:off x="12481560" y="2715768"/>
            <a:ext cx="548640" cy="0"/>
          </a:xfrm>
          <a:prstGeom prst="line">
            <a:avLst/>
          </a:prstGeom>
          <a:noFill/>
          <a:ln w="19050">
            <a:solidFill>
              <a:srgbClr val="262626"/>
            </a:solidFill>
            <a:prstDash val="solid"/>
          </a:ln>
        </p:spPr>
        <p:txBody>
          <a:bodyPr/>
          <a:lstStyle/>
          <a:p>
            <a:endParaRPr lang="fr-FR"/>
          </a:p>
        </p:txBody>
      </p:sp>
      <p:sp>
        <p:nvSpPr>
          <p:cNvPr id="79" name="A6_498"/>
          <p:cNvSpPr/>
          <p:nvPr/>
        </p:nvSpPr>
        <p:spPr>
          <a:xfrm flipH="1">
            <a:off x="12536424" y="3017520"/>
            <a:ext cx="219456" cy="320040"/>
          </a:xfrm>
          <a:prstGeom prst="line">
            <a:avLst/>
          </a:prstGeom>
          <a:noFill/>
          <a:ln w="19050">
            <a:solidFill>
              <a:srgbClr val="262626"/>
            </a:solidFill>
            <a:prstDash val="solid"/>
          </a:ln>
        </p:spPr>
        <p:txBody>
          <a:bodyPr/>
          <a:lstStyle/>
          <a:p>
            <a:endParaRPr lang="fr-FR"/>
          </a:p>
        </p:txBody>
      </p:sp>
      <p:sp>
        <p:nvSpPr>
          <p:cNvPr id="80" name="A6_499"/>
          <p:cNvSpPr/>
          <p:nvPr/>
        </p:nvSpPr>
        <p:spPr>
          <a:xfrm>
            <a:off x="12755880" y="3017520"/>
            <a:ext cx="219456" cy="320040"/>
          </a:xfrm>
          <a:prstGeom prst="line">
            <a:avLst/>
          </a:prstGeom>
          <a:noFill/>
          <a:ln w="19050">
            <a:solidFill>
              <a:srgbClr val="262626"/>
            </a:solidFill>
            <a:prstDash val="solid"/>
          </a:ln>
        </p:spPr>
        <p:txBody>
          <a:bodyPr/>
          <a:lstStyle/>
          <a:p>
            <a:endParaRPr lang="fr-FR"/>
          </a:p>
        </p:txBody>
      </p:sp>
      <p:sp>
        <p:nvSpPr>
          <p:cNvPr id="81" name="A6_500"/>
          <p:cNvSpPr txBox="1"/>
          <p:nvPr/>
        </p:nvSpPr>
        <p:spPr>
          <a:xfrm>
            <a:off x="11567160" y="3383280"/>
            <a:ext cx="2377440" cy="502920"/>
          </a:xfrm>
          <a:prstGeom prst="rect">
            <a:avLst/>
          </a:prstGeom>
          <a:noFill/>
          <a:ln/>
        </p:spPr>
        <p:txBody>
          <a:bodyPr wrap="square" lIns="0" tIns="0" rIns="0" bIns="0" rtlCol="0" anchor="t"/>
          <a:lstStyle/>
          <a:p>
            <a:pPr marL="0" indent="0" algn="ctr">
              <a:buNone/>
            </a:pPr>
            <a:r>
              <a:rPr lang="en-US" sz="1200" b="1" dirty="0">
                <a:solidFill>
                  <a:srgbClr val="262626"/>
                </a:solidFill>
                <a:latin typeface="Arial" pitchFamily="34" charset="0"/>
                <a:ea typeface="Arial" pitchFamily="34" charset="-122"/>
                <a:cs typeface="Arial" pitchFamily="34" charset="-120"/>
              </a:rPr>
              <a:t>Pipeline CI/CD</a:t>
            </a:r>
            <a:endParaRPr lang="en-US" sz="1200" dirty="0"/>
          </a:p>
        </p:txBody>
      </p:sp>
      <p:sp>
        <p:nvSpPr>
          <p:cNvPr id="82" name="A6_501"/>
          <p:cNvSpPr/>
          <p:nvPr/>
        </p:nvSpPr>
        <p:spPr>
          <a:xfrm flipH="1" flipV="1">
            <a:off x="10927080" y="2404872"/>
            <a:ext cx="1508760" cy="292608"/>
          </a:xfrm>
          <a:prstGeom prst="line">
            <a:avLst/>
          </a:prstGeom>
          <a:noFill/>
          <a:ln w="12700">
            <a:solidFill>
              <a:srgbClr val="262626"/>
            </a:solidFill>
            <a:prstDash val="solid"/>
          </a:ln>
        </p:spPr>
        <p:txBody>
          <a:bodyPr/>
          <a:lstStyle/>
          <a:p>
            <a:endParaRPr lang="fr-FR"/>
          </a:p>
        </p:txBody>
      </p:sp>
      <p:sp>
        <p:nvSpPr>
          <p:cNvPr id="83" name="A6_502"/>
          <p:cNvSpPr/>
          <p:nvPr/>
        </p:nvSpPr>
        <p:spPr>
          <a:xfrm flipH="1">
            <a:off x="10927080" y="2743200"/>
            <a:ext cx="1508760" cy="713232"/>
          </a:xfrm>
          <a:prstGeom prst="line">
            <a:avLst/>
          </a:prstGeom>
          <a:noFill/>
          <a:ln w="12700">
            <a:solidFill>
              <a:srgbClr val="262626"/>
            </a:solidFill>
            <a:prstDash val="solid"/>
          </a:ln>
        </p:spPr>
        <p:txBody>
          <a:bodyPr/>
          <a:lstStyle/>
          <a:p>
            <a:endParaRPr lang="fr-FR"/>
          </a:p>
        </p:txBody>
      </p:sp>
      <p:sp>
        <p:nvSpPr>
          <p:cNvPr id="84" name="A7_503"/>
          <p:cNvSpPr/>
          <p:nvPr/>
        </p:nvSpPr>
        <p:spPr>
          <a:xfrm>
            <a:off x="7315200" y="4544568"/>
            <a:ext cx="822960" cy="713232"/>
          </a:xfrm>
          <a:prstGeom prst="line">
            <a:avLst/>
          </a:prstGeom>
          <a:noFill/>
          <a:ln w="12700">
            <a:solidFill>
              <a:srgbClr val="595959"/>
            </a:solidFill>
            <a:prstDash val="dash"/>
            <a:tailEnd type="arrow"/>
          </a:ln>
        </p:spPr>
        <p:txBody>
          <a:bodyPr/>
          <a:lstStyle/>
          <a:p>
            <a:endParaRPr lang="fr-FR"/>
          </a:p>
        </p:txBody>
      </p:sp>
      <p:sp>
        <p:nvSpPr>
          <p:cNvPr id="85" name="A7_504"/>
          <p:cNvSpPr txBox="1"/>
          <p:nvPr/>
        </p:nvSpPr>
        <p:spPr>
          <a:xfrm>
            <a:off x="7589520" y="4526280"/>
            <a:ext cx="1280160" cy="274320"/>
          </a:xfrm>
          <a:prstGeom prst="rect">
            <a:avLst/>
          </a:prstGeom>
          <a:noFill/>
          <a:ln/>
        </p:spPr>
        <p:txBody>
          <a:bodyPr wrap="square" lIns="0" tIns="0" rIns="0" bIns="0" rtlCol="0" anchor="t"/>
          <a:lstStyle/>
          <a:p>
            <a:pPr marL="0" indent="0">
              <a:buNone/>
            </a:pPr>
            <a:r>
              <a:rPr lang="en-US" sz="1000" i="1" dirty="0">
                <a:solidFill>
                  <a:srgbClr val="595959"/>
                </a:solidFill>
                <a:latin typeface="Arial" pitchFamily="34" charset="0"/>
                <a:ea typeface="Arial" pitchFamily="34" charset="-122"/>
                <a:cs typeface="Arial" pitchFamily="34" charset="-120"/>
              </a:rPr>
              <a:t>« include »</a:t>
            </a:r>
            <a:endParaRPr lang="en-US" sz="1000" dirty="0"/>
          </a:p>
        </p:txBody>
      </p:sp>
      <p:sp>
        <p:nvSpPr>
          <p:cNvPr id="86" name="A7_505"/>
          <p:cNvSpPr txBox="1"/>
          <p:nvPr/>
        </p:nvSpPr>
        <p:spPr>
          <a:xfrm>
            <a:off x="7635240" y="5852160"/>
            <a:ext cx="3474720" cy="548640"/>
          </a:xfrm>
          <a:prstGeom prst="rect">
            <a:avLst/>
          </a:prstGeom>
          <a:noFill/>
          <a:ln/>
        </p:spPr>
        <p:txBody>
          <a:bodyPr wrap="square" lIns="0" tIns="0" rIns="0" bIns="0" rtlCol="0" anchor="t"/>
          <a:lstStyle/>
          <a:p>
            <a:pPr marL="0" indent="0" algn="ctr">
              <a:buNone/>
            </a:pPr>
            <a:r>
              <a:rPr lang="en-US" sz="1000" i="1" dirty="0">
                <a:solidFill>
                  <a:srgbClr val="595959"/>
                </a:solidFill>
                <a:latin typeface="Arial" pitchFamily="34" charset="0"/>
                <a:ea typeface="Arial" pitchFamily="34" charset="-122"/>
                <a:cs typeface="Arial" pitchFamily="34" charset="-120"/>
              </a:rPr>
              <a:t>Chaque cas d'utilisation des acteurs humains inclut « S'authentifier »</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fade">
                                      <p:cBhvr>
                                        <p:cTn id="14" dur="500"/>
                                        <p:tgtEl>
                                          <p:spTgt spid="2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500"/>
                                        <p:tgtEl>
                                          <p:spTgt spid="2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500"/>
                                        <p:tgtEl>
                                          <p:spTgt spid="3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500"/>
                                        <p:tgtEl>
                                          <p:spTgt spid="3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4"/>
                                        </p:tgtEl>
                                        <p:attrNameLst>
                                          <p:attrName>style.visibility</p:attrName>
                                        </p:attrNameLst>
                                      </p:cBhvr>
                                      <p:to>
                                        <p:strVal val="visible"/>
                                      </p:to>
                                    </p:set>
                                    <p:animEffect transition="in" filter="fade">
                                      <p:cBhvr>
                                        <p:cTn id="38" dur="500"/>
                                        <p:tgtEl>
                                          <p:spTgt spid="3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5"/>
                                        </p:tgtEl>
                                        <p:attrNameLst>
                                          <p:attrName>style.visibility</p:attrName>
                                        </p:attrNameLst>
                                      </p:cBhvr>
                                      <p:to>
                                        <p:strVal val="visible"/>
                                      </p:to>
                                    </p:set>
                                    <p:animEffect transition="in" filter="fade">
                                      <p:cBhvr>
                                        <p:cTn id="41" dur="500"/>
                                        <p:tgtEl>
                                          <p:spTgt spid="3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500"/>
                                        <p:tgtEl>
                                          <p:spTgt spid="3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500"/>
                                        <p:tgtEl>
                                          <p:spTgt spid="3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8"/>
                                        </p:tgtEl>
                                        <p:attrNameLst>
                                          <p:attrName>style.visibility</p:attrName>
                                        </p:attrNameLst>
                                      </p:cBhvr>
                                      <p:to>
                                        <p:strVal val="visible"/>
                                      </p:to>
                                    </p:set>
                                    <p:animEffect transition="in" filter="fade">
                                      <p:cBhvr>
                                        <p:cTn id="50" dur="500"/>
                                        <p:tgtEl>
                                          <p:spTgt spid="3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fade">
                                      <p:cBhvr>
                                        <p:cTn id="53" dur="500"/>
                                        <p:tgtEl>
                                          <p:spTgt spid="3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500"/>
                                        <p:tgtEl>
                                          <p:spTgt spid="4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animEffect transition="in" filter="fade">
                                      <p:cBhvr>
                                        <p:cTn id="59" dur="500"/>
                                        <p:tgtEl>
                                          <p:spTgt spid="41"/>
                                        </p:tgtEl>
                                      </p:cBhvr>
                                    </p:animEffect>
                                  </p:childTnLst>
                                </p:cTn>
                              </p:par>
                            </p:childTnLst>
                          </p:cTn>
                        </p:par>
                        <p:par>
                          <p:cTn id="60" fill="hold">
                            <p:stCondLst>
                              <p:cond delay="700"/>
                            </p:stCondLst>
                            <p:childTnLst>
                              <p:par>
                                <p:cTn id="61" presetID="10" presetClass="entr" presetSubtype="0" fill="hold" grpId="0" nodeType="afterEffect">
                                  <p:stCondLst>
                                    <p:cond delay="0"/>
                                  </p:stCondLst>
                                  <p:childTnLst>
                                    <p:set>
                                      <p:cBhvr>
                                        <p:cTn id="62" dur="1" fill="hold">
                                          <p:stCondLst>
                                            <p:cond delay="0"/>
                                          </p:stCondLst>
                                        </p:cTn>
                                        <p:tgtEl>
                                          <p:spTgt spid="42"/>
                                        </p:tgtEl>
                                        <p:attrNameLst>
                                          <p:attrName>style.visibility</p:attrName>
                                        </p:attrNameLst>
                                      </p:cBhvr>
                                      <p:to>
                                        <p:strVal val="visible"/>
                                      </p:to>
                                    </p:set>
                                    <p:animEffect transition="in" filter="fade">
                                      <p:cBhvr>
                                        <p:cTn id="63" dur="500"/>
                                        <p:tgtEl>
                                          <p:spTgt spid="42"/>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43"/>
                                        </p:tgtEl>
                                        <p:attrNameLst>
                                          <p:attrName>style.visibility</p:attrName>
                                        </p:attrNameLst>
                                      </p:cBhvr>
                                      <p:to>
                                        <p:strVal val="visible"/>
                                      </p:to>
                                    </p:set>
                                    <p:animEffect transition="in" filter="wipe(left)">
                                      <p:cBhvr>
                                        <p:cTn id="66" dur="500"/>
                                        <p:tgtEl>
                                          <p:spTgt spid="4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44"/>
                                        </p:tgtEl>
                                        <p:attrNameLst>
                                          <p:attrName>style.visibility</p:attrName>
                                        </p:attrNameLst>
                                      </p:cBhvr>
                                      <p:to>
                                        <p:strVal val="visible"/>
                                      </p:to>
                                    </p:set>
                                    <p:animEffect transition="in" filter="wipe(left)">
                                      <p:cBhvr>
                                        <p:cTn id="69" dur="500"/>
                                        <p:tgtEl>
                                          <p:spTgt spid="44"/>
                                        </p:tgtEl>
                                      </p:cBhvr>
                                    </p:animEffect>
                                  </p:childTnLst>
                                </p:cTn>
                              </p:par>
                              <p:par>
                                <p:cTn id="70" presetID="22" presetClass="entr" presetSubtype="8" fill="hold" grpId="0" nodeType="withEffect">
                                  <p:stCondLst>
                                    <p:cond delay="0"/>
                                  </p:stCondLst>
                                  <p:childTnLst>
                                    <p:set>
                                      <p:cBhvr>
                                        <p:cTn id="71" dur="1" fill="hold">
                                          <p:stCondLst>
                                            <p:cond delay="0"/>
                                          </p:stCondLst>
                                        </p:cTn>
                                        <p:tgtEl>
                                          <p:spTgt spid="45"/>
                                        </p:tgtEl>
                                        <p:attrNameLst>
                                          <p:attrName>style.visibility</p:attrName>
                                        </p:attrNameLst>
                                      </p:cBhvr>
                                      <p:to>
                                        <p:strVal val="visible"/>
                                      </p:to>
                                    </p:set>
                                    <p:animEffect transition="in" filter="wipe(left)">
                                      <p:cBhvr>
                                        <p:cTn id="72" dur="500"/>
                                        <p:tgtEl>
                                          <p:spTgt spid="45"/>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46"/>
                                        </p:tgtEl>
                                        <p:attrNameLst>
                                          <p:attrName>style.visibility</p:attrName>
                                        </p:attrNameLst>
                                      </p:cBhvr>
                                      <p:to>
                                        <p:strVal val="visible"/>
                                      </p:to>
                                    </p:set>
                                    <p:animEffect transition="in" filter="wipe(left)">
                                      <p:cBhvr>
                                        <p:cTn id="75" dur="500"/>
                                        <p:tgtEl>
                                          <p:spTgt spid="4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7"/>
                                        </p:tgtEl>
                                        <p:attrNameLst>
                                          <p:attrName>style.visibility</p:attrName>
                                        </p:attrNameLst>
                                      </p:cBhvr>
                                      <p:to>
                                        <p:strVal val="visible"/>
                                      </p:to>
                                    </p:set>
                                    <p:animEffect transition="in" filter="fade">
                                      <p:cBhvr>
                                        <p:cTn id="78" dur="500"/>
                                        <p:tgtEl>
                                          <p:spTgt spid="4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500"/>
                                        <p:tgtEl>
                                          <p:spTgt spid="48"/>
                                        </p:tgtEl>
                                      </p:cBhvr>
                                    </p:animEffect>
                                  </p:childTnLst>
                                </p:cTn>
                              </p:par>
                              <p:par>
                                <p:cTn id="82" presetID="22" presetClass="entr" presetSubtype="8" fill="hold" grpId="0" nodeType="withEffect">
                                  <p:stCondLst>
                                    <p:cond delay="0"/>
                                  </p:stCondLst>
                                  <p:childTnLst>
                                    <p:set>
                                      <p:cBhvr>
                                        <p:cTn id="83" dur="1" fill="hold">
                                          <p:stCondLst>
                                            <p:cond delay="0"/>
                                          </p:stCondLst>
                                        </p:cTn>
                                        <p:tgtEl>
                                          <p:spTgt spid="49"/>
                                        </p:tgtEl>
                                        <p:attrNameLst>
                                          <p:attrName>style.visibility</p:attrName>
                                        </p:attrNameLst>
                                      </p:cBhvr>
                                      <p:to>
                                        <p:strVal val="visible"/>
                                      </p:to>
                                    </p:set>
                                    <p:animEffect transition="in" filter="wipe(left)">
                                      <p:cBhvr>
                                        <p:cTn id="84" dur="500"/>
                                        <p:tgtEl>
                                          <p:spTgt spid="49"/>
                                        </p:tgtEl>
                                      </p:cBhvr>
                                    </p:animEffect>
                                  </p:childTnLst>
                                </p:cTn>
                              </p:par>
                              <p:par>
                                <p:cTn id="85" presetID="22" presetClass="entr" presetSubtype="8" fill="hold" grpId="0" nodeType="withEffect">
                                  <p:stCondLst>
                                    <p:cond delay="0"/>
                                  </p:stCondLst>
                                  <p:childTnLst>
                                    <p:set>
                                      <p:cBhvr>
                                        <p:cTn id="86" dur="1" fill="hold">
                                          <p:stCondLst>
                                            <p:cond delay="0"/>
                                          </p:stCondLst>
                                        </p:cTn>
                                        <p:tgtEl>
                                          <p:spTgt spid="50"/>
                                        </p:tgtEl>
                                        <p:attrNameLst>
                                          <p:attrName>style.visibility</p:attrName>
                                        </p:attrNameLst>
                                      </p:cBhvr>
                                      <p:to>
                                        <p:strVal val="visible"/>
                                      </p:to>
                                    </p:set>
                                    <p:animEffect transition="in" filter="wipe(left)">
                                      <p:cBhvr>
                                        <p:cTn id="87" dur="500"/>
                                        <p:tgtEl>
                                          <p:spTgt spid="50"/>
                                        </p:tgtEl>
                                      </p:cBhvr>
                                    </p:animEffect>
                                  </p:childTnLst>
                                </p:cTn>
                              </p:par>
                              <p:par>
                                <p:cTn id="88" presetID="22" presetClass="entr" presetSubtype="8" fill="hold" grpId="0" nodeType="withEffect">
                                  <p:stCondLst>
                                    <p:cond delay="0"/>
                                  </p:stCondLst>
                                  <p:childTnLst>
                                    <p:set>
                                      <p:cBhvr>
                                        <p:cTn id="89" dur="1" fill="hold">
                                          <p:stCondLst>
                                            <p:cond delay="0"/>
                                          </p:stCondLst>
                                        </p:cTn>
                                        <p:tgtEl>
                                          <p:spTgt spid="51"/>
                                        </p:tgtEl>
                                        <p:attrNameLst>
                                          <p:attrName>style.visibility</p:attrName>
                                        </p:attrNameLst>
                                      </p:cBhvr>
                                      <p:to>
                                        <p:strVal val="visible"/>
                                      </p:to>
                                    </p:set>
                                    <p:animEffect transition="in" filter="wipe(left)">
                                      <p:cBhvr>
                                        <p:cTn id="90" dur="500"/>
                                        <p:tgtEl>
                                          <p:spTgt spid="51"/>
                                        </p:tgtEl>
                                      </p:cBhvr>
                                    </p:animEffect>
                                  </p:childTnLst>
                                </p:cTn>
                              </p:par>
                              <p:par>
                                <p:cTn id="91" presetID="22" presetClass="entr" presetSubtype="8" fill="hold" grpId="0" nodeType="withEffect">
                                  <p:stCondLst>
                                    <p:cond delay="0"/>
                                  </p:stCondLst>
                                  <p:childTnLst>
                                    <p:set>
                                      <p:cBhvr>
                                        <p:cTn id="92" dur="1" fill="hold">
                                          <p:stCondLst>
                                            <p:cond delay="0"/>
                                          </p:stCondLst>
                                        </p:cTn>
                                        <p:tgtEl>
                                          <p:spTgt spid="52"/>
                                        </p:tgtEl>
                                        <p:attrNameLst>
                                          <p:attrName>style.visibility</p:attrName>
                                        </p:attrNameLst>
                                      </p:cBhvr>
                                      <p:to>
                                        <p:strVal val="visible"/>
                                      </p:to>
                                    </p:set>
                                    <p:animEffect transition="in" filter="wipe(left)">
                                      <p:cBhvr>
                                        <p:cTn id="93" dur="500"/>
                                        <p:tgtEl>
                                          <p:spTgt spid="5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500"/>
                                        <p:tgtEl>
                                          <p:spTgt spid="5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500"/>
                                        <p:tgtEl>
                                          <p:spTgt spid="54"/>
                                        </p:tgtEl>
                                      </p:cBhvr>
                                    </p:animEffect>
                                  </p:childTnLst>
                                </p:cTn>
                              </p:par>
                              <p:par>
                                <p:cTn id="100" presetID="22" presetClass="entr" presetSubtype="8" fill="hold" grpId="0" nodeType="withEffect">
                                  <p:stCondLst>
                                    <p:cond delay="0"/>
                                  </p:stCondLst>
                                  <p:childTnLst>
                                    <p:set>
                                      <p:cBhvr>
                                        <p:cTn id="101" dur="1" fill="hold">
                                          <p:stCondLst>
                                            <p:cond delay="0"/>
                                          </p:stCondLst>
                                        </p:cTn>
                                        <p:tgtEl>
                                          <p:spTgt spid="55"/>
                                        </p:tgtEl>
                                        <p:attrNameLst>
                                          <p:attrName>style.visibility</p:attrName>
                                        </p:attrNameLst>
                                      </p:cBhvr>
                                      <p:to>
                                        <p:strVal val="visible"/>
                                      </p:to>
                                    </p:set>
                                    <p:animEffect transition="in" filter="wipe(left)">
                                      <p:cBhvr>
                                        <p:cTn id="102" dur="500"/>
                                        <p:tgtEl>
                                          <p:spTgt spid="55"/>
                                        </p:tgtEl>
                                      </p:cBhvr>
                                    </p:animEffect>
                                  </p:childTnLst>
                                </p:cTn>
                              </p:par>
                              <p:par>
                                <p:cTn id="103" presetID="22" presetClass="entr" presetSubtype="8" fill="hold" grpId="0" nodeType="withEffect">
                                  <p:stCondLst>
                                    <p:cond delay="0"/>
                                  </p:stCondLst>
                                  <p:childTnLst>
                                    <p:set>
                                      <p:cBhvr>
                                        <p:cTn id="104" dur="1" fill="hold">
                                          <p:stCondLst>
                                            <p:cond delay="0"/>
                                          </p:stCondLst>
                                        </p:cTn>
                                        <p:tgtEl>
                                          <p:spTgt spid="56"/>
                                        </p:tgtEl>
                                        <p:attrNameLst>
                                          <p:attrName>style.visibility</p:attrName>
                                        </p:attrNameLst>
                                      </p:cBhvr>
                                      <p:to>
                                        <p:strVal val="visible"/>
                                      </p:to>
                                    </p:set>
                                    <p:animEffect transition="in" filter="wipe(left)">
                                      <p:cBhvr>
                                        <p:cTn id="105" dur="500"/>
                                        <p:tgtEl>
                                          <p:spTgt spid="56"/>
                                        </p:tgtEl>
                                      </p:cBhvr>
                                    </p:animEffect>
                                  </p:childTnLst>
                                </p:cTn>
                              </p:par>
                              <p:par>
                                <p:cTn id="106" presetID="22" presetClass="entr" presetSubtype="8" fill="hold" grpId="0" nodeType="withEffect">
                                  <p:stCondLst>
                                    <p:cond delay="0"/>
                                  </p:stCondLst>
                                  <p:childTnLst>
                                    <p:set>
                                      <p:cBhvr>
                                        <p:cTn id="107" dur="1" fill="hold">
                                          <p:stCondLst>
                                            <p:cond delay="0"/>
                                          </p:stCondLst>
                                        </p:cTn>
                                        <p:tgtEl>
                                          <p:spTgt spid="57"/>
                                        </p:tgtEl>
                                        <p:attrNameLst>
                                          <p:attrName>style.visibility</p:attrName>
                                        </p:attrNameLst>
                                      </p:cBhvr>
                                      <p:to>
                                        <p:strVal val="visible"/>
                                      </p:to>
                                    </p:set>
                                    <p:animEffect transition="in" filter="wipe(left)">
                                      <p:cBhvr>
                                        <p:cTn id="108" dur="500"/>
                                        <p:tgtEl>
                                          <p:spTgt spid="57"/>
                                        </p:tgtEl>
                                      </p:cBhvr>
                                    </p:animEffect>
                                  </p:childTnLst>
                                </p:cTn>
                              </p:par>
                              <p:par>
                                <p:cTn id="109" presetID="22" presetClass="entr" presetSubtype="8" fill="hold" grpId="0" nodeType="withEffect">
                                  <p:stCondLst>
                                    <p:cond delay="0"/>
                                  </p:stCondLst>
                                  <p:childTnLst>
                                    <p:set>
                                      <p:cBhvr>
                                        <p:cTn id="110" dur="1" fill="hold">
                                          <p:stCondLst>
                                            <p:cond delay="0"/>
                                          </p:stCondLst>
                                        </p:cTn>
                                        <p:tgtEl>
                                          <p:spTgt spid="58"/>
                                        </p:tgtEl>
                                        <p:attrNameLst>
                                          <p:attrName>style.visibility</p:attrName>
                                        </p:attrNameLst>
                                      </p:cBhvr>
                                      <p:to>
                                        <p:strVal val="visible"/>
                                      </p:to>
                                    </p:set>
                                    <p:animEffect transition="in" filter="wipe(left)">
                                      <p:cBhvr>
                                        <p:cTn id="111" dur="500"/>
                                        <p:tgtEl>
                                          <p:spTgt spid="5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9"/>
                                        </p:tgtEl>
                                        <p:attrNameLst>
                                          <p:attrName>style.visibility</p:attrName>
                                        </p:attrNameLst>
                                      </p:cBhvr>
                                      <p:to>
                                        <p:strVal val="visible"/>
                                      </p:to>
                                    </p:set>
                                    <p:animEffect transition="in" filter="fade">
                                      <p:cBhvr>
                                        <p:cTn id="114" dur="500"/>
                                        <p:tgtEl>
                                          <p:spTgt spid="59"/>
                                        </p:tgtEl>
                                      </p:cBhvr>
                                    </p:animEffect>
                                  </p:childTnLst>
                                </p:cTn>
                              </p:par>
                              <p:par>
                                <p:cTn id="115" presetID="22" presetClass="entr" presetSubtype="8" fill="hold" grpId="0" nodeType="withEffect">
                                  <p:stCondLst>
                                    <p:cond delay="0"/>
                                  </p:stCondLst>
                                  <p:childTnLst>
                                    <p:set>
                                      <p:cBhvr>
                                        <p:cTn id="116" dur="1" fill="hold">
                                          <p:stCondLst>
                                            <p:cond delay="0"/>
                                          </p:stCondLst>
                                        </p:cTn>
                                        <p:tgtEl>
                                          <p:spTgt spid="60"/>
                                        </p:tgtEl>
                                        <p:attrNameLst>
                                          <p:attrName>style.visibility</p:attrName>
                                        </p:attrNameLst>
                                      </p:cBhvr>
                                      <p:to>
                                        <p:strVal val="visible"/>
                                      </p:to>
                                    </p:set>
                                    <p:animEffect transition="in" filter="wipe(left)">
                                      <p:cBhvr>
                                        <p:cTn id="117" dur="500"/>
                                        <p:tgtEl>
                                          <p:spTgt spid="60"/>
                                        </p:tgtEl>
                                      </p:cBhvr>
                                    </p:animEffect>
                                  </p:childTnLst>
                                </p:cTn>
                              </p:par>
                              <p:par>
                                <p:cTn id="118" presetID="22" presetClass="entr" presetSubtype="8" fill="hold" grpId="0" nodeType="withEffect">
                                  <p:stCondLst>
                                    <p:cond delay="0"/>
                                  </p:stCondLst>
                                  <p:childTnLst>
                                    <p:set>
                                      <p:cBhvr>
                                        <p:cTn id="119" dur="1" fill="hold">
                                          <p:stCondLst>
                                            <p:cond delay="0"/>
                                          </p:stCondLst>
                                        </p:cTn>
                                        <p:tgtEl>
                                          <p:spTgt spid="61"/>
                                        </p:tgtEl>
                                        <p:attrNameLst>
                                          <p:attrName>style.visibility</p:attrName>
                                        </p:attrNameLst>
                                      </p:cBhvr>
                                      <p:to>
                                        <p:strVal val="visible"/>
                                      </p:to>
                                    </p:set>
                                    <p:animEffect transition="in" filter="wipe(left)">
                                      <p:cBhvr>
                                        <p:cTn id="120" dur="500"/>
                                        <p:tgtEl>
                                          <p:spTgt spid="61"/>
                                        </p:tgtEl>
                                      </p:cBhvr>
                                    </p:animEffect>
                                  </p:childTnLst>
                                </p:cTn>
                              </p:par>
                            </p:childTnLst>
                          </p:cTn>
                        </p:par>
                        <p:par>
                          <p:cTn id="121" fill="hold">
                            <p:stCondLst>
                              <p:cond delay="1050"/>
                            </p:stCondLst>
                            <p:childTnLst>
                              <p:par>
                                <p:cTn id="122" presetID="22" presetClass="entr" presetSubtype="8" fill="hold" grpId="0"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500"/>
                                        <p:tgtEl>
                                          <p:spTgt spid="62"/>
                                        </p:tgtEl>
                                      </p:cBhvr>
                                    </p:animEffect>
                                  </p:childTnLst>
                                </p:cTn>
                              </p:par>
                              <p:par>
                                <p:cTn id="125" presetID="22" presetClass="entr" presetSubtype="8" fill="hold" grpId="0" nodeType="withEffect">
                                  <p:stCondLst>
                                    <p:cond delay="0"/>
                                  </p:stCondLst>
                                  <p:childTnLst>
                                    <p:set>
                                      <p:cBhvr>
                                        <p:cTn id="126" dur="1" fill="hold">
                                          <p:stCondLst>
                                            <p:cond delay="0"/>
                                          </p:stCondLst>
                                        </p:cTn>
                                        <p:tgtEl>
                                          <p:spTgt spid="63"/>
                                        </p:tgtEl>
                                        <p:attrNameLst>
                                          <p:attrName>style.visibility</p:attrName>
                                        </p:attrNameLst>
                                      </p:cBhvr>
                                      <p:to>
                                        <p:strVal val="visible"/>
                                      </p:to>
                                    </p:set>
                                    <p:animEffect transition="in" filter="wipe(left)">
                                      <p:cBhvr>
                                        <p:cTn id="127" dur="500"/>
                                        <p:tgtEl>
                                          <p:spTgt spid="63"/>
                                        </p:tgtEl>
                                      </p:cBhvr>
                                    </p:animEffect>
                                  </p:childTnLst>
                                </p:cTn>
                              </p:par>
                              <p:par>
                                <p:cTn id="128" presetID="22" presetClass="entr" presetSubtype="8" fill="hold" grpId="0" nodeType="withEffect">
                                  <p:stCondLst>
                                    <p:cond delay="0"/>
                                  </p:stCondLst>
                                  <p:childTnLst>
                                    <p:set>
                                      <p:cBhvr>
                                        <p:cTn id="129" dur="1" fill="hold">
                                          <p:stCondLst>
                                            <p:cond delay="0"/>
                                          </p:stCondLst>
                                        </p:cTn>
                                        <p:tgtEl>
                                          <p:spTgt spid="64"/>
                                        </p:tgtEl>
                                        <p:attrNameLst>
                                          <p:attrName>style.visibility</p:attrName>
                                        </p:attrNameLst>
                                      </p:cBhvr>
                                      <p:to>
                                        <p:strVal val="visible"/>
                                      </p:to>
                                    </p:set>
                                    <p:animEffect transition="in" filter="wipe(left)">
                                      <p:cBhvr>
                                        <p:cTn id="130" dur="500"/>
                                        <p:tgtEl>
                                          <p:spTgt spid="64"/>
                                        </p:tgtEl>
                                      </p:cBhvr>
                                    </p:animEffect>
                                  </p:childTnLst>
                                </p:cTn>
                              </p:par>
                              <p:par>
                                <p:cTn id="131" presetID="22" presetClass="entr" presetSubtype="8" fill="hold" grpId="0" nodeType="withEffect">
                                  <p:stCondLst>
                                    <p:cond delay="0"/>
                                  </p:stCondLst>
                                  <p:childTnLst>
                                    <p:set>
                                      <p:cBhvr>
                                        <p:cTn id="132" dur="1" fill="hold">
                                          <p:stCondLst>
                                            <p:cond delay="0"/>
                                          </p:stCondLst>
                                        </p:cTn>
                                        <p:tgtEl>
                                          <p:spTgt spid="65"/>
                                        </p:tgtEl>
                                        <p:attrNameLst>
                                          <p:attrName>style.visibility</p:attrName>
                                        </p:attrNameLst>
                                      </p:cBhvr>
                                      <p:to>
                                        <p:strVal val="visible"/>
                                      </p:to>
                                    </p:set>
                                    <p:animEffect transition="in" filter="wipe(left)">
                                      <p:cBhvr>
                                        <p:cTn id="133" dur="500"/>
                                        <p:tgtEl>
                                          <p:spTgt spid="65"/>
                                        </p:tgtEl>
                                      </p:cBhvr>
                                    </p:animEffect>
                                  </p:childTnLst>
                                </p:cTn>
                              </p:par>
                              <p:par>
                                <p:cTn id="134" presetID="22" presetClass="entr" presetSubtype="8" fill="hold" grpId="0" nodeType="withEffect">
                                  <p:stCondLst>
                                    <p:cond delay="0"/>
                                  </p:stCondLst>
                                  <p:childTnLst>
                                    <p:set>
                                      <p:cBhvr>
                                        <p:cTn id="135" dur="1" fill="hold">
                                          <p:stCondLst>
                                            <p:cond delay="0"/>
                                          </p:stCondLst>
                                        </p:cTn>
                                        <p:tgtEl>
                                          <p:spTgt spid="66"/>
                                        </p:tgtEl>
                                        <p:attrNameLst>
                                          <p:attrName>style.visibility</p:attrName>
                                        </p:attrNameLst>
                                      </p:cBhvr>
                                      <p:to>
                                        <p:strVal val="visible"/>
                                      </p:to>
                                    </p:set>
                                    <p:animEffect transition="in" filter="wipe(left)">
                                      <p:cBhvr>
                                        <p:cTn id="136" dur="500"/>
                                        <p:tgtEl>
                                          <p:spTgt spid="66"/>
                                        </p:tgtEl>
                                      </p:cBhvr>
                                    </p:animEffect>
                                  </p:childTnLst>
                                </p:cTn>
                              </p:par>
                              <p:par>
                                <p:cTn id="137" presetID="22" presetClass="entr" presetSubtype="8" fill="hold" grpId="0" nodeType="withEffect">
                                  <p:stCondLst>
                                    <p:cond delay="0"/>
                                  </p:stCondLst>
                                  <p:childTnLst>
                                    <p:set>
                                      <p:cBhvr>
                                        <p:cTn id="138" dur="1" fill="hold">
                                          <p:stCondLst>
                                            <p:cond delay="0"/>
                                          </p:stCondLst>
                                        </p:cTn>
                                        <p:tgtEl>
                                          <p:spTgt spid="67"/>
                                        </p:tgtEl>
                                        <p:attrNameLst>
                                          <p:attrName>style.visibility</p:attrName>
                                        </p:attrNameLst>
                                      </p:cBhvr>
                                      <p:to>
                                        <p:strVal val="visible"/>
                                      </p:to>
                                    </p:set>
                                    <p:animEffect transition="in" filter="wipe(left)">
                                      <p:cBhvr>
                                        <p:cTn id="139" dur="500"/>
                                        <p:tgtEl>
                                          <p:spTgt spid="67"/>
                                        </p:tgtEl>
                                      </p:cBhvr>
                                    </p:animEffect>
                                  </p:childTnLst>
                                </p:cTn>
                              </p:par>
                              <p:par>
                                <p:cTn id="140" presetID="22" presetClass="entr" presetSubtype="8" fill="hold" grpId="0" nodeType="withEffect">
                                  <p:stCondLst>
                                    <p:cond delay="0"/>
                                  </p:stCondLst>
                                  <p:childTnLst>
                                    <p:set>
                                      <p:cBhvr>
                                        <p:cTn id="141" dur="1" fill="hold">
                                          <p:stCondLst>
                                            <p:cond delay="0"/>
                                          </p:stCondLst>
                                        </p:cTn>
                                        <p:tgtEl>
                                          <p:spTgt spid="68"/>
                                        </p:tgtEl>
                                        <p:attrNameLst>
                                          <p:attrName>style.visibility</p:attrName>
                                        </p:attrNameLst>
                                      </p:cBhvr>
                                      <p:to>
                                        <p:strVal val="visible"/>
                                      </p:to>
                                    </p:set>
                                    <p:animEffect transition="in" filter="wipe(left)">
                                      <p:cBhvr>
                                        <p:cTn id="142" dur="500"/>
                                        <p:tgtEl>
                                          <p:spTgt spid="68"/>
                                        </p:tgtEl>
                                      </p:cBhvr>
                                    </p:animEffect>
                                  </p:childTnLst>
                                </p:cTn>
                              </p:par>
                              <p:par>
                                <p:cTn id="143" presetID="22" presetClass="entr" presetSubtype="8" fill="hold" grpId="0" nodeType="withEffect">
                                  <p:stCondLst>
                                    <p:cond delay="0"/>
                                  </p:stCondLst>
                                  <p:childTnLst>
                                    <p:set>
                                      <p:cBhvr>
                                        <p:cTn id="144" dur="1" fill="hold">
                                          <p:stCondLst>
                                            <p:cond delay="0"/>
                                          </p:stCondLst>
                                        </p:cTn>
                                        <p:tgtEl>
                                          <p:spTgt spid="69"/>
                                        </p:tgtEl>
                                        <p:attrNameLst>
                                          <p:attrName>style.visibility</p:attrName>
                                        </p:attrNameLst>
                                      </p:cBhvr>
                                      <p:to>
                                        <p:strVal val="visible"/>
                                      </p:to>
                                    </p:set>
                                    <p:animEffect transition="in" filter="wipe(left)">
                                      <p:cBhvr>
                                        <p:cTn id="145" dur="500"/>
                                        <p:tgtEl>
                                          <p:spTgt spid="69"/>
                                        </p:tgtEl>
                                      </p:cBhvr>
                                    </p:animEffect>
                                  </p:childTnLst>
                                </p:cTn>
                              </p:par>
                            </p:childTnLst>
                          </p:cTn>
                        </p:par>
                        <p:par>
                          <p:cTn id="146" fill="hold">
                            <p:stCondLst>
                              <p:cond delay="1400"/>
                            </p:stCondLst>
                            <p:childTnLst>
                              <p:par>
                                <p:cTn id="147" presetID="10" presetClass="entr" presetSubtype="0" fill="hold" grpId="0" nodeType="afterEffect">
                                  <p:stCondLst>
                                    <p:cond delay="0"/>
                                  </p:stCondLst>
                                  <p:childTnLst>
                                    <p:set>
                                      <p:cBhvr>
                                        <p:cTn id="148" dur="1" fill="hold">
                                          <p:stCondLst>
                                            <p:cond delay="0"/>
                                          </p:stCondLst>
                                        </p:cTn>
                                        <p:tgtEl>
                                          <p:spTgt spid="70"/>
                                        </p:tgtEl>
                                        <p:attrNameLst>
                                          <p:attrName>style.visibility</p:attrName>
                                        </p:attrNameLst>
                                      </p:cBhvr>
                                      <p:to>
                                        <p:strVal val="visible"/>
                                      </p:to>
                                    </p:set>
                                    <p:animEffect transition="in" filter="fade">
                                      <p:cBhvr>
                                        <p:cTn id="149" dur="500"/>
                                        <p:tgtEl>
                                          <p:spTgt spid="70"/>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71"/>
                                        </p:tgtEl>
                                        <p:attrNameLst>
                                          <p:attrName>style.visibility</p:attrName>
                                        </p:attrNameLst>
                                      </p:cBhvr>
                                      <p:to>
                                        <p:strVal val="visible"/>
                                      </p:to>
                                    </p:set>
                                    <p:animEffect transition="in" filter="fade">
                                      <p:cBhvr>
                                        <p:cTn id="152" dur="500"/>
                                        <p:tgtEl>
                                          <p:spTgt spid="71"/>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72"/>
                                        </p:tgtEl>
                                        <p:attrNameLst>
                                          <p:attrName>style.visibility</p:attrName>
                                        </p:attrNameLst>
                                      </p:cBhvr>
                                      <p:to>
                                        <p:strVal val="visible"/>
                                      </p:to>
                                    </p:set>
                                    <p:animEffect transition="in" filter="fade">
                                      <p:cBhvr>
                                        <p:cTn id="155" dur="500"/>
                                        <p:tgtEl>
                                          <p:spTgt spid="72"/>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73"/>
                                        </p:tgtEl>
                                        <p:attrNameLst>
                                          <p:attrName>style.visibility</p:attrName>
                                        </p:attrNameLst>
                                      </p:cBhvr>
                                      <p:to>
                                        <p:strVal val="visible"/>
                                      </p:to>
                                    </p:set>
                                    <p:animEffect transition="in" filter="fade">
                                      <p:cBhvr>
                                        <p:cTn id="158" dur="500"/>
                                        <p:tgtEl>
                                          <p:spTgt spid="73"/>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74"/>
                                        </p:tgtEl>
                                        <p:attrNameLst>
                                          <p:attrName>style.visibility</p:attrName>
                                        </p:attrNameLst>
                                      </p:cBhvr>
                                      <p:to>
                                        <p:strVal val="visible"/>
                                      </p:to>
                                    </p:set>
                                    <p:animEffect transition="in" filter="fade">
                                      <p:cBhvr>
                                        <p:cTn id="161" dur="500"/>
                                        <p:tgtEl>
                                          <p:spTgt spid="74"/>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75"/>
                                        </p:tgtEl>
                                        <p:attrNameLst>
                                          <p:attrName>style.visibility</p:attrName>
                                        </p:attrNameLst>
                                      </p:cBhvr>
                                      <p:to>
                                        <p:strVal val="visible"/>
                                      </p:to>
                                    </p:set>
                                    <p:animEffect transition="in" filter="fade">
                                      <p:cBhvr>
                                        <p:cTn id="164" dur="500"/>
                                        <p:tgtEl>
                                          <p:spTgt spid="75"/>
                                        </p:tgtEl>
                                      </p:cBhvr>
                                    </p:animEffect>
                                  </p:childTnLst>
                                </p:cTn>
                              </p:par>
                            </p:childTnLst>
                          </p:cTn>
                        </p:par>
                        <p:par>
                          <p:cTn id="165" fill="hold">
                            <p:stCondLst>
                              <p:cond delay="1750"/>
                            </p:stCondLst>
                            <p:childTnLst>
                              <p:par>
                                <p:cTn id="166" presetID="10" presetClass="entr" presetSubtype="0" fill="hold" grpId="0" nodeType="afterEffect">
                                  <p:stCondLst>
                                    <p:cond delay="0"/>
                                  </p:stCondLst>
                                  <p:childTnLst>
                                    <p:set>
                                      <p:cBhvr>
                                        <p:cTn id="167" dur="1" fill="hold">
                                          <p:stCondLst>
                                            <p:cond delay="0"/>
                                          </p:stCondLst>
                                        </p:cTn>
                                        <p:tgtEl>
                                          <p:spTgt spid="76"/>
                                        </p:tgtEl>
                                        <p:attrNameLst>
                                          <p:attrName>style.visibility</p:attrName>
                                        </p:attrNameLst>
                                      </p:cBhvr>
                                      <p:to>
                                        <p:strVal val="visible"/>
                                      </p:to>
                                    </p:set>
                                    <p:animEffect transition="in" filter="fade">
                                      <p:cBhvr>
                                        <p:cTn id="168" dur="500"/>
                                        <p:tgtEl>
                                          <p:spTgt spid="76"/>
                                        </p:tgtEl>
                                      </p:cBhvr>
                                    </p:animEffect>
                                  </p:childTnLst>
                                </p:cTn>
                              </p:par>
                              <p:par>
                                <p:cTn id="169" presetID="22" presetClass="entr" presetSubtype="8" fill="hold" grpId="0" nodeType="withEffect">
                                  <p:stCondLst>
                                    <p:cond delay="0"/>
                                  </p:stCondLst>
                                  <p:childTnLst>
                                    <p:set>
                                      <p:cBhvr>
                                        <p:cTn id="170" dur="1" fill="hold">
                                          <p:stCondLst>
                                            <p:cond delay="0"/>
                                          </p:stCondLst>
                                        </p:cTn>
                                        <p:tgtEl>
                                          <p:spTgt spid="77"/>
                                        </p:tgtEl>
                                        <p:attrNameLst>
                                          <p:attrName>style.visibility</p:attrName>
                                        </p:attrNameLst>
                                      </p:cBhvr>
                                      <p:to>
                                        <p:strVal val="visible"/>
                                      </p:to>
                                    </p:set>
                                    <p:animEffect transition="in" filter="wipe(left)">
                                      <p:cBhvr>
                                        <p:cTn id="171" dur="500"/>
                                        <p:tgtEl>
                                          <p:spTgt spid="77"/>
                                        </p:tgtEl>
                                      </p:cBhvr>
                                    </p:animEffect>
                                  </p:childTnLst>
                                </p:cTn>
                              </p:par>
                              <p:par>
                                <p:cTn id="172" presetID="22" presetClass="entr" presetSubtype="8" fill="hold" grpId="0" nodeType="withEffect">
                                  <p:stCondLst>
                                    <p:cond delay="0"/>
                                  </p:stCondLst>
                                  <p:childTnLst>
                                    <p:set>
                                      <p:cBhvr>
                                        <p:cTn id="173" dur="1" fill="hold">
                                          <p:stCondLst>
                                            <p:cond delay="0"/>
                                          </p:stCondLst>
                                        </p:cTn>
                                        <p:tgtEl>
                                          <p:spTgt spid="78"/>
                                        </p:tgtEl>
                                        <p:attrNameLst>
                                          <p:attrName>style.visibility</p:attrName>
                                        </p:attrNameLst>
                                      </p:cBhvr>
                                      <p:to>
                                        <p:strVal val="visible"/>
                                      </p:to>
                                    </p:set>
                                    <p:animEffect transition="in" filter="wipe(left)">
                                      <p:cBhvr>
                                        <p:cTn id="174" dur="500"/>
                                        <p:tgtEl>
                                          <p:spTgt spid="78"/>
                                        </p:tgtEl>
                                      </p:cBhvr>
                                    </p:animEffect>
                                  </p:childTnLst>
                                </p:cTn>
                              </p:par>
                              <p:par>
                                <p:cTn id="175" presetID="22" presetClass="entr" presetSubtype="8" fill="hold" grpId="0" nodeType="withEffect">
                                  <p:stCondLst>
                                    <p:cond delay="0"/>
                                  </p:stCondLst>
                                  <p:childTnLst>
                                    <p:set>
                                      <p:cBhvr>
                                        <p:cTn id="176" dur="1" fill="hold">
                                          <p:stCondLst>
                                            <p:cond delay="0"/>
                                          </p:stCondLst>
                                        </p:cTn>
                                        <p:tgtEl>
                                          <p:spTgt spid="79"/>
                                        </p:tgtEl>
                                        <p:attrNameLst>
                                          <p:attrName>style.visibility</p:attrName>
                                        </p:attrNameLst>
                                      </p:cBhvr>
                                      <p:to>
                                        <p:strVal val="visible"/>
                                      </p:to>
                                    </p:set>
                                    <p:animEffect transition="in" filter="wipe(left)">
                                      <p:cBhvr>
                                        <p:cTn id="177" dur="500"/>
                                        <p:tgtEl>
                                          <p:spTgt spid="79"/>
                                        </p:tgtEl>
                                      </p:cBhvr>
                                    </p:animEffect>
                                  </p:childTnLst>
                                </p:cTn>
                              </p:par>
                              <p:par>
                                <p:cTn id="178" presetID="22" presetClass="entr" presetSubtype="8" fill="hold" grpId="0" nodeType="withEffect">
                                  <p:stCondLst>
                                    <p:cond delay="0"/>
                                  </p:stCondLst>
                                  <p:childTnLst>
                                    <p:set>
                                      <p:cBhvr>
                                        <p:cTn id="179" dur="1" fill="hold">
                                          <p:stCondLst>
                                            <p:cond delay="0"/>
                                          </p:stCondLst>
                                        </p:cTn>
                                        <p:tgtEl>
                                          <p:spTgt spid="80"/>
                                        </p:tgtEl>
                                        <p:attrNameLst>
                                          <p:attrName>style.visibility</p:attrName>
                                        </p:attrNameLst>
                                      </p:cBhvr>
                                      <p:to>
                                        <p:strVal val="visible"/>
                                      </p:to>
                                    </p:set>
                                    <p:animEffect transition="in" filter="wipe(left)">
                                      <p:cBhvr>
                                        <p:cTn id="180" dur="500"/>
                                        <p:tgtEl>
                                          <p:spTgt spid="80"/>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81"/>
                                        </p:tgtEl>
                                        <p:attrNameLst>
                                          <p:attrName>style.visibility</p:attrName>
                                        </p:attrNameLst>
                                      </p:cBhvr>
                                      <p:to>
                                        <p:strVal val="visible"/>
                                      </p:to>
                                    </p:set>
                                    <p:animEffect transition="in" filter="fade">
                                      <p:cBhvr>
                                        <p:cTn id="183" dur="500"/>
                                        <p:tgtEl>
                                          <p:spTgt spid="81"/>
                                        </p:tgtEl>
                                      </p:cBhvr>
                                    </p:animEffect>
                                  </p:childTnLst>
                                </p:cTn>
                              </p:par>
                              <p:par>
                                <p:cTn id="184" presetID="22" presetClass="entr" presetSubtype="8" fill="hold" grpId="0" nodeType="withEffect">
                                  <p:stCondLst>
                                    <p:cond delay="0"/>
                                  </p:stCondLst>
                                  <p:childTnLst>
                                    <p:set>
                                      <p:cBhvr>
                                        <p:cTn id="185" dur="1" fill="hold">
                                          <p:stCondLst>
                                            <p:cond delay="0"/>
                                          </p:stCondLst>
                                        </p:cTn>
                                        <p:tgtEl>
                                          <p:spTgt spid="82"/>
                                        </p:tgtEl>
                                        <p:attrNameLst>
                                          <p:attrName>style.visibility</p:attrName>
                                        </p:attrNameLst>
                                      </p:cBhvr>
                                      <p:to>
                                        <p:strVal val="visible"/>
                                      </p:to>
                                    </p:set>
                                    <p:animEffect transition="in" filter="wipe(left)">
                                      <p:cBhvr>
                                        <p:cTn id="186" dur="500"/>
                                        <p:tgtEl>
                                          <p:spTgt spid="82"/>
                                        </p:tgtEl>
                                      </p:cBhvr>
                                    </p:animEffect>
                                  </p:childTnLst>
                                </p:cTn>
                              </p:par>
                              <p:par>
                                <p:cTn id="187" presetID="22" presetClass="entr" presetSubtype="8" fill="hold" grpId="0" nodeType="withEffect">
                                  <p:stCondLst>
                                    <p:cond delay="0"/>
                                  </p:stCondLst>
                                  <p:childTnLst>
                                    <p:set>
                                      <p:cBhvr>
                                        <p:cTn id="188" dur="1" fill="hold">
                                          <p:stCondLst>
                                            <p:cond delay="0"/>
                                          </p:stCondLst>
                                        </p:cTn>
                                        <p:tgtEl>
                                          <p:spTgt spid="83"/>
                                        </p:tgtEl>
                                        <p:attrNameLst>
                                          <p:attrName>style.visibility</p:attrName>
                                        </p:attrNameLst>
                                      </p:cBhvr>
                                      <p:to>
                                        <p:strVal val="visible"/>
                                      </p:to>
                                    </p:set>
                                    <p:animEffect transition="in" filter="wipe(left)">
                                      <p:cBhvr>
                                        <p:cTn id="189" dur="500"/>
                                        <p:tgtEl>
                                          <p:spTgt spid="83"/>
                                        </p:tgtEl>
                                      </p:cBhvr>
                                    </p:animEffect>
                                  </p:childTnLst>
                                </p:cTn>
                              </p:par>
                            </p:childTnLst>
                          </p:cTn>
                        </p:par>
                        <p:par>
                          <p:cTn id="190" fill="hold">
                            <p:stCondLst>
                              <p:cond delay="2100"/>
                            </p:stCondLst>
                            <p:childTnLst>
                              <p:par>
                                <p:cTn id="191" presetID="22" presetClass="entr" presetSubtype="8" fill="hold" grpId="0" nodeType="afterEffect">
                                  <p:stCondLst>
                                    <p:cond delay="0"/>
                                  </p:stCondLst>
                                  <p:childTnLst>
                                    <p:set>
                                      <p:cBhvr>
                                        <p:cTn id="192" dur="1" fill="hold">
                                          <p:stCondLst>
                                            <p:cond delay="0"/>
                                          </p:stCondLst>
                                        </p:cTn>
                                        <p:tgtEl>
                                          <p:spTgt spid="84"/>
                                        </p:tgtEl>
                                        <p:attrNameLst>
                                          <p:attrName>style.visibility</p:attrName>
                                        </p:attrNameLst>
                                      </p:cBhvr>
                                      <p:to>
                                        <p:strVal val="visible"/>
                                      </p:to>
                                    </p:set>
                                    <p:animEffect transition="in" filter="wipe(left)">
                                      <p:cBhvr>
                                        <p:cTn id="193" dur="500"/>
                                        <p:tgtEl>
                                          <p:spTgt spid="84"/>
                                        </p:tgtEl>
                                      </p:cBhvr>
                                    </p:animEffect>
                                  </p:childTnLst>
                                </p:cTn>
                              </p:par>
                              <p:par>
                                <p:cTn id="194" presetID="10" presetClass="entr" presetSubtype="0" fill="hold" grpId="0" nodeType="withEffect">
                                  <p:stCondLst>
                                    <p:cond delay="0"/>
                                  </p:stCondLst>
                                  <p:childTnLst>
                                    <p:set>
                                      <p:cBhvr>
                                        <p:cTn id="195" dur="1" fill="hold">
                                          <p:stCondLst>
                                            <p:cond delay="0"/>
                                          </p:stCondLst>
                                        </p:cTn>
                                        <p:tgtEl>
                                          <p:spTgt spid="85"/>
                                        </p:tgtEl>
                                        <p:attrNameLst>
                                          <p:attrName>style.visibility</p:attrName>
                                        </p:attrNameLst>
                                      </p:cBhvr>
                                      <p:to>
                                        <p:strVal val="visible"/>
                                      </p:to>
                                    </p:set>
                                    <p:animEffect transition="in" filter="fade">
                                      <p:cBhvr>
                                        <p:cTn id="196" dur="500"/>
                                        <p:tgtEl>
                                          <p:spTgt spid="85"/>
                                        </p:tgtEl>
                                      </p:cBhvr>
                                    </p:animEffect>
                                  </p:childTnLst>
                                </p:cTn>
                              </p:par>
                              <p:par>
                                <p:cTn id="197" presetID="10" presetClass="entr" presetSubtype="0" fill="hold" grpId="0" nodeType="withEffect">
                                  <p:stCondLst>
                                    <p:cond delay="0"/>
                                  </p:stCondLst>
                                  <p:childTnLst>
                                    <p:set>
                                      <p:cBhvr>
                                        <p:cTn id="198" dur="1" fill="hold">
                                          <p:stCondLst>
                                            <p:cond delay="0"/>
                                          </p:stCondLst>
                                        </p:cTn>
                                        <p:tgtEl>
                                          <p:spTgt spid="86"/>
                                        </p:tgtEl>
                                        <p:attrNameLst>
                                          <p:attrName>style.visibility</p:attrName>
                                        </p:attrNameLst>
                                      </p:cBhvr>
                                      <p:to>
                                        <p:strVal val="visible"/>
                                      </p:to>
                                    </p:set>
                                    <p:animEffect transition="in" filter="fade">
                                      <p:cBhvr>
                                        <p:cTn id="199" dur="5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A0_506"/>
          <p:cNvSpPr/>
          <p:nvPr/>
        </p:nvSpPr>
        <p:spPr>
          <a:xfrm>
            <a:off x="6800850" y="274320"/>
            <a:ext cx="109728" cy="109728"/>
          </a:xfrm>
          <a:prstGeom prst="rect">
            <a:avLst/>
          </a:prstGeom>
          <a:solidFill>
            <a:srgbClr val="0A6EBD"/>
          </a:solidFill>
          <a:ln w="12700">
            <a:solidFill>
              <a:srgbClr val="0A6EBD"/>
            </a:solidFill>
            <a:prstDash val="solid"/>
          </a:ln>
        </p:spPr>
      </p:sp>
      <p:sp>
        <p:nvSpPr>
          <p:cNvPr id="4" name="A0_507"/>
          <p:cNvSpPr/>
          <p:nvPr/>
        </p:nvSpPr>
        <p:spPr>
          <a:xfrm>
            <a:off x="6992874" y="274320"/>
            <a:ext cx="109728" cy="109728"/>
          </a:xfrm>
          <a:prstGeom prst="rect">
            <a:avLst/>
          </a:prstGeom>
          <a:solidFill>
            <a:srgbClr val="0A6EBD"/>
          </a:solidFill>
          <a:ln w="12700">
            <a:solidFill>
              <a:srgbClr val="0A6EBD"/>
            </a:solidFill>
            <a:prstDash val="solid"/>
          </a:ln>
        </p:spPr>
      </p:sp>
      <p:sp>
        <p:nvSpPr>
          <p:cNvPr id="5" name="A0_508"/>
          <p:cNvSpPr/>
          <p:nvPr/>
        </p:nvSpPr>
        <p:spPr>
          <a:xfrm>
            <a:off x="7184898" y="274320"/>
            <a:ext cx="109728" cy="109728"/>
          </a:xfrm>
          <a:prstGeom prst="rect">
            <a:avLst/>
          </a:prstGeom>
          <a:solidFill>
            <a:srgbClr val="0A6EBD"/>
          </a:solidFill>
          <a:ln w="12700">
            <a:solidFill>
              <a:srgbClr val="0A6EBD"/>
            </a:solidFill>
            <a:prstDash val="solid"/>
          </a:ln>
        </p:spPr>
      </p:sp>
      <p:sp>
        <p:nvSpPr>
          <p:cNvPr id="6" name="A0_509"/>
          <p:cNvSpPr/>
          <p:nvPr/>
        </p:nvSpPr>
        <p:spPr>
          <a:xfrm>
            <a:off x="7376922" y="274320"/>
            <a:ext cx="109728" cy="109728"/>
          </a:xfrm>
          <a:prstGeom prst="rect">
            <a:avLst/>
          </a:prstGeom>
          <a:solidFill>
            <a:srgbClr val="0A6EBD"/>
          </a:solidFill>
          <a:ln w="12700">
            <a:solidFill>
              <a:srgbClr val="0A6EBD"/>
            </a:solidFill>
            <a:prstDash val="solid"/>
          </a:ln>
        </p:spPr>
      </p:sp>
      <p:sp>
        <p:nvSpPr>
          <p:cNvPr id="7" name="A0_510"/>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Diagramme de classe</a:t>
            </a:r>
            <a:endParaRPr lang="en-US" sz="3600" dirty="0"/>
          </a:p>
        </p:txBody>
      </p:sp>
      <p:pic>
        <p:nvPicPr>
          <p:cNvPr id="8" name="A0_511"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525"/>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526"/>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15</a:t>
            </a:r>
            <a:endParaRPr lang="en-US" sz="1500" dirty="0"/>
          </a:p>
        </p:txBody>
      </p:sp>
      <p:sp>
        <p:nvSpPr>
          <p:cNvPr id="24" name="A1_527"/>
          <p:cNvSpPr/>
          <p:nvPr/>
        </p:nvSpPr>
        <p:spPr>
          <a:xfrm>
            <a:off x="822960" y="1508760"/>
            <a:ext cx="3291840" cy="457200"/>
          </a:xfrm>
          <a:prstGeom prst="rect">
            <a:avLst/>
          </a:prstGeom>
          <a:solidFill>
            <a:srgbClr val="0A6EBD"/>
          </a:solidFill>
          <a:ln w="12700">
            <a:solidFill>
              <a:srgbClr val="0B3C66"/>
            </a:solidFill>
            <a:prstDash val="solid"/>
          </a:ln>
        </p:spPr>
        <p:txBody>
          <a:bodyPr/>
          <a:lstStyle/>
          <a:p>
            <a:endParaRPr lang="fr-FR"/>
          </a:p>
        </p:txBody>
      </p:sp>
      <p:sp>
        <p:nvSpPr>
          <p:cNvPr id="25" name="A1_528"/>
          <p:cNvSpPr txBox="1"/>
          <p:nvPr/>
        </p:nvSpPr>
        <p:spPr>
          <a:xfrm>
            <a:off x="822960" y="1508760"/>
            <a:ext cx="329184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ÉvénementAudit</a:t>
            </a:r>
            <a:endParaRPr lang="en-US" sz="1400" dirty="0"/>
          </a:p>
        </p:txBody>
      </p:sp>
      <p:sp>
        <p:nvSpPr>
          <p:cNvPr id="26" name="A1_529"/>
          <p:cNvSpPr/>
          <p:nvPr/>
        </p:nvSpPr>
        <p:spPr>
          <a:xfrm>
            <a:off x="822960" y="1965960"/>
            <a:ext cx="3291840" cy="1042416"/>
          </a:xfrm>
          <a:prstGeom prst="rect">
            <a:avLst/>
          </a:prstGeom>
          <a:solidFill>
            <a:srgbClr val="FFFFFF"/>
          </a:solidFill>
          <a:ln w="12700">
            <a:solidFill>
              <a:srgbClr val="0B3C66"/>
            </a:solidFill>
            <a:prstDash val="solid"/>
          </a:ln>
        </p:spPr>
        <p:txBody>
          <a:bodyPr/>
          <a:lstStyle/>
          <a:p>
            <a:endParaRPr lang="fr-FR"/>
          </a:p>
        </p:txBody>
      </p:sp>
      <p:sp>
        <p:nvSpPr>
          <p:cNvPr id="27" name="A1_530"/>
          <p:cNvSpPr txBox="1"/>
          <p:nvPr/>
        </p:nvSpPr>
        <p:spPr>
          <a:xfrm>
            <a:off x="932688" y="2039112"/>
            <a:ext cx="3108960" cy="932688"/>
          </a:xfrm>
          <a:prstGeom prst="rect">
            <a:avLst/>
          </a:prstGeom>
          <a:noFill/>
          <a:ln/>
        </p:spPr>
        <p:txBody>
          <a:bodyPr wrap="square" lIns="0" tIns="0" rIns="0" bIns="0" rtlCol="0" anchor="t"/>
          <a:lstStyle/>
          <a:p>
            <a:pPr marL="0" indent="0">
              <a:lnSpc>
                <a:spcPct val="105000"/>
              </a:lnSpc>
              <a:buNone/>
            </a:pPr>
            <a:r>
              <a:rPr lang="en-US" sz="1100" dirty="0">
                <a:solidFill>
                  <a:srgbClr val="262626"/>
                </a:solidFill>
                <a:latin typeface="Arial" pitchFamily="34" charset="0"/>
                <a:ea typeface="Arial" pitchFamily="34" charset="-122"/>
                <a:cs typeface="Arial" pitchFamily="34" charset="-120"/>
              </a:rPr>
              <a:t>- date : DateHeure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utilisateur : Texte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action : Texte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détail : Texte</a:t>
            </a:r>
            <a:endParaRPr lang="en-US" sz="1100" dirty="0"/>
          </a:p>
        </p:txBody>
      </p:sp>
      <p:sp>
        <p:nvSpPr>
          <p:cNvPr id="28" name="A1_531"/>
          <p:cNvSpPr/>
          <p:nvPr/>
        </p:nvSpPr>
        <p:spPr>
          <a:xfrm>
            <a:off x="822960" y="3008376"/>
            <a:ext cx="3291840" cy="370332"/>
          </a:xfrm>
          <a:prstGeom prst="rect">
            <a:avLst/>
          </a:prstGeom>
          <a:solidFill>
            <a:srgbClr val="F7FAFD"/>
          </a:solidFill>
          <a:ln w="12700">
            <a:solidFill>
              <a:srgbClr val="0B3C66"/>
            </a:solidFill>
            <a:prstDash val="solid"/>
          </a:ln>
        </p:spPr>
        <p:txBody>
          <a:bodyPr/>
          <a:lstStyle/>
          <a:p>
            <a:endParaRPr lang="fr-FR"/>
          </a:p>
        </p:txBody>
      </p:sp>
      <p:sp>
        <p:nvSpPr>
          <p:cNvPr id="29" name="A1_532"/>
          <p:cNvSpPr txBox="1"/>
          <p:nvPr/>
        </p:nvSpPr>
        <p:spPr>
          <a:xfrm>
            <a:off x="932688" y="3081528"/>
            <a:ext cx="3108960" cy="260604"/>
          </a:xfrm>
          <a:prstGeom prst="rect">
            <a:avLst/>
          </a:prstGeom>
          <a:noFill/>
          <a:ln/>
        </p:spPr>
        <p:txBody>
          <a:bodyPr wrap="square" lIns="0" tIns="0" rIns="0" bIns="0" rtlCol="0" anchor="t"/>
          <a:lstStyle/>
          <a:p>
            <a:pPr marL="0" indent="0">
              <a:buNone/>
            </a:pPr>
            <a:r>
              <a:rPr lang="en-US" sz="1100" dirty="0">
                <a:solidFill>
                  <a:srgbClr val="262626"/>
                </a:solidFill>
                <a:latin typeface="Arial" pitchFamily="34" charset="0"/>
                <a:ea typeface="Arial" pitchFamily="34" charset="-122"/>
                <a:cs typeface="Arial" pitchFamily="34" charset="-120"/>
              </a:rPr>
              <a:t>+ enregistrer()</a:t>
            </a:r>
            <a:endParaRPr lang="en-US" sz="1100" dirty="0"/>
          </a:p>
        </p:txBody>
      </p:sp>
      <p:sp>
        <p:nvSpPr>
          <p:cNvPr id="30" name="A2_533"/>
          <p:cNvSpPr/>
          <p:nvPr/>
        </p:nvSpPr>
        <p:spPr>
          <a:xfrm>
            <a:off x="5486400" y="1508760"/>
            <a:ext cx="3291840" cy="457200"/>
          </a:xfrm>
          <a:prstGeom prst="rect">
            <a:avLst/>
          </a:prstGeom>
          <a:solidFill>
            <a:srgbClr val="0A6EBD"/>
          </a:solidFill>
          <a:ln w="12700">
            <a:solidFill>
              <a:srgbClr val="0B3C66"/>
            </a:solidFill>
            <a:prstDash val="solid"/>
          </a:ln>
        </p:spPr>
        <p:txBody>
          <a:bodyPr/>
          <a:lstStyle/>
          <a:p>
            <a:endParaRPr lang="fr-FR"/>
          </a:p>
        </p:txBody>
      </p:sp>
      <p:sp>
        <p:nvSpPr>
          <p:cNvPr id="31" name="A2_534"/>
          <p:cNvSpPr txBox="1"/>
          <p:nvPr/>
        </p:nvSpPr>
        <p:spPr>
          <a:xfrm>
            <a:off x="5486400" y="1508760"/>
            <a:ext cx="329184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Utilisateur</a:t>
            </a:r>
            <a:endParaRPr lang="en-US" sz="1400" dirty="0"/>
          </a:p>
        </p:txBody>
      </p:sp>
      <p:sp>
        <p:nvSpPr>
          <p:cNvPr id="32" name="A2_535"/>
          <p:cNvSpPr/>
          <p:nvPr/>
        </p:nvSpPr>
        <p:spPr>
          <a:xfrm>
            <a:off x="5486400" y="1965960"/>
            <a:ext cx="3291840" cy="1042416"/>
          </a:xfrm>
          <a:prstGeom prst="rect">
            <a:avLst/>
          </a:prstGeom>
          <a:solidFill>
            <a:srgbClr val="FFFFFF"/>
          </a:solidFill>
          <a:ln w="12700">
            <a:solidFill>
              <a:srgbClr val="0B3C66"/>
            </a:solidFill>
            <a:prstDash val="solid"/>
          </a:ln>
        </p:spPr>
        <p:txBody>
          <a:bodyPr/>
          <a:lstStyle/>
          <a:p>
            <a:endParaRPr lang="fr-FR"/>
          </a:p>
        </p:txBody>
      </p:sp>
      <p:sp>
        <p:nvSpPr>
          <p:cNvPr id="33" name="A2_536"/>
          <p:cNvSpPr txBox="1"/>
          <p:nvPr/>
        </p:nvSpPr>
        <p:spPr>
          <a:xfrm>
            <a:off x="5596128" y="2039112"/>
            <a:ext cx="3108960" cy="932688"/>
          </a:xfrm>
          <a:prstGeom prst="rect">
            <a:avLst/>
          </a:prstGeom>
          <a:noFill/>
          <a:ln/>
        </p:spPr>
        <p:txBody>
          <a:bodyPr wrap="square" lIns="0" tIns="0" rIns="0" bIns="0" rtlCol="0" anchor="t"/>
          <a:lstStyle/>
          <a:p>
            <a:pPr marL="0" indent="0">
              <a:lnSpc>
                <a:spcPct val="105000"/>
              </a:lnSpc>
              <a:buNone/>
            </a:pPr>
            <a:r>
              <a:rPr lang="en-US" sz="1100" dirty="0">
                <a:solidFill>
                  <a:srgbClr val="262626"/>
                </a:solidFill>
                <a:latin typeface="Arial" pitchFamily="34" charset="0"/>
                <a:ea typeface="Arial" pitchFamily="34" charset="-122"/>
                <a:cs typeface="Arial" pitchFamily="34" charset="-120"/>
              </a:rPr>
              <a:t>- identifiant : Texte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motDePasse : Texte (haché)</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rôle : Rôle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actif : Booléen</a:t>
            </a:r>
            <a:endParaRPr lang="en-US" sz="1100" dirty="0"/>
          </a:p>
        </p:txBody>
      </p:sp>
      <p:sp>
        <p:nvSpPr>
          <p:cNvPr id="34" name="A2_537"/>
          <p:cNvSpPr/>
          <p:nvPr/>
        </p:nvSpPr>
        <p:spPr>
          <a:xfrm>
            <a:off x="5486400" y="3008376"/>
            <a:ext cx="3291840" cy="594360"/>
          </a:xfrm>
          <a:prstGeom prst="rect">
            <a:avLst/>
          </a:prstGeom>
          <a:solidFill>
            <a:srgbClr val="F7FAFD"/>
          </a:solidFill>
          <a:ln w="12700">
            <a:solidFill>
              <a:srgbClr val="0B3C66"/>
            </a:solidFill>
            <a:prstDash val="solid"/>
          </a:ln>
        </p:spPr>
        <p:txBody>
          <a:bodyPr/>
          <a:lstStyle/>
          <a:p>
            <a:endParaRPr lang="fr-FR"/>
          </a:p>
        </p:txBody>
      </p:sp>
      <p:sp>
        <p:nvSpPr>
          <p:cNvPr id="35" name="A2_538"/>
          <p:cNvSpPr txBox="1"/>
          <p:nvPr/>
        </p:nvSpPr>
        <p:spPr>
          <a:xfrm>
            <a:off x="5596128" y="3081528"/>
            <a:ext cx="3108960" cy="484632"/>
          </a:xfrm>
          <a:prstGeom prst="rect">
            <a:avLst/>
          </a:prstGeom>
          <a:noFill/>
          <a:ln/>
        </p:spPr>
        <p:txBody>
          <a:bodyPr wrap="square" lIns="0" tIns="0" rIns="0" bIns="0" rtlCol="0" anchor="t"/>
          <a:lstStyle/>
          <a:p>
            <a:pPr marL="0" indent="0">
              <a:buNone/>
            </a:pPr>
            <a:r>
              <a:rPr lang="en-US" sz="1100" dirty="0">
                <a:solidFill>
                  <a:srgbClr val="262626"/>
                </a:solidFill>
                <a:latin typeface="Arial" pitchFamily="34" charset="0"/>
                <a:ea typeface="Arial" pitchFamily="34" charset="-122"/>
                <a:cs typeface="Arial" pitchFamily="34" charset="-120"/>
              </a:rPr>
              <a:t>+ seConnecter()</a:t>
            </a:r>
            <a:endParaRPr lang="en-US" sz="1100" dirty="0"/>
          </a:p>
          <a:p>
            <a:pPr marL="0" indent="0">
              <a:buNone/>
            </a:pPr>
            <a:r>
              <a:rPr lang="en-US" sz="1100" dirty="0">
                <a:solidFill>
                  <a:srgbClr val="262626"/>
                </a:solidFill>
                <a:latin typeface="Arial" pitchFamily="34" charset="0"/>
                <a:ea typeface="Arial" pitchFamily="34" charset="-122"/>
                <a:cs typeface="Arial" pitchFamily="34" charset="-120"/>
              </a:rPr>
              <a:t>+ changerMotDePasse()</a:t>
            </a:r>
            <a:endParaRPr lang="en-US" sz="1100" dirty="0"/>
          </a:p>
        </p:txBody>
      </p:sp>
      <p:sp>
        <p:nvSpPr>
          <p:cNvPr id="36" name="A3_539"/>
          <p:cNvSpPr/>
          <p:nvPr/>
        </p:nvSpPr>
        <p:spPr>
          <a:xfrm>
            <a:off x="10149840" y="1508760"/>
            <a:ext cx="3291840" cy="457200"/>
          </a:xfrm>
          <a:prstGeom prst="rect">
            <a:avLst/>
          </a:prstGeom>
          <a:solidFill>
            <a:srgbClr val="0A6EBD"/>
          </a:solidFill>
          <a:ln w="12700">
            <a:solidFill>
              <a:srgbClr val="0B3C66"/>
            </a:solidFill>
            <a:prstDash val="solid"/>
          </a:ln>
        </p:spPr>
        <p:txBody>
          <a:bodyPr/>
          <a:lstStyle/>
          <a:p>
            <a:endParaRPr lang="fr-FR"/>
          </a:p>
        </p:txBody>
      </p:sp>
      <p:sp>
        <p:nvSpPr>
          <p:cNvPr id="37" name="A3_540"/>
          <p:cNvSpPr txBox="1"/>
          <p:nvPr/>
        </p:nvSpPr>
        <p:spPr>
          <a:xfrm>
            <a:off x="10149840" y="1508760"/>
            <a:ext cx="329184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RecommandationIA</a:t>
            </a:r>
            <a:endParaRPr lang="en-US" sz="1400" dirty="0"/>
          </a:p>
        </p:txBody>
      </p:sp>
      <p:sp>
        <p:nvSpPr>
          <p:cNvPr id="38" name="A3_541"/>
          <p:cNvSpPr/>
          <p:nvPr/>
        </p:nvSpPr>
        <p:spPr>
          <a:xfrm>
            <a:off x="10149840" y="1965960"/>
            <a:ext cx="3291840" cy="1042416"/>
          </a:xfrm>
          <a:prstGeom prst="rect">
            <a:avLst/>
          </a:prstGeom>
          <a:solidFill>
            <a:srgbClr val="FFFFFF"/>
          </a:solidFill>
          <a:ln w="12700">
            <a:solidFill>
              <a:srgbClr val="0B3C66"/>
            </a:solidFill>
            <a:prstDash val="solid"/>
          </a:ln>
        </p:spPr>
        <p:txBody>
          <a:bodyPr/>
          <a:lstStyle/>
          <a:p>
            <a:endParaRPr lang="fr-FR"/>
          </a:p>
        </p:txBody>
      </p:sp>
      <p:sp>
        <p:nvSpPr>
          <p:cNvPr id="39" name="A3_542"/>
          <p:cNvSpPr txBox="1"/>
          <p:nvPr/>
        </p:nvSpPr>
        <p:spPr>
          <a:xfrm>
            <a:off x="10259568" y="2039112"/>
            <a:ext cx="3108960" cy="932688"/>
          </a:xfrm>
          <a:prstGeom prst="rect">
            <a:avLst/>
          </a:prstGeom>
          <a:noFill/>
          <a:ln/>
        </p:spPr>
        <p:txBody>
          <a:bodyPr wrap="square" lIns="0" tIns="0" rIns="0" bIns="0" rtlCol="0" anchor="t"/>
          <a:lstStyle/>
          <a:p>
            <a:pPr marL="0" indent="0">
              <a:lnSpc>
                <a:spcPct val="105000"/>
              </a:lnSpc>
              <a:buNone/>
            </a:pPr>
            <a:r>
              <a:rPr lang="en-US" sz="1100" dirty="0">
                <a:solidFill>
                  <a:srgbClr val="262626"/>
                </a:solidFill>
                <a:latin typeface="Arial" pitchFamily="34" charset="0"/>
                <a:ea typeface="Arial" pitchFamily="34" charset="-122"/>
                <a:cs typeface="Arial" pitchFamily="34" charset="-120"/>
              </a:rPr>
              <a:t>- explication : Texte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correctifProposé : Texte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statut : StatutValidation</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fournisseur : Texte</a:t>
            </a:r>
            <a:endParaRPr lang="en-US" sz="1100" dirty="0"/>
          </a:p>
        </p:txBody>
      </p:sp>
      <p:sp>
        <p:nvSpPr>
          <p:cNvPr id="40" name="A3_543"/>
          <p:cNvSpPr/>
          <p:nvPr/>
        </p:nvSpPr>
        <p:spPr>
          <a:xfrm>
            <a:off x="10149840" y="3008376"/>
            <a:ext cx="3291840" cy="594360"/>
          </a:xfrm>
          <a:prstGeom prst="rect">
            <a:avLst/>
          </a:prstGeom>
          <a:solidFill>
            <a:srgbClr val="F7FAFD"/>
          </a:solidFill>
          <a:ln w="12700">
            <a:solidFill>
              <a:srgbClr val="0B3C66"/>
            </a:solidFill>
            <a:prstDash val="solid"/>
          </a:ln>
        </p:spPr>
        <p:txBody>
          <a:bodyPr/>
          <a:lstStyle/>
          <a:p>
            <a:endParaRPr lang="fr-FR"/>
          </a:p>
        </p:txBody>
      </p:sp>
      <p:sp>
        <p:nvSpPr>
          <p:cNvPr id="41" name="A3_544"/>
          <p:cNvSpPr txBox="1"/>
          <p:nvPr/>
        </p:nvSpPr>
        <p:spPr>
          <a:xfrm>
            <a:off x="10259568" y="3081528"/>
            <a:ext cx="3108960" cy="484632"/>
          </a:xfrm>
          <a:prstGeom prst="rect">
            <a:avLst/>
          </a:prstGeom>
          <a:noFill/>
          <a:ln/>
        </p:spPr>
        <p:txBody>
          <a:bodyPr wrap="square" lIns="0" tIns="0" rIns="0" bIns="0" rtlCol="0" anchor="t"/>
          <a:lstStyle/>
          <a:p>
            <a:pPr marL="0" indent="0">
              <a:buNone/>
            </a:pPr>
            <a:r>
              <a:rPr lang="en-US" sz="1100" dirty="0">
                <a:solidFill>
                  <a:srgbClr val="262626"/>
                </a:solidFill>
                <a:latin typeface="Arial" pitchFamily="34" charset="0"/>
                <a:ea typeface="Arial" pitchFamily="34" charset="-122"/>
                <a:cs typeface="Arial" pitchFamily="34" charset="-120"/>
              </a:rPr>
              <a:t>+ valider()</a:t>
            </a:r>
            <a:endParaRPr lang="en-US" sz="1100" dirty="0"/>
          </a:p>
          <a:p>
            <a:pPr marL="0" indent="0">
              <a:buNone/>
            </a:pPr>
            <a:r>
              <a:rPr lang="en-US" sz="1100" dirty="0">
                <a:solidFill>
                  <a:srgbClr val="262626"/>
                </a:solidFill>
                <a:latin typeface="Arial" pitchFamily="34" charset="0"/>
                <a:ea typeface="Arial" pitchFamily="34" charset="-122"/>
                <a:cs typeface="Arial" pitchFamily="34" charset="-120"/>
              </a:rPr>
              <a:t>+ rejeter()</a:t>
            </a:r>
            <a:endParaRPr lang="en-US" sz="1100" dirty="0"/>
          </a:p>
        </p:txBody>
      </p:sp>
      <p:sp>
        <p:nvSpPr>
          <p:cNvPr id="42" name="A4_545"/>
          <p:cNvSpPr/>
          <p:nvPr/>
        </p:nvSpPr>
        <p:spPr>
          <a:xfrm>
            <a:off x="822960" y="4754880"/>
            <a:ext cx="3291840" cy="457200"/>
          </a:xfrm>
          <a:prstGeom prst="rect">
            <a:avLst/>
          </a:prstGeom>
          <a:solidFill>
            <a:srgbClr val="0A6EBD"/>
          </a:solidFill>
          <a:ln w="12700">
            <a:solidFill>
              <a:srgbClr val="0B3C66"/>
            </a:solidFill>
            <a:prstDash val="solid"/>
          </a:ln>
        </p:spPr>
        <p:txBody>
          <a:bodyPr/>
          <a:lstStyle/>
          <a:p>
            <a:endParaRPr lang="fr-FR"/>
          </a:p>
        </p:txBody>
      </p:sp>
      <p:sp>
        <p:nvSpPr>
          <p:cNvPr id="43" name="A4_546"/>
          <p:cNvSpPr txBox="1"/>
          <p:nvPr/>
        </p:nvSpPr>
        <p:spPr>
          <a:xfrm>
            <a:off x="822960" y="4754880"/>
            <a:ext cx="329184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Log</a:t>
            </a:r>
            <a:endParaRPr lang="en-US" sz="1400" dirty="0"/>
          </a:p>
        </p:txBody>
      </p:sp>
      <p:sp>
        <p:nvSpPr>
          <p:cNvPr id="44" name="A4_547"/>
          <p:cNvSpPr/>
          <p:nvPr/>
        </p:nvSpPr>
        <p:spPr>
          <a:xfrm>
            <a:off x="822960" y="5212080"/>
            <a:ext cx="3291840" cy="1042416"/>
          </a:xfrm>
          <a:prstGeom prst="rect">
            <a:avLst/>
          </a:prstGeom>
          <a:solidFill>
            <a:srgbClr val="FFFFFF"/>
          </a:solidFill>
          <a:ln w="12700">
            <a:solidFill>
              <a:srgbClr val="0B3C66"/>
            </a:solidFill>
            <a:prstDash val="solid"/>
          </a:ln>
        </p:spPr>
        <p:txBody>
          <a:bodyPr/>
          <a:lstStyle/>
          <a:p>
            <a:endParaRPr lang="fr-FR"/>
          </a:p>
        </p:txBody>
      </p:sp>
      <p:sp>
        <p:nvSpPr>
          <p:cNvPr id="45" name="A4_548"/>
          <p:cNvSpPr txBox="1"/>
          <p:nvPr/>
        </p:nvSpPr>
        <p:spPr>
          <a:xfrm>
            <a:off x="932688" y="5285232"/>
            <a:ext cx="3108960" cy="932688"/>
          </a:xfrm>
          <a:prstGeom prst="rect">
            <a:avLst/>
          </a:prstGeom>
          <a:noFill/>
          <a:ln/>
        </p:spPr>
        <p:txBody>
          <a:bodyPr wrap="square" lIns="0" tIns="0" rIns="0" bIns="0" rtlCol="0" anchor="t"/>
          <a:lstStyle/>
          <a:p>
            <a:pPr marL="0" indent="0">
              <a:lnSpc>
                <a:spcPct val="105000"/>
              </a:lnSpc>
              <a:buNone/>
            </a:pPr>
            <a:r>
              <a:rPr lang="en-US" sz="1100" dirty="0">
                <a:solidFill>
                  <a:srgbClr val="262626"/>
                </a:solidFill>
                <a:latin typeface="Arial" pitchFamily="34" charset="0"/>
                <a:ea typeface="Arial" pitchFamily="34" charset="-122"/>
                <a:cs typeface="Arial" pitchFamily="34" charset="-120"/>
              </a:rPr>
              <a:t>- horodatage : DateHeure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niveau : Niveau</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source : Texte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message : Texte</a:t>
            </a:r>
            <a:endParaRPr lang="en-US" sz="1100" dirty="0"/>
          </a:p>
        </p:txBody>
      </p:sp>
      <p:sp>
        <p:nvSpPr>
          <p:cNvPr id="46" name="A4_549"/>
          <p:cNvSpPr/>
          <p:nvPr/>
        </p:nvSpPr>
        <p:spPr>
          <a:xfrm>
            <a:off x="822960" y="6254496"/>
            <a:ext cx="3291840" cy="370332"/>
          </a:xfrm>
          <a:prstGeom prst="rect">
            <a:avLst/>
          </a:prstGeom>
          <a:solidFill>
            <a:srgbClr val="F7FAFD"/>
          </a:solidFill>
          <a:ln w="12700">
            <a:solidFill>
              <a:srgbClr val="0B3C66"/>
            </a:solidFill>
            <a:prstDash val="solid"/>
          </a:ln>
        </p:spPr>
        <p:txBody>
          <a:bodyPr/>
          <a:lstStyle/>
          <a:p>
            <a:endParaRPr lang="fr-FR"/>
          </a:p>
        </p:txBody>
      </p:sp>
      <p:sp>
        <p:nvSpPr>
          <p:cNvPr id="47" name="A4_550"/>
          <p:cNvSpPr txBox="1"/>
          <p:nvPr/>
        </p:nvSpPr>
        <p:spPr>
          <a:xfrm>
            <a:off x="932688" y="6327648"/>
            <a:ext cx="3108960" cy="260604"/>
          </a:xfrm>
          <a:prstGeom prst="rect">
            <a:avLst/>
          </a:prstGeom>
          <a:noFill/>
          <a:ln/>
        </p:spPr>
        <p:txBody>
          <a:bodyPr wrap="square" lIns="0" tIns="0" rIns="0" bIns="0" rtlCol="0" anchor="t"/>
          <a:lstStyle/>
          <a:p>
            <a:pPr marL="0" indent="0">
              <a:buNone/>
            </a:pPr>
            <a:r>
              <a:rPr lang="en-US" sz="1100" dirty="0">
                <a:solidFill>
                  <a:srgbClr val="262626"/>
                </a:solidFill>
                <a:latin typeface="Arial" pitchFamily="34" charset="0"/>
                <a:ea typeface="Arial" pitchFamily="34" charset="-122"/>
                <a:cs typeface="Arial" pitchFamily="34" charset="-120"/>
              </a:rPr>
              <a:t>+ analyser()</a:t>
            </a:r>
            <a:endParaRPr lang="en-US" sz="1100" dirty="0"/>
          </a:p>
        </p:txBody>
      </p:sp>
      <p:sp>
        <p:nvSpPr>
          <p:cNvPr id="48" name="A5_551"/>
          <p:cNvSpPr/>
          <p:nvPr/>
        </p:nvSpPr>
        <p:spPr>
          <a:xfrm>
            <a:off x="5486400" y="4754880"/>
            <a:ext cx="3291840" cy="457200"/>
          </a:xfrm>
          <a:prstGeom prst="rect">
            <a:avLst/>
          </a:prstGeom>
          <a:solidFill>
            <a:srgbClr val="0A6EBD"/>
          </a:solidFill>
          <a:ln w="12700">
            <a:solidFill>
              <a:srgbClr val="0B3C66"/>
            </a:solidFill>
            <a:prstDash val="solid"/>
          </a:ln>
        </p:spPr>
        <p:txBody>
          <a:bodyPr/>
          <a:lstStyle/>
          <a:p>
            <a:endParaRPr lang="fr-FR"/>
          </a:p>
        </p:txBody>
      </p:sp>
      <p:sp>
        <p:nvSpPr>
          <p:cNvPr id="49" name="A5_552"/>
          <p:cNvSpPr txBox="1"/>
          <p:nvPr/>
        </p:nvSpPr>
        <p:spPr>
          <a:xfrm>
            <a:off x="5486400" y="4754880"/>
            <a:ext cx="329184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ExécutionTests</a:t>
            </a:r>
            <a:endParaRPr lang="en-US" sz="1400" dirty="0"/>
          </a:p>
        </p:txBody>
      </p:sp>
      <p:sp>
        <p:nvSpPr>
          <p:cNvPr id="50" name="A5_553"/>
          <p:cNvSpPr/>
          <p:nvPr/>
        </p:nvSpPr>
        <p:spPr>
          <a:xfrm>
            <a:off x="5486400" y="5212080"/>
            <a:ext cx="3291840" cy="1042416"/>
          </a:xfrm>
          <a:prstGeom prst="rect">
            <a:avLst/>
          </a:prstGeom>
          <a:solidFill>
            <a:srgbClr val="FFFFFF"/>
          </a:solidFill>
          <a:ln w="12700">
            <a:solidFill>
              <a:srgbClr val="0B3C66"/>
            </a:solidFill>
            <a:prstDash val="solid"/>
          </a:ln>
        </p:spPr>
        <p:txBody>
          <a:bodyPr/>
          <a:lstStyle/>
          <a:p>
            <a:endParaRPr lang="fr-FR"/>
          </a:p>
        </p:txBody>
      </p:sp>
      <p:sp>
        <p:nvSpPr>
          <p:cNvPr id="51" name="A5_554"/>
          <p:cNvSpPr txBox="1"/>
          <p:nvPr/>
        </p:nvSpPr>
        <p:spPr>
          <a:xfrm>
            <a:off x="5596128" y="5285232"/>
            <a:ext cx="3108960" cy="932688"/>
          </a:xfrm>
          <a:prstGeom prst="rect">
            <a:avLst/>
          </a:prstGeom>
          <a:noFill/>
          <a:ln/>
        </p:spPr>
        <p:txBody>
          <a:bodyPr wrap="square" lIns="0" tIns="0" rIns="0" bIns="0" rtlCol="0" anchor="t"/>
          <a:lstStyle/>
          <a:p>
            <a:pPr marL="0" indent="0">
              <a:lnSpc>
                <a:spcPct val="105000"/>
              </a:lnSpc>
              <a:buNone/>
            </a:pPr>
            <a:r>
              <a:rPr lang="en-US" sz="1100" dirty="0">
                <a:solidFill>
                  <a:srgbClr val="262626"/>
                </a:solidFill>
                <a:latin typeface="Arial" pitchFamily="34" charset="0"/>
                <a:ea typeface="Arial" pitchFamily="34" charset="-122"/>
                <a:cs typeface="Arial" pitchFamily="34" charset="-120"/>
              </a:rPr>
              <a:t>- date : DateHeure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déclencheur : Texte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tauxRéussite : Réel</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couverture : Réel</a:t>
            </a:r>
            <a:endParaRPr lang="en-US" sz="1100" dirty="0"/>
          </a:p>
        </p:txBody>
      </p:sp>
      <p:sp>
        <p:nvSpPr>
          <p:cNvPr id="52" name="A5_555"/>
          <p:cNvSpPr/>
          <p:nvPr/>
        </p:nvSpPr>
        <p:spPr>
          <a:xfrm>
            <a:off x="5486400" y="6254496"/>
            <a:ext cx="3291840" cy="370332"/>
          </a:xfrm>
          <a:prstGeom prst="rect">
            <a:avLst/>
          </a:prstGeom>
          <a:solidFill>
            <a:srgbClr val="F7FAFD"/>
          </a:solidFill>
          <a:ln w="12700">
            <a:solidFill>
              <a:srgbClr val="0B3C66"/>
            </a:solidFill>
            <a:prstDash val="solid"/>
          </a:ln>
        </p:spPr>
        <p:txBody>
          <a:bodyPr/>
          <a:lstStyle/>
          <a:p>
            <a:endParaRPr lang="fr-FR"/>
          </a:p>
        </p:txBody>
      </p:sp>
      <p:sp>
        <p:nvSpPr>
          <p:cNvPr id="53" name="A5_556"/>
          <p:cNvSpPr txBox="1"/>
          <p:nvPr/>
        </p:nvSpPr>
        <p:spPr>
          <a:xfrm>
            <a:off x="5596128" y="6327648"/>
            <a:ext cx="3108960" cy="260604"/>
          </a:xfrm>
          <a:prstGeom prst="rect">
            <a:avLst/>
          </a:prstGeom>
          <a:noFill/>
          <a:ln/>
        </p:spPr>
        <p:txBody>
          <a:bodyPr wrap="square" lIns="0" tIns="0" rIns="0" bIns="0" rtlCol="0" anchor="t"/>
          <a:lstStyle/>
          <a:p>
            <a:pPr marL="0" indent="0">
              <a:buNone/>
            </a:pPr>
            <a:r>
              <a:rPr lang="en-US" sz="1100" dirty="0">
                <a:solidFill>
                  <a:srgbClr val="262626"/>
                </a:solidFill>
                <a:latin typeface="Arial" pitchFamily="34" charset="0"/>
                <a:ea typeface="Arial" pitchFamily="34" charset="-122"/>
                <a:cs typeface="Arial" pitchFamily="34" charset="-120"/>
              </a:rPr>
              <a:t>+ corrélerAvecLogs()</a:t>
            </a:r>
            <a:endParaRPr lang="en-US" sz="1100" dirty="0"/>
          </a:p>
        </p:txBody>
      </p:sp>
      <p:sp>
        <p:nvSpPr>
          <p:cNvPr id="54" name="A6_557"/>
          <p:cNvSpPr/>
          <p:nvPr/>
        </p:nvSpPr>
        <p:spPr>
          <a:xfrm>
            <a:off x="10149840" y="4754880"/>
            <a:ext cx="3291840" cy="457200"/>
          </a:xfrm>
          <a:prstGeom prst="rect">
            <a:avLst/>
          </a:prstGeom>
          <a:solidFill>
            <a:srgbClr val="0A6EBD"/>
          </a:solidFill>
          <a:ln w="12700">
            <a:solidFill>
              <a:srgbClr val="0B3C66"/>
            </a:solidFill>
            <a:prstDash val="solid"/>
          </a:ln>
        </p:spPr>
        <p:txBody>
          <a:bodyPr/>
          <a:lstStyle/>
          <a:p>
            <a:endParaRPr lang="fr-FR"/>
          </a:p>
        </p:txBody>
      </p:sp>
      <p:sp>
        <p:nvSpPr>
          <p:cNvPr id="55" name="A6_558"/>
          <p:cNvSpPr txBox="1"/>
          <p:nvPr/>
        </p:nvSpPr>
        <p:spPr>
          <a:xfrm>
            <a:off x="10149840" y="4754880"/>
            <a:ext cx="329184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Vulnérabilité</a:t>
            </a:r>
            <a:endParaRPr lang="en-US" sz="1400" dirty="0"/>
          </a:p>
        </p:txBody>
      </p:sp>
      <p:sp>
        <p:nvSpPr>
          <p:cNvPr id="56" name="A6_559"/>
          <p:cNvSpPr/>
          <p:nvPr/>
        </p:nvSpPr>
        <p:spPr>
          <a:xfrm>
            <a:off x="10149840" y="5212080"/>
            <a:ext cx="3291840" cy="1042416"/>
          </a:xfrm>
          <a:prstGeom prst="rect">
            <a:avLst/>
          </a:prstGeom>
          <a:solidFill>
            <a:srgbClr val="FFFFFF"/>
          </a:solidFill>
          <a:ln w="12700">
            <a:solidFill>
              <a:srgbClr val="0B3C66"/>
            </a:solidFill>
            <a:prstDash val="solid"/>
          </a:ln>
        </p:spPr>
        <p:txBody>
          <a:bodyPr/>
          <a:lstStyle/>
          <a:p>
            <a:endParaRPr lang="fr-FR"/>
          </a:p>
        </p:txBody>
      </p:sp>
      <p:sp>
        <p:nvSpPr>
          <p:cNvPr id="57" name="A6_560"/>
          <p:cNvSpPr txBox="1"/>
          <p:nvPr/>
        </p:nvSpPr>
        <p:spPr>
          <a:xfrm>
            <a:off x="10259568" y="5285232"/>
            <a:ext cx="3108960" cy="932688"/>
          </a:xfrm>
          <a:prstGeom prst="rect">
            <a:avLst/>
          </a:prstGeom>
          <a:noFill/>
          <a:ln/>
        </p:spPr>
        <p:txBody>
          <a:bodyPr wrap="square" lIns="0" tIns="0" rIns="0" bIns="0" rtlCol="0" anchor="t"/>
          <a:lstStyle/>
          <a:p>
            <a:pPr marL="0" indent="0">
              <a:lnSpc>
                <a:spcPct val="105000"/>
              </a:lnSpc>
              <a:buNone/>
            </a:pPr>
            <a:r>
              <a:rPr lang="en-US" sz="1100" dirty="0">
                <a:solidFill>
                  <a:srgbClr val="262626"/>
                </a:solidFill>
                <a:latin typeface="Arial" pitchFamily="34" charset="0"/>
                <a:ea typeface="Arial" pitchFamily="34" charset="-122"/>
                <a:cs typeface="Arial" pitchFamily="34" charset="-120"/>
              </a:rPr>
              <a:t>- identifiant : Texte (CVE)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composant : Texte</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sévérité : Sévérité</a:t>
            </a:r>
            <a:endParaRPr lang="en-US" sz="1100" dirty="0"/>
          </a:p>
          <a:p>
            <a:pPr marL="0" indent="0">
              <a:lnSpc>
                <a:spcPct val="105000"/>
              </a:lnSpc>
              <a:buNone/>
            </a:pPr>
            <a:r>
              <a:rPr lang="en-US" sz="1100" dirty="0">
                <a:solidFill>
                  <a:srgbClr val="262626"/>
                </a:solidFill>
                <a:latin typeface="Arial" pitchFamily="34" charset="0"/>
                <a:ea typeface="Arial" pitchFamily="34" charset="-122"/>
                <a:cs typeface="Arial" pitchFamily="34" charset="-120"/>
              </a:rPr>
              <a:t>- statut : Statut</a:t>
            </a:r>
            <a:endParaRPr lang="en-US" sz="1100" dirty="0"/>
          </a:p>
        </p:txBody>
      </p:sp>
      <p:sp>
        <p:nvSpPr>
          <p:cNvPr id="58" name="A6_561"/>
          <p:cNvSpPr/>
          <p:nvPr/>
        </p:nvSpPr>
        <p:spPr>
          <a:xfrm>
            <a:off x="10149840" y="6254496"/>
            <a:ext cx="3291840" cy="370332"/>
          </a:xfrm>
          <a:prstGeom prst="rect">
            <a:avLst/>
          </a:prstGeom>
          <a:solidFill>
            <a:srgbClr val="F7FAFD"/>
          </a:solidFill>
          <a:ln w="12700">
            <a:solidFill>
              <a:srgbClr val="0B3C66"/>
            </a:solidFill>
            <a:prstDash val="solid"/>
          </a:ln>
        </p:spPr>
        <p:txBody>
          <a:bodyPr/>
          <a:lstStyle/>
          <a:p>
            <a:endParaRPr lang="fr-FR"/>
          </a:p>
        </p:txBody>
      </p:sp>
      <p:sp>
        <p:nvSpPr>
          <p:cNvPr id="59" name="A6_562"/>
          <p:cNvSpPr txBox="1"/>
          <p:nvPr/>
        </p:nvSpPr>
        <p:spPr>
          <a:xfrm>
            <a:off x="10259568" y="6327648"/>
            <a:ext cx="3108960" cy="260604"/>
          </a:xfrm>
          <a:prstGeom prst="rect">
            <a:avLst/>
          </a:prstGeom>
          <a:noFill/>
          <a:ln/>
        </p:spPr>
        <p:txBody>
          <a:bodyPr wrap="square" lIns="0" tIns="0" rIns="0" bIns="0" rtlCol="0" anchor="t"/>
          <a:lstStyle/>
          <a:p>
            <a:pPr marL="0" indent="0">
              <a:buNone/>
            </a:pPr>
            <a:r>
              <a:rPr lang="en-US" sz="1100" dirty="0">
                <a:solidFill>
                  <a:srgbClr val="262626"/>
                </a:solidFill>
                <a:latin typeface="Arial" pitchFamily="34" charset="0"/>
                <a:ea typeface="Arial" pitchFamily="34" charset="-122"/>
                <a:cs typeface="Arial" pitchFamily="34" charset="-120"/>
              </a:rPr>
              <a:t>+ calculerPriorité()</a:t>
            </a:r>
            <a:endParaRPr lang="en-US" sz="1100" dirty="0"/>
          </a:p>
        </p:txBody>
      </p:sp>
      <p:sp>
        <p:nvSpPr>
          <p:cNvPr id="60" name="A7_563"/>
          <p:cNvSpPr/>
          <p:nvPr/>
        </p:nvSpPr>
        <p:spPr>
          <a:xfrm>
            <a:off x="4114800" y="2331720"/>
            <a:ext cx="1371600" cy="0"/>
          </a:xfrm>
          <a:prstGeom prst="line">
            <a:avLst/>
          </a:prstGeom>
          <a:noFill/>
          <a:ln w="15875">
            <a:solidFill>
              <a:srgbClr val="0B3C66"/>
            </a:solidFill>
            <a:prstDash val="solid"/>
          </a:ln>
        </p:spPr>
        <p:txBody>
          <a:bodyPr/>
          <a:lstStyle/>
          <a:p>
            <a:endParaRPr lang="fr-FR"/>
          </a:p>
        </p:txBody>
      </p:sp>
      <p:sp>
        <p:nvSpPr>
          <p:cNvPr id="61" name="A7_564"/>
          <p:cNvSpPr txBox="1"/>
          <p:nvPr/>
        </p:nvSpPr>
        <p:spPr>
          <a:xfrm>
            <a:off x="4160520" y="2057400"/>
            <a:ext cx="1097280" cy="256032"/>
          </a:xfrm>
          <a:prstGeom prst="rect">
            <a:avLst/>
          </a:prstGeom>
          <a:noFill/>
          <a:ln/>
        </p:spPr>
        <p:txBody>
          <a:bodyPr wrap="square" lIns="0" tIns="0" rIns="0" bIns="0" rtlCol="0" anchor="t"/>
          <a:lstStyle/>
          <a:p>
            <a:pPr marL="0" indent="0">
              <a:buNone/>
            </a:pPr>
            <a:r>
              <a:rPr lang="en-US" sz="1000" dirty="0">
                <a:solidFill>
                  <a:srgbClr val="595959"/>
                </a:solidFill>
                <a:latin typeface="Arial" pitchFamily="34" charset="0"/>
                <a:ea typeface="Arial" pitchFamily="34" charset="-122"/>
                <a:cs typeface="Arial" pitchFamily="34" charset="-120"/>
              </a:rPr>
              <a:t>0..*</a:t>
            </a:r>
            <a:endParaRPr lang="en-US" sz="1000" dirty="0"/>
          </a:p>
        </p:txBody>
      </p:sp>
      <p:sp>
        <p:nvSpPr>
          <p:cNvPr id="62" name="A7_565"/>
          <p:cNvSpPr txBox="1"/>
          <p:nvPr/>
        </p:nvSpPr>
        <p:spPr>
          <a:xfrm>
            <a:off x="4983480" y="2057400"/>
            <a:ext cx="1097280" cy="256032"/>
          </a:xfrm>
          <a:prstGeom prst="rect">
            <a:avLst/>
          </a:prstGeom>
          <a:noFill/>
          <a:ln/>
        </p:spPr>
        <p:txBody>
          <a:bodyPr wrap="square" lIns="0" tIns="0" rIns="0" bIns="0" rtlCol="0" anchor="t"/>
          <a:lstStyle/>
          <a:p>
            <a:pPr marL="0" indent="0">
              <a:buNone/>
            </a:pPr>
            <a:r>
              <a:rPr lang="en-US" sz="1000" dirty="0">
                <a:solidFill>
                  <a:srgbClr val="595959"/>
                </a:solidFill>
                <a:latin typeface="Arial" pitchFamily="34" charset="0"/>
                <a:ea typeface="Arial" pitchFamily="34" charset="-122"/>
                <a:cs typeface="Arial" pitchFamily="34" charset="-120"/>
              </a:rPr>
              <a:t>1</a:t>
            </a:r>
            <a:endParaRPr lang="en-US" sz="1000" dirty="0"/>
          </a:p>
        </p:txBody>
      </p:sp>
      <p:sp>
        <p:nvSpPr>
          <p:cNvPr id="63" name="A7_566"/>
          <p:cNvSpPr txBox="1"/>
          <p:nvPr/>
        </p:nvSpPr>
        <p:spPr>
          <a:xfrm>
            <a:off x="4297680" y="2395728"/>
            <a:ext cx="1005840" cy="256032"/>
          </a:xfrm>
          <a:prstGeom prst="rect">
            <a:avLst/>
          </a:prstGeom>
          <a:noFill/>
          <a:ln/>
        </p:spPr>
        <p:txBody>
          <a:bodyPr wrap="square" lIns="0" tIns="0" rIns="0" bIns="0" rtlCol="0" anchor="t"/>
          <a:lstStyle/>
          <a:p>
            <a:pPr marL="0" indent="0" algn="ctr">
              <a:buNone/>
            </a:pPr>
            <a:r>
              <a:rPr lang="en-US" sz="1100" i="1" dirty="0">
                <a:solidFill>
                  <a:srgbClr val="0B3C66"/>
                </a:solidFill>
                <a:latin typeface="Arial" pitchFamily="34" charset="0"/>
                <a:ea typeface="Arial" pitchFamily="34" charset="-122"/>
                <a:cs typeface="Arial" pitchFamily="34" charset="-120"/>
              </a:rPr>
              <a:t>trace</a:t>
            </a:r>
            <a:endParaRPr lang="en-US" sz="1100" dirty="0"/>
          </a:p>
        </p:txBody>
      </p:sp>
      <p:sp>
        <p:nvSpPr>
          <p:cNvPr id="64" name="A7_567"/>
          <p:cNvSpPr/>
          <p:nvPr/>
        </p:nvSpPr>
        <p:spPr>
          <a:xfrm>
            <a:off x="8778240" y="2331720"/>
            <a:ext cx="1371600" cy="0"/>
          </a:xfrm>
          <a:prstGeom prst="line">
            <a:avLst/>
          </a:prstGeom>
          <a:noFill/>
          <a:ln w="15875">
            <a:solidFill>
              <a:srgbClr val="0B3C66"/>
            </a:solidFill>
            <a:prstDash val="solid"/>
          </a:ln>
        </p:spPr>
        <p:txBody>
          <a:bodyPr/>
          <a:lstStyle/>
          <a:p>
            <a:endParaRPr lang="fr-FR"/>
          </a:p>
        </p:txBody>
      </p:sp>
      <p:sp>
        <p:nvSpPr>
          <p:cNvPr id="65" name="A7_568"/>
          <p:cNvSpPr txBox="1"/>
          <p:nvPr/>
        </p:nvSpPr>
        <p:spPr>
          <a:xfrm>
            <a:off x="8823960" y="2057400"/>
            <a:ext cx="1097280" cy="256032"/>
          </a:xfrm>
          <a:prstGeom prst="rect">
            <a:avLst/>
          </a:prstGeom>
          <a:noFill/>
          <a:ln/>
        </p:spPr>
        <p:txBody>
          <a:bodyPr wrap="square" lIns="0" tIns="0" rIns="0" bIns="0" rtlCol="0" anchor="t"/>
          <a:lstStyle/>
          <a:p>
            <a:pPr marL="0" indent="0">
              <a:buNone/>
            </a:pPr>
            <a:r>
              <a:rPr lang="en-US" sz="1000" dirty="0">
                <a:solidFill>
                  <a:srgbClr val="595959"/>
                </a:solidFill>
                <a:latin typeface="Arial" pitchFamily="34" charset="0"/>
                <a:ea typeface="Arial" pitchFamily="34" charset="-122"/>
                <a:cs typeface="Arial" pitchFamily="34" charset="-120"/>
              </a:rPr>
              <a:t>1</a:t>
            </a:r>
            <a:endParaRPr lang="en-US" sz="1000" dirty="0"/>
          </a:p>
        </p:txBody>
      </p:sp>
      <p:sp>
        <p:nvSpPr>
          <p:cNvPr id="66" name="A7_569"/>
          <p:cNvSpPr txBox="1"/>
          <p:nvPr/>
        </p:nvSpPr>
        <p:spPr>
          <a:xfrm>
            <a:off x="9601200" y="2057400"/>
            <a:ext cx="1097280" cy="256032"/>
          </a:xfrm>
          <a:prstGeom prst="rect">
            <a:avLst/>
          </a:prstGeom>
          <a:noFill/>
          <a:ln/>
        </p:spPr>
        <p:txBody>
          <a:bodyPr wrap="square" lIns="0" tIns="0" rIns="0" bIns="0" rtlCol="0" anchor="t"/>
          <a:lstStyle/>
          <a:p>
            <a:pPr marL="0" indent="0">
              <a:buNone/>
            </a:pPr>
            <a:r>
              <a:rPr lang="en-US" sz="1000" dirty="0">
                <a:solidFill>
                  <a:srgbClr val="595959"/>
                </a:solidFill>
                <a:latin typeface="Arial" pitchFamily="34" charset="0"/>
                <a:ea typeface="Arial" pitchFamily="34" charset="-122"/>
                <a:cs typeface="Arial" pitchFamily="34" charset="-120"/>
              </a:rPr>
              <a:t>0..*</a:t>
            </a:r>
            <a:endParaRPr lang="en-US" sz="1000" dirty="0"/>
          </a:p>
        </p:txBody>
      </p:sp>
      <p:sp>
        <p:nvSpPr>
          <p:cNvPr id="67" name="A7_570"/>
          <p:cNvSpPr txBox="1"/>
          <p:nvPr/>
        </p:nvSpPr>
        <p:spPr>
          <a:xfrm>
            <a:off x="8961120" y="2395728"/>
            <a:ext cx="1005840" cy="256032"/>
          </a:xfrm>
          <a:prstGeom prst="rect">
            <a:avLst/>
          </a:prstGeom>
          <a:noFill/>
          <a:ln/>
        </p:spPr>
        <p:txBody>
          <a:bodyPr wrap="square" lIns="0" tIns="0" rIns="0" bIns="0" rtlCol="0" anchor="t"/>
          <a:lstStyle/>
          <a:p>
            <a:pPr marL="0" indent="0" algn="ctr">
              <a:buNone/>
            </a:pPr>
            <a:r>
              <a:rPr lang="en-US" sz="1100" i="1" dirty="0">
                <a:solidFill>
                  <a:srgbClr val="0B3C66"/>
                </a:solidFill>
                <a:latin typeface="Arial" pitchFamily="34" charset="0"/>
                <a:ea typeface="Arial" pitchFamily="34" charset="-122"/>
                <a:cs typeface="Arial" pitchFamily="34" charset="-120"/>
              </a:rPr>
              <a:t>valide</a:t>
            </a:r>
            <a:endParaRPr lang="en-US" sz="1100" dirty="0"/>
          </a:p>
        </p:txBody>
      </p:sp>
      <p:sp>
        <p:nvSpPr>
          <p:cNvPr id="68" name="A8_571"/>
          <p:cNvSpPr/>
          <p:nvPr/>
        </p:nvSpPr>
        <p:spPr>
          <a:xfrm>
            <a:off x="11795760" y="3602736"/>
            <a:ext cx="0" cy="1152144"/>
          </a:xfrm>
          <a:prstGeom prst="line">
            <a:avLst/>
          </a:prstGeom>
          <a:noFill/>
          <a:ln w="15875">
            <a:solidFill>
              <a:srgbClr val="0B3C66"/>
            </a:solidFill>
            <a:prstDash val="solid"/>
          </a:ln>
        </p:spPr>
        <p:txBody>
          <a:bodyPr/>
          <a:lstStyle/>
          <a:p>
            <a:endParaRPr lang="fr-FR"/>
          </a:p>
        </p:txBody>
      </p:sp>
      <p:sp>
        <p:nvSpPr>
          <p:cNvPr id="69" name="A8_572"/>
          <p:cNvSpPr/>
          <p:nvPr/>
        </p:nvSpPr>
        <p:spPr>
          <a:xfrm>
            <a:off x="2468880" y="4315968"/>
            <a:ext cx="9326880" cy="0"/>
          </a:xfrm>
          <a:prstGeom prst="line">
            <a:avLst/>
          </a:prstGeom>
          <a:noFill/>
          <a:ln w="15875">
            <a:solidFill>
              <a:srgbClr val="0B3C66"/>
            </a:solidFill>
            <a:prstDash val="solid"/>
          </a:ln>
        </p:spPr>
        <p:txBody>
          <a:bodyPr/>
          <a:lstStyle/>
          <a:p>
            <a:endParaRPr lang="fr-FR"/>
          </a:p>
        </p:txBody>
      </p:sp>
      <p:sp>
        <p:nvSpPr>
          <p:cNvPr id="70" name="A8_573"/>
          <p:cNvSpPr/>
          <p:nvPr/>
        </p:nvSpPr>
        <p:spPr>
          <a:xfrm>
            <a:off x="2468880" y="4315968"/>
            <a:ext cx="0" cy="438912"/>
          </a:xfrm>
          <a:prstGeom prst="line">
            <a:avLst/>
          </a:prstGeom>
          <a:noFill/>
          <a:ln w="15875">
            <a:solidFill>
              <a:srgbClr val="0B3C66"/>
            </a:solidFill>
            <a:prstDash val="solid"/>
          </a:ln>
        </p:spPr>
        <p:txBody>
          <a:bodyPr/>
          <a:lstStyle/>
          <a:p>
            <a:endParaRPr lang="fr-FR"/>
          </a:p>
        </p:txBody>
      </p:sp>
      <p:sp>
        <p:nvSpPr>
          <p:cNvPr id="71" name="A8_574"/>
          <p:cNvSpPr/>
          <p:nvPr/>
        </p:nvSpPr>
        <p:spPr>
          <a:xfrm>
            <a:off x="7132320" y="4315968"/>
            <a:ext cx="0" cy="438912"/>
          </a:xfrm>
          <a:prstGeom prst="line">
            <a:avLst/>
          </a:prstGeom>
          <a:noFill/>
          <a:ln w="15875">
            <a:solidFill>
              <a:srgbClr val="0B3C66"/>
            </a:solidFill>
            <a:prstDash val="solid"/>
          </a:ln>
        </p:spPr>
        <p:txBody>
          <a:bodyPr/>
          <a:lstStyle/>
          <a:p>
            <a:endParaRPr lang="fr-FR"/>
          </a:p>
        </p:txBody>
      </p:sp>
      <p:sp>
        <p:nvSpPr>
          <p:cNvPr id="72" name="A8_575"/>
          <p:cNvSpPr txBox="1"/>
          <p:nvPr/>
        </p:nvSpPr>
        <p:spPr>
          <a:xfrm>
            <a:off x="11887200" y="3648456"/>
            <a:ext cx="1097280" cy="256032"/>
          </a:xfrm>
          <a:prstGeom prst="rect">
            <a:avLst/>
          </a:prstGeom>
          <a:noFill/>
          <a:ln/>
        </p:spPr>
        <p:txBody>
          <a:bodyPr wrap="square" lIns="0" tIns="0" rIns="0" bIns="0" rtlCol="0" anchor="t"/>
          <a:lstStyle/>
          <a:p>
            <a:pPr marL="0" indent="0">
              <a:buNone/>
            </a:pPr>
            <a:r>
              <a:rPr lang="en-US" sz="1000" dirty="0">
                <a:solidFill>
                  <a:srgbClr val="595959"/>
                </a:solidFill>
                <a:latin typeface="Arial" pitchFamily="34" charset="0"/>
                <a:ea typeface="Arial" pitchFamily="34" charset="-122"/>
                <a:cs typeface="Arial" pitchFamily="34" charset="-120"/>
              </a:rPr>
              <a:t>0..*</a:t>
            </a:r>
            <a:endParaRPr lang="en-US" sz="1000" dirty="0"/>
          </a:p>
        </p:txBody>
      </p:sp>
      <p:sp>
        <p:nvSpPr>
          <p:cNvPr id="73" name="A8_576"/>
          <p:cNvSpPr txBox="1"/>
          <p:nvPr/>
        </p:nvSpPr>
        <p:spPr>
          <a:xfrm>
            <a:off x="11887200" y="4480560"/>
            <a:ext cx="1097280" cy="256032"/>
          </a:xfrm>
          <a:prstGeom prst="rect">
            <a:avLst/>
          </a:prstGeom>
          <a:noFill/>
          <a:ln/>
        </p:spPr>
        <p:txBody>
          <a:bodyPr wrap="square" lIns="0" tIns="0" rIns="0" bIns="0" rtlCol="0" anchor="t"/>
          <a:lstStyle/>
          <a:p>
            <a:pPr marL="0" indent="0">
              <a:buNone/>
            </a:pPr>
            <a:r>
              <a:rPr lang="en-US" sz="1000" dirty="0">
                <a:solidFill>
                  <a:srgbClr val="595959"/>
                </a:solidFill>
                <a:latin typeface="Arial" pitchFamily="34" charset="0"/>
                <a:ea typeface="Arial" pitchFamily="34" charset="-122"/>
                <a:cs typeface="Arial" pitchFamily="34" charset="-120"/>
              </a:rPr>
              <a:t>0..1</a:t>
            </a:r>
            <a:endParaRPr lang="en-US" sz="1000" dirty="0"/>
          </a:p>
        </p:txBody>
      </p:sp>
      <p:sp>
        <p:nvSpPr>
          <p:cNvPr id="74" name="A8_577"/>
          <p:cNvSpPr txBox="1"/>
          <p:nvPr/>
        </p:nvSpPr>
        <p:spPr>
          <a:xfrm>
            <a:off x="2560320" y="4480560"/>
            <a:ext cx="1097280" cy="256032"/>
          </a:xfrm>
          <a:prstGeom prst="rect">
            <a:avLst/>
          </a:prstGeom>
          <a:noFill/>
          <a:ln/>
        </p:spPr>
        <p:txBody>
          <a:bodyPr wrap="square" lIns="0" tIns="0" rIns="0" bIns="0" rtlCol="0" anchor="t"/>
          <a:lstStyle/>
          <a:p>
            <a:pPr marL="0" indent="0">
              <a:buNone/>
            </a:pPr>
            <a:r>
              <a:rPr lang="en-US" sz="1000" dirty="0">
                <a:solidFill>
                  <a:srgbClr val="595959"/>
                </a:solidFill>
                <a:latin typeface="Arial" pitchFamily="34" charset="0"/>
                <a:ea typeface="Arial" pitchFamily="34" charset="-122"/>
                <a:cs typeface="Arial" pitchFamily="34" charset="-120"/>
              </a:rPr>
              <a:t>0..1</a:t>
            </a:r>
            <a:endParaRPr lang="en-US" sz="1000" dirty="0"/>
          </a:p>
        </p:txBody>
      </p:sp>
      <p:sp>
        <p:nvSpPr>
          <p:cNvPr id="75" name="A8_578"/>
          <p:cNvSpPr txBox="1"/>
          <p:nvPr/>
        </p:nvSpPr>
        <p:spPr>
          <a:xfrm>
            <a:off x="7223760" y="4480560"/>
            <a:ext cx="1097280" cy="256032"/>
          </a:xfrm>
          <a:prstGeom prst="rect">
            <a:avLst/>
          </a:prstGeom>
          <a:noFill/>
          <a:ln/>
        </p:spPr>
        <p:txBody>
          <a:bodyPr wrap="square" lIns="0" tIns="0" rIns="0" bIns="0" rtlCol="0" anchor="t"/>
          <a:lstStyle/>
          <a:p>
            <a:pPr marL="0" indent="0">
              <a:buNone/>
            </a:pPr>
            <a:r>
              <a:rPr lang="en-US" sz="1000" dirty="0">
                <a:solidFill>
                  <a:srgbClr val="595959"/>
                </a:solidFill>
                <a:latin typeface="Arial" pitchFamily="34" charset="0"/>
                <a:ea typeface="Arial" pitchFamily="34" charset="-122"/>
                <a:cs typeface="Arial" pitchFamily="34" charset="-120"/>
              </a:rPr>
              <a:t>0..1</a:t>
            </a:r>
            <a:endParaRPr lang="en-US" sz="1000" dirty="0"/>
          </a:p>
        </p:txBody>
      </p:sp>
      <p:sp>
        <p:nvSpPr>
          <p:cNvPr id="76" name="A8_579"/>
          <p:cNvSpPr txBox="1"/>
          <p:nvPr/>
        </p:nvSpPr>
        <p:spPr>
          <a:xfrm>
            <a:off x="4572000" y="4023360"/>
            <a:ext cx="1097280" cy="256032"/>
          </a:xfrm>
          <a:prstGeom prst="rect">
            <a:avLst/>
          </a:prstGeom>
          <a:noFill/>
          <a:ln/>
        </p:spPr>
        <p:txBody>
          <a:bodyPr wrap="square" lIns="0" tIns="0" rIns="0" bIns="0" rtlCol="0" anchor="t"/>
          <a:lstStyle/>
          <a:p>
            <a:pPr marL="0" indent="0">
              <a:buNone/>
            </a:pPr>
            <a:r>
              <a:rPr lang="en-US" sz="1100" i="1" dirty="0">
                <a:solidFill>
                  <a:srgbClr val="0B3C66"/>
                </a:solidFill>
                <a:latin typeface="Arial" pitchFamily="34" charset="0"/>
                <a:ea typeface="Arial" pitchFamily="34" charset="-122"/>
                <a:cs typeface="Arial" pitchFamily="34" charset="-120"/>
              </a:rPr>
              <a:t>explique</a:t>
            </a:r>
            <a:endParaRPr lang="en-US" sz="1100" dirty="0"/>
          </a:p>
        </p:txBody>
      </p:sp>
      <p:sp>
        <p:nvSpPr>
          <p:cNvPr id="77" name="A9_580"/>
          <p:cNvSpPr/>
          <p:nvPr/>
        </p:nvSpPr>
        <p:spPr>
          <a:xfrm flipH="1">
            <a:off x="4114800" y="5806440"/>
            <a:ext cx="1371600" cy="0"/>
          </a:xfrm>
          <a:prstGeom prst="line">
            <a:avLst/>
          </a:prstGeom>
          <a:noFill/>
          <a:ln w="15875">
            <a:solidFill>
              <a:srgbClr val="0B3C66"/>
            </a:solidFill>
            <a:prstDash val="solid"/>
          </a:ln>
        </p:spPr>
        <p:txBody>
          <a:bodyPr/>
          <a:lstStyle/>
          <a:p>
            <a:endParaRPr lang="fr-FR"/>
          </a:p>
        </p:txBody>
      </p:sp>
      <p:sp>
        <p:nvSpPr>
          <p:cNvPr id="78" name="A9_581"/>
          <p:cNvSpPr txBox="1"/>
          <p:nvPr/>
        </p:nvSpPr>
        <p:spPr>
          <a:xfrm>
            <a:off x="4160520" y="5532120"/>
            <a:ext cx="1097280" cy="256032"/>
          </a:xfrm>
          <a:prstGeom prst="rect">
            <a:avLst/>
          </a:prstGeom>
          <a:noFill/>
          <a:ln/>
        </p:spPr>
        <p:txBody>
          <a:bodyPr wrap="square" lIns="0" tIns="0" rIns="0" bIns="0" rtlCol="0" anchor="t"/>
          <a:lstStyle/>
          <a:p>
            <a:pPr marL="0" indent="0">
              <a:buNone/>
            </a:pPr>
            <a:r>
              <a:rPr lang="en-US" sz="1000" dirty="0">
                <a:solidFill>
                  <a:srgbClr val="595959"/>
                </a:solidFill>
                <a:latin typeface="Arial" pitchFamily="34" charset="0"/>
                <a:ea typeface="Arial" pitchFamily="34" charset="-122"/>
                <a:cs typeface="Arial" pitchFamily="34" charset="-120"/>
              </a:rPr>
              <a:t>0..*</a:t>
            </a:r>
            <a:endParaRPr lang="en-US" sz="1000" dirty="0"/>
          </a:p>
        </p:txBody>
      </p:sp>
      <p:sp>
        <p:nvSpPr>
          <p:cNvPr id="79" name="A9_582"/>
          <p:cNvSpPr txBox="1"/>
          <p:nvPr/>
        </p:nvSpPr>
        <p:spPr>
          <a:xfrm>
            <a:off x="4937760" y="5532120"/>
            <a:ext cx="1097280" cy="256032"/>
          </a:xfrm>
          <a:prstGeom prst="rect">
            <a:avLst/>
          </a:prstGeom>
          <a:noFill/>
          <a:ln/>
        </p:spPr>
        <p:txBody>
          <a:bodyPr wrap="square" lIns="0" tIns="0" rIns="0" bIns="0" rtlCol="0" anchor="t"/>
          <a:lstStyle/>
          <a:p>
            <a:pPr marL="0" indent="0">
              <a:buNone/>
            </a:pPr>
            <a:r>
              <a:rPr lang="en-US" sz="1000" dirty="0">
                <a:solidFill>
                  <a:srgbClr val="595959"/>
                </a:solidFill>
                <a:latin typeface="Arial" pitchFamily="34" charset="0"/>
                <a:ea typeface="Arial" pitchFamily="34" charset="-122"/>
                <a:cs typeface="Arial" pitchFamily="34" charset="-120"/>
              </a:rPr>
              <a:t>0..*</a:t>
            </a:r>
            <a:endParaRPr lang="en-US" sz="1000" dirty="0"/>
          </a:p>
        </p:txBody>
      </p:sp>
      <p:sp>
        <p:nvSpPr>
          <p:cNvPr id="80" name="A9_583"/>
          <p:cNvSpPr txBox="1"/>
          <p:nvPr/>
        </p:nvSpPr>
        <p:spPr>
          <a:xfrm>
            <a:off x="4206240" y="5870448"/>
            <a:ext cx="1188720" cy="256032"/>
          </a:xfrm>
          <a:prstGeom prst="rect">
            <a:avLst/>
          </a:prstGeom>
          <a:noFill/>
          <a:ln/>
        </p:spPr>
        <p:txBody>
          <a:bodyPr wrap="square" lIns="0" tIns="0" rIns="0" bIns="0" rtlCol="0" anchor="t"/>
          <a:lstStyle/>
          <a:p>
            <a:pPr marL="0" indent="0" algn="ctr">
              <a:buNone/>
            </a:pPr>
            <a:r>
              <a:rPr lang="en-US" sz="1100" i="1" dirty="0">
                <a:solidFill>
                  <a:srgbClr val="0B3C66"/>
                </a:solidFill>
                <a:latin typeface="Arial" pitchFamily="34" charset="0"/>
                <a:ea typeface="Arial" pitchFamily="34" charset="-122"/>
                <a:cs typeface="Arial" pitchFamily="34" charset="-120"/>
              </a:rPr>
              <a:t>corrélée à</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500"/>
                                        <p:tgtEl>
                                          <p:spTgt spid="29"/>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500"/>
                                        <p:tgtEl>
                                          <p:spTgt spid="3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500"/>
                                        <p:tgtEl>
                                          <p:spTgt spid="3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4"/>
                                        </p:tgtEl>
                                        <p:attrNameLst>
                                          <p:attrName>style.visibility</p:attrName>
                                        </p:attrNameLst>
                                      </p:cBhvr>
                                      <p:to>
                                        <p:strVal val="visible"/>
                                      </p:to>
                                    </p:set>
                                    <p:animEffect transition="in" filter="fade">
                                      <p:cBhvr>
                                        <p:cTn id="38" dur="500"/>
                                        <p:tgtEl>
                                          <p:spTgt spid="3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5"/>
                                        </p:tgtEl>
                                        <p:attrNameLst>
                                          <p:attrName>style.visibility</p:attrName>
                                        </p:attrNameLst>
                                      </p:cBhvr>
                                      <p:to>
                                        <p:strVal val="visible"/>
                                      </p:to>
                                    </p:set>
                                    <p:animEffect transition="in" filter="fade">
                                      <p:cBhvr>
                                        <p:cTn id="41" dur="500"/>
                                        <p:tgtEl>
                                          <p:spTgt spid="35"/>
                                        </p:tgtEl>
                                      </p:cBhvr>
                                    </p:animEffect>
                                  </p:childTnLst>
                                </p:cTn>
                              </p:par>
                            </p:childTnLst>
                          </p:cTn>
                        </p:par>
                        <p:par>
                          <p:cTn id="42" fill="hold">
                            <p:stCondLst>
                              <p:cond delay="700"/>
                            </p:stCondLst>
                            <p:childTnLst>
                              <p:par>
                                <p:cTn id="43" presetID="10" presetClass="entr" presetSubtype="0" fill="hold" grpId="0" nodeType="after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500"/>
                                        <p:tgtEl>
                                          <p:spTgt spid="3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5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500"/>
                                        <p:tgtEl>
                                          <p:spTgt spid="3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500"/>
                                        <p:tgtEl>
                                          <p:spTgt spid="3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500"/>
                                        <p:tgtEl>
                                          <p:spTgt spid="4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500"/>
                                        <p:tgtEl>
                                          <p:spTgt spid="41"/>
                                        </p:tgtEl>
                                      </p:cBhvr>
                                    </p:animEffect>
                                  </p:childTnLst>
                                </p:cTn>
                              </p:par>
                            </p:childTnLst>
                          </p:cTn>
                        </p:par>
                        <p:par>
                          <p:cTn id="61" fill="hold">
                            <p:stCondLst>
                              <p:cond delay="1050"/>
                            </p:stCondLst>
                            <p:childTnLst>
                              <p:par>
                                <p:cTn id="62" presetID="10" presetClass="entr" presetSubtype="0" fill="hold" grpId="0" nodeType="after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500"/>
                                        <p:tgtEl>
                                          <p:spTgt spid="4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3"/>
                                        </p:tgtEl>
                                        <p:attrNameLst>
                                          <p:attrName>style.visibility</p:attrName>
                                        </p:attrNameLst>
                                      </p:cBhvr>
                                      <p:to>
                                        <p:strVal val="visible"/>
                                      </p:to>
                                    </p:set>
                                    <p:animEffect transition="in" filter="fade">
                                      <p:cBhvr>
                                        <p:cTn id="67" dur="500"/>
                                        <p:tgtEl>
                                          <p:spTgt spid="4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4"/>
                                        </p:tgtEl>
                                        <p:attrNameLst>
                                          <p:attrName>style.visibility</p:attrName>
                                        </p:attrNameLst>
                                      </p:cBhvr>
                                      <p:to>
                                        <p:strVal val="visible"/>
                                      </p:to>
                                    </p:set>
                                    <p:animEffect transition="in" filter="fade">
                                      <p:cBhvr>
                                        <p:cTn id="70" dur="500"/>
                                        <p:tgtEl>
                                          <p:spTgt spid="4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5"/>
                                        </p:tgtEl>
                                        <p:attrNameLst>
                                          <p:attrName>style.visibility</p:attrName>
                                        </p:attrNameLst>
                                      </p:cBhvr>
                                      <p:to>
                                        <p:strVal val="visible"/>
                                      </p:to>
                                    </p:set>
                                    <p:animEffect transition="in" filter="fade">
                                      <p:cBhvr>
                                        <p:cTn id="73" dur="500"/>
                                        <p:tgtEl>
                                          <p:spTgt spid="45"/>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7"/>
                                        </p:tgtEl>
                                        <p:attrNameLst>
                                          <p:attrName>style.visibility</p:attrName>
                                        </p:attrNameLst>
                                      </p:cBhvr>
                                      <p:to>
                                        <p:strVal val="visible"/>
                                      </p:to>
                                    </p:set>
                                    <p:animEffect transition="in" filter="fade">
                                      <p:cBhvr>
                                        <p:cTn id="79" dur="500"/>
                                        <p:tgtEl>
                                          <p:spTgt spid="47"/>
                                        </p:tgtEl>
                                      </p:cBhvr>
                                    </p:animEffect>
                                  </p:childTnLst>
                                </p:cTn>
                              </p:par>
                            </p:childTnLst>
                          </p:cTn>
                        </p:par>
                        <p:par>
                          <p:cTn id="80" fill="hold">
                            <p:stCondLst>
                              <p:cond delay="1400"/>
                            </p:stCondLst>
                            <p:childTnLst>
                              <p:par>
                                <p:cTn id="81" presetID="10" presetClass="entr" presetSubtype="0" fill="hold" grpId="0" nodeType="afterEffect">
                                  <p:stCondLst>
                                    <p:cond delay="0"/>
                                  </p:stCondLst>
                                  <p:childTnLst>
                                    <p:set>
                                      <p:cBhvr>
                                        <p:cTn id="82" dur="1" fill="hold">
                                          <p:stCondLst>
                                            <p:cond delay="0"/>
                                          </p:stCondLst>
                                        </p:cTn>
                                        <p:tgtEl>
                                          <p:spTgt spid="48"/>
                                        </p:tgtEl>
                                        <p:attrNameLst>
                                          <p:attrName>style.visibility</p:attrName>
                                        </p:attrNameLst>
                                      </p:cBhvr>
                                      <p:to>
                                        <p:strVal val="visible"/>
                                      </p:to>
                                    </p:set>
                                    <p:animEffect transition="in" filter="fade">
                                      <p:cBhvr>
                                        <p:cTn id="83" dur="500"/>
                                        <p:tgtEl>
                                          <p:spTgt spid="4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500"/>
                                        <p:tgtEl>
                                          <p:spTgt spid="4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0"/>
                                        </p:tgtEl>
                                        <p:attrNameLst>
                                          <p:attrName>style.visibility</p:attrName>
                                        </p:attrNameLst>
                                      </p:cBhvr>
                                      <p:to>
                                        <p:strVal val="visible"/>
                                      </p:to>
                                    </p:set>
                                    <p:animEffect transition="in" filter="fade">
                                      <p:cBhvr>
                                        <p:cTn id="89" dur="500"/>
                                        <p:tgtEl>
                                          <p:spTgt spid="5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51"/>
                                        </p:tgtEl>
                                        <p:attrNameLst>
                                          <p:attrName>style.visibility</p:attrName>
                                        </p:attrNameLst>
                                      </p:cBhvr>
                                      <p:to>
                                        <p:strVal val="visible"/>
                                      </p:to>
                                    </p:set>
                                    <p:animEffect transition="in" filter="fade">
                                      <p:cBhvr>
                                        <p:cTn id="92" dur="500"/>
                                        <p:tgtEl>
                                          <p:spTgt spid="5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3"/>
                                        </p:tgtEl>
                                        <p:attrNameLst>
                                          <p:attrName>style.visibility</p:attrName>
                                        </p:attrNameLst>
                                      </p:cBhvr>
                                      <p:to>
                                        <p:strVal val="visible"/>
                                      </p:to>
                                    </p:set>
                                    <p:animEffect transition="in" filter="fade">
                                      <p:cBhvr>
                                        <p:cTn id="98" dur="500"/>
                                        <p:tgtEl>
                                          <p:spTgt spid="53"/>
                                        </p:tgtEl>
                                      </p:cBhvr>
                                    </p:animEffect>
                                  </p:childTnLst>
                                </p:cTn>
                              </p:par>
                            </p:childTnLst>
                          </p:cTn>
                        </p:par>
                        <p:par>
                          <p:cTn id="99" fill="hold">
                            <p:stCondLst>
                              <p:cond delay="1750"/>
                            </p:stCondLst>
                            <p:childTnLst>
                              <p:par>
                                <p:cTn id="100" presetID="10" presetClass="entr" presetSubtype="0" fill="hold" grpId="0" nodeType="afterEffect">
                                  <p:stCondLst>
                                    <p:cond delay="0"/>
                                  </p:stCondLst>
                                  <p:childTnLst>
                                    <p:set>
                                      <p:cBhvr>
                                        <p:cTn id="101" dur="1" fill="hold">
                                          <p:stCondLst>
                                            <p:cond delay="0"/>
                                          </p:stCondLst>
                                        </p:cTn>
                                        <p:tgtEl>
                                          <p:spTgt spid="54"/>
                                        </p:tgtEl>
                                        <p:attrNameLst>
                                          <p:attrName>style.visibility</p:attrName>
                                        </p:attrNameLst>
                                      </p:cBhvr>
                                      <p:to>
                                        <p:strVal val="visible"/>
                                      </p:to>
                                    </p:set>
                                    <p:animEffect transition="in" filter="fade">
                                      <p:cBhvr>
                                        <p:cTn id="102" dur="500"/>
                                        <p:tgtEl>
                                          <p:spTgt spid="5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5"/>
                                        </p:tgtEl>
                                        <p:attrNameLst>
                                          <p:attrName>style.visibility</p:attrName>
                                        </p:attrNameLst>
                                      </p:cBhvr>
                                      <p:to>
                                        <p:strVal val="visible"/>
                                      </p:to>
                                    </p:set>
                                    <p:animEffect transition="in" filter="fade">
                                      <p:cBhvr>
                                        <p:cTn id="105" dur="500"/>
                                        <p:tgtEl>
                                          <p:spTgt spid="55"/>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6"/>
                                        </p:tgtEl>
                                        <p:attrNameLst>
                                          <p:attrName>style.visibility</p:attrName>
                                        </p:attrNameLst>
                                      </p:cBhvr>
                                      <p:to>
                                        <p:strVal val="visible"/>
                                      </p:to>
                                    </p:set>
                                    <p:animEffect transition="in" filter="fade">
                                      <p:cBhvr>
                                        <p:cTn id="108" dur="500"/>
                                        <p:tgtEl>
                                          <p:spTgt spid="56"/>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7"/>
                                        </p:tgtEl>
                                        <p:attrNameLst>
                                          <p:attrName>style.visibility</p:attrName>
                                        </p:attrNameLst>
                                      </p:cBhvr>
                                      <p:to>
                                        <p:strVal val="visible"/>
                                      </p:to>
                                    </p:set>
                                    <p:animEffect transition="in" filter="fade">
                                      <p:cBhvr>
                                        <p:cTn id="111" dur="500"/>
                                        <p:tgtEl>
                                          <p:spTgt spid="57"/>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8"/>
                                        </p:tgtEl>
                                        <p:attrNameLst>
                                          <p:attrName>style.visibility</p:attrName>
                                        </p:attrNameLst>
                                      </p:cBhvr>
                                      <p:to>
                                        <p:strVal val="visible"/>
                                      </p:to>
                                    </p:set>
                                    <p:animEffect transition="in" filter="fade">
                                      <p:cBhvr>
                                        <p:cTn id="114" dur="500"/>
                                        <p:tgtEl>
                                          <p:spTgt spid="58"/>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9"/>
                                        </p:tgtEl>
                                        <p:attrNameLst>
                                          <p:attrName>style.visibility</p:attrName>
                                        </p:attrNameLst>
                                      </p:cBhvr>
                                      <p:to>
                                        <p:strVal val="visible"/>
                                      </p:to>
                                    </p:set>
                                    <p:animEffect transition="in" filter="fade">
                                      <p:cBhvr>
                                        <p:cTn id="117" dur="500"/>
                                        <p:tgtEl>
                                          <p:spTgt spid="59"/>
                                        </p:tgtEl>
                                      </p:cBhvr>
                                    </p:animEffect>
                                  </p:childTnLst>
                                </p:cTn>
                              </p:par>
                            </p:childTnLst>
                          </p:cTn>
                        </p:par>
                        <p:par>
                          <p:cTn id="118" fill="hold">
                            <p:stCondLst>
                              <p:cond delay="2100"/>
                            </p:stCondLst>
                            <p:childTnLst>
                              <p:par>
                                <p:cTn id="119" presetID="22" presetClass="entr" presetSubtype="8" fill="hold" grpId="0" nodeType="afterEffect">
                                  <p:stCondLst>
                                    <p:cond delay="0"/>
                                  </p:stCondLst>
                                  <p:childTnLst>
                                    <p:set>
                                      <p:cBhvr>
                                        <p:cTn id="120" dur="1" fill="hold">
                                          <p:stCondLst>
                                            <p:cond delay="0"/>
                                          </p:stCondLst>
                                        </p:cTn>
                                        <p:tgtEl>
                                          <p:spTgt spid="60"/>
                                        </p:tgtEl>
                                        <p:attrNameLst>
                                          <p:attrName>style.visibility</p:attrName>
                                        </p:attrNameLst>
                                      </p:cBhvr>
                                      <p:to>
                                        <p:strVal val="visible"/>
                                      </p:to>
                                    </p:set>
                                    <p:animEffect transition="in" filter="wipe(left)">
                                      <p:cBhvr>
                                        <p:cTn id="121" dur="500"/>
                                        <p:tgtEl>
                                          <p:spTgt spid="60"/>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61"/>
                                        </p:tgtEl>
                                        <p:attrNameLst>
                                          <p:attrName>style.visibility</p:attrName>
                                        </p:attrNameLst>
                                      </p:cBhvr>
                                      <p:to>
                                        <p:strVal val="visible"/>
                                      </p:to>
                                    </p:set>
                                    <p:animEffect transition="in" filter="fade">
                                      <p:cBhvr>
                                        <p:cTn id="124" dur="500"/>
                                        <p:tgtEl>
                                          <p:spTgt spid="61"/>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62"/>
                                        </p:tgtEl>
                                        <p:attrNameLst>
                                          <p:attrName>style.visibility</p:attrName>
                                        </p:attrNameLst>
                                      </p:cBhvr>
                                      <p:to>
                                        <p:strVal val="visible"/>
                                      </p:to>
                                    </p:set>
                                    <p:animEffect transition="in" filter="fade">
                                      <p:cBhvr>
                                        <p:cTn id="127" dur="500"/>
                                        <p:tgtEl>
                                          <p:spTgt spid="62"/>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63"/>
                                        </p:tgtEl>
                                        <p:attrNameLst>
                                          <p:attrName>style.visibility</p:attrName>
                                        </p:attrNameLst>
                                      </p:cBhvr>
                                      <p:to>
                                        <p:strVal val="visible"/>
                                      </p:to>
                                    </p:set>
                                    <p:animEffect transition="in" filter="fade">
                                      <p:cBhvr>
                                        <p:cTn id="130" dur="500"/>
                                        <p:tgtEl>
                                          <p:spTgt spid="63"/>
                                        </p:tgtEl>
                                      </p:cBhvr>
                                    </p:animEffect>
                                  </p:childTnLst>
                                </p:cTn>
                              </p:par>
                              <p:par>
                                <p:cTn id="131" presetID="22" presetClass="entr" presetSubtype="8" fill="hold" grpId="0" nodeType="withEffect">
                                  <p:stCondLst>
                                    <p:cond delay="0"/>
                                  </p:stCondLst>
                                  <p:childTnLst>
                                    <p:set>
                                      <p:cBhvr>
                                        <p:cTn id="132" dur="1" fill="hold">
                                          <p:stCondLst>
                                            <p:cond delay="0"/>
                                          </p:stCondLst>
                                        </p:cTn>
                                        <p:tgtEl>
                                          <p:spTgt spid="64"/>
                                        </p:tgtEl>
                                        <p:attrNameLst>
                                          <p:attrName>style.visibility</p:attrName>
                                        </p:attrNameLst>
                                      </p:cBhvr>
                                      <p:to>
                                        <p:strVal val="visible"/>
                                      </p:to>
                                    </p:set>
                                    <p:animEffect transition="in" filter="wipe(left)">
                                      <p:cBhvr>
                                        <p:cTn id="133" dur="500"/>
                                        <p:tgtEl>
                                          <p:spTgt spid="64"/>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65"/>
                                        </p:tgtEl>
                                        <p:attrNameLst>
                                          <p:attrName>style.visibility</p:attrName>
                                        </p:attrNameLst>
                                      </p:cBhvr>
                                      <p:to>
                                        <p:strVal val="visible"/>
                                      </p:to>
                                    </p:set>
                                    <p:animEffect transition="in" filter="fade">
                                      <p:cBhvr>
                                        <p:cTn id="136" dur="500"/>
                                        <p:tgtEl>
                                          <p:spTgt spid="65"/>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66"/>
                                        </p:tgtEl>
                                        <p:attrNameLst>
                                          <p:attrName>style.visibility</p:attrName>
                                        </p:attrNameLst>
                                      </p:cBhvr>
                                      <p:to>
                                        <p:strVal val="visible"/>
                                      </p:to>
                                    </p:set>
                                    <p:animEffect transition="in" filter="fade">
                                      <p:cBhvr>
                                        <p:cTn id="139" dur="500"/>
                                        <p:tgtEl>
                                          <p:spTgt spid="66"/>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67"/>
                                        </p:tgtEl>
                                        <p:attrNameLst>
                                          <p:attrName>style.visibility</p:attrName>
                                        </p:attrNameLst>
                                      </p:cBhvr>
                                      <p:to>
                                        <p:strVal val="visible"/>
                                      </p:to>
                                    </p:set>
                                    <p:animEffect transition="in" filter="fade">
                                      <p:cBhvr>
                                        <p:cTn id="142" dur="500"/>
                                        <p:tgtEl>
                                          <p:spTgt spid="67"/>
                                        </p:tgtEl>
                                      </p:cBhvr>
                                    </p:animEffect>
                                  </p:childTnLst>
                                </p:cTn>
                              </p:par>
                            </p:childTnLst>
                          </p:cTn>
                        </p:par>
                        <p:par>
                          <p:cTn id="143" fill="hold">
                            <p:stCondLst>
                              <p:cond delay="2450"/>
                            </p:stCondLst>
                            <p:childTnLst>
                              <p:par>
                                <p:cTn id="144" presetID="22" presetClass="entr" presetSubtype="8" fill="hold" grpId="0" nodeType="afterEffect">
                                  <p:stCondLst>
                                    <p:cond delay="0"/>
                                  </p:stCondLst>
                                  <p:childTnLst>
                                    <p:set>
                                      <p:cBhvr>
                                        <p:cTn id="145" dur="1" fill="hold">
                                          <p:stCondLst>
                                            <p:cond delay="0"/>
                                          </p:stCondLst>
                                        </p:cTn>
                                        <p:tgtEl>
                                          <p:spTgt spid="68"/>
                                        </p:tgtEl>
                                        <p:attrNameLst>
                                          <p:attrName>style.visibility</p:attrName>
                                        </p:attrNameLst>
                                      </p:cBhvr>
                                      <p:to>
                                        <p:strVal val="visible"/>
                                      </p:to>
                                    </p:set>
                                    <p:animEffect transition="in" filter="wipe(left)">
                                      <p:cBhvr>
                                        <p:cTn id="146" dur="500"/>
                                        <p:tgtEl>
                                          <p:spTgt spid="68"/>
                                        </p:tgtEl>
                                      </p:cBhvr>
                                    </p:animEffect>
                                  </p:childTnLst>
                                </p:cTn>
                              </p:par>
                              <p:par>
                                <p:cTn id="147" presetID="22" presetClass="entr" presetSubtype="8" fill="hold" grpId="0" nodeType="withEffect">
                                  <p:stCondLst>
                                    <p:cond delay="0"/>
                                  </p:stCondLst>
                                  <p:childTnLst>
                                    <p:set>
                                      <p:cBhvr>
                                        <p:cTn id="148" dur="1" fill="hold">
                                          <p:stCondLst>
                                            <p:cond delay="0"/>
                                          </p:stCondLst>
                                        </p:cTn>
                                        <p:tgtEl>
                                          <p:spTgt spid="69"/>
                                        </p:tgtEl>
                                        <p:attrNameLst>
                                          <p:attrName>style.visibility</p:attrName>
                                        </p:attrNameLst>
                                      </p:cBhvr>
                                      <p:to>
                                        <p:strVal val="visible"/>
                                      </p:to>
                                    </p:set>
                                    <p:animEffect transition="in" filter="wipe(left)">
                                      <p:cBhvr>
                                        <p:cTn id="149" dur="500"/>
                                        <p:tgtEl>
                                          <p:spTgt spid="69"/>
                                        </p:tgtEl>
                                      </p:cBhvr>
                                    </p:animEffect>
                                  </p:childTnLst>
                                </p:cTn>
                              </p:par>
                              <p:par>
                                <p:cTn id="150" presetID="22" presetClass="entr" presetSubtype="8" fill="hold" grpId="0" nodeType="withEffect">
                                  <p:stCondLst>
                                    <p:cond delay="0"/>
                                  </p:stCondLst>
                                  <p:childTnLst>
                                    <p:set>
                                      <p:cBhvr>
                                        <p:cTn id="151" dur="1" fill="hold">
                                          <p:stCondLst>
                                            <p:cond delay="0"/>
                                          </p:stCondLst>
                                        </p:cTn>
                                        <p:tgtEl>
                                          <p:spTgt spid="70"/>
                                        </p:tgtEl>
                                        <p:attrNameLst>
                                          <p:attrName>style.visibility</p:attrName>
                                        </p:attrNameLst>
                                      </p:cBhvr>
                                      <p:to>
                                        <p:strVal val="visible"/>
                                      </p:to>
                                    </p:set>
                                    <p:animEffect transition="in" filter="wipe(left)">
                                      <p:cBhvr>
                                        <p:cTn id="152" dur="500"/>
                                        <p:tgtEl>
                                          <p:spTgt spid="70"/>
                                        </p:tgtEl>
                                      </p:cBhvr>
                                    </p:animEffect>
                                  </p:childTnLst>
                                </p:cTn>
                              </p:par>
                              <p:par>
                                <p:cTn id="153" presetID="22" presetClass="entr" presetSubtype="8" fill="hold" grpId="0" nodeType="withEffect">
                                  <p:stCondLst>
                                    <p:cond delay="0"/>
                                  </p:stCondLst>
                                  <p:childTnLst>
                                    <p:set>
                                      <p:cBhvr>
                                        <p:cTn id="154" dur="1" fill="hold">
                                          <p:stCondLst>
                                            <p:cond delay="0"/>
                                          </p:stCondLst>
                                        </p:cTn>
                                        <p:tgtEl>
                                          <p:spTgt spid="71"/>
                                        </p:tgtEl>
                                        <p:attrNameLst>
                                          <p:attrName>style.visibility</p:attrName>
                                        </p:attrNameLst>
                                      </p:cBhvr>
                                      <p:to>
                                        <p:strVal val="visible"/>
                                      </p:to>
                                    </p:set>
                                    <p:animEffect transition="in" filter="wipe(left)">
                                      <p:cBhvr>
                                        <p:cTn id="155" dur="500"/>
                                        <p:tgtEl>
                                          <p:spTgt spid="71"/>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fade">
                                      <p:cBhvr>
                                        <p:cTn id="158" dur="500"/>
                                        <p:tgtEl>
                                          <p:spTgt spid="72"/>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73"/>
                                        </p:tgtEl>
                                        <p:attrNameLst>
                                          <p:attrName>style.visibility</p:attrName>
                                        </p:attrNameLst>
                                      </p:cBhvr>
                                      <p:to>
                                        <p:strVal val="visible"/>
                                      </p:to>
                                    </p:set>
                                    <p:animEffect transition="in" filter="fade">
                                      <p:cBhvr>
                                        <p:cTn id="161" dur="500"/>
                                        <p:tgtEl>
                                          <p:spTgt spid="73"/>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74"/>
                                        </p:tgtEl>
                                        <p:attrNameLst>
                                          <p:attrName>style.visibility</p:attrName>
                                        </p:attrNameLst>
                                      </p:cBhvr>
                                      <p:to>
                                        <p:strVal val="visible"/>
                                      </p:to>
                                    </p:set>
                                    <p:animEffect transition="in" filter="fade">
                                      <p:cBhvr>
                                        <p:cTn id="164" dur="500"/>
                                        <p:tgtEl>
                                          <p:spTgt spid="74"/>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75"/>
                                        </p:tgtEl>
                                        <p:attrNameLst>
                                          <p:attrName>style.visibility</p:attrName>
                                        </p:attrNameLst>
                                      </p:cBhvr>
                                      <p:to>
                                        <p:strVal val="visible"/>
                                      </p:to>
                                    </p:set>
                                    <p:animEffect transition="in" filter="fade">
                                      <p:cBhvr>
                                        <p:cTn id="167" dur="500"/>
                                        <p:tgtEl>
                                          <p:spTgt spid="75"/>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76"/>
                                        </p:tgtEl>
                                        <p:attrNameLst>
                                          <p:attrName>style.visibility</p:attrName>
                                        </p:attrNameLst>
                                      </p:cBhvr>
                                      <p:to>
                                        <p:strVal val="visible"/>
                                      </p:to>
                                    </p:set>
                                    <p:animEffect transition="in" filter="fade">
                                      <p:cBhvr>
                                        <p:cTn id="170" dur="500"/>
                                        <p:tgtEl>
                                          <p:spTgt spid="76"/>
                                        </p:tgtEl>
                                      </p:cBhvr>
                                    </p:animEffect>
                                  </p:childTnLst>
                                </p:cTn>
                              </p:par>
                            </p:childTnLst>
                          </p:cTn>
                        </p:par>
                        <p:par>
                          <p:cTn id="171" fill="hold">
                            <p:stCondLst>
                              <p:cond delay="2800"/>
                            </p:stCondLst>
                            <p:childTnLst>
                              <p:par>
                                <p:cTn id="172" presetID="22" presetClass="entr" presetSubtype="8" fill="hold" grpId="0" nodeType="afterEffect">
                                  <p:stCondLst>
                                    <p:cond delay="0"/>
                                  </p:stCondLst>
                                  <p:childTnLst>
                                    <p:set>
                                      <p:cBhvr>
                                        <p:cTn id="173" dur="1" fill="hold">
                                          <p:stCondLst>
                                            <p:cond delay="0"/>
                                          </p:stCondLst>
                                        </p:cTn>
                                        <p:tgtEl>
                                          <p:spTgt spid="77"/>
                                        </p:tgtEl>
                                        <p:attrNameLst>
                                          <p:attrName>style.visibility</p:attrName>
                                        </p:attrNameLst>
                                      </p:cBhvr>
                                      <p:to>
                                        <p:strVal val="visible"/>
                                      </p:to>
                                    </p:set>
                                    <p:animEffect transition="in" filter="wipe(left)">
                                      <p:cBhvr>
                                        <p:cTn id="174" dur="500"/>
                                        <p:tgtEl>
                                          <p:spTgt spid="77"/>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78"/>
                                        </p:tgtEl>
                                        <p:attrNameLst>
                                          <p:attrName>style.visibility</p:attrName>
                                        </p:attrNameLst>
                                      </p:cBhvr>
                                      <p:to>
                                        <p:strVal val="visible"/>
                                      </p:to>
                                    </p:set>
                                    <p:animEffect transition="in" filter="fade">
                                      <p:cBhvr>
                                        <p:cTn id="177" dur="500"/>
                                        <p:tgtEl>
                                          <p:spTgt spid="78"/>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79"/>
                                        </p:tgtEl>
                                        <p:attrNameLst>
                                          <p:attrName>style.visibility</p:attrName>
                                        </p:attrNameLst>
                                      </p:cBhvr>
                                      <p:to>
                                        <p:strVal val="visible"/>
                                      </p:to>
                                    </p:set>
                                    <p:animEffect transition="in" filter="fade">
                                      <p:cBhvr>
                                        <p:cTn id="180" dur="500"/>
                                        <p:tgtEl>
                                          <p:spTgt spid="79"/>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80"/>
                                        </p:tgtEl>
                                        <p:attrNameLst>
                                          <p:attrName>style.visibility</p:attrName>
                                        </p:attrNameLst>
                                      </p:cBhvr>
                                      <p:to>
                                        <p:strVal val="visible"/>
                                      </p:to>
                                    </p:set>
                                    <p:animEffect transition="in" filter="fade">
                                      <p:cBhvr>
                                        <p:cTn id="183" dur="5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A0_584" descr="preencoded.png"/>
          <p:cNvPicPr>
            <a:picLocks noChangeAspect="1"/>
          </p:cNvPicPr>
          <p:nvPr/>
        </p:nvPicPr>
        <p:blipFill>
          <a:blip r:embed="rId3"/>
          <a:stretch>
            <a:fillRect/>
          </a:stretch>
        </p:blipFill>
        <p:spPr>
          <a:xfrm>
            <a:off x="0" y="0"/>
            <a:ext cx="14287500" cy="8058150"/>
          </a:xfrm>
          <a:prstGeom prst="rect">
            <a:avLst/>
          </a:prstGeom>
        </p:spPr>
      </p:pic>
      <p:sp>
        <p:nvSpPr>
          <p:cNvPr id="4" name="A1_585"/>
          <p:cNvSpPr txBox="1"/>
          <p:nvPr/>
        </p:nvSpPr>
        <p:spPr>
          <a:xfrm>
            <a:off x="9545955" y="4754880"/>
            <a:ext cx="4330065" cy="2272665"/>
          </a:xfrm>
          <a:prstGeom prst="rect">
            <a:avLst/>
          </a:prstGeom>
          <a:noFill/>
          <a:ln/>
        </p:spPr>
        <p:txBody>
          <a:bodyPr wrap="square" lIns="0" tIns="0" rIns="0" bIns="0" rtlCol="0" anchor="ctr"/>
          <a:lstStyle/>
          <a:p>
            <a:pPr marL="0" indent="0" algn="l">
              <a:spcAft>
                <a:spcPts val="400"/>
              </a:spcAft>
              <a:buNone/>
            </a:pPr>
            <a:r>
              <a:rPr lang="en-US" sz="1500" dirty="0">
                <a:solidFill>
                  <a:srgbClr val="CFE3F5"/>
                </a:solidFill>
                <a:latin typeface="Arial" pitchFamily="34" charset="0"/>
                <a:ea typeface="Arial" pitchFamily="34" charset="-122"/>
                <a:cs typeface="Arial" pitchFamily="34" charset="-120"/>
              </a:rPr>
              <a:t>Partie 04</a:t>
            </a:r>
            <a:endParaRPr lang="en-US" sz="1400" dirty="0"/>
          </a:p>
          <a:p>
            <a:pPr marL="0" indent="0" algn="l">
              <a:spcAft>
                <a:spcPts val="400"/>
              </a:spcAft>
              <a:buNone/>
            </a:pPr>
            <a:r>
              <a:rPr lang="en-US" sz="3000" b="1" dirty="0">
                <a:solidFill>
                  <a:srgbClr val="FFFFFF"/>
                </a:solidFill>
                <a:latin typeface="Arial" pitchFamily="34" charset="0"/>
                <a:ea typeface="Arial" pitchFamily="34" charset="-122"/>
                <a:cs typeface="Arial" pitchFamily="34" charset="-120"/>
              </a:rPr>
              <a:t>Réalisation</a:t>
            </a:r>
            <a:endParaRPr lang="en-US" sz="1400"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A0_586"/>
          <p:cNvSpPr/>
          <p:nvPr/>
        </p:nvSpPr>
        <p:spPr>
          <a:xfrm>
            <a:off x="6800850" y="274320"/>
            <a:ext cx="109728" cy="109728"/>
          </a:xfrm>
          <a:prstGeom prst="rect">
            <a:avLst/>
          </a:prstGeom>
          <a:solidFill>
            <a:srgbClr val="0A6EBD"/>
          </a:solidFill>
          <a:ln w="12700">
            <a:solidFill>
              <a:srgbClr val="0A6EBD"/>
            </a:solidFill>
            <a:prstDash val="solid"/>
          </a:ln>
        </p:spPr>
      </p:sp>
      <p:sp>
        <p:nvSpPr>
          <p:cNvPr id="4" name="A0_587"/>
          <p:cNvSpPr/>
          <p:nvPr/>
        </p:nvSpPr>
        <p:spPr>
          <a:xfrm>
            <a:off x="6992874" y="274320"/>
            <a:ext cx="109728" cy="109728"/>
          </a:xfrm>
          <a:prstGeom prst="rect">
            <a:avLst/>
          </a:prstGeom>
          <a:solidFill>
            <a:srgbClr val="0A6EBD"/>
          </a:solidFill>
          <a:ln w="12700">
            <a:solidFill>
              <a:srgbClr val="0A6EBD"/>
            </a:solidFill>
            <a:prstDash val="solid"/>
          </a:ln>
        </p:spPr>
      </p:sp>
      <p:sp>
        <p:nvSpPr>
          <p:cNvPr id="5" name="A0_588"/>
          <p:cNvSpPr/>
          <p:nvPr/>
        </p:nvSpPr>
        <p:spPr>
          <a:xfrm>
            <a:off x="7184898" y="274320"/>
            <a:ext cx="109728" cy="109728"/>
          </a:xfrm>
          <a:prstGeom prst="rect">
            <a:avLst/>
          </a:prstGeom>
          <a:solidFill>
            <a:srgbClr val="0A6EBD"/>
          </a:solidFill>
          <a:ln w="12700">
            <a:solidFill>
              <a:srgbClr val="0A6EBD"/>
            </a:solidFill>
            <a:prstDash val="solid"/>
          </a:ln>
        </p:spPr>
      </p:sp>
      <p:sp>
        <p:nvSpPr>
          <p:cNvPr id="6" name="A0_589"/>
          <p:cNvSpPr/>
          <p:nvPr/>
        </p:nvSpPr>
        <p:spPr>
          <a:xfrm>
            <a:off x="7376922" y="274320"/>
            <a:ext cx="109728" cy="109728"/>
          </a:xfrm>
          <a:prstGeom prst="rect">
            <a:avLst/>
          </a:prstGeom>
          <a:solidFill>
            <a:srgbClr val="0A6EBD"/>
          </a:solidFill>
          <a:ln w="12700">
            <a:solidFill>
              <a:srgbClr val="0A6EBD"/>
            </a:solidFill>
            <a:prstDash val="solid"/>
          </a:ln>
        </p:spPr>
      </p:sp>
      <p:sp>
        <p:nvSpPr>
          <p:cNvPr id="7" name="A0_590"/>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Méthodologie de travail : Scrum</a:t>
            </a:r>
            <a:endParaRPr lang="en-US" sz="3600" dirty="0"/>
          </a:p>
        </p:txBody>
      </p:sp>
      <p:pic>
        <p:nvPicPr>
          <p:cNvPr id="8" name="A0_591"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605"/>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606"/>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17</a:t>
            </a:r>
            <a:endParaRPr lang="en-US" sz="1500" dirty="0"/>
          </a:p>
        </p:txBody>
      </p:sp>
      <p:sp>
        <p:nvSpPr>
          <p:cNvPr id="24" name="A1_607"/>
          <p:cNvSpPr/>
          <p:nvPr/>
        </p:nvSpPr>
        <p:spPr>
          <a:xfrm>
            <a:off x="1188720" y="1691640"/>
            <a:ext cx="1005840" cy="1005840"/>
          </a:xfrm>
          <a:prstGeom prst="ellipse">
            <a:avLst/>
          </a:prstGeom>
          <a:solidFill>
            <a:srgbClr val="FFFFFF"/>
          </a:solidFill>
          <a:ln w="76835">
            <a:solidFill>
              <a:srgbClr val="0A6EBD"/>
            </a:solidFill>
            <a:prstDash val="solid"/>
          </a:ln>
        </p:spPr>
        <p:txBody>
          <a:bodyPr/>
          <a:lstStyle/>
          <a:p>
            <a:endParaRPr lang="fr-FR"/>
          </a:p>
        </p:txBody>
      </p:sp>
      <p:pic>
        <p:nvPicPr>
          <p:cNvPr id="25" name="A1_608" descr="preencoded.png"/>
          <p:cNvPicPr>
            <a:picLocks noChangeAspect="1"/>
          </p:cNvPicPr>
          <p:nvPr/>
        </p:nvPicPr>
        <p:blipFill>
          <a:blip r:embed="rId4"/>
          <a:stretch>
            <a:fillRect/>
          </a:stretch>
        </p:blipFill>
        <p:spPr>
          <a:xfrm>
            <a:off x="1410005" y="1912925"/>
            <a:ext cx="563270" cy="563270"/>
          </a:xfrm>
          <a:prstGeom prst="rect">
            <a:avLst/>
          </a:prstGeom>
        </p:spPr>
      </p:pic>
      <p:sp>
        <p:nvSpPr>
          <p:cNvPr id="26" name="A1_609"/>
          <p:cNvSpPr/>
          <p:nvPr/>
        </p:nvSpPr>
        <p:spPr>
          <a:xfrm>
            <a:off x="2331720" y="2194560"/>
            <a:ext cx="1445895" cy="0"/>
          </a:xfrm>
          <a:prstGeom prst="line">
            <a:avLst/>
          </a:prstGeom>
          <a:noFill/>
          <a:ln w="25400">
            <a:solidFill>
              <a:srgbClr val="0A6EBD"/>
            </a:solidFill>
            <a:prstDash val="solid"/>
            <a:tailEnd type="triangle"/>
          </a:ln>
        </p:spPr>
        <p:txBody>
          <a:bodyPr/>
          <a:lstStyle/>
          <a:p>
            <a:endParaRPr lang="fr-FR"/>
          </a:p>
        </p:txBody>
      </p:sp>
      <p:sp>
        <p:nvSpPr>
          <p:cNvPr id="27" name="A1_610"/>
          <p:cNvSpPr txBox="1"/>
          <p:nvPr/>
        </p:nvSpPr>
        <p:spPr>
          <a:xfrm>
            <a:off x="502920" y="2788920"/>
            <a:ext cx="2377440" cy="365760"/>
          </a:xfrm>
          <a:prstGeom prst="rect">
            <a:avLst/>
          </a:prstGeom>
          <a:noFill/>
          <a:ln/>
        </p:spPr>
        <p:txBody>
          <a:bodyPr wrap="square" lIns="0" tIns="0" rIns="0" bIns="0" rtlCol="0" anchor="t"/>
          <a:lstStyle/>
          <a:p>
            <a:pPr marL="0" indent="0" algn="ctr">
              <a:buNone/>
            </a:pPr>
            <a:r>
              <a:rPr lang="en-US" sz="1500" b="1" dirty="0">
                <a:solidFill>
                  <a:srgbClr val="0B3C66"/>
                </a:solidFill>
                <a:latin typeface="Arial" pitchFamily="34" charset="0"/>
                <a:ea typeface="Arial" pitchFamily="34" charset="-122"/>
                <a:cs typeface="Arial" pitchFamily="34" charset="-120"/>
              </a:rPr>
              <a:t>Backlog produit</a:t>
            </a:r>
            <a:endParaRPr lang="en-US" sz="1500" dirty="0"/>
          </a:p>
        </p:txBody>
      </p:sp>
      <p:sp>
        <p:nvSpPr>
          <p:cNvPr id="28" name="A1_611"/>
          <p:cNvSpPr txBox="1"/>
          <p:nvPr/>
        </p:nvSpPr>
        <p:spPr>
          <a:xfrm>
            <a:off x="502920" y="3154680"/>
            <a:ext cx="2377440" cy="5486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Liste des besoins priorisés</a:t>
            </a:r>
            <a:endParaRPr lang="en-US" sz="1200" dirty="0"/>
          </a:p>
        </p:txBody>
      </p:sp>
      <p:sp>
        <p:nvSpPr>
          <p:cNvPr id="29" name="A2_612"/>
          <p:cNvSpPr/>
          <p:nvPr/>
        </p:nvSpPr>
        <p:spPr>
          <a:xfrm>
            <a:off x="3914775" y="1691640"/>
            <a:ext cx="1005840" cy="1005840"/>
          </a:xfrm>
          <a:prstGeom prst="ellipse">
            <a:avLst/>
          </a:prstGeom>
          <a:solidFill>
            <a:srgbClr val="FFFFFF"/>
          </a:solidFill>
          <a:ln w="76835">
            <a:solidFill>
              <a:srgbClr val="0A6EBD"/>
            </a:solidFill>
            <a:prstDash val="solid"/>
          </a:ln>
        </p:spPr>
        <p:txBody>
          <a:bodyPr/>
          <a:lstStyle/>
          <a:p>
            <a:endParaRPr lang="fr-FR"/>
          </a:p>
        </p:txBody>
      </p:sp>
      <p:pic>
        <p:nvPicPr>
          <p:cNvPr id="30" name="A2_613" descr="preencoded.png"/>
          <p:cNvPicPr>
            <a:picLocks noChangeAspect="1"/>
          </p:cNvPicPr>
          <p:nvPr/>
        </p:nvPicPr>
        <p:blipFill>
          <a:blip r:embed="rId5"/>
          <a:stretch>
            <a:fillRect/>
          </a:stretch>
        </p:blipFill>
        <p:spPr>
          <a:xfrm>
            <a:off x="4136060" y="1912925"/>
            <a:ext cx="563270" cy="563270"/>
          </a:xfrm>
          <a:prstGeom prst="rect">
            <a:avLst/>
          </a:prstGeom>
        </p:spPr>
      </p:pic>
      <p:sp>
        <p:nvSpPr>
          <p:cNvPr id="31" name="A2_614"/>
          <p:cNvSpPr/>
          <p:nvPr/>
        </p:nvSpPr>
        <p:spPr>
          <a:xfrm>
            <a:off x="5057775" y="2194560"/>
            <a:ext cx="1445895" cy="0"/>
          </a:xfrm>
          <a:prstGeom prst="line">
            <a:avLst/>
          </a:prstGeom>
          <a:noFill/>
          <a:ln w="25400">
            <a:solidFill>
              <a:srgbClr val="0A6EBD"/>
            </a:solidFill>
            <a:prstDash val="solid"/>
            <a:tailEnd type="triangle"/>
          </a:ln>
        </p:spPr>
        <p:txBody>
          <a:bodyPr/>
          <a:lstStyle/>
          <a:p>
            <a:endParaRPr lang="fr-FR"/>
          </a:p>
        </p:txBody>
      </p:sp>
      <p:sp>
        <p:nvSpPr>
          <p:cNvPr id="32" name="A2_615"/>
          <p:cNvSpPr txBox="1"/>
          <p:nvPr/>
        </p:nvSpPr>
        <p:spPr>
          <a:xfrm>
            <a:off x="3228975" y="2788920"/>
            <a:ext cx="2377440" cy="365760"/>
          </a:xfrm>
          <a:prstGeom prst="rect">
            <a:avLst/>
          </a:prstGeom>
          <a:noFill/>
          <a:ln/>
        </p:spPr>
        <p:txBody>
          <a:bodyPr wrap="square" lIns="0" tIns="0" rIns="0" bIns="0" rtlCol="0" anchor="t"/>
          <a:lstStyle/>
          <a:p>
            <a:pPr marL="0" indent="0" algn="ctr">
              <a:buNone/>
            </a:pPr>
            <a:r>
              <a:rPr lang="en-US" sz="1500" b="1" dirty="0">
                <a:solidFill>
                  <a:srgbClr val="0B3C66"/>
                </a:solidFill>
                <a:latin typeface="Arial" pitchFamily="34" charset="0"/>
                <a:ea typeface="Arial" pitchFamily="34" charset="-122"/>
                <a:cs typeface="Arial" pitchFamily="34" charset="-120"/>
              </a:rPr>
              <a:t>Planification</a:t>
            </a:r>
            <a:endParaRPr lang="en-US" sz="1500" dirty="0"/>
          </a:p>
        </p:txBody>
      </p:sp>
      <p:sp>
        <p:nvSpPr>
          <p:cNvPr id="33" name="A2_616"/>
          <p:cNvSpPr txBox="1"/>
          <p:nvPr/>
        </p:nvSpPr>
        <p:spPr>
          <a:xfrm>
            <a:off x="3228975" y="3154680"/>
            <a:ext cx="2377440" cy="5486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Choix des tâches du sprint</a:t>
            </a:r>
            <a:endParaRPr lang="en-US" sz="1200" dirty="0"/>
          </a:p>
        </p:txBody>
      </p:sp>
      <p:sp>
        <p:nvSpPr>
          <p:cNvPr id="34" name="A3_617"/>
          <p:cNvSpPr/>
          <p:nvPr/>
        </p:nvSpPr>
        <p:spPr>
          <a:xfrm>
            <a:off x="6640830" y="1691640"/>
            <a:ext cx="1005840" cy="1005840"/>
          </a:xfrm>
          <a:prstGeom prst="ellipse">
            <a:avLst/>
          </a:prstGeom>
          <a:solidFill>
            <a:srgbClr val="EF2B41"/>
          </a:solidFill>
          <a:ln w="12700">
            <a:solidFill>
              <a:srgbClr val="EF2B41"/>
            </a:solidFill>
            <a:prstDash val="solid"/>
          </a:ln>
        </p:spPr>
        <p:txBody>
          <a:bodyPr/>
          <a:lstStyle/>
          <a:p>
            <a:endParaRPr lang="fr-FR"/>
          </a:p>
        </p:txBody>
      </p:sp>
      <p:pic>
        <p:nvPicPr>
          <p:cNvPr id="35" name="A3_618" descr="preencoded.png"/>
          <p:cNvPicPr>
            <a:picLocks noChangeAspect="1"/>
          </p:cNvPicPr>
          <p:nvPr/>
        </p:nvPicPr>
        <p:blipFill>
          <a:blip r:embed="rId6"/>
          <a:stretch>
            <a:fillRect/>
          </a:stretch>
        </p:blipFill>
        <p:spPr>
          <a:xfrm>
            <a:off x="6882232" y="1933042"/>
            <a:ext cx="523037" cy="523037"/>
          </a:xfrm>
          <a:prstGeom prst="rect">
            <a:avLst/>
          </a:prstGeom>
        </p:spPr>
      </p:pic>
      <p:sp>
        <p:nvSpPr>
          <p:cNvPr id="36" name="A3_619"/>
          <p:cNvSpPr/>
          <p:nvPr/>
        </p:nvSpPr>
        <p:spPr>
          <a:xfrm>
            <a:off x="7783830" y="2194560"/>
            <a:ext cx="1445895" cy="0"/>
          </a:xfrm>
          <a:prstGeom prst="line">
            <a:avLst/>
          </a:prstGeom>
          <a:noFill/>
          <a:ln w="25400">
            <a:solidFill>
              <a:srgbClr val="0A6EBD"/>
            </a:solidFill>
            <a:prstDash val="solid"/>
            <a:tailEnd type="triangle"/>
          </a:ln>
        </p:spPr>
        <p:txBody>
          <a:bodyPr/>
          <a:lstStyle/>
          <a:p>
            <a:endParaRPr lang="fr-FR"/>
          </a:p>
        </p:txBody>
      </p:sp>
      <p:sp>
        <p:nvSpPr>
          <p:cNvPr id="37" name="A3_620"/>
          <p:cNvSpPr txBox="1"/>
          <p:nvPr/>
        </p:nvSpPr>
        <p:spPr>
          <a:xfrm>
            <a:off x="5955030" y="2788920"/>
            <a:ext cx="2377440" cy="365760"/>
          </a:xfrm>
          <a:prstGeom prst="rect">
            <a:avLst/>
          </a:prstGeom>
          <a:noFill/>
          <a:ln/>
        </p:spPr>
        <p:txBody>
          <a:bodyPr wrap="square" lIns="0" tIns="0" rIns="0" bIns="0" rtlCol="0" anchor="t"/>
          <a:lstStyle/>
          <a:p>
            <a:pPr marL="0" indent="0" algn="ctr">
              <a:buNone/>
            </a:pPr>
            <a:r>
              <a:rPr lang="en-US" sz="1500" b="1" dirty="0">
                <a:solidFill>
                  <a:srgbClr val="0B3C66"/>
                </a:solidFill>
                <a:latin typeface="Arial" pitchFamily="34" charset="0"/>
                <a:ea typeface="Arial" pitchFamily="34" charset="-122"/>
                <a:cs typeface="Arial" pitchFamily="34" charset="-120"/>
              </a:rPr>
              <a:t>Sprint</a:t>
            </a:r>
            <a:endParaRPr lang="en-US" sz="1500" dirty="0"/>
          </a:p>
        </p:txBody>
      </p:sp>
      <p:sp>
        <p:nvSpPr>
          <p:cNvPr id="38" name="A3_621"/>
          <p:cNvSpPr txBox="1"/>
          <p:nvPr/>
        </p:nvSpPr>
        <p:spPr>
          <a:xfrm>
            <a:off x="5955030" y="3154680"/>
            <a:ext cx="2377440" cy="5486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2 à 3 semaines de développement</a:t>
            </a:r>
            <a:endParaRPr lang="en-US" sz="1200" dirty="0"/>
          </a:p>
        </p:txBody>
      </p:sp>
      <p:sp>
        <p:nvSpPr>
          <p:cNvPr id="39" name="A4_622"/>
          <p:cNvSpPr/>
          <p:nvPr/>
        </p:nvSpPr>
        <p:spPr>
          <a:xfrm>
            <a:off x="9366885" y="1691640"/>
            <a:ext cx="1005840" cy="1005840"/>
          </a:xfrm>
          <a:prstGeom prst="ellipse">
            <a:avLst/>
          </a:prstGeom>
          <a:solidFill>
            <a:srgbClr val="FFFFFF"/>
          </a:solidFill>
          <a:ln w="76835">
            <a:solidFill>
              <a:srgbClr val="0A6EBD"/>
            </a:solidFill>
            <a:prstDash val="solid"/>
          </a:ln>
        </p:spPr>
        <p:txBody>
          <a:bodyPr/>
          <a:lstStyle/>
          <a:p>
            <a:endParaRPr lang="fr-FR"/>
          </a:p>
        </p:txBody>
      </p:sp>
      <p:pic>
        <p:nvPicPr>
          <p:cNvPr id="40" name="A4_623" descr="preencoded.png"/>
          <p:cNvPicPr>
            <a:picLocks noChangeAspect="1"/>
          </p:cNvPicPr>
          <p:nvPr/>
        </p:nvPicPr>
        <p:blipFill>
          <a:blip r:embed="rId7"/>
          <a:stretch>
            <a:fillRect/>
          </a:stretch>
        </p:blipFill>
        <p:spPr>
          <a:xfrm>
            <a:off x="9588170" y="1912925"/>
            <a:ext cx="563270" cy="563270"/>
          </a:xfrm>
          <a:prstGeom prst="rect">
            <a:avLst/>
          </a:prstGeom>
        </p:spPr>
      </p:pic>
      <p:sp>
        <p:nvSpPr>
          <p:cNvPr id="41" name="A4_624"/>
          <p:cNvSpPr/>
          <p:nvPr/>
        </p:nvSpPr>
        <p:spPr>
          <a:xfrm>
            <a:off x="10509885" y="2194560"/>
            <a:ext cx="1445895" cy="0"/>
          </a:xfrm>
          <a:prstGeom prst="line">
            <a:avLst/>
          </a:prstGeom>
          <a:noFill/>
          <a:ln w="25400">
            <a:solidFill>
              <a:srgbClr val="0A6EBD"/>
            </a:solidFill>
            <a:prstDash val="solid"/>
            <a:tailEnd type="triangle"/>
          </a:ln>
        </p:spPr>
        <p:txBody>
          <a:bodyPr/>
          <a:lstStyle/>
          <a:p>
            <a:endParaRPr lang="fr-FR"/>
          </a:p>
        </p:txBody>
      </p:sp>
      <p:sp>
        <p:nvSpPr>
          <p:cNvPr id="42" name="A4_625"/>
          <p:cNvSpPr txBox="1"/>
          <p:nvPr/>
        </p:nvSpPr>
        <p:spPr>
          <a:xfrm>
            <a:off x="8681085" y="2788920"/>
            <a:ext cx="2377440" cy="365760"/>
          </a:xfrm>
          <a:prstGeom prst="rect">
            <a:avLst/>
          </a:prstGeom>
          <a:noFill/>
          <a:ln/>
        </p:spPr>
        <p:txBody>
          <a:bodyPr wrap="square" lIns="0" tIns="0" rIns="0" bIns="0" rtlCol="0" anchor="t"/>
          <a:lstStyle/>
          <a:p>
            <a:pPr marL="0" indent="0" algn="ctr">
              <a:buNone/>
            </a:pPr>
            <a:r>
              <a:rPr lang="en-US" sz="1500" b="1" dirty="0">
                <a:solidFill>
                  <a:srgbClr val="0B3C66"/>
                </a:solidFill>
                <a:latin typeface="Arial" pitchFamily="34" charset="0"/>
                <a:ea typeface="Arial" pitchFamily="34" charset="-122"/>
                <a:cs typeface="Arial" pitchFamily="34" charset="-120"/>
              </a:rPr>
              <a:t>Incrément</a:t>
            </a:r>
            <a:endParaRPr lang="en-US" sz="1500" dirty="0"/>
          </a:p>
        </p:txBody>
      </p:sp>
      <p:sp>
        <p:nvSpPr>
          <p:cNvPr id="43" name="A4_626"/>
          <p:cNvSpPr txBox="1"/>
          <p:nvPr/>
        </p:nvSpPr>
        <p:spPr>
          <a:xfrm>
            <a:off x="8681085" y="3154680"/>
            <a:ext cx="2377440" cy="5486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Fonctionnalité testée et livrée</a:t>
            </a:r>
            <a:endParaRPr lang="en-US" sz="1200" dirty="0"/>
          </a:p>
        </p:txBody>
      </p:sp>
      <p:sp>
        <p:nvSpPr>
          <p:cNvPr id="44" name="A5_627"/>
          <p:cNvSpPr/>
          <p:nvPr/>
        </p:nvSpPr>
        <p:spPr>
          <a:xfrm>
            <a:off x="12092940" y="1691640"/>
            <a:ext cx="1005840" cy="1005840"/>
          </a:xfrm>
          <a:prstGeom prst="ellipse">
            <a:avLst/>
          </a:prstGeom>
          <a:solidFill>
            <a:srgbClr val="FFFFFF"/>
          </a:solidFill>
          <a:ln w="76835">
            <a:solidFill>
              <a:srgbClr val="0A6EBD"/>
            </a:solidFill>
            <a:prstDash val="solid"/>
          </a:ln>
        </p:spPr>
        <p:txBody>
          <a:bodyPr/>
          <a:lstStyle/>
          <a:p>
            <a:endParaRPr lang="fr-FR"/>
          </a:p>
        </p:txBody>
      </p:sp>
      <p:pic>
        <p:nvPicPr>
          <p:cNvPr id="45" name="A5_628" descr="preencoded.png"/>
          <p:cNvPicPr>
            <a:picLocks noChangeAspect="1"/>
          </p:cNvPicPr>
          <p:nvPr/>
        </p:nvPicPr>
        <p:blipFill>
          <a:blip r:embed="rId8"/>
          <a:stretch>
            <a:fillRect/>
          </a:stretch>
        </p:blipFill>
        <p:spPr>
          <a:xfrm>
            <a:off x="12314225" y="1912925"/>
            <a:ext cx="563270" cy="563270"/>
          </a:xfrm>
          <a:prstGeom prst="rect">
            <a:avLst/>
          </a:prstGeom>
        </p:spPr>
      </p:pic>
      <p:sp>
        <p:nvSpPr>
          <p:cNvPr id="46" name="A5_629"/>
          <p:cNvSpPr txBox="1"/>
          <p:nvPr/>
        </p:nvSpPr>
        <p:spPr>
          <a:xfrm>
            <a:off x="11407140" y="2788920"/>
            <a:ext cx="2377440" cy="365760"/>
          </a:xfrm>
          <a:prstGeom prst="rect">
            <a:avLst/>
          </a:prstGeom>
          <a:noFill/>
          <a:ln/>
        </p:spPr>
        <p:txBody>
          <a:bodyPr wrap="square" lIns="0" tIns="0" rIns="0" bIns="0" rtlCol="0" anchor="t"/>
          <a:lstStyle/>
          <a:p>
            <a:pPr marL="0" indent="0" algn="ctr">
              <a:buNone/>
            </a:pPr>
            <a:r>
              <a:rPr lang="en-US" sz="1500" b="1" dirty="0">
                <a:solidFill>
                  <a:srgbClr val="0B3C66"/>
                </a:solidFill>
                <a:latin typeface="Arial" pitchFamily="34" charset="0"/>
                <a:ea typeface="Arial" pitchFamily="34" charset="-122"/>
                <a:cs typeface="Arial" pitchFamily="34" charset="-120"/>
              </a:rPr>
              <a:t>Revue et rétrospective</a:t>
            </a:r>
            <a:endParaRPr lang="en-US" sz="1500" dirty="0"/>
          </a:p>
        </p:txBody>
      </p:sp>
      <p:sp>
        <p:nvSpPr>
          <p:cNvPr id="47" name="A5_630"/>
          <p:cNvSpPr txBox="1"/>
          <p:nvPr/>
        </p:nvSpPr>
        <p:spPr>
          <a:xfrm>
            <a:off x="11407140" y="3154680"/>
            <a:ext cx="2377440" cy="5486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Démo et amélioration continue</a:t>
            </a:r>
            <a:endParaRPr lang="en-US" sz="1200" dirty="0"/>
          </a:p>
        </p:txBody>
      </p:sp>
      <p:sp>
        <p:nvSpPr>
          <p:cNvPr id="48" name="A6_631"/>
          <p:cNvSpPr/>
          <p:nvPr/>
        </p:nvSpPr>
        <p:spPr>
          <a:xfrm>
            <a:off x="12595860" y="3749040"/>
            <a:ext cx="0" cy="228600"/>
          </a:xfrm>
          <a:prstGeom prst="line">
            <a:avLst/>
          </a:prstGeom>
          <a:noFill/>
          <a:ln w="15875">
            <a:solidFill>
              <a:srgbClr val="595959"/>
            </a:solidFill>
            <a:prstDash val="dash"/>
          </a:ln>
        </p:spPr>
        <p:txBody>
          <a:bodyPr/>
          <a:lstStyle/>
          <a:p>
            <a:endParaRPr lang="fr-FR"/>
          </a:p>
        </p:txBody>
      </p:sp>
      <p:sp>
        <p:nvSpPr>
          <p:cNvPr id="49" name="A6_632"/>
          <p:cNvSpPr/>
          <p:nvPr/>
        </p:nvSpPr>
        <p:spPr>
          <a:xfrm flipH="1">
            <a:off x="1691640" y="3977640"/>
            <a:ext cx="10904220" cy="0"/>
          </a:xfrm>
          <a:prstGeom prst="line">
            <a:avLst/>
          </a:prstGeom>
          <a:noFill/>
          <a:ln w="15875">
            <a:solidFill>
              <a:srgbClr val="595959"/>
            </a:solidFill>
            <a:prstDash val="dash"/>
          </a:ln>
        </p:spPr>
        <p:txBody>
          <a:bodyPr/>
          <a:lstStyle/>
          <a:p>
            <a:endParaRPr lang="fr-FR"/>
          </a:p>
        </p:txBody>
      </p:sp>
      <p:sp>
        <p:nvSpPr>
          <p:cNvPr id="50" name="A6_633"/>
          <p:cNvSpPr/>
          <p:nvPr/>
        </p:nvSpPr>
        <p:spPr>
          <a:xfrm flipV="1">
            <a:off x="1691640" y="3749040"/>
            <a:ext cx="0" cy="228600"/>
          </a:xfrm>
          <a:prstGeom prst="line">
            <a:avLst/>
          </a:prstGeom>
          <a:noFill/>
          <a:ln w="15875">
            <a:solidFill>
              <a:srgbClr val="595959"/>
            </a:solidFill>
            <a:prstDash val="dash"/>
            <a:tailEnd type="triangle"/>
          </a:ln>
        </p:spPr>
        <p:txBody>
          <a:bodyPr/>
          <a:lstStyle/>
          <a:p>
            <a:endParaRPr lang="fr-FR"/>
          </a:p>
        </p:txBody>
      </p:sp>
      <p:sp>
        <p:nvSpPr>
          <p:cNvPr id="51" name="A6_634"/>
          <p:cNvSpPr txBox="1"/>
          <p:nvPr/>
        </p:nvSpPr>
        <p:spPr>
          <a:xfrm>
            <a:off x="5314950" y="4041648"/>
            <a:ext cx="3657600" cy="274320"/>
          </a:xfrm>
          <a:prstGeom prst="rect">
            <a:avLst/>
          </a:prstGeom>
          <a:noFill/>
          <a:ln/>
        </p:spPr>
        <p:txBody>
          <a:bodyPr wrap="square" lIns="0" tIns="0" rIns="0" bIns="0" rtlCol="0" anchor="t"/>
          <a:lstStyle/>
          <a:p>
            <a:pPr marL="0" indent="0" algn="ctr">
              <a:buNone/>
            </a:pPr>
            <a:r>
              <a:rPr lang="en-US" sz="1100" i="1" dirty="0">
                <a:solidFill>
                  <a:srgbClr val="595959"/>
                </a:solidFill>
                <a:latin typeface="Arial" pitchFamily="34" charset="0"/>
                <a:ea typeface="Arial" pitchFamily="34" charset="-122"/>
                <a:cs typeface="Arial" pitchFamily="34" charset="-120"/>
              </a:rPr>
              <a:t>boucle d'amélioration continue</a:t>
            </a:r>
            <a:endParaRPr lang="en-US" sz="1100" dirty="0"/>
          </a:p>
        </p:txBody>
      </p:sp>
      <p:sp>
        <p:nvSpPr>
          <p:cNvPr id="52" name="A7_635"/>
          <p:cNvSpPr txBox="1"/>
          <p:nvPr/>
        </p:nvSpPr>
        <p:spPr>
          <a:xfrm>
            <a:off x="822960" y="4572000"/>
            <a:ext cx="5486400" cy="365760"/>
          </a:xfrm>
          <a:prstGeom prst="rect">
            <a:avLst/>
          </a:prstGeom>
          <a:noFill/>
          <a:ln/>
        </p:spPr>
        <p:txBody>
          <a:bodyPr wrap="square" lIns="0" tIns="0" rIns="0" bIns="0" rtlCol="0" anchor="t"/>
          <a:lstStyle/>
          <a:p>
            <a:pPr marL="0" indent="0">
              <a:buNone/>
            </a:pPr>
            <a:r>
              <a:rPr lang="en-US" sz="1700" b="1" dirty="0">
                <a:solidFill>
                  <a:srgbClr val="262626"/>
                </a:solidFill>
                <a:latin typeface="Arial" pitchFamily="34" charset="0"/>
                <a:ea typeface="Arial" pitchFamily="34" charset="-122"/>
                <a:cs typeface="Arial" pitchFamily="34" charset="-120"/>
              </a:rPr>
              <a:t>Découpage en sprints</a:t>
            </a:r>
            <a:endParaRPr lang="en-US" sz="1700" dirty="0"/>
          </a:p>
        </p:txBody>
      </p:sp>
      <p:sp>
        <p:nvSpPr>
          <p:cNvPr id="53" name="A8_636"/>
          <p:cNvSpPr/>
          <p:nvPr/>
        </p:nvSpPr>
        <p:spPr>
          <a:xfrm>
            <a:off x="822960" y="5120640"/>
            <a:ext cx="2216658" cy="960120"/>
          </a:xfrm>
          <a:prstGeom prst="homePlate">
            <a:avLst/>
          </a:prstGeom>
          <a:solidFill>
            <a:srgbClr val="0A6EBD"/>
          </a:solidFill>
          <a:ln w="12700">
            <a:solidFill>
              <a:srgbClr val="FFFFFF"/>
            </a:solidFill>
            <a:prstDash val="solid"/>
          </a:ln>
        </p:spPr>
        <p:txBody>
          <a:bodyPr/>
          <a:lstStyle/>
          <a:p>
            <a:endParaRPr lang="fr-FR"/>
          </a:p>
        </p:txBody>
      </p:sp>
      <p:sp>
        <p:nvSpPr>
          <p:cNvPr id="54" name="A8_637"/>
          <p:cNvSpPr txBox="1"/>
          <p:nvPr/>
        </p:nvSpPr>
        <p:spPr>
          <a:xfrm>
            <a:off x="1143000" y="5120640"/>
            <a:ext cx="1649730" cy="9601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Sprint 1</a:t>
            </a:r>
            <a:endParaRPr lang="en-US" sz="1500" dirty="0"/>
          </a:p>
        </p:txBody>
      </p:sp>
      <p:sp>
        <p:nvSpPr>
          <p:cNvPr id="55" name="A8_638"/>
          <p:cNvSpPr txBox="1"/>
          <p:nvPr/>
        </p:nvSpPr>
        <p:spPr>
          <a:xfrm>
            <a:off x="914400" y="6217920"/>
            <a:ext cx="1433985" cy="777240"/>
          </a:xfrm>
          <a:prstGeom prst="rect">
            <a:avLst/>
          </a:prstGeom>
          <a:noFill/>
          <a:ln/>
        </p:spPr>
        <p:txBody>
          <a:bodyPr wrap="square" lIns="0" tIns="0" rIns="0" bIns="0" rtlCol="0" anchor="t"/>
          <a:lstStyle/>
          <a:p>
            <a:pPr marL="0" indent="0" algn="ctr">
              <a:buNone/>
            </a:pPr>
            <a:r>
              <a:rPr lang="en-US" sz="1200" dirty="0">
                <a:solidFill>
                  <a:srgbClr val="262626"/>
                </a:solidFill>
                <a:latin typeface="Arial" pitchFamily="34" charset="0"/>
                <a:ea typeface="Arial" pitchFamily="34" charset="-122"/>
                <a:cs typeface="Arial" pitchFamily="34" charset="-120"/>
              </a:rPr>
              <a:t>Recherche et etude de </a:t>
            </a:r>
            <a:r>
              <a:rPr lang="en-US" sz="1200" dirty="0" err="1">
                <a:solidFill>
                  <a:srgbClr val="262626"/>
                </a:solidFill>
                <a:latin typeface="Arial" pitchFamily="34" charset="0"/>
                <a:ea typeface="Arial" pitchFamily="34" charset="-122"/>
                <a:cs typeface="Arial" pitchFamily="34" charset="-120"/>
              </a:rPr>
              <a:t>projet</a:t>
            </a:r>
            <a:r>
              <a:rPr lang="en-US" sz="1200" dirty="0">
                <a:solidFill>
                  <a:srgbClr val="262626"/>
                </a:solidFill>
                <a:latin typeface="Arial" pitchFamily="34" charset="0"/>
                <a:ea typeface="Arial" pitchFamily="34" charset="-122"/>
                <a:cs typeface="Arial" pitchFamily="34" charset="-120"/>
              </a:rPr>
              <a:t> </a:t>
            </a:r>
            <a:endParaRPr lang="en-US" sz="1200" dirty="0"/>
          </a:p>
        </p:txBody>
      </p:sp>
      <p:sp>
        <p:nvSpPr>
          <p:cNvPr id="56" name="A9_639"/>
          <p:cNvSpPr/>
          <p:nvPr/>
        </p:nvSpPr>
        <p:spPr>
          <a:xfrm>
            <a:off x="2929890" y="5120640"/>
            <a:ext cx="2216658" cy="960120"/>
          </a:xfrm>
          <a:prstGeom prst="chevron">
            <a:avLst/>
          </a:prstGeom>
          <a:solidFill>
            <a:srgbClr val="0F5E95"/>
          </a:solidFill>
          <a:ln w="12700">
            <a:solidFill>
              <a:srgbClr val="FFFFFF"/>
            </a:solidFill>
            <a:prstDash val="solid"/>
          </a:ln>
        </p:spPr>
        <p:txBody>
          <a:bodyPr/>
          <a:lstStyle/>
          <a:p>
            <a:endParaRPr lang="fr-FR"/>
          </a:p>
        </p:txBody>
      </p:sp>
      <p:sp>
        <p:nvSpPr>
          <p:cNvPr id="57" name="A9_640"/>
          <p:cNvSpPr txBox="1"/>
          <p:nvPr/>
        </p:nvSpPr>
        <p:spPr>
          <a:xfrm>
            <a:off x="3249930" y="5120640"/>
            <a:ext cx="1649730" cy="9601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Sprint 2</a:t>
            </a:r>
            <a:endParaRPr lang="en-US" sz="1500" dirty="0"/>
          </a:p>
        </p:txBody>
      </p:sp>
      <p:sp>
        <p:nvSpPr>
          <p:cNvPr id="58" name="A9_641"/>
          <p:cNvSpPr txBox="1"/>
          <p:nvPr/>
        </p:nvSpPr>
        <p:spPr>
          <a:xfrm>
            <a:off x="3021330" y="6217920"/>
            <a:ext cx="2015490" cy="777240"/>
          </a:xfrm>
          <a:prstGeom prst="rect">
            <a:avLst/>
          </a:prstGeom>
          <a:noFill/>
          <a:ln/>
        </p:spPr>
        <p:txBody>
          <a:bodyPr wrap="square" lIns="0" tIns="0" rIns="0" bIns="0" rtlCol="0" anchor="t"/>
          <a:lstStyle/>
          <a:p>
            <a:pPr marL="0" indent="0" algn="ctr">
              <a:buNone/>
            </a:pPr>
            <a:r>
              <a:rPr lang="en-US" sz="1200" dirty="0">
                <a:solidFill>
                  <a:srgbClr val="262626"/>
                </a:solidFill>
                <a:latin typeface="Arial" pitchFamily="34" charset="0"/>
                <a:ea typeface="Arial" pitchFamily="34" charset="-122"/>
                <a:cs typeface="Arial" pitchFamily="34" charset="-120"/>
              </a:rPr>
              <a:t>Architecture et conception du </a:t>
            </a:r>
            <a:r>
              <a:rPr lang="en-US" sz="1200" dirty="0" err="1">
                <a:solidFill>
                  <a:srgbClr val="262626"/>
                </a:solidFill>
                <a:latin typeface="Arial" pitchFamily="34" charset="0"/>
                <a:ea typeface="Arial" pitchFamily="34" charset="-122"/>
                <a:cs typeface="Arial" pitchFamily="34" charset="-120"/>
              </a:rPr>
              <a:t>projet</a:t>
            </a:r>
            <a:r>
              <a:rPr lang="en-US" sz="1200" dirty="0">
                <a:solidFill>
                  <a:srgbClr val="262626"/>
                </a:solidFill>
                <a:latin typeface="Arial" pitchFamily="34" charset="0"/>
                <a:ea typeface="Arial" pitchFamily="34" charset="-122"/>
                <a:cs typeface="Arial" pitchFamily="34" charset="-120"/>
              </a:rPr>
              <a:t> </a:t>
            </a:r>
          </a:p>
          <a:p>
            <a:pPr marL="0" indent="0" algn="ctr">
              <a:buNone/>
            </a:pPr>
            <a:r>
              <a:rPr lang="en-US" sz="1200" dirty="0" err="1">
                <a:solidFill>
                  <a:srgbClr val="262626"/>
                </a:solidFill>
                <a:latin typeface="Arial" pitchFamily="34" charset="0"/>
                <a:ea typeface="Arial" pitchFamily="34" charset="-122"/>
                <a:cs typeface="Arial" pitchFamily="34" charset="-120"/>
              </a:rPr>
              <a:t>Analyse</a:t>
            </a:r>
            <a:r>
              <a:rPr lang="en-US" sz="1200" dirty="0">
                <a:solidFill>
                  <a:srgbClr val="262626"/>
                </a:solidFill>
                <a:latin typeface="Arial" pitchFamily="34" charset="0"/>
                <a:ea typeface="Arial" pitchFamily="34" charset="-122"/>
                <a:cs typeface="Arial" pitchFamily="34" charset="-120"/>
              </a:rPr>
              <a:t> des logs</a:t>
            </a:r>
            <a:endParaRPr lang="en-US" sz="1200" dirty="0"/>
          </a:p>
        </p:txBody>
      </p:sp>
      <p:sp>
        <p:nvSpPr>
          <p:cNvPr id="59" name="A10_642"/>
          <p:cNvSpPr/>
          <p:nvPr/>
        </p:nvSpPr>
        <p:spPr>
          <a:xfrm>
            <a:off x="5036820" y="5120640"/>
            <a:ext cx="2216658" cy="960120"/>
          </a:xfrm>
          <a:prstGeom prst="chevron">
            <a:avLst/>
          </a:prstGeom>
          <a:solidFill>
            <a:srgbClr val="0A6EBD"/>
          </a:solidFill>
          <a:ln w="12700">
            <a:solidFill>
              <a:srgbClr val="FFFFFF"/>
            </a:solidFill>
            <a:prstDash val="solid"/>
          </a:ln>
        </p:spPr>
        <p:txBody>
          <a:bodyPr/>
          <a:lstStyle/>
          <a:p>
            <a:endParaRPr lang="fr-FR"/>
          </a:p>
        </p:txBody>
      </p:sp>
      <p:sp>
        <p:nvSpPr>
          <p:cNvPr id="60" name="A10_643"/>
          <p:cNvSpPr txBox="1"/>
          <p:nvPr/>
        </p:nvSpPr>
        <p:spPr>
          <a:xfrm>
            <a:off x="5356860" y="5120640"/>
            <a:ext cx="1649730" cy="9601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Sprint 3</a:t>
            </a:r>
            <a:endParaRPr lang="en-US" sz="1500" dirty="0"/>
          </a:p>
        </p:txBody>
      </p:sp>
      <p:sp>
        <p:nvSpPr>
          <p:cNvPr id="61" name="A10_644"/>
          <p:cNvSpPr txBox="1"/>
          <p:nvPr/>
        </p:nvSpPr>
        <p:spPr>
          <a:xfrm>
            <a:off x="5128260" y="6217920"/>
            <a:ext cx="2015490" cy="777240"/>
          </a:xfrm>
          <a:prstGeom prst="rect">
            <a:avLst/>
          </a:prstGeom>
          <a:noFill/>
          <a:ln/>
        </p:spPr>
        <p:txBody>
          <a:bodyPr wrap="square" lIns="0" tIns="0" rIns="0" bIns="0" rtlCol="0" anchor="t"/>
          <a:lstStyle/>
          <a:p>
            <a:pPr marL="0" indent="0" algn="ctr">
              <a:buNone/>
            </a:pPr>
            <a:r>
              <a:rPr lang="en-US" sz="1200" dirty="0">
                <a:solidFill>
                  <a:srgbClr val="262626"/>
                </a:solidFill>
                <a:latin typeface="Arial" pitchFamily="34" charset="0"/>
                <a:ea typeface="Arial" pitchFamily="34" charset="-122"/>
                <a:cs typeface="Arial" pitchFamily="34" charset="-120"/>
              </a:rPr>
              <a:t>Tests et corrélation</a:t>
            </a:r>
            <a:endParaRPr lang="en-US" sz="1200" dirty="0"/>
          </a:p>
        </p:txBody>
      </p:sp>
      <p:sp>
        <p:nvSpPr>
          <p:cNvPr id="62" name="A11_645"/>
          <p:cNvSpPr/>
          <p:nvPr/>
        </p:nvSpPr>
        <p:spPr>
          <a:xfrm>
            <a:off x="7143750" y="5120640"/>
            <a:ext cx="2216658" cy="960120"/>
          </a:xfrm>
          <a:prstGeom prst="chevron">
            <a:avLst/>
          </a:prstGeom>
          <a:solidFill>
            <a:srgbClr val="0F5E95"/>
          </a:solidFill>
          <a:ln w="12700">
            <a:solidFill>
              <a:srgbClr val="FFFFFF"/>
            </a:solidFill>
            <a:prstDash val="solid"/>
          </a:ln>
        </p:spPr>
        <p:txBody>
          <a:bodyPr/>
          <a:lstStyle/>
          <a:p>
            <a:endParaRPr lang="fr-FR"/>
          </a:p>
        </p:txBody>
      </p:sp>
      <p:sp>
        <p:nvSpPr>
          <p:cNvPr id="63" name="A11_646"/>
          <p:cNvSpPr txBox="1"/>
          <p:nvPr/>
        </p:nvSpPr>
        <p:spPr>
          <a:xfrm>
            <a:off x="7463790" y="5120640"/>
            <a:ext cx="1649730" cy="9601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Sprint 4</a:t>
            </a:r>
            <a:endParaRPr lang="en-US" sz="1500" dirty="0"/>
          </a:p>
        </p:txBody>
      </p:sp>
      <p:sp>
        <p:nvSpPr>
          <p:cNvPr id="64" name="A11_647"/>
          <p:cNvSpPr txBox="1"/>
          <p:nvPr/>
        </p:nvSpPr>
        <p:spPr>
          <a:xfrm>
            <a:off x="7235190" y="6217920"/>
            <a:ext cx="2015490" cy="777240"/>
          </a:xfrm>
          <a:prstGeom prst="rect">
            <a:avLst/>
          </a:prstGeom>
          <a:noFill/>
          <a:ln/>
        </p:spPr>
        <p:txBody>
          <a:bodyPr wrap="square" lIns="0" tIns="0" rIns="0" bIns="0" rtlCol="0" anchor="t"/>
          <a:lstStyle/>
          <a:p>
            <a:pPr marL="0" indent="0" algn="ctr">
              <a:buNone/>
            </a:pPr>
            <a:r>
              <a:rPr lang="en-US" sz="1200" dirty="0">
                <a:solidFill>
                  <a:srgbClr val="262626"/>
                </a:solidFill>
                <a:latin typeface="Arial" pitchFamily="34" charset="0"/>
                <a:ea typeface="Arial" pitchFamily="34" charset="-122"/>
                <a:cs typeface="Arial" pitchFamily="34" charset="-120"/>
              </a:rPr>
              <a:t>Sécurité et vulnérabilités</a:t>
            </a:r>
            <a:endParaRPr lang="en-US" sz="1200" dirty="0"/>
          </a:p>
        </p:txBody>
      </p:sp>
      <p:sp>
        <p:nvSpPr>
          <p:cNvPr id="65" name="A12_648"/>
          <p:cNvSpPr/>
          <p:nvPr/>
        </p:nvSpPr>
        <p:spPr>
          <a:xfrm>
            <a:off x="9250680" y="5120640"/>
            <a:ext cx="2216658" cy="960120"/>
          </a:xfrm>
          <a:prstGeom prst="chevron">
            <a:avLst/>
          </a:prstGeom>
          <a:solidFill>
            <a:srgbClr val="0A6EBD"/>
          </a:solidFill>
          <a:ln w="12700">
            <a:solidFill>
              <a:srgbClr val="FFFFFF"/>
            </a:solidFill>
            <a:prstDash val="solid"/>
          </a:ln>
        </p:spPr>
        <p:txBody>
          <a:bodyPr/>
          <a:lstStyle/>
          <a:p>
            <a:endParaRPr lang="fr-FR"/>
          </a:p>
        </p:txBody>
      </p:sp>
      <p:sp>
        <p:nvSpPr>
          <p:cNvPr id="66" name="A12_649"/>
          <p:cNvSpPr txBox="1"/>
          <p:nvPr/>
        </p:nvSpPr>
        <p:spPr>
          <a:xfrm>
            <a:off x="9570720" y="5120640"/>
            <a:ext cx="1649730" cy="9601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Sprint 5</a:t>
            </a:r>
            <a:endParaRPr lang="en-US" sz="1500" dirty="0"/>
          </a:p>
        </p:txBody>
      </p:sp>
      <p:sp>
        <p:nvSpPr>
          <p:cNvPr id="67" name="A12_650"/>
          <p:cNvSpPr txBox="1"/>
          <p:nvPr/>
        </p:nvSpPr>
        <p:spPr>
          <a:xfrm>
            <a:off x="9342120" y="6217920"/>
            <a:ext cx="2015490" cy="777240"/>
          </a:xfrm>
          <a:prstGeom prst="rect">
            <a:avLst/>
          </a:prstGeom>
          <a:noFill/>
          <a:ln/>
        </p:spPr>
        <p:txBody>
          <a:bodyPr wrap="square" lIns="0" tIns="0" rIns="0" bIns="0" rtlCol="0" anchor="t"/>
          <a:lstStyle/>
          <a:p>
            <a:pPr marL="0" indent="0" algn="ctr">
              <a:buNone/>
            </a:pPr>
            <a:r>
              <a:rPr lang="en-US" sz="1200" dirty="0">
                <a:solidFill>
                  <a:srgbClr val="262626"/>
                </a:solidFill>
                <a:latin typeface="Arial" pitchFamily="34" charset="0"/>
                <a:ea typeface="Arial" pitchFamily="34" charset="-122"/>
                <a:cs typeface="Arial" pitchFamily="34" charset="-120"/>
              </a:rPr>
              <a:t>Intelligence artificielle</a:t>
            </a:r>
            <a:endParaRPr lang="en-US" sz="1200" dirty="0"/>
          </a:p>
        </p:txBody>
      </p:sp>
      <p:sp>
        <p:nvSpPr>
          <p:cNvPr id="68" name="A13_651"/>
          <p:cNvSpPr/>
          <p:nvPr/>
        </p:nvSpPr>
        <p:spPr>
          <a:xfrm>
            <a:off x="11357610" y="5120640"/>
            <a:ext cx="2216658" cy="960120"/>
          </a:xfrm>
          <a:prstGeom prst="chevron">
            <a:avLst/>
          </a:prstGeom>
          <a:solidFill>
            <a:srgbClr val="0F5E95"/>
          </a:solidFill>
          <a:ln w="12700">
            <a:solidFill>
              <a:srgbClr val="FFFFFF"/>
            </a:solidFill>
            <a:prstDash val="solid"/>
          </a:ln>
        </p:spPr>
        <p:txBody>
          <a:bodyPr/>
          <a:lstStyle/>
          <a:p>
            <a:endParaRPr lang="fr-FR"/>
          </a:p>
        </p:txBody>
      </p:sp>
      <p:sp>
        <p:nvSpPr>
          <p:cNvPr id="69" name="A13_652"/>
          <p:cNvSpPr txBox="1"/>
          <p:nvPr/>
        </p:nvSpPr>
        <p:spPr>
          <a:xfrm>
            <a:off x="11677650" y="5120640"/>
            <a:ext cx="1649730" cy="9601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Sprint 6</a:t>
            </a:r>
            <a:endParaRPr lang="en-US" sz="1500" dirty="0"/>
          </a:p>
        </p:txBody>
      </p:sp>
      <p:sp>
        <p:nvSpPr>
          <p:cNvPr id="70" name="A13_653"/>
          <p:cNvSpPr txBox="1"/>
          <p:nvPr/>
        </p:nvSpPr>
        <p:spPr>
          <a:xfrm>
            <a:off x="11449050" y="6217920"/>
            <a:ext cx="2015490" cy="777240"/>
          </a:xfrm>
          <a:prstGeom prst="rect">
            <a:avLst/>
          </a:prstGeom>
          <a:noFill/>
          <a:ln/>
        </p:spPr>
        <p:txBody>
          <a:bodyPr wrap="square" lIns="0" tIns="0" rIns="0" bIns="0" rtlCol="0" anchor="t"/>
          <a:lstStyle/>
          <a:p>
            <a:pPr marL="0" indent="0" algn="ctr">
              <a:buNone/>
            </a:pPr>
            <a:r>
              <a:rPr lang="en-US" sz="1200" dirty="0">
                <a:solidFill>
                  <a:srgbClr val="262626"/>
                </a:solidFill>
                <a:latin typeface="Arial" pitchFamily="34" charset="0"/>
                <a:ea typeface="Arial" pitchFamily="34" charset="-122"/>
                <a:cs typeface="Arial" pitchFamily="34" charset="-120"/>
              </a:rPr>
              <a:t>Tableau de bord, CI/CD, déploiement</a:t>
            </a:r>
            <a:endParaRPr lang="en-US" sz="1200" dirty="0"/>
          </a:p>
        </p:txBody>
      </p:sp>
      <p:sp>
        <p:nvSpPr>
          <p:cNvPr id="71" name="A8_636">
            <a:extLst>
              <a:ext uri="{FF2B5EF4-FFF2-40B4-BE49-F238E27FC236}">
                <a16:creationId xmlns:a16="http://schemas.microsoft.com/office/drawing/2014/main" id="{D743F25D-9491-48A1-80B3-C192948A7A6B}"/>
              </a:ext>
            </a:extLst>
          </p:cNvPr>
          <p:cNvSpPr/>
          <p:nvPr/>
        </p:nvSpPr>
        <p:spPr>
          <a:xfrm>
            <a:off x="2238657" y="6740595"/>
            <a:ext cx="2216658" cy="960120"/>
          </a:xfrm>
          <a:prstGeom prst="homePlate">
            <a:avLst/>
          </a:prstGeom>
          <a:solidFill>
            <a:srgbClr val="0A6EBD"/>
          </a:solidFill>
          <a:ln w="12700">
            <a:solidFill>
              <a:srgbClr val="FFFFFF"/>
            </a:solidFill>
            <a:prstDash val="solid"/>
          </a:ln>
        </p:spPr>
        <p:txBody>
          <a:bodyPr/>
          <a:lstStyle/>
          <a:p>
            <a:endParaRPr lang="fr-FR"/>
          </a:p>
        </p:txBody>
      </p:sp>
      <p:sp>
        <p:nvSpPr>
          <p:cNvPr id="72" name="A8_637">
            <a:extLst>
              <a:ext uri="{FF2B5EF4-FFF2-40B4-BE49-F238E27FC236}">
                <a16:creationId xmlns:a16="http://schemas.microsoft.com/office/drawing/2014/main" id="{1183A088-C412-4711-A30F-1EDD2ECA6768}"/>
              </a:ext>
            </a:extLst>
          </p:cNvPr>
          <p:cNvSpPr txBox="1"/>
          <p:nvPr/>
        </p:nvSpPr>
        <p:spPr>
          <a:xfrm>
            <a:off x="2558697" y="6740595"/>
            <a:ext cx="1649730" cy="9601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Sprint 1</a:t>
            </a:r>
            <a:endParaRPr lang="en-US" sz="1500" dirty="0"/>
          </a:p>
        </p:txBody>
      </p:sp>
      <p:sp>
        <p:nvSpPr>
          <p:cNvPr id="73" name="A9_639">
            <a:extLst>
              <a:ext uri="{FF2B5EF4-FFF2-40B4-BE49-F238E27FC236}">
                <a16:creationId xmlns:a16="http://schemas.microsoft.com/office/drawing/2014/main" id="{BFD56D18-E699-4521-A370-7C15EF9E7CBD}"/>
              </a:ext>
            </a:extLst>
          </p:cNvPr>
          <p:cNvSpPr/>
          <p:nvPr/>
        </p:nvSpPr>
        <p:spPr>
          <a:xfrm>
            <a:off x="4345587" y="6740595"/>
            <a:ext cx="2216658" cy="960120"/>
          </a:xfrm>
          <a:prstGeom prst="chevron">
            <a:avLst/>
          </a:prstGeom>
          <a:solidFill>
            <a:srgbClr val="0F5E95"/>
          </a:solidFill>
          <a:ln w="12700">
            <a:solidFill>
              <a:srgbClr val="FFFFFF"/>
            </a:solidFill>
            <a:prstDash val="solid"/>
          </a:ln>
        </p:spPr>
        <p:txBody>
          <a:bodyPr/>
          <a:lstStyle/>
          <a:p>
            <a:endParaRPr lang="fr-FR"/>
          </a:p>
        </p:txBody>
      </p:sp>
      <p:sp>
        <p:nvSpPr>
          <p:cNvPr id="74" name="A9_640">
            <a:extLst>
              <a:ext uri="{FF2B5EF4-FFF2-40B4-BE49-F238E27FC236}">
                <a16:creationId xmlns:a16="http://schemas.microsoft.com/office/drawing/2014/main" id="{0FD89ADD-8A01-4BC9-9999-913FA941839B}"/>
              </a:ext>
            </a:extLst>
          </p:cNvPr>
          <p:cNvSpPr txBox="1"/>
          <p:nvPr/>
        </p:nvSpPr>
        <p:spPr>
          <a:xfrm>
            <a:off x="4665627" y="6740595"/>
            <a:ext cx="1649730" cy="9601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Sprint 2</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wipe(left)">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500"/>
                                        <p:tgtEl>
                                          <p:spTgt spid="29"/>
                                        </p:tgtEl>
                                      </p:cBhvr>
                                    </p:animEffect>
                                  </p:childTnLst>
                                </p:cTn>
                              </p:par>
                              <p:par>
                                <p:cTn id="24" presetID="10" presetClass="entr" presetSubtype="0" fill="hold"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500"/>
                                        <p:tgtEl>
                                          <p:spTgt spid="3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wipe(left)">
                                      <p:cBhvr>
                                        <p:cTn id="29" dur="500"/>
                                        <p:tgtEl>
                                          <p:spTgt spid="3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500"/>
                                        <p:tgtEl>
                                          <p:spTgt spid="3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500"/>
                                        <p:tgtEl>
                                          <p:spTgt spid="34"/>
                                        </p:tgtEl>
                                      </p:cBhvr>
                                    </p:animEffect>
                                  </p:childTnLst>
                                </p:cTn>
                              </p:par>
                              <p:par>
                                <p:cTn id="40" presetID="10" presetClass="entr" presetSubtype="0" fill="hold"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500"/>
                                        <p:tgtEl>
                                          <p:spTgt spid="35"/>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wipe(left)">
                                      <p:cBhvr>
                                        <p:cTn id="45" dur="500"/>
                                        <p:tgtEl>
                                          <p:spTgt spid="3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5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500"/>
                                        <p:tgtEl>
                                          <p:spTgt spid="3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500"/>
                                        <p:tgtEl>
                                          <p:spTgt spid="39"/>
                                        </p:tgtEl>
                                      </p:cBhvr>
                                    </p:animEffect>
                                  </p:childTnLst>
                                </p:cTn>
                              </p:par>
                              <p:par>
                                <p:cTn id="56" presetID="10" presetClass="entr" presetSubtype="0" fill="hold" nodeType="with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500"/>
                                        <p:tgtEl>
                                          <p:spTgt spid="40"/>
                                        </p:tgtEl>
                                      </p:cBhvr>
                                    </p:animEffect>
                                  </p:childTnLst>
                                </p:cTn>
                              </p:par>
                              <p:par>
                                <p:cTn id="59" presetID="22" presetClass="entr" presetSubtype="8" fill="hold" grpId="0" nodeType="withEffect">
                                  <p:stCondLst>
                                    <p:cond delay="0"/>
                                  </p:stCondLst>
                                  <p:childTnLst>
                                    <p:set>
                                      <p:cBhvr>
                                        <p:cTn id="60" dur="1" fill="hold">
                                          <p:stCondLst>
                                            <p:cond delay="0"/>
                                          </p:stCondLst>
                                        </p:cTn>
                                        <p:tgtEl>
                                          <p:spTgt spid="41"/>
                                        </p:tgtEl>
                                        <p:attrNameLst>
                                          <p:attrName>style.visibility</p:attrName>
                                        </p:attrNameLst>
                                      </p:cBhvr>
                                      <p:to>
                                        <p:strVal val="visible"/>
                                      </p:to>
                                    </p:set>
                                    <p:animEffect transition="in" filter="wipe(left)">
                                      <p:cBhvr>
                                        <p:cTn id="61" dur="500"/>
                                        <p:tgtEl>
                                          <p:spTgt spid="4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500"/>
                                        <p:tgtEl>
                                          <p:spTgt spid="4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3"/>
                                        </p:tgtEl>
                                        <p:attrNameLst>
                                          <p:attrName>style.visibility</p:attrName>
                                        </p:attrNameLst>
                                      </p:cBhvr>
                                      <p:to>
                                        <p:strVal val="visible"/>
                                      </p:to>
                                    </p:set>
                                    <p:animEffect transition="in" filter="fade">
                                      <p:cBhvr>
                                        <p:cTn id="67" dur="500"/>
                                        <p:tgtEl>
                                          <p:spTgt spid="43"/>
                                        </p:tgtEl>
                                      </p:cBhvr>
                                    </p:animEffect>
                                  </p:childTnLst>
                                </p:cTn>
                              </p:par>
                            </p:childTnLst>
                          </p:cTn>
                        </p:par>
                        <p:par>
                          <p:cTn id="68" fill="hold">
                            <p:stCondLst>
                              <p:cond delay="1400"/>
                            </p:stCondLst>
                            <p:childTnLst>
                              <p:par>
                                <p:cTn id="69" presetID="10" presetClass="entr" presetSubtype="0" fill="hold" grpId="0" nodeType="after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5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500"/>
                                        <p:tgtEl>
                                          <p:spTgt spid="4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500"/>
                                        <p:tgtEl>
                                          <p:spTgt spid="4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7"/>
                                        </p:tgtEl>
                                        <p:attrNameLst>
                                          <p:attrName>style.visibility</p:attrName>
                                        </p:attrNameLst>
                                      </p:cBhvr>
                                      <p:to>
                                        <p:strVal val="visible"/>
                                      </p:to>
                                    </p:set>
                                    <p:animEffect transition="in" filter="fade">
                                      <p:cBhvr>
                                        <p:cTn id="80" dur="500"/>
                                        <p:tgtEl>
                                          <p:spTgt spid="47"/>
                                        </p:tgtEl>
                                      </p:cBhvr>
                                    </p:animEffect>
                                  </p:childTnLst>
                                </p:cTn>
                              </p:par>
                            </p:childTnLst>
                          </p:cTn>
                        </p:par>
                        <p:par>
                          <p:cTn id="81" fill="hold">
                            <p:stCondLst>
                              <p:cond delay="1750"/>
                            </p:stCondLst>
                            <p:childTnLst>
                              <p:par>
                                <p:cTn id="82" presetID="22" presetClass="entr" presetSubtype="8" fill="hold" grpId="0" nodeType="after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wipe(left)">
                                      <p:cBhvr>
                                        <p:cTn id="84" dur="500"/>
                                        <p:tgtEl>
                                          <p:spTgt spid="48"/>
                                        </p:tgtEl>
                                      </p:cBhvr>
                                    </p:animEffect>
                                  </p:childTnLst>
                                </p:cTn>
                              </p:par>
                              <p:par>
                                <p:cTn id="85" presetID="22" presetClass="entr" presetSubtype="8" fill="hold" grpId="0" nodeType="withEffect">
                                  <p:stCondLst>
                                    <p:cond delay="0"/>
                                  </p:stCondLst>
                                  <p:childTnLst>
                                    <p:set>
                                      <p:cBhvr>
                                        <p:cTn id="86" dur="1" fill="hold">
                                          <p:stCondLst>
                                            <p:cond delay="0"/>
                                          </p:stCondLst>
                                        </p:cTn>
                                        <p:tgtEl>
                                          <p:spTgt spid="49"/>
                                        </p:tgtEl>
                                        <p:attrNameLst>
                                          <p:attrName>style.visibility</p:attrName>
                                        </p:attrNameLst>
                                      </p:cBhvr>
                                      <p:to>
                                        <p:strVal val="visible"/>
                                      </p:to>
                                    </p:set>
                                    <p:animEffect transition="in" filter="wipe(left)">
                                      <p:cBhvr>
                                        <p:cTn id="87" dur="500"/>
                                        <p:tgtEl>
                                          <p:spTgt spid="49"/>
                                        </p:tgtEl>
                                      </p:cBhvr>
                                    </p:animEffect>
                                  </p:childTnLst>
                                </p:cTn>
                              </p:par>
                              <p:par>
                                <p:cTn id="88" presetID="22" presetClass="entr" presetSubtype="8" fill="hold" grpId="0" nodeType="withEffect">
                                  <p:stCondLst>
                                    <p:cond delay="0"/>
                                  </p:stCondLst>
                                  <p:childTnLst>
                                    <p:set>
                                      <p:cBhvr>
                                        <p:cTn id="89" dur="1" fill="hold">
                                          <p:stCondLst>
                                            <p:cond delay="0"/>
                                          </p:stCondLst>
                                        </p:cTn>
                                        <p:tgtEl>
                                          <p:spTgt spid="50"/>
                                        </p:tgtEl>
                                        <p:attrNameLst>
                                          <p:attrName>style.visibility</p:attrName>
                                        </p:attrNameLst>
                                      </p:cBhvr>
                                      <p:to>
                                        <p:strVal val="visible"/>
                                      </p:to>
                                    </p:set>
                                    <p:animEffect transition="in" filter="wipe(left)">
                                      <p:cBhvr>
                                        <p:cTn id="90" dur="500"/>
                                        <p:tgtEl>
                                          <p:spTgt spid="5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1"/>
                                        </p:tgtEl>
                                        <p:attrNameLst>
                                          <p:attrName>style.visibility</p:attrName>
                                        </p:attrNameLst>
                                      </p:cBhvr>
                                      <p:to>
                                        <p:strVal val="visible"/>
                                      </p:to>
                                    </p:set>
                                    <p:animEffect transition="in" filter="fade">
                                      <p:cBhvr>
                                        <p:cTn id="93" dur="500"/>
                                        <p:tgtEl>
                                          <p:spTgt spid="51"/>
                                        </p:tgtEl>
                                      </p:cBhvr>
                                    </p:animEffect>
                                  </p:childTnLst>
                                </p:cTn>
                              </p:par>
                            </p:childTnLst>
                          </p:cTn>
                        </p:par>
                        <p:par>
                          <p:cTn id="94" fill="hold">
                            <p:stCondLst>
                              <p:cond delay="2100"/>
                            </p:stCondLst>
                            <p:childTnLst>
                              <p:par>
                                <p:cTn id="95" presetID="10" presetClass="entr" presetSubtype="0" fill="hold" grpId="0" nodeType="afterEffect">
                                  <p:stCondLst>
                                    <p:cond delay="0"/>
                                  </p:stCondLst>
                                  <p:childTnLst>
                                    <p:set>
                                      <p:cBhvr>
                                        <p:cTn id="96" dur="1" fill="hold">
                                          <p:stCondLst>
                                            <p:cond delay="0"/>
                                          </p:stCondLst>
                                        </p:cTn>
                                        <p:tgtEl>
                                          <p:spTgt spid="52"/>
                                        </p:tgtEl>
                                        <p:attrNameLst>
                                          <p:attrName>style.visibility</p:attrName>
                                        </p:attrNameLst>
                                      </p:cBhvr>
                                      <p:to>
                                        <p:strVal val="visible"/>
                                      </p:to>
                                    </p:set>
                                    <p:animEffect transition="in" filter="fade">
                                      <p:cBhvr>
                                        <p:cTn id="97" dur="500"/>
                                        <p:tgtEl>
                                          <p:spTgt spid="52"/>
                                        </p:tgtEl>
                                      </p:cBhvr>
                                    </p:animEffect>
                                  </p:childTnLst>
                                </p:cTn>
                              </p:par>
                            </p:childTnLst>
                          </p:cTn>
                        </p:par>
                        <p:par>
                          <p:cTn id="98" fill="hold">
                            <p:stCondLst>
                              <p:cond delay="2450"/>
                            </p:stCondLst>
                            <p:childTnLst>
                              <p:par>
                                <p:cTn id="99" presetID="10" presetClass="entr" presetSubtype="0" fill="hold" grpId="0" nodeType="afterEffect">
                                  <p:stCondLst>
                                    <p:cond delay="0"/>
                                  </p:stCondLst>
                                  <p:childTnLst>
                                    <p:set>
                                      <p:cBhvr>
                                        <p:cTn id="100" dur="1" fill="hold">
                                          <p:stCondLst>
                                            <p:cond delay="0"/>
                                          </p:stCondLst>
                                        </p:cTn>
                                        <p:tgtEl>
                                          <p:spTgt spid="53"/>
                                        </p:tgtEl>
                                        <p:attrNameLst>
                                          <p:attrName>style.visibility</p:attrName>
                                        </p:attrNameLst>
                                      </p:cBhvr>
                                      <p:to>
                                        <p:strVal val="visible"/>
                                      </p:to>
                                    </p:set>
                                    <p:animEffect transition="in" filter="fade">
                                      <p:cBhvr>
                                        <p:cTn id="101" dur="500"/>
                                        <p:tgtEl>
                                          <p:spTgt spid="5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4"/>
                                        </p:tgtEl>
                                        <p:attrNameLst>
                                          <p:attrName>style.visibility</p:attrName>
                                        </p:attrNameLst>
                                      </p:cBhvr>
                                      <p:to>
                                        <p:strVal val="visible"/>
                                      </p:to>
                                    </p:set>
                                    <p:animEffect transition="in" filter="fade">
                                      <p:cBhvr>
                                        <p:cTn id="104" dur="500"/>
                                        <p:tgtEl>
                                          <p:spTgt spid="54"/>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5"/>
                                        </p:tgtEl>
                                        <p:attrNameLst>
                                          <p:attrName>style.visibility</p:attrName>
                                        </p:attrNameLst>
                                      </p:cBhvr>
                                      <p:to>
                                        <p:strVal val="visible"/>
                                      </p:to>
                                    </p:set>
                                    <p:animEffect transition="in" filter="fade">
                                      <p:cBhvr>
                                        <p:cTn id="107" dur="500"/>
                                        <p:tgtEl>
                                          <p:spTgt spid="55"/>
                                        </p:tgtEl>
                                      </p:cBhvr>
                                    </p:animEffect>
                                  </p:childTnLst>
                                </p:cTn>
                              </p:par>
                            </p:childTnLst>
                          </p:cTn>
                        </p:par>
                        <p:par>
                          <p:cTn id="108" fill="hold">
                            <p:stCondLst>
                              <p:cond delay="2800"/>
                            </p:stCondLst>
                            <p:childTnLst>
                              <p:par>
                                <p:cTn id="109" presetID="10" presetClass="entr" presetSubtype="0" fill="hold" grpId="0" nodeType="afterEffect">
                                  <p:stCondLst>
                                    <p:cond delay="0"/>
                                  </p:stCondLst>
                                  <p:childTnLst>
                                    <p:set>
                                      <p:cBhvr>
                                        <p:cTn id="110" dur="1" fill="hold">
                                          <p:stCondLst>
                                            <p:cond delay="0"/>
                                          </p:stCondLst>
                                        </p:cTn>
                                        <p:tgtEl>
                                          <p:spTgt spid="56"/>
                                        </p:tgtEl>
                                        <p:attrNameLst>
                                          <p:attrName>style.visibility</p:attrName>
                                        </p:attrNameLst>
                                      </p:cBhvr>
                                      <p:to>
                                        <p:strVal val="visible"/>
                                      </p:to>
                                    </p:set>
                                    <p:animEffect transition="in" filter="fade">
                                      <p:cBhvr>
                                        <p:cTn id="111" dur="500"/>
                                        <p:tgtEl>
                                          <p:spTgt spid="56"/>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7"/>
                                        </p:tgtEl>
                                        <p:attrNameLst>
                                          <p:attrName>style.visibility</p:attrName>
                                        </p:attrNameLst>
                                      </p:cBhvr>
                                      <p:to>
                                        <p:strVal val="visible"/>
                                      </p:to>
                                    </p:set>
                                    <p:animEffect transition="in" filter="fade">
                                      <p:cBhvr>
                                        <p:cTn id="114" dur="500"/>
                                        <p:tgtEl>
                                          <p:spTgt spid="5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8"/>
                                        </p:tgtEl>
                                        <p:attrNameLst>
                                          <p:attrName>style.visibility</p:attrName>
                                        </p:attrNameLst>
                                      </p:cBhvr>
                                      <p:to>
                                        <p:strVal val="visible"/>
                                      </p:to>
                                    </p:set>
                                    <p:animEffect transition="in" filter="fade">
                                      <p:cBhvr>
                                        <p:cTn id="117" dur="500"/>
                                        <p:tgtEl>
                                          <p:spTgt spid="58"/>
                                        </p:tgtEl>
                                      </p:cBhvr>
                                    </p:animEffect>
                                  </p:childTnLst>
                                </p:cTn>
                              </p:par>
                            </p:childTnLst>
                          </p:cTn>
                        </p:par>
                        <p:par>
                          <p:cTn id="118" fill="hold">
                            <p:stCondLst>
                              <p:cond delay="3150"/>
                            </p:stCondLst>
                            <p:childTnLst>
                              <p:par>
                                <p:cTn id="119" presetID="10" presetClass="entr" presetSubtype="0" fill="hold" grpId="0" nodeType="afterEffect">
                                  <p:stCondLst>
                                    <p:cond delay="0"/>
                                  </p:stCondLst>
                                  <p:childTnLst>
                                    <p:set>
                                      <p:cBhvr>
                                        <p:cTn id="120" dur="1" fill="hold">
                                          <p:stCondLst>
                                            <p:cond delay="0"/>
                                          </p:stCondLst>
                                        </p:cTn>
                                        <p:tgtEl>
                                          <p:spTgt spid="59"/>
                                        </p:tgtEl>
                                        <p:attrNameLst>
                                          <p:attrName>style.visibility</p:attrName>
                                        </p:attrNameLst>
                                      </p:cBhvr>
                                      <p:to>
                                        <p:strVal val="visible"/>
                                      </p:to>
                                    </p:set>
                                    <p:animEffect transition="in" filter="fade">
                                      <p:cBhvr>
                                        <p:cTn id="121" dur="500"/>
                                        <p:tgtEl>
                                          <p:spTgt spid="59"/>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60"/>
                                        </p:tgtEl>
                                        <p:attrNameLst>
                                          <p:attrName>style.visibility</p:attrName>
                                        </p:attrNameLst>
                                      </p:cBhvr>
                                      <p:to>
                                        <p:strVal val="visible"/>
                                      </p:to>
                                    </p:set>
                                    <p:animEffect transition="in" filter="fade">
                                      <p:cBhvr>
                                        <p:cTn id="124" dur="500"/>
                                        <p:tgtEl>
                                          <p:spTgt spid="60"/>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61"/>
                                        </p:tgtEl>
                                        <p:attrNameLst>
                                          <p:attrName>style.visibility</p:attrName>
                                        </p:attrNameLst>
                                      </p:cBhvr>
                                      <p:to>
                                        <p:strVal val="visible"/>
                                      </p:to>
                                    </p:set>
                                    <p:animEffect transition="in" filter="fade">
                                      <p:cBhvr>
                                        <p:cTn id="127" dur="500"/>
                                        <p:tgtEl>
                                          <p:spTgt spid="61"/>
                                        </p:tgtEl>
                                      </p:cBhvr>
                                    </p:animEffect>
                                  </p:childTnLst>
                                </p:cTn>
                              </p:par>
                            </p:childTnLst>
                          </p:cTn>
                        </p:par>
                        <p:par>
                          <p:cTn id="128" fill="hold">
                            <p:stCondLst>
                              <p:cond delay="3500"/>
                            </p:stCondLst>
                            <p:childTnLst>
                              <p:par>
                                <p:cTn id="129" presetID="10" presetClass="entr" presetSubtype="0" fill="hold" grpId="0" nodeType="afterEffect">
                                  <p:stCondLst>
                                    <p:cond delay="0"/>
                                  </p:stCondLst>
                                  <p:childTnLst>
                                    <p:set>
                                      <p:cBhvr>
                                        <p:cTn id="130" dur="1" fill="hold">
                                          <p:stCondLst>
                                            <p:cond delay="0"/>
                                          </p:stCondLst>
                                        </p:cTn>
                                        <p:tgtEl>
                                          <p:spTgt spid="62"/>
                                        </p:tgtEl>
                                        <p:attrNameLst>
                                          <p:attrName>style.visibility</p:attrName>
                                        </p:attrNameLst>
                                      </p:cBhvr>
                                      <p:to>
                                        <p:strVal val="visible"/>
                                      </p:to>
                                    </p:set>
                                    <p:animEffect transition="in" filter="fade">
                                      <p:cBhvr>
                                        <p:cTn id="131" dur="500"/>
                                        <p:tgtEl>
                                          <p:spTgt spid="62"/>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63"/>
                                        </p:tgtEl>
                                        <p:attrNameLst>
                                          <p:attrName>style.visibility</p:attrName>
                                        </p:attrNameLst>
                                      </p:cBhvr>
                                      <p:to>
                                        <p:strVal val="visible"/>
                                      </p:to>
                                    </p:set>
                                    <p:animEffect transition="in" filter="fade">
                                      <p:cBhvr>
                                        <p:cTn id="134" dur="500"/>
                                        <p:tgtEl>
                                          <p:spTgt spid="63"/>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64"/>
                                        </p:tgtEl>
                                        <p:attrNameLst>
                                          <p:attrName>style.visibility</p:attrName>
                                        </p:attrNameLst>
                                      </p:cBhvr>
                                      <p:to>
                                        <p:strVal val="visible"/>
                                      </p:to>
                                    </p:set>
                                    <p:animEffect transition="in" filter="fade">
                                      <p:cBhvr>
                                        <p:cTn id="137" dur="500"/>
                                        <p:tgtEl>
                                          <p:spTgt spid="64"/>
                                        </p:tgtEl>
                                      </p:cBhvr>
                                    </p:animEffect>
                                  </p:childTnLst>
                                </p:cTn>
                              </p:par>
                            </p:childTnLst>
                          </p:cTn>
                        </p:par>
                        <p:par>
                          <p:cTn id="138" fill="hold">
                            <p:stCondLst>
                              <p:cond delay="3850"/>
                            </p:stCondLst>
                            <p:childTnLst>
                              <p:par>
                                <p:cTn id="139" presetID="10" presetClass="entr" presetSubtype="0" fill="hold" grpId="0" nodeType="afterEffect">
                                  <p:stCondLst>
                                    <p:cond delay="0"/>
                                  </p:stCondLst>
                                  <p:childTnLst>
                                    <p:set>
                                      <p:cBhvr>
                                        <p:cTn id="140" dur="1" fill="hold">
                                          <p:stCondLst>
                                            <p:cond delay="0"/>
                                          </p:stCondLst>
                                        </p:cTn>
                                        <p:tgtEl>
                                          <p:spTgt spid="65"/>
                                        </p:tgtEl>
                                        <p:attrNameLst>
                                          <p:attrName>style.visibility</p:attrName>
                                        </p:attrNameLst>
                                      </p:cBhvr>
                                      <p:to>
                                        <p:strVal val="visible"/>
                                      </p:to>
                                    </p:set>
                                    <p:animEffect transition="in" filter="fade">
                                      <p:cBhvr>
                                        <p:cTn id="141" dur="500"/>
                                        <p:tgtEl>
                                          <p:spTgt spid="65"/>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500"/>
                                        <p:tgtEl>
                                          <p:spTgt spid="66"/>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500"/>
                                        <p:tgtEl>
                                          <p:spTgt spid="67"/>
                                        </p:tgtEl>
                                      </p:cBhvr>
                                    </p:animEffect>
                                  </p:childTnLst>
                                </p:cTn>
                              </p:par>
                            </p:childTnLst>
                          </p:cTn>
                        </p:par>
                        <p:par>
                          <p:cTn id="148" fill="hold">
                            <p:stCondLst>
                              <p:cond delay="4200"/>
                            </p:stCondLst>
                            <p:childTnLst>
                              <p:par>
                                <p:cTn id="149" presetID="10" presetClass="entr" presetSubtype="0" fill="hold" grpId="0" nodeType="afterEffect">
                                  <p:stCondLst>
                                    <p:cond delay="0"/>
                                  </p:stCondLst>
                                  <p:childTnLst>
                                    <p:set>
                                      <p:cBhvr>
                                        <p:cTn id="150" dur="1" fill="hold">
                                          <p:stCondLst>
                                            <p:cond delay="0"/>
                                          </p:stCondLst>
                                        </p:cTn>
                                        <p:tgtEl>
                                          <p:spTgt spid="68"/>
                                        </p:tgtEl>
                                        <p:attrNameLst>
                                          <p:attrName>style.visibility</p:attrName>
                                        </p:attrNameLst>
                                      </p:cBhvr>
                                      <p:to>
                                        <p:strVal val="visible"/>
                                      </p:to>
                                    </p:set>
                                    <p:animEffect transition="in" filter="fade">
                                      <p:cBhvr>
                                        <p:cTn id="151" dur="500"/>
                                        <p:tgtEl>
                                          <p:spTgt spid="68"/>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69"/>
                                        </p:tgtEl>
                                        <p:attrNameLst>
                                          <p:attrName>style.visibility</p:attrName>
                                        </p:attrNameLst>
                                      </p:cBhvr>
                                      <p:to>
                                        <p:strVal val="visible"/>
                                      </p:to>
                                    </p:set>
                                    <p:animEffect transition="in" filter="fade">
                                      <p:cBhvr>
                                        <p:cTn id="154" dur="500"/>
                                        <p:tgtEl>
                                          <p:spTgt spid="69"/>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70"/>
                                        </p:tgtEl>
                                        <p:attrNameLst>
                                          <p:attrName>style.visibility</p:attrName>
                                        </p:attrNameLst>
                                      </p:cBhvr>
                                      <p:to>
                                        <p:strVal val="visible"/>
                                      </p:to>
                                    </p:set>
                                    <p:animEffect transition="in" filter="fade">
                                      <p:cBhvr>
                                        <p:cTn id="157" dur="500"/>
                                        <p:tgtEl>
                                          <p:spTgt spid="70"/>
                                        </p:tgtEl>
                                      </p:cBhvr>
                                    </p:animEffect>
                                  </p:childTnLst>
                                </p:cTn>
                              </p:par>
                            </p:childTnLst>
                          </p:cTn>
                        </p:par>
                        <p:par>
                          <p:cTn id="158" fill="hold">
                            <p:stCondLst>
                              <p:cond delay="4700"/>
                            </p:stCondLst>
                            <p:childTnLst>
                              <p:par>
                                <p:cTn id="159" presetID="10" presetClass="entr" presetSubtype="0" fill="hold" grpId="0" nodeType="afterEffect">
                                  <p:stCondLst>
                                    <p:cond delay="0"/>
                                  </p:stCondLst>
                                  <p:childTnLst>
                                    <p:set>
                                      <p:cBhvr>
                                        <p:cTn id="160" dur="1" fill="hold">
                                          <p:stCondLst>
                                            <p:cond delay="0"/>
                                          </p:stCondLst>
                                        </p:cTn>
                                        <p:tgtEl>
                                          <p:spTgt spid="71"/>
                                        </p:tgtEl>
                                        <p:attrNameLst>
                                          <p:attrName>style.visibility</p:attrName>
                                        </p:attrNameLst>
                                      </p:cBhvr>
                                      <p:to>
                                        <p:strVal val="visible"/>
                                      </p:to>
                                    </p:set>
                                    <p:animEffect transition="in" filter="fade">
                                      <p:cBhvr>
                                        <p:cTn id="161" dur="500"/>
                                        <p:tgtEl>
                                          <p:spTgt spid="71"/>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72"/>
                                        </p:tgtEl>
                                        <p:attrNameLst>
                                          <p:attrName>style.visibility</p:attrName>
                                        </p:attrNameLst>
                                      </p:cBhvr>
                                      <p:to>
                                        <p:strVal val="visible"/>
                                      </p:to>
                                    </p:set>
                                    <p:animEffect transition="in" filter="fade">
                                      <p:cBhvr>
                                        <p:cTn id="164" dur="500"/>
                                        <p:tgtEl>
                                          <p:spTgt spid="72"/>
                                        </p:tgtEl>
                                      </p:cBhvr>
                                    </p:animEffect>
                                  </p:childTnLst>
                                </p:cTn>
                              </p:par>
                            </p:childTnLst>
                          </p:cTn>
                        </p:par>
                        <p:par>
                          <p:cTn id="165" fill="hold">
                            <p:stCondLst>
                              <p:cond delay="5200"/>
                            </p:stCondLst>
                            <p:childTnLst>
                              <p:par>
                                <p:cTn id="166" presetID="10" presetClass="entr" presetSubtype="0" fill="hold" grpId="0" nodeType="afterEffect">
                                  <p:stCondLst>
                                    <p:cond delay="0"/>
                                  </p:stCondLst>
                                  <p:childTnLst>
                                    <p:set>
                                      <p:cBhvr>
                                        <p:cTn id="167" dur="1" fill="hold">
                                          <p:stCondLst>
                                            <p:cond delay="0"/>
                                          </p:stCondLst>
                                        </p:cTn>
                                        <p:tgtEl>
                                          <p:spTgt spid="73"/>
                                        </p:tgtEl>
                                        <p:attrNameLst>
                                          <p:attrName>style.visibility</p:attrName>
                                        </p:attrNameLst>
                                      </p:cBhvr>
                                      <p:to>
                                        <p:strVal val="visible"/>
                                      </p:to>
                                    </p:set>
                                    <p:animEffect transition="in" filter="fade">
                                      <p:cBhvr>
                                        <p:cTn id="168" dur="500"/>
                                        <p:tgtEl>
                                          <p:spTgt spid="73"/>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74"/>
                                        </p:tgtEl>
                                        <p:attrNameLst>
                                          <p:attrName>style.visibility</p:attrName>
                                        </p:attrNameLst>
                                      </p:cBhvr>
                                      <p:to>
                                        <p:strVal val="visible"/>
                                      </p:to>
                                    </p:set>
                                    <p:animEffect transition="in" filter="fade">
                                      <p:cBhvr>
                                        <p:cTn id="1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7" grpId="0" animBg="1"/>
      <p:bldP spid="28" grpId="0" animBg="1"/>
      <p:bldP spid="29" grpId="0" animBg="1"/>
      <p:bldP spid="31" grpId="0" animBg="1"/>
      <p:bldP spid="32" grpId="0" animBg="1"/>
      <p:bldP spid="33" grpId="0" animBg="1"/>
      <p:bldP spid="34" grpId="0" animBg="1"/>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3" name="A0_654"/>
          <p:cNvSpPr/>
          <p:nvPr/>
        </p:nvSpPr>
        <p:spPr>
          <a:xfrm>
            <a:off x="6800850" y="274320"/>
            <a:ext cx="109728" cy="109728"/>
          </a:xfrm>
          <a:prstGeom prst="rect">
            <a:avLst/>
          </a:prstGeom>
          <a:solidFill>
            <a:srgbClr val="0A6EBD"/>
          </a:solidFill>
          <a:ln w="12700">
            <a:solidFill>
              <a:srgbClr val="0A6EBD"/>
            </a:solidFill>
            <a:prstDash val="solid"/>
          </a:ln>
        </p:spPr>
      </p:sp>
      <p:sp>
        <p:nvSpPr>
          <p:cNvPr id="4" name="A0_655"/>
          <p:cNvSpPr/>
          <p:nvPr/>
        </p:nvSpPr>
        <p:spPr>
          <a:xfrm>
            <a:off x="6992874" y="274320"/>
            <a:ext cx="109728" cy="109728"/>
          </a:xfrm>
          <a:prstGeom prst="rect">
            <a:avLst/>
          </a:prstGeom>
          <a:solidFill>
            <a:srgbClr val="0A6EBD"/>
          </a:solidFill>
          <a:ln w="12700">
            <a:solidFill>
              <a:srgbClr val="0A6EBD"/>
            </a:solidFill>
            <a:prstDash val="solid"/>
          </a:ln>
        </p:spPr>
      </p:sp>
      <p:sp>
        <p:nvSpPr>
          <p:cNvPr id="5" name="A0_656"/>
          <p:cNvSpPr/>
          <p:nvPr/>
        </p:nvSpPr>
        <p:spPr>
          <a:xfrm>
            <a:off x="7184898" y="274320"/>
            <a:ext cx="109728" cy="109728"/>
          </a:xfrm>
          <a:prstGeom prst="rect">
            <a:avLst/>
          </a:prstGeom>
          <a:solidFill>
            <a:srgbClr val="0A6EBD"/>
          </a:solidFill>
          <a:ln w="12700">
            <a:solidFill>
              <a:srgbClr val="0A6EBD"/>
            </a:solidFill>
            <a:prstDash val="solid"/>
          </a:ln>
        </p:spPr>
      </p:sp>
      <p:sp>
        <p:nvSpPr>
          <p:cNvPr id="6" name="A0_657"/>
          <p:cNvSpPr/>
          <p:nvPr/>
        </p:nvSpPr>
        <p:spPr>
          <a:xfrm>
            <a:off x="7376922" y="274320"/>
            <a:ext cx="109728" cy="109728"/>
          </a:xfrm>
          <a:prstGeom prst="rect">
            <a:avLst/>
          </a:prstGeom>
          <a:solidFill>
            <a:srgbClr val="0A6EBD"/>
          </a:solidFill>
          <a:ln w="12700">
            <a:solidFill>
              <a:srgbClr val="0A6EBD"/>
            </a:solidFill>
            <a:prstDash val="solid"/>
          </a:ln>
        </p:spPr>
      </p:sp>
      <p:sp>
        <p:nvSpPr>
          <p:cNvPr id="7" name="A0_658"/>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Technologies utilisées</a:t>
            </a:r>
            <a:endParaRPr lang="en-US" sz="3600" dirty="0"/>
          </a:p>
        </p:txBody>
      </p:sp>
      <p:pic>
        <p:nvPicPr>
          <p:cNvPr id="8" name="A0_659"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673"/>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674"/>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18</a:t>
            </a:r>
            <a:endParaRPr lang="en-US" sz="1500" dirty="0"/>
          </a:p>
        </p:txBody>
      </p:sp>
      <p:sp>
        <p:nvSpPr>
          <p:cNvPr id="24" name="A1_675"/>
          <p:cNvSpPr/>
          <p:nvPr/>
        </p:nvSpPr>
        <p:spPr>
          <a:xfrm>
            <a:off x="822960" y="1554480"/>
            <a:ext cx="3977640" cy="2606040"/>
          </a:xfrm>
          <a:prstGeom prst="rect">
            <a:avLst/>
          </a:prstGeom>
          <a:solidFill>
            <a:srgbClr val="FFFFFF"/>
          </a:solidFill>
          <a:ln w="15875">
            <a:solidFill>
              <a:srgbClr val="A9C4DE"/>
            </a:solidFill>
            <a:prstDash val="solid"/>
          </a:ln>
        </p:spPr>
        <p:txBody>
          <a:bodyPr/>
          <a:lstStyle/>
          <a:p>
            <a:endParaRPr lang="fr-FR"/>
          </a:p>
        </p:txBody>
      </p:sp>
      <p:sp>
        <p:nvSpPr>
          <p:cNvPr id="25" name="A1_676"/>
          <p:cNvSpPr/>
          <p:nvPr/>
        </p:nvSpPr>
        <p:spPr>
          <a:xfrm>
            <a:off x="822960" y="1554480"/>
            <a:ext cx="3977640" cy="685800"/>
          </a:xfrm>
          <a:prstGeom prst="rect">
            <a:avLst/>
          </a:prstGeom>
          <a:solidFill>
            <a:srgbClr val="0A6EBD"/>
          </a:solidFill>
          <a:ln w="12700">
            <a:solidFill>
              <a:srgbClr val="0A6EBD"/>
            </a:solidFill>
            <a:prstDash val="solid"/>
          </a:ln>
        </p:spPr>
        <p:txBody>
          <a:bodyPr/>
          <a:lstStyle/>
          <a:p>
            <a:endParaRPr lang="fr-FR"/>
          </a:p>
        </p:txBody>
      </p:sp>
      <p:pic>
        <p:nvPicPr>
          <p:cNvPr id="26" name="A1_677" descr="preencoded.png"/>
          <p:cNvPicPr>
            <a:picLocks noChangeAspect="1"/>
          </p:cNvPicPr>
          <p:nvPr/>
        </p:nvPicPr>
        <p:blipFill>
          <a:blip r:embed="rId4"/>
          <a:stretch>
            <a:fillRect/>
          </a:stretch>
        </p:blipFill>
        <p:spPr>
          <a:xfrm>
            <a:off x="1051560" y="1709928"/>
            <a:ext cx="384048" cy="384048"/>
          </a:xfrm>
          <a:prstGeom prst="rect">
            <a:avLst/>
          </a:prstGeom>
        </p:spPr>
      </p:pic>
      <p:sp>
        <p:nvSpPr>
          <p:cNvPr id="27" name="A1_678"/>
          <p:cNvSpPr txBox="1"/>
          <p:nvPr/>
        </p:nvSpPr>
        <p:spPr>
          <a:xfrm>
            <a:off x="1600200" y="1554480"/>
            <a:ext cx="3063240" cy="68580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Interface</a:t>
            </a:r>
            <a:endParaRPr lang="en-US" sz="1600" dirty="0"/>
          </a:p>
        </p:txBody>
      </p:sp>
      <p:sp>
        <p:nvSpPr>
          <p:cNvPr id="28" name="A1_679"/>
          <p:cNvSpPr/>
          <p:nvPr/>
        </p:nvSpPr>
        <p:spPr>
          <a:xfrm>
            <a:off x="1051560" y="246888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29" name="A1_680"/>
          <p:cNvSpPr txBox="1"/>
          <p:nvPr/>
        </p:nvSpPr>
        <p:spPr>
          <a:xfrm>
            <a:off x="1097280" y="246888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Angular 22</a:t>
            </a:r>
            <a:endParaRPr lang="en-US" sz="1150" dirty="0"/>
          </a:p>
        </p:txBody>
      </p:sp>
      <p:sp>
        <p:nvSpPr>
          <p:cNvPr id="30" name="A1_681"/>
          <p:cNvSpPr/>
          <p:nvPr/>
        </p:nvSpPr>
        <p:spPr>
          <a:xfrm>
            <a:off x="2880360" y="246888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31" name="A1_682"/>
          <p:cNvSpPr txBox="1"/>
          <p:nvPr/>
        </p:nvSpPr>
        <p:spPr>
          <a:xfrm>
            <a:off x="2926080" y="246888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TypeScript</a:t>
            </a:r>
            <a:endParaRPr lang="en-US" sz="1150" dirty="0"/>
          </a:p>
        </p:txBody>
      </p:sp>
      <p:sp>
        <p:nvSpPr>
          <p:cNvPr id="32" name="A1_683"/>
          <p:cNvSpPr/>
          <p:nvPr/>
        </p:nvSpPr>
        <p:spPr>
          <a:xfrm>
            <a:off x="1051560" y="324612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33" name="A1_684"/>
          <p:cNvSpPr txBox="1"/>
          <p:nvPr/>
        </p:nvSpPr>
        <p:spPr>
          <a:xfrm>
            <a:off x="1097280" y="324612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nginx</a:t>
            </a:r>
            <a:endParaRPr lang="en-US" sz="1150" dirty="0"/>
          </a:p>
        </p:txBody>
      </p:sp>
      <p:sp>
        <p:nvSpPr>
          <p:cNvPr id="34" name="A2_685"/>
          <p:cNvSpPr/>
          <p:nvPr/>
        </p:nvSpPr>
        <p:spPr>
          <a:xfrm>
            <a:off x="5138928" y="1554480"/>
            <a:ext cx="3977640" cy="2606040"/>
          </a:xfrm>
          <a:prstGeom prst="rect">
            <a:avLst/>
          </a:prstGeom>
          <a:solidFill>
            <a:srgbClr val="FFFFFF"/>
          </a:solidFill>
          <a:ln w="15875">
            <a:solidFill>
              <a:srgbClr val="A9C4DE"/>
            </a:solidFill>
            <a:prstDash val="solid"/>
          </a:ln>
        </p:spPr>
        <p:txBody>
          <a:bodyPr/>
          <a:lstStyle/>
          <a:p>
            <a:endParaRPr lang="fr-FR"/>
          </a:p>
        </p:txBody>
      </p:sp>
      <p:sp>
        <p:nvSpPr>
          <p:cNvPr id="35" name="A2_686"/>
          <p:cNvSpPr/>
          <p:nvPr/>
        </p:nvSpPr>
        <p:spPr>
          <a:xfrm>
            <a:off x="5138928" y="1554480"/>
            <a:ext cx="3977640" cy="685800"/>
          </a:xfrm>
          <a:prstGeom prst="rect">
            <a:avLst/>
          </a:prstGeom>
          <a:solidFill>
            <a:srgbClr val="0A6EBD"/>
          </a:solidFill>
          <a:ln w="12700">
            <a:solidFill>
              <a:srgbClr val="0A6EBD"/>
            </a:solidFill>
            <a:prstDash val="solid"/>
          </a:ln>
        </p:spPr>
        <p:txBody>
          <a:bodyPr/>
          <a:lstStyle/>
          <a:p>
            <a:endParaRPr lang="fr-FR"/>
          </a:p>
        </p:txBody>
      </p:sp>
      <p:pic>
        <p:nvPicPr>
          <p:cNvPr id="36" name="A2_687" descr="preencoded.png"/>
          <p:cNvPicPr>
            <a:picLocks noChangeAspect="1"/>
          </p:cNvPicPr>
          <p:nvPr/>
        </p:nvPicPr>
        <p:blipFill>
          <a:blip r:embed="rId5"/>
          <a:stretch>
            <a:fillRect/>
          </a:stretch>
        </p:blipFill>
        <p:spPr>
          <a:xfrm>
            <a:off x="5367528" y="1709928"/>
            <a:ext cx="384048" cy="384048"/>
          </a:xfrm>
          <a:prstGeom prst="rect">
            <a:avLst/>
          </a:prstGeom>
        </p:spPr>
      </p:pic>
      <p:sp>
        <p:nvSpPr>
          <p:cNvPr id="37" name="A2_688"/>
          <p:cNvSpPr txBox="1"/>
          <p:nvPr/>
        </p:nvSpPr>
        <p:spPr>
          <a:xfrm>
            <a:off x="5916168" y="1554480"/>
            <a:ext cx="3063240" cy="68580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Cœur applicatif</a:t>
            </a:r>
            <a:endParaRPr lang="en-US" sz="1600" dirty="0"/>
          </a:p>
        </p:txBody>
      </p:sp>
      <p:sp>
        <p:nvSpPr>
          <p:cNvPr id="38" name="A2_689"/>
          <p:cNvSpPr/>
          <p:nvPr/>
        </p:nvSpPr>
        <p:spPr>
          <a:xfrm>
            <a:off x="5367528" y="246888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39" name="A2_690"/>
          <p:cNvSpPr txBox="1"/>
          <p:nvPr/>
        </p:nvSpPr>
        <p:spPr>
          <a:xfrm>
            <a:off x="5413248" y="246888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Java 17</a:t>
            </a:r>
            <a:endParaRPr lang="en-US" sz="1150" dirty="0"/>
          </a:p>
        </p:txBody>
      </p:sp>
      <p:sp>
        <p:nvSpPr>
          <p:cNvPr id="40" name="A2_691"/>
          <p:cNvSpPr/>
          <p:nvPr/>
        </p:nvSpPr>
        <p:spPr>
          <a:xfrm>
            <a:off x="7196328" y="246888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41" name="A2_692"/>
          <p:cNvSpPr txBox="1"/>
          <p:nvPr/>
        </p:nvSpPr>
        <p:spPr>
          <a:xfrm>
            <a:off x="7242048" y="246888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Spring Boot 3</a:t>
            </a:r>
            <a:endParaRPr lang="en-US" sz="1150" dirty="0"/>
          </a:p>
        </p:txBody>
      </p:sp>
      <p:sp>
        <p:nvSpPr>
          <p:cNvPr id="42" name="A2_693"/>
          <p:cNvSpPr/>
          <p:nvPr/>
        </p:nvSpPr>
        <p:spPr>
          <a:xfrm>
            <a:off x="6135180" y="324612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43" name="A2_694"/>
          <p:cNvSpPr txBox="1"/>
          <p:nvPr/>
        </p:nvSpPr>
        <p:spPr>
          <a:xfrm>
            <a:off x="6169602" y="324612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Spring Security (JWT)</a:t>
            </a:r>
            <a:endParaRPr lang="en-US" sz="1150" dirty="0"/>
          </a:p>
        </p:txBody>
      </p:sp>
      <p:sp>
        <p:nvSpPr>
          <p:cNvPr id="46" name="A3_697"/>
          <p:cNvSpPr/>
          <p:nvPr/>
        </p:nvSpPr>
        <p:spPr>
          <a:xfrm>
            <a:off x="9454896" y="1554480"/>
            <a:ext cx="3977640" cy="2606040"/>
          </a:xfrm>
          <a:prstGeom prst="rect">
            <a:avLst/>
          </a:prstGeom>
          <a:solidFill>
            <a:srgbClr val="FFFFFF"/>
          </a:solidFill>
          <a:ln w="15875">
            <a:solidFill>
              <a:srgbClr val="A9C4DE"/>
            </a:solidFill>
            <a:prstDash val="solid"/>
          </a:ln>
        </p:spPr>
        <p:txBody>
          <a:bodyPr/>
          <a:lstStyle/>
          <a:p>
            <a:endParaRPr lang="fr-FR"/>
          </a:p>
        </p:txBody>
      </p:sp>
      <p:sp>
        <p:nvSpPr>
          <p:cNvPr id="47" name="A3_698"/>
          <p:cNvSpPr/>
          <p:nvPr/>
        </p:nvSpPr>
        <p:spPr>
          <a:xfrm>
            <a:off x="9454896" y="1554480"/>
            <a:ext cx="3977640" cy="685800"/>
          </a:xfrm>
          <a:prstGeom prst="rect">
            <a:avLst/>
          </a:prstGeom>
          <a:solidFill>
            <a:srgbClr val="0A6EBD"/>
          </a:solidFill>
          <a:ln w="12700">
            <a:solidFill>
              <a:srgbClr val="0A6EBD"/>
            </a:solidFill>
            <a:prstDash val="solid"/>
          </a:ln>
        </p:spPr>
        <p:txBody>
          <a:bodyPr/>
          <a:lstStyle/>
          <a:p>
            <a:endParaRPr lang="fr-FR"/>
          </a:p>
        </p:txBody>
      </p:sp>
      <p:pic>
        <p:nvPicPr>
          <p:cNvPr id="48" name="A3_699" descr="preencoded.png"/>
          <p:cNvPicPr>
            <a:picLocks noChangeAspect="1"/>
          </p:cNvPicPr>
          <p:nvPr/>
        </p:nvPicPr>
        <p:blipFill>
          <a:blip r:embed="rId6"/>
          <a:stretch>
            <a:fillRect/>
          </a:stretch>
        </p:blipFill>
        <p:spPr>
          <a:xfrm>
            <a:off x="9683496" y="1709928"/>
            <a:ext cx="384048" cy="384048"/>
          </a:xfrm>
          <a:prstGeom prst="rect">
            <a:avLst/>
          </a:prstGeom>
        </p:spPr>
      </p:pic>
      <p:sp>
        <p:nvSpPr>
          <p:cNvPr id="49" name="A3_700"/>
          <p:cNvSpPr txBox="1"/>
          <p:nvPr/>
        </p:nvSpPr>
        <p:spPr>
          <a:xfrm>
            <a:off x="10232136" y="1554480"/>
            <a:ext cx="3063240" cy="68580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Intelligence artificielle</a:t>
            </a:r>
            <a:endParaRPr lang="en-US" sz="1600" dirty="0"/>
          </a:p>
        </p:txBody>
      </p:sp>
      <p:sp>
        <p:nvSpPr>
          <p:cNvPr id="50" name="A3_701"/>
          <p:cNvSpPr/>
          <p:nvPr/>
        </p:nvSpPr>
        <p:spPr>
          <a:xfrm>
            <a:off x="9683496" y="246888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51" name="A3_702"/>
          <p:cNvSpPr txBox="1"/>
          <p:nvPr/>
        </p:nvSpPr>
        <p:spPr>
          <a:xfrm>
            <a:off x="9729216" y="246888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Python 3.12</a:t>
            </a:r>
            <a:endParaRPr lang="en-US" sz="1150" dirty="0"/>
          </a:p>
        </p:txBody>
      </p:sp>
      <p:sp>
        <p:nvSpPr>
          <p:cNvPr id="52" name="A3_703"/>
          <p:cNvSpPr/>
          <p:nvPr/>
        </p:nvSpPr>
        <p:spPr>
          <a:xfrm>
            <a:off x="11512296" y="246888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53" name="A3_704"/>
          <p:cNvSpPr txBox="1"/>
          <p:nvPr/>
        </p:nvSpPr>
        <p:spPr>
          <a:xfrm>
            <a:off x="11558016" y="246888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FastAPI</a:t>
            </a:r>
            <a:endParaRPr lang="en-US" sz="1150" dirty="0"/>
          </a:p>
        </p:txBody>
      </p:sp>
      <p:sp>
        <p:nvSpPr>
          <p:cNvPr id="54" name="A3_705"/>
          <p:cNvSpPr/>
          <p:nvPr/>
        </p:nvSpPr>
        <p:spPr>
          <a:xfrm>
            <a:off x="9683496" y="324612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55" name="A3_706"/>
          <p:cNvSpPr txBox="1"/>
          <p:nvPr/>
        </p:nvSpPr>
        <p:spPr>
          <a:xfrm>
            <a:off x="9729216" y="324612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scikit-learn</a:t>
            </a:r>
            <a:endParaRPr lang="en-US" sz="1150" dirty="0"/>
          </a:p>
        </p:txBody>
      </p:sp>
      <p:sp>
        <p:nvSpPr>
          <p:cNvPr id="56" name="A3_707"/>
          <p:cNvSpPr/>
          <p:nvPr/>
        </p:nvSpPr>
        <p:spPr>
          <a:xfrm>
            <a:off x="11512296" y="324612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57" name="A3_708"/>
          <p:cNvSpPr txBox="1"/>
          <p:nvPr/>
        </p:nvSpPr>
        <p:spPr>
          <a:xfrm>
            <a:off x="11558016" y="324612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Groq (LLM)</a:t>
            </a:r>
            <a:endParaRPr lang="en-US" sz="1150" dirty="0"/>
          </a:p>
        </p:txBody>
      </p:sp>
      <p:sp>
        <p:nvSpPr>
          <p:cNvPr id="58" name="A4_709"/>
          <p:cNvSpPr/>
          <p:nvPr/>
        </p:nvSpPr>
        <p:spPr>
          <a:xfrm>
            <a:off x="822960" y="4434840"/>
            <a:ext cx="3977640" cy="2606040"/>
          </a:xfrm>
          <a:prstGeom prst="rect">
            <a:avLst/>
          </a:prstGeom>
          <a:solidFill>
            <a:srgbClr val="FFFFFF"/>
          </a:solidFill>
          <a:ln w="15875">
            <a:solidFill>
              <a:srgbClr val="A9C4DE"/>
            </a:solidFill>
            <a:prstDash val="solid"/>
          </a:ln>
        </p:spPr>
        <p:txBody>
          <a:bodyPr/>
          <a:lstStyle/>
          <a:p>
            <a:endParaRPr lang="fr-FR"/>
          </a:p>
        </p:txBody>
      </p:sp>
      <p:sp>
        <p:nvSpPr>
          <p:cNvPr id="59" name="A4_710"/>
          <p:cNvSpPr/>
          <p:nvPr/>
        </p:nvSpPr>
        <p:spPr>
          <a:xfrm>
            <a:off x="822960" y="4434840"/>
            <a:ext cx="3977640" cy="685800"/>
          </a:xfrm>
          <a:prstGeom prst="rect">
            <a:avLst/>
          </a:prstGeom>
          <a:solidFill>
            <a:srgbClr val="0A6EBD"/>
          </a:solidFill>
          <a:ln w="12700">
            <a:solidFill>
              <a:srgbClr val="0A6EBD"/>
            </a:solidFill>
            <a:prstDash val="solid"/>
          </a:ln>
        </p:spPr>
        <p:txBody>
          <a:bodyPr/>
          <a:lstStyle/>
          <a:p>
            <a:endParaRPr lang="fr-FR"/>
          </a:p>
        </p:txBody>
      </p:sp>
      <p:pic>
        <p:nvPicPr>
          <p:cNvPr id="60" name="A4_711" descr="preencoded.png"/>
          <p:cNvPicPr>
            <a:picLocks noChangeAspect="1"/>
          </p:cNvPicPr>
          <p:nvPr/>
        </p:nvPicPr>
        <p:blipFill>
          <a:blip r:embed="rId7"/>
          <a:stretch>
            <a:fillRect/>
          </a:stretch>
        </p:blipFill>
        <p:spPr>
          <a:xfrm>
            <a:off x="1051560" y="4590288"/>
            <a:ext cx="384048" cy="384048"/>
          </a:xfrm>
          <a:prstGeom prst="rect">
            <a:avLst/>
          </a:prstGeom>
        </p:spPr>
      </p:pic>
      <p:sp>
        <p:nvSpPr>
          <p:cNvPr id="61" name="A4_712"/>
          <p:cNvSpPr txBox="1"/>
          <p:nvPr/>
        </p:nvSpPr>
        <p:spPr>
          <a:xfrm>
            <a:off x="1600200" y="4434840"/>
            <a:ext cx="3063240" cy="68580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Données</a:t>
            </a:r>
            <a:endParaRPr lang="en-US" sz="1600" dirty="0"/>
          </a:p>
        </p:txBody>
      </p:sp>
      <p:sp>
        <p:nvSpPr>
          <p:cNvPr id="62" name="A4_713"/>
          <p:cNvSpPr/>
          <p:nvPr/>
        </p:nvSpPr>
        <p:spPr>
          <a:xfrm>
            <a:off x="1051560" y="534924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63" name="A4_714"/>
          <p:cNvSpPr txBox="1"/>
          <p:nvPr/>
        </p:nvSpPr>
        <p:spPr>
          <a:xfrm>
            <a:off x="1097280" y="534924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PostgreSQL</a:t>
            </a:r>
            <a:endParaRPr lang="en-US" sz="1150" dirty="0"/>
          </a:p>
        </p:txBody>
      </p:sp>
      <p:sp>
        <p:nvSpPr>
          <p:cNvPr id="66" name="A5_717"/>
          <p:cNvSpPr/>
          <p:nvPr/>
        </p:nvSpPr>
        <p:spPr>
          <a:xfrm>
            <a:off x="5138928" y="4434840"/>
            <a:ext cx="3977640" cy="2606040"/>
          </a:xfrm>
          <a:prstGeom prst="rect">
            <a:avLst/>
          </a:prstGeom>
          <a:solidFill>
            <a:srgbClr val="FFFFFF"/>
          </a:solidFill>
          <a:ln w="15875">
            <a:solidFill>
              <a:srgbClr val="A9C4DE"/>
            </a:solidFill>
            <a:prstDash val="solid"/>
          </a:ln>
        </p:spPr>
        <p:txBody>
          <a:bodyPr/>
          <a:lstStyle/>
          <a:p>
            <a:endParaRPr lang="fr-FR"/>
          </a:p>
        </p:txBody>
      </p:sp>
      <p:sp>
        <p:nvSpPr>
          <p:cNvPr id="67" name="A5_718"/>
          <p:cNvSpPr/>
          <p:nvPr/>
        </p:nvSpPr>
        <p:spPr>
          <a:xfrm>
            <a:off x="5138928" y="4434840"/>
            <a:ext cx="3977640" cy="685800"/>
          </a:xfrm>
          <a:prstGeom prst="rect">
            <a:avLst/>
          </a:prstGeom>
          <a:solidFill>
            <a:srgbClr val="0A6EBD"/>
          </a:solidFill>
          <a:ln w="12700">
            <a:solidFill>
              <a:srgbClr val="0A6EBD"/>
            </a:solidFill>
            <a:prstDash val="solid"/>
          </a:ln>
        </p:spPr>
        <p:txBody>
          <a:bodyPr/>
          <a:lstStyle/>
          <a:p>
            <a:endParaRPr lang="fr-FR"/>
          </a:p>
        </p:txBody>
      </p:sp>
      <p:pic>
        <p:nvPicPr>
          <p:cNvPr id="68" name="A5_719" descr="preencoded.png"/>
          <p:cNvPicPr>
            <a:picLocks noChangeAspect="1"/>
          </p:cNvPicPr>
          <p:nvPr/>
        </p:nvPicPr>
        <p:blipFill>
          <a:blip r:embed="rId8"/>
          <a:stretch>
            <a:fillRect/>
          </a:stretch>
        </p:blipFill>
        <p:spPr>
          <a:xfrm>
            <a:off x="5367528" y="4590288"/>
            <a:ext cx="384048" cy="384048"/>
          </a:xfrm>
          <a:prstGeom prst="rect">
            <a:avLst/>
          </a:prstGeom>
        </p:spPr>
      </p:pic>
      <p:sp>
        <p:nvSpPr>
          <p:cNvPr id="69" name="A5_720"/>
          <p:cNvSpPr txBox="1"/>
          <p:nvPr/>
        </p:nvSpPr>
        <p:spPr>
          <a:xfrm>
            <a:off x="5916168" y="4434840"/>
            <a:ext cx="3063240" cy="68580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Qualité et sécurité</a:t>
            </a:r>
            <a:endParaRPr lang="en-US" sz="1600" dirty="0"/>
          </a:p>
        </p:txBody>
      </p:sp>
      <p:sp>
        <p:nvSpPr>
          <p:cNvPr id="70" name="A5_721"/>
          <p:cNvSpPr/>
          <p:nvPr/>
        </p:nvSpPr>
        <p:spPr>
          <a:xfrm>
            <a:off x="5367528" y="534924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71" name="A5_722"/>
          <p:cNvSpPr txBox="1"/>
          <p:nvPr/>
        </p:nvSpPr>
        <p:spPr>
          <a:xfrm>
            <a:off x="5413248" y="534924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SonarQube</a:t>
            </a:r>
            <a:endParaRPr lang="en-US" sz="1150" dirty="0"/>
          </a:p>
        </p:txBody>
      </p:sp>
      <p:sp>
        <p:nvSpPr>
          <p:cNvPr id="72" name="A5_723"/>
          <p:cNvSpPr/>
          <p:nvPr/>
        </p:nvSpPr>
        <p:spPr>
          <a:xfrm>
            <a:off x="7196328" y="534924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73" name="A5_724"/>
          <p:cNvSpPr txBox="1"/>
          <p:nvPr/>
        </p:nvSpPr>
        <p:spPr>
          <a:xfrm>
            <a:off x="7242048" y="534924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OWASP Dep.-Check</a:t>
            </a:r>
            <a:endParaRPr lang="en-US" sz="1150" dirty="0"/>
          </a:p>
        </p:txBody>
      </p:sp>
      <p:sp>
        <p:nvSpPr>
          <p:cNvPr id="74" name="A5_725"/>
          <p:cNvSpPr/>
          <p:nvPr/>
        </p:nvSpPr>
        <p:spPr>
          <a:xfrm>
            <a:off x="5367528" y="612648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75" name="A5_726"/>
          <p:cNvSpPr txBox="1"/>
          <p:nvPr/>
        </p:nvSpPr>
        <p:spPr>
          <a:xfrm>
            <a:off x="5413248" y="612648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Trivy</a:t>
            </a:r>
            <a:endParaRPr lang="en-US" sz="1150" dirty="0"/>
          </a:p>
        </p:txBody>
      </p:sp>
      <p:sp>
        <p:nvSpPr>
          <p:cNvPr id="76" name="A5_727"/>
          <p:cNvSpPr/>
          <p:nvPr/>
        </p:nvSpPr>
        <p:spPr>
          <a:xfrm>
            <a:off x="7196328" y="612648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77" name="A5_728"/>
          <p:cNvSpPr txBox="1"/>
          <p:nvPr/>
        </p:nvSpPr>
        <p:spPr>
          <a:xfrm>
            <a:off x="7242048" y="612648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JUnit / JaCoCo</a:t>
            </a:r>
            <a:endParaRPr lang="en-US" sz="1150" dirty="0"/>
          </a:p>
        </p:txBody>
      </p:sp>
      <p:sp>
        <p:nvSpPr>
          <p:cNvPr id="78" name="A6_729"/>
          <p:cNvSpPr/>
          <p:nvPr/>
        </p:nvSpPr>
        <p:spPr>
          <a:xfrm>
            <a:off x="9454896" y="4434840"/>
            <a:ext cx="3977640" cy="2606040"/>
          </a:xfrm>
          <a:prstGeom prst="rect">
            <a:avLst/>
          </a:prstGeom>
          <a:solidFill>
            <a:srgbClr val="FFFFFF"/>
          </a:solidFill>
          <a:ln w="15875">
            <a:solidFill>
              <a:srgbClr val="A9C4DE"/>
            </a:solidFill>
            <a:prstDash val="solid"/>
          </a:ln>
        </p:spPr>
        <p:txBody>
          <a:bodyPr/>
          <a:lstStyle/>
          <a:p>
            <a:endParaRPr lang="fr-FR"/>
          </a:p>
        </p:txBody>
      </p:sp>
      <p:sp>
        <p:nvSpPr>
          <p:cNvPr id="79" name="A6_730"/>
          <p:cNvSpPr/>
          <p:nvPr/>
        </p:nvSpPr>
        <p:spPr>
          <a:xfrm>
            <a:off x="9454896" y="4434840"/>
            <a:ext cx="3977640" cy="685800"/>
          </a:xfrm>
          <a:prstGeom prst="rect">
            <a:avLst/>
          </a:prstGeom>
          <a:solidFill>
            <a:srgbClr val="0A6EBD"/>
          </a:solidFill>
          <a:ln w="12700">
            <a:solidFill>
              <a:srgbClr val="0A6EBD"/>
            </a:solidFill>
            <a:prstDash val="solid"/>
          </a:ln>
        </p:spPr>
        <p:txBody>
          <a:bodyPr/>
          <a:lstStyle/>
          <a:p>
            <a:endParaRPr lang="fr-FR"/>
          </a:p>
        </p:txBody>
      </p:sp>
      <p:pic>
        <p:nvPicPr>
          <p:cNvPr id="80" name="A6_731" descr="preencoded.png"/>
          <p:cNvPicPr>
            <a:picLocks noChangeAspect="1"/>
          </p:cNvPicPr>
          <p:nvPr/>
        </p:nvPicPr>
        <p:blipFill>
          <a:blip r:embed="rId9"/>
          <a:stretch>
            <a:fillRect/>
          </a:stretch>
        </p:blipFill>
        <p:spPr>
          <a:xfrm>
            <a:off x="9683496" y="4590288"/>
            <a:ext cx="384048" cy="384048"/>
          </a:xfrm>
          <a:prstGeom prst="rect">
            <a:avLst/>
          </a:prstGeom>
        </p:spPr>
      </p:pic>
      <p:sp>
        <p:nvSpPr>
          <p:cNvPr id="81" name="A6_732"/>
          <p:cNvSpPr txBox="1"/>
          <p:nvPr/>
        </p:nvSpPr>
        <p:spPr>
          <a:xfrm>
            <a:off x="10232136" y="4434840"/>
            <a:ext cx="3063240" cy="68580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Déploiement et suivi</a:t>
            </a:r>
            <a:endParaRPr lang="en-US" sz="1600" dirty="0"/>
          </a:p>
        </p:txBody>
      </p:sp>
      <p:sp>
        <p:nvSpPr>
          <p:cNvPr id="82" name="A6_733"/>
          <p:cNvSpPr/>
          <p:nvPr/>
        </p:nvSpPr>
        <p:spPr>
          <a:xfrm>
            <a:off x="9683496" y="534924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83" name="A6_734"/>
          <p:cNvSpPr txBox="1"/>
          <p:nvPr/>
        </p:nvSpPr>
        <p:spPr>
          <a:xfrm>
            <a:off x="9729216" y="534924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Docker Compose</a:t>
            </a:r>
            <a:endParaRPr lang="en-US" sz="1150" dirty="0"/>
          </a:p>
        </p:txBody>
      </p:sp>
      <p:sp>
        <p:nvSpPr>
          <p:cNvPr id="84" name="A6_735"/>
          <p:cNvSpPr/>
          <p:nvPr/>
        </p:nvSpPr>
        <p:spPr>
          <a:xfrm>
            <a:off x="11512296" y="534924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85" name="A6_736"/>
          <p:cNvSpPr txBox="1"/>
          <p:nvPr/>
        </p:nvSpPr>
        <p:spPr>
          <a:xfrm>
            <a:off x="11558016" y="534924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GitHub Actions</a:t>
            </a:r>
            <a:endParaRPr lang="en-US" sz="1150" dirty="0"/>
          </a:p>
        </p:txBody>
      </p:sp>
      <p:sp>
        <p:nvSpPr>
          <p:cNvPr id="86" name="A6_737"/>
          <p:cNvSpPr/>
          <p:nvPr/>
        </p:nvSpPr>
        <p:spPr>
          <a:xfrm>
            <a:off x="9683496" y="612648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87" name="A6_738"/>
          <p:cNvSpPr txBox="1"/>
          <p:nvPr/>
        </p:nvSpPr>
        <p:spPr>
          <a:xfrm>
            <a:off x="9729216" y="612648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GitLab CI / Jenkins</a:t>
            </a:r>
            <a:endParaRPr lang="en-US" sz="1150" dirty="0"/>
          </a:p>
        </p:txBody>
      </p:sp>
      <p:sp>
        <p:nvSpPr>
          <p:cNvPr id="88" name="A6_739"/>
          <p:cNvSpPr/>
          <p:nvPr/>
        </p:nvSpPr>
        <p:spPr>
          <a:xfrm>
            <a:off x="11512296" y="6126480"/>
            <a:ext cx="1691640" cy="566928"/>
          </a:xfrm>
          <a:prstGeom prst="roundRect">
            <a:avLst>
              <a:gd name="adj" fmla="val 48387"/>
            </a:avLst>
          </a:prstGeom>
          <a:solidFill>
            <a:srgbClr val="EAF2FA"/>
          </a:solidFill>
          <a:ln w="12700">
            <a:solidFill>
              <a:srgbClr val="EAF2FA"/>
            </a:solidFill>
            <a:prstDash val="solid"/>
          </a:ln>
        </p:spPr>
        <p:txBody>
          <a:bodyPr/>
          <a:lstStyle/>
          <a:p>
            <a:endParaRPr lang="fr-FR"/>
          </a:p>
        </p:txBody>
      </p:sp>
      <p:sp>
        <p:nvSpPr>
          <p:cNvPr id="89" name="A6_740"/>
          <p:cNvSpPr txBox="1"/>
          <p:nvPr/>
        </p:nvSpPr>
        <p:spPr>
          <a:xfrm>
            <a:off x="11558016" y="6126480"/>
            <a:ext cx="1600200" cy="566928"/>
          </a:xfrm>
          <a:prstGeom prst="rect">
            <a:avLst/>
          </a:prstGeom>
          <a:noFill/>
          <a:ln/>
        </p:spPr>
        <p:txBody>
          <a:bodyPr wrap="square" lIns="0" tIns="0" rIns="0" bIns="0" rtlCol="0" anchor="ctr"/>
          <a:lstStyle/>
          <a:p>
            <a:pPr marL="0" indent="0" algn="ctr">
              <a:buNone/>
            </a:pPr>
            <a:r>
              <a:rPr lang="en-US" sz="1150" b="1" dirty="0">
                <a:solidFill>
                  <a:srgbClr val="0B3C66"/>
                </a:solidFill>
                <a:latin typeface="Arial" pitchFamily="34" charset="0"/>
                <a:ea typeface="Arial" pitchFamily="34" charset="-122"/>
                <a:cs typeface="Arial" pitchFamily="34" charset="-120"/>
              </a:rPr>
              <a:t>Grafana Loki</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500"/>
                                        <p:tgtEl>
                                          <p:spTgt spid="2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5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fade">
                                      <p:cBhvr>
                                        <p:cTn id="31" dur="500"/>
                                        <p:tgtEl>
                                          <p:spTgt spid="3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500"/>
                                        <p:tgtEl>
                                          <p:spTgt spid="33"/>
                                        </p:tgtEl>
                                      </p:cBhvr>
                                    </p:animEffect>
                                  </p:childTnLst>
                                </p:cTn>
                              </p:par>
                            </p:childTnLst>
                          </p:cTn>
                        </p:par>
                        <p:par>
                          <p:cTn id="35" fill="hold">
                            <p:stCondLst>
                              <p:cond delay="350"/>
                            </p:stCondLst>
                            <p:childTnLst>
                              <p:par>
                                <p:cTn id="36" presetID="10" presetClass="entr" presetSubtype="0" fill="hold" grpId="0" nodeType="afterEffect">
                                  <p:stCondLst>
                                    <p:cond delay="0"/>
                                  </p:stCondLst>
                                  <p:childTnLst>
                                    <p:set>
                                      <p:cBhvr>
                                        <p:cTn id="37" dur="1" fill="hold">
                                          <p:stCondLst>
                                            <p:cond delay="0"/>
                                          </p:stCondLst>
                                        </p:cTn>
                                        <p:tgtEl>
                                          <p:spTgt spid="34"/>
                                        </p:tgtEl>
                                        <p:attrNameLst>
                                          <p:attrName>style.visibility</p:attrName>
                                        </p:attrNameLst>
                                      </p:cBhvr>
                                      <p:to>
                                        <p:strVal val="visible"/>
                                      </p:to>
                                    </p:set>
                                    <p:animEffect transition="in" filter="fade">
                                      <p:cBhvr>
                                        <p:cTn id="38" dur="500"/>
                                        <p:tgtEl>
                                          <p:spTgt spid="3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5"/>
                                        </p:tgtEl>
                                        <p:attrNameLst>
                                          <p:attrName>style.visibility</p:attrName>
                                        </p:attrNameLst>
                                      </p:cBhvr>
                                      <p:to>
                                        <p:strVal val="visible"/>
                                      </p:to>
                                    </p:set>
                                    <p:animEffect transition="in" filter="fade">
                                      <p:cBhvr>
                                        <p:cTn id="41" dur="500"/>
                                        <p:tgtEl>
                                          <p:spTgt spid="35"/>
                                        </p:tgtEl>
                                      </p:cBhvr>
                                    </p:animEffect>
                                  </p:childTnLst>
                                </p:cTn>
                              </p:par>
                              <p:par>
                                <p:cTn id="42" presetID="10" presetClass="entr" presetSubtype="0" fill="hold"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500"/>
                                        <p:tgtEl>
                                          <p:spTgt spid="3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500"/>
                                        <p:tgtEl>
                                          <p:spTgt spid="3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8"/>
                                        </p:tgtEl>
                                        <p:attrNameLst>
                                          <p:attrName>style.visibility</p:attrName>
                                        </p:attrNameLst>
                                      </p:cBhvr>
                                      <p:to>
                                        <p:strVal val="visible"/>
                                      </p:to>
                                    </p:set>
                                    <p:animEffect transition="in" filter="fade">
                                      <p:cBhvr>
                                        <p:cTn id="50" dur="500"/>
                                        <p:tgtEl>
                                          <p:spTgt spid="3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fade">
                                      <p:cBhvr>
                                        <p:cTn id="53" dur="500"/>
                                        <p:tgtEl>
                                          <p:spTgt spid="3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500"/>
                                        <p:tgtEl>
                                          <p:spTgt spid="4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animEffect transition="in" filter="fade">
                                      <p:cBhvr>
                                        <p:cTn id="59" dur="500"/>
                                        <p:tgtEl>
                                          <p:spTgt spid="4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fade">
                                      <p:cBhvr>
                                        <p:cTn id="62" dur="500"/>
                                        <p:tgtEl>
                                          <p:spTgt spid="4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43"/>
                                        </p:tgtEl>
                                        <p:attrNameLst>
                                          <p:attrName>style.visibility</p:attrName>
                                        </p:attrNameLst>
                                      </p:cBhvr>
                                      <p:to>
                                        <p:strVal val="visible"/>
                                      </p:to>
                                    </p:set>
                                    <p:animEffect transition="in" filter="fade">
                                      <p:cBhvr>
                                        <p:cTn id="65" dur="500"/>
                                        <p:tgtEl>
                                          <p:spTgt spid="43"/>
                                        </p:tgtEl>
                                      </p:cBhvr>
                                    </p:animEffect>
                                  </p:childTnLst>
                                </p:cTn>
                              </p:par>
                            </p:childTnLst>
                          </p:cTn>
                        </p:par>
                        <p:par>
                          <p:cTn id="66" fill="hold">
                            <p:stCondLst>
                              <p:cond delay="850"/>
                            </p:stCondLst>
                            <p:childTnLst>
                              <p:par>
                                <p:cTn id="67" presetID="10" presetClass="entr" presetSubtype="0" fill="hold" grpId="0" nodeType="after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5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500"/>
                                        <p:tgtEl>
                                          <p:spTgt spid="47"/>
                                        </p:tgtEl>
                                      </p:cBhvr>
                                    </p:animEffect>
                                  </p:childTnLst>
                                </p:cTn>
                              </p:par>
                              <p:par>
                                <p:cTn id="73" presetID="10" presetClass="entr" presetSubtype="0" fill="hold"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5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5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5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5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5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500"/>
                                        <p:tgtEl>
                                          <p:spTgt spid="5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4"/>
                                        </p:tgtEl>
                                        <p:attrNameLst>
                                          <p:attrName>style.visibility</p:attrName>
                                        </p:attrNameLst>
                                      </p:cBhvr>
                                      <p:to>
                                        <p:strVal val="visible"/>
                                      </p:to>
                                    </p:set>
                                    <p:animEffect transition="in" filter="fade">
                                      <p:cBhvr>
                                        <p:cTn id="93" dur="500"/>
                                        <p:tgtEl>
                                          <p:spTgt spid="54"/>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5"/>
                                        </p:tgtEl>
                                        <p:attrNameLst>
                                          <p:attrName>style.visibility</p:attrName>
                                        </p:attrNameLst>
                                      </p:cBhvr>
                                      <p:to>
                                        <p:strVal val="visible"/>
                                      </p:to>
                                    </p:set>
                                    <p:animEffect transition="in" filter="fade">
                                      <p:cBhvr>
                                        <p:cTn id="96" dur="500"/>
                                        <p:tgtEl>
                                          <p:spTgt spid="55"/>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6"/>
                                        </p:tgtEl>
                                        <p:attrNameLst>
                                          <p:attrName>style.visibility</p:attrName>
                                        </p:attrNameLst>
                                      </p:cBhvr>
                                      <p:to>
                                        <p:strVal val="visible"/>
                                      </p:to>
                                    </p:set>
                                    <p:animEffect transition="in" filter="fade">
                                      <p:cBhvr>
                                        <p:cTn id="99" dur="500"/>
                                        <p:tgtEl>
                                          <p:spTgt spid="56"/>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7"/>
                                        </p:tgtEl>
                                        <p:attrNameLst>
                                          <p:attrName>style.visibility</p:attrName>
                                        </p:attrNameLst>
                                      </p:cBhvr>
                                      <p:to>
                                        <p:strVal val="visible"/>
                                      </p:to>
                                    </p:set>
                                    <p:animEffect transition="in" filter="fade">
                                      <p:cBhvr>
                                        <p:cTn id="102" dur="500"/>
                                        <p:tgtEl>
                                          <p:spTgt spid="57"/>
                                        </p:tgtEl>
                                      </p:cBhvr>
                                    </p:animEffect>
                                  </p:childTnLst>
                                </p:cTn>
                              </p:par>
                            </p:childTnLst>
                          </p:cTn>
                        </p:par>
                        <p:par>
                          <p:cTn id="103" fill="hold">
                            <p:stCondLst>
                              <p:cond delay="1350"/>
                            </p:stCondLst>
                            <p:childTnLst>
                              <p:par>
                                <p:cTn id="104" presetID="10" presetClass="entr" presetSubtype="0" fill="hold" grpId="0" nodeType="afterEffect">
                                  <p:stCondLst>
                                    <p:cond delay="0"/>
                                  </p:stCondLst>
                                  <p:childTnLst>
                                    <p:set>
                                      <p:cBhvr>
                                        <p:cTn id="105" dur="1" fill="hold">
                                          <p:stCondLst>
                                            <p:cond delay="0"/>
                                          </p:stCondLst>
                                        </p:cTn>
                                        <p:tgtEl>
                                          <p:spTgt spid="58"/>
                                        </p:tgtEl>
                                        <p:attrNameLst>
                                          <p:attrName>style.visibility</p:attrName>
                                        </p:attrNameLst>
                                      </p:cBhvr>
                                      <p:to>
                                        <p:strVal val="visible"/>
                                      </p:to>
                                    </p:set>
                                    <p:animEffect transition="in" filter="fade">
                                      <p:cBhvr>
                                        <p:cTn id="106" dur="500"/>
                                        <p:tgtEl>
                                          <p:spTgt spid="5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9"/>
                                        </p:tgtEl>
                                        <p:attrNameLst>
                                          <p:attrName>style.visibility</p:attrName>
                                        </p:attrNameLst>
                                      </p:cBhvr>
                                      <p:to>
                                        <p:strVal val="visible"/>
                                      </p:to>
                                    </p:set>
                                    <p:animEffect transition="in" filter="fade">
                                      <p:cBhvr>
                                        <p:cTn id="109" dur="500"/>
                                        <p:tgtEl>
                                          <p:spTgt spid="59"/>
                                        </p:tgtEl>
                                      </p:cBhvr>
                                    </p:animEffect>
                                  </p:childTnLst>
                                </p:cTn>
                              </p:par>
                              <p:par>
                                <p:cTn id="110" presetID="10" presetClass="entr" presetSubtype="0" fill="hold" nodeType="withEffect">
                                  <p:stCondLst>
                                    <p:cond delay="0"/>
                                  </p:stCondLst>
                                  <p:childTnLst>
                                    <p:set>
                                      <p:cBhvr>
                                        <p:cTn id="111" dur="1" fill="hold">
                                          <p:stCondLst>
                                            <p:cond delay="0"/>
                                          </p:stCondLst>
                                        </p:cTn>
                                        <p:tgtEl>
                                          <p:spTgt spid="60"/>
                                        </p:tgtEl>
                                        <p:attrNameLst>
                                          <p:attrName>style.visibility</p:attrName>
                                        </p:attrNameLst>
                                      </p:cBhvr>
                                      <p:to>
                                        <p:strVal val="visible"/>
                                      </p:to>
                                    </p:set>
                                    <p:animEffect transition="in" filter="fade">
                                      <p:cBhvr>
                                        <p:cTn id="112" dur="500"/>
                                        <p:tgtEl>
                                          <p:spTgt spid="60"/>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61"/>
                                        </p:tgtEl>
                                        <p:attrNameLst>
                                          <p:attrName>style.visibility</p:attrName>
                                        </p:attrNameLst>
                                      </p:cBhvr>
                                      <p:to>
                                        <p:strVal val="visible"/>
                                      </p:to>
                                    </p:set>
                                    <p:animEffect transition="in" filter="fade">
                                      <p:cBhvr>
                                        <p:cTn id="115" dur="500"/>
                                        <p:tgtEl>
                                          <p:spTgt spid="61"/>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62"/>
                                        </p:tgtEl>
                                        <p:attrNameLst>
                                          <p:attrName>style.visibility</p:attrName>
                                        </p:attrNameLst>
                                      </p:cBhvr>
                                      <p:to>
                                        <p:strVal val="visible"/>
                                      </p:to>
                                    </p:set>
                                    <p:animEffect transition="in" filter="fade">
                                      <p:cBhvr>
                                        <p:cTn id="118" dur="500"/>
                                        <p:tgtEl>
                                          <p:spTgt spid="62"/>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63"/>
                                        </p:tgtEl>
                                        <p:attrNameLst>
                                          <p:attrName>style.visibility</p:attrName>
                                        </p:attrNameLst>
                                      </p:cBhvr>
                                      <p:to>
                                        <p:strVal val="visible"/>
                                      </p:to>
                                    </p:set>
                                    <p:animEffect transition="in" filter="fade">
                                      <p:cBhvr>
                                        <p:cTn id="121" dur="500"/>
                                        <p:tgtEl>
                                          <p:spTgt spid="63"/>
                                        </p:tgtEl>
                                      </p:cBhvr>
                                    </p:animEffect>
                                  </p:childTnLst>
                                </p:cTn>
                              </p:par>
                            </p:childTnLst>
                          </p:cTn>
                        </p:par>
                        <p:par>
                          <p:cTn id="122" fill="hold">
                            <p:stCondLst>
                              <p:cond delay="1850"/>
                            </p:stCondLst>
                            <p:childTnLst>
                              <p:par>
                                <p:cTn id="123" presetID="10" presetClass="entr" presetSubtype="0" fill="hold" grpId="0" nodeType="afterEffect">
                                  <p:stCondLst>
                                    <p:cond delay="0"/>
                                  </p:stCondLst>
                                  <p:childTnLst>
                                    <p:set>
                                      <p:cBhvr>
                                        <p:cTn id="124" dur="1" fill="hold">
                                          <p:stCondLst>
                                            <p:cond delay="0"/>
                                          </p:stCondLst>
                                        </p:cTn>
                                        <p:tgtEl>
                                          <p:spTgt spid="66"/>
                                        </p:tgtEl>
                                        <p:attrNameLst>
                                          <p:attrName>style.visibility</p:attrName>
                                        </p:attrNameLst>
                                      </p:cBhvr>
                                      <p:to>
                                        <p:strVal val="visible"/>
                                      </p:to>
                                    </p:set>
                                    <p:animEffect transition="in" filter="fade">
                                      <p:cBhvr>
                                        <p:cTn id="125" dur="500"/>
                                        <p:tgtEl>
                                          <p:spTgt spid="66"/>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67"/>
                                        </p:tgtEl>
                                        <p:attrNameLst>
                                          <p:attrName>style.visibility</p:attrName>
                                        </p:attrNameLst>
                                      </p:cBhvr>
                                      <p:to>
                                        <p:strVal val="visible"/>
                                      </p:to>
                                    </p:set>
                                    <p:animEffect transition="in" filter="fade">
                                      <p:cBhvr>
                                        <p:cTn id="128" dur="500"/>
                                        <p:tgtEl>
                                          <p:spTgt spid="67"/>
                                        </p:tgtEl>
                                      </p:cBhvr>
                                    </p:animEffect>
                                  </p:childTnLst>
                                </p:cTn>
                              </p:par>
                              <p:par>
                                <p:cTn id="129" presetID="10" presetClass="entr" presetSubtype="0" fill="hold" nodeType="withEffect">
                                  <p:stCondLst>
                                    <p:cond delay="0"/>
                                  </p:stCondLst>
                                  <p:childTnLst>
                                    <p:set>
                                      <p:cBhvr>
                                        <p:cTn id="130" dur="1" fill="hold">
                                          <p:stCondLst>
                                            <p:cond delay="0"/>
                                          </p:stCondLst>
                                        </p:cTn>
                                        <p:tgtEl>
                                          <p:spTgt spid="68"/>
                                        </p:tgtEl>
                                        <p:attrNameLst>
                                          <p:attrName>style.visibility</p:attrName>
                                        </p:attrNameLst>
                                      </p:cBhvr>
                                      <p:to>
                                        <p:strVal val="visible"/>
                                      </p:to>
                                    </p:set>
                                    <p:animEffect transition="in" filter="fade">
                                      <p:cBhvr>
                                        <p:cTn id="131" dur="500"/>
                                        <p:tgtEl>
                                          <p:spTgt spid="68"/>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69"/>
                                        </p:tgtEl>
                                        <p:attrNameLst>
                                          <p:attrName>style.visibility</p:attrName>
                                        </p:attrNameLst>
                                      </p:cBhvr>
                                      <p:to>
                                        <p:strVal val="visible"/>
                                      </p:to>
                                    </p:set>
                                    <p:animEffect transition="in" filter="fade">
                                      <p:cBhvr>
                                        <p:cTn id="134" dur="500"/>
                                        <p:tgtEl>
                                          <p:spTgt spid="69"/>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70"/>
                                        </p:tgtEl>
                                        <p:attrNameLst>
                                          <p:attrName>style.visibility</p:attrName>
                                        </p:attrNameLst>
                                      </p:cBhvr>
                                      <p:to>
                                        <p:strVal val="visible"/>
                                      </p:to>
                                    </p:set>
                                    <p:animEffect transition="in" filter="fade">
                                      <p:cBhvr>
                                        <p:cTn id="137" dur="500"/>
                                        <p:tgtEl>
                                          <p:spTgt spid="70"/>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71"/>
                                        </p:tgtEl>
                                        <p:attrNameLst>
                                          <p:attrName>style.visibility</p:attrName>
                                        </p:attrNameLst>
                                      </p:cBhvr>
                                      <p:to>
                                        <p:strVal val="visible"/>
                                      </p:to>
                                    </p:set>
                                    <p:animEffect transition="in" filter="fade">
                                      <p:cBhvr>
                                        <p:cTn id="140" dur="500"/>
                                        <p:tgtEl>
                                          <p:spTgt spid="71"/>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72"/>
                                        </p:tgtEl>
                                        <p:attrNameLst>
                                          <p:attrName>style.visibility</p:attrName>
                                        </p:attrNameLst>
                                      </p:cBhvr>
                                      <p:to>
                                        <p:strVal val="visible"/>
                                      </p:to>
                                    </p:set>
                                    <p:animEffect transition="in" filter="fade">
                                      <p:cBhvr>
                                        <p:cTn id="143" dur="500"/>
                                        <p:tgtEl>
                                          <p:spTgt spid="72"/>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73"/>
                                        </p:tgtEl>
                                        <p:attrNameLst>
                                          <p:attrName>style.visibility</p:attrName>
                                        </p:attrNameLst>
                                      </p:cBhvr>
                                      <p:to>
                                        <p:strVal val="visible"/>
                                      </p:to>
                                    </p:set>
                                    <p:animEffect transition="in" filter="fade">
                                      <p:cBhvr>
                                        <p:cTn id="146" dur="500"/>
                                        <p:tgtEl>
                                          <p:spTgt spid="73"/>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74"/>
                                        </p:tgtEl>
                                        <p:attrNameLst>
                                          <p:attrName>style.visibility</p:attrName>
                                        </p:attrNameLst>
                                      </p:cBhvr>
                                      <p:to>
                                        <p:strVal val="visible"/>
                                      </p:to>
                                    </p:set>
                                    <p:animEffect transition="in" filter="fade">
                                      <p:cBhvr>
                                        <p:cTn id="149" dur="500"/>
                                        <p:tgtEl>
                                          <p:spTgt spid="74"/>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75"/>
                                        </p:tgtEl>
                                        <p:attrNameLst>
                                          <p:attrName>style.visibility</p:attrName>
                                        </p:attrNameLst>
                                      </p:cBhvr>
                                      <p:to>
                                        <p:strVal val="visible"/>
                                      </p:to>
                                    </p:set>
                                    <p:animEffect transition="in" filter="fade">
                                      <p:cBhvr>
                                        <p:cTn id="152" dur="500"/>
                                        <p:tgtEl>
                                          <p:spTgt spid="75"/>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76"/>
                                        </p:tgtEl>
                                        <p:attrNameLst>
                                          <p:attrName>style.visibility</p:attrName>
                                        </p:attrNameLst>
                                      </p:cBhvr>
                                      <p:to>
                                        <p:strVal val="visible"/>
                                      </p:to>
                                    </p:set>
                                    <p:animEffect transition="in" filter="fade">
                                      <p:cBhvr>
                                        <p:cTn id="155" dur="500"/>
                                        <p:tgtEl>
                                          <p:spTgt spid="76"/>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77"/>
                                        </p:tgtEl>
                                        <p:attrNameLst>
                                          <p:attrName>style.visibility</p:attrName>
                                        </p:attrNameLst>
                                      </p:cBhvr>
                                      <p:to>
                                        <p:strVal val="visible"/>
                                      </p:to>
                                    </p:set>
                                    <p:animEffect transition="in" filter="fade">
                                      <p:cBhvr>
                                        <p:cTn id="158" dur="500"/>
                                        <p:tgtEl>
                                          <p:spTgt spid="77"/>
                                        </p:tgtEl>
                                      </p:cBhvr>
                                    </p:animEffect>
                                  </p:childTnLst>
                                </p:cTn>
                              </p:par>
                            </p:childTnLst>
                          </p:cTn>
                        </p:par>
                        <p:par>
                          <p:cTn id="159" fill="hold">
                            <p:stCondLst>
                              <p:cond delay="2350"/>
                            </p:stCondLst>
                            <p:childTnLst>
                              <p:par>
                                <p:cTn id="160" presetID="10" presetClass="entr" presetSubtype="0" fill="hold" grpId="0" nodeType="afterEffect">
                                  <p:stCondLst>
                                    <p:cond delay="0"/>
                                  </p:stCondLst>
                                  <p:childTnLst>
                                    <p:set>
                                      <p:cBhvr>
                                        <p:cTn id="161" dur="1" fill="hold">
                                          <p:stCondLst>
                                            <p:cond delay="0"/>
                                          </p:stCondLst>
                                        </p:cTn>
                                        <p:tgtEl>
                                          <p:spTgt spid="78"/>
                                        </p:tgtEl>
                                        <p:attrNameLst>
                                          <p:attrName>style.visibility</p:attrName>
                                        </p:attrNameLst>
                                      </p:cBhvr>
                                      <p:to>
                                        <p:strVal val="visible"/>
                                      </p:to>
                                    </p:set>
                                    <p:animEffect transition="in" filter="fade">
                                      <p:cBhvr>
                                        <p:cTn id="162" dur="500"/>
                                        <p:tgtEl>
                                          <p:spTgt spid="78"/>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79"/>
                                        </p:tgtEl>
                                        <p:attrNameLst>
                                          <p:attrName>style.visibility</p:attrName>
                                        </p:attrNameLst>
                                      </p:cBhvr>
                                      <p:to>
                                        <p:strVal val="visible"/>
                                      </p:to>
                                    </p:set>
                                    <p:animEffect transition="in" filter="fade">
                                      <p:cBhvr>
                                        <p:cTn id="165" dur="500"/>
                                        <p:tgtEl>
                                          <p:spTgt spid="79"/>
                                        </p:tgtEl>
                                      </p:cBhvr>
                                    </p:animEffect>
                                  </p:childTnLst>
                                </p:cTn>
                              </p:par>
                              <p:par>
                                <p:cTn id="166" presetID="10" presetClass="entr" presetSubtype="0" fill="hold" nodeType="withEffect">
                                  <p:stCondLst>
                                    <p:cond delay="0"/>
                                  </p:stCondLst>
                                  <p:childTnLst>
                                    <p:set>
                                      <p:cBhvr>
                                        <p:cTn id="167" dur="1" fill="hold">
                                          <p:stCondLst>
                                            <p:cond delay="0"/>
                                          </p:stCondLst>
                                        </p:cTn>
                                        <p:tgtEl>
                                          <p:spTgt spid="80"/>
                                        </p:tgtEl>
                                        <p:attrNameLst>
                                          <p:attrName>style.visibility</p:attrName>
                                        </p:attrNameLst>
                                      </p:cBhvr>
                                      <p:to>
                                        <p:strVal val="visible"/>
                                      </p:to>
                                    </p:set>
                                    <p:animEffect transition="in" filter="fade">
                                      <p:cBhvr>
                                        <p:cTn id="168" dur="500"/>
                                        <p:tgtEl>
                                          <p:spTgt spid="80"/>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81"/>
                                        </p:tgtEl>
                                        <p:attrNameLst>
                                          <p:attrName>style.visibility</p:attrName>
                                        </p:attrNameLst>
                                      </p:cBhvr>
                                      <p:to>
                                        <p:strVal val="visible"/>
                                      </p:to>
                                    </p:set>
                                    <p:animEffect transition="in" filter="fade">
                                      <p:cBhvr>
                                        <p:cTn id="171" dur="500"/>
                                        <p:tgtEl>
                                          <p:spTgt spid="81"/>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82"/>
                                        </p:tgtEl>
                                        <p:attrNameLst>
                                          <p:attrName>style.visibility</p:attrName>
                                        </p:attrNameLst>
                                      </p:cBhvr>
                                      <p:to>
                                        <p:strVal val="visible"/>
                                      </p:to>
                                    </p:set>
                                    <p:animEffect transition="in" filter="fade">
                                      <p:cBhvr>
                                        <p:cTn id="174" dur="500"/>
                                        <p:tgtEl>
                                          <p:spTgt spid="82"/>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83"/>
                                        </p:tgtEl>
                                        <p:attrNameLst>
                                          <p:attrName>style.visibility</p:attrName>
                                        </p:attrNameLst>
                                      </p:cBhvr>
                                      <p:to>
                                        <p:strVal val="visible"/>
                                      </p:to>
                                    </p:set>
                                    <p:animEffect transition="in" filter="fade">
                                      <p:cBhvr>
                                        <p:cTn id="177" dur="500"/>
                                        <p:tgtEl>
                                          <p:spTgt spid="83"/>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84"/>
                                        </p:tgtEl>
                                        <p:attrNameLst>
                                          <p:attrName>style.visibility</p:attrName>
                                        </p:attrNameLst>
                                      </p:cBhvr>
                                      <p:to>
                                        <p:strVal val="visible"/>
                                      </p:to>
                                    </p:set>
                                    <p:animEffect transition="in" filter="fade">
                                      <p:cBhvr>
                                        <p:cTn id="180" dur="500"/>
                                        <p:tgtEl>
                                          <p:spTgt spid="84"/>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85"/>
                                        </p:tgtEl>
                                        <p:attrNameLst>
                                          <p:attrName>style.visibility</p:attrName>
                                        </p:attrNameLst>
                                      </p:cBhvr>
                                      <p:to>
                                        <p:strVal val="visible"/>
                                      </p:to>
                                    </p:set>
                                    <p:animEffect transition="in" filter="fade">
                                      <p:cBhvr>
                                        <p:cTn id="183" dur="500"/>
                                        <p:tgtEl>
                                          <p:spTgt spid="85"/>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86"/>
                                        </p:tgtEl>
                                        <p:attrNameLst>
                                          <p:attrName>style.visibility</p:attrName>
                                        </p:attrNameLst>
                                      </p:cBhvr>
                                      <p:to>
                                        <p:strVal val="visible"/>
                                      </p:to>
                                    </p:set>
                                    <p:animEffect transition="in" filter="fade">
                                      <p:cBhvr>
                                        <p:cTn id="186" dur="500"/>
                                        <p:tgtEl>
                                          <p:spTgt spid="86"/>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87"/>
                                        </p:tgtEl>
                                        <p:attrNameLst>
                                          <p:attrName>style.visibility</p:attrName>
                                        </p:attrNameLst>
                                      </p:cBhvr>
                                      <p:to>
                                        <p:strVal val="visible"/>
                                      </p:to>
                                    </p:set>
                                    <p:animEffect transition="in" filter="fade">
                                      <p:cBhvr>
                                        <p:cTn id="189" dur="500"/>
                                        <p:tgtEl>
                                          <p:spTgt spid="87"/>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88"/>
                                        </p:tgtEl>
                                        <p:attrNameLst>
                                          <p:attrName>style.visibility</p:attrName>
                                        </p:attrNameLst>
                                      </p:cBhvr>
                                      <p:to>
                                        <p:strVal val="visible"/>
                                      </p:to>
                                    </p:set>
                                    <p:animEffect transition="in" filter="fade">
                                      <p:cBhvr>
                                        <p:cTn id="192" dur="500"/>
                                        <p:tgtEl>
                                          <p:spTgt spid="88"/>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89"/>
                                        </p:tgtEl>
                                        <p:attrNameLst>
                                          <p:attrName>style.visibility</p:attrName>
                                        </p:attrNameLst>
                                      </p:cBhvr>
                                      <p:to>
                                        <p:strVal val="visible"/>
                                      </p:to>
                                    </p:set>
                                    <p:animEffect transition="in" filter="fade">
                                      <p:cBhvr>
                                        <p:cTn id="195"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6" grpId="0" animBg="1"/>
      <p:bldP spid="47"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1" grpId="0" animBg="1"/>
      <p:bldP spid="62" grpId="0" animBg="1"/>
      <p:bldP spid="63" grpId="0" animBg="1"/>
      <p:bldP spid="66" grpId="0" animBg="1"/>
      <p:bldP spid="67"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1" grpId="0" animBg="1"/>
      <p:bldP spid="82" grpId="0" animBg="1"/>
      <p:bldP spid="83" grpId="0" animBg="1"/>
      <p:bldP spid="84" grpId="0" animBg="1"/>
      <p:bldP spid="85" grpId="0" animBg="1"/>
      <p:bldP spid="86" grpId="0" animBg="1"/>
      <p:bldP spid="87" grpId="0" animBg="1"/>
      <p:bldP spid="88" grpId="0" animBg="1"/>
      <p:bldP spid="8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3" name="A0_741"/>
          <p:cNvSpPr/>
          <p:nvPr/>
        </p:nvSpPr>
        <p:spPr>
          <a:xfrm>
            <a:off x="6800850" y="274320"/>
            <a:ext cx="109728" cy="109728"/>
          </a:xfrm>
          <a:prstGeom prst="rect">
            <a:avLst/>
          </a:prstGeom>
          <a:solidFill>
            <a:srgbClr val="0A6EBD"/>
          </a:solidFill>
          <a:ln w="12700">
            <a:solidFill>
              <a:srgbClr val="0A6EBD"/>
            </a:solidFill>
            <a:prstDash val="solid"/>
          </a:ln>
        </p:spPr>
      </p:sp>
      <p:sp>
        <p:nvSpPr>
          <p:cNvPr id="4" name="A0_742"/>
          <p:cNvSpPr/>
          <p:nvPr/>
        </p:nvSpPr>
        <p:spPr>
          <a:xfrm>
            <a:off x="6992874" y="274320"/>
            <a:ext cx="109728" cy="109728"/>
          </a:xfrm>
          <a:prstGeom prst="rect">
            <a:avLst/>
          </a:prstGeom>
          <a:solidFill>
            <a:srgbClr val="0A6EBD"/>
          </a:solidFill>
          <a:ln w="12700">
            <a:solidFill>
              <a:srgbClr val="0A6EBD"/>
            </a:solidFill>
            <a:prstDash val="solid"/>
          </a:ln>
        </p:spPr>
      </p:sp>
      <p:sp>
        <p:nvSpPr>
          <p:cNvPr id="5" name="A0_743"/>
          <p:cNvSpPr/>
          <p:nvPr/>
        </p:nvSpPr>
        <p:spPr>
          <a:xfrm>
            <a:off x="7184898" y="274320"/>
            <a:ext cx="109728" cy="109728"/>
          </a:xfrm>
          <a:prstGeom prst="rect">
            <a:avLst/>
          </a:prstGeom>
          <a:solidFill>
            <a:srgbClr val="0A6EBD"/>
          </a:solidFill>
          <a:ln w="12700">
            <a:solidFill>
              <a:srgbClr val="0A6EBD"/>
            </a:solidFill>
            <a:prstDash val="solid"/>
          </a:ln>
        </p:spPr>
      </p:sp>
      <p:sp>
        <p:nvSpPr>
          <p:cNvPr id="6" name="A0_744"/>
          <p:cNvSpPr/>
          <p:nvPr/>
        </p:nvSpPr>
        <p:spPr>
          <a:xfrm>
            <a:off x="7376922" y="274320"/>
            <a:ext cx="109728" cy="109728"/>
          </a:xfrm>
          <a:prstGeom prst="rect">
            <a:avLst/>
          </a:prstGeom>
          <a:solidFill>
            <a:srgbClr val="0A6EBD"/>
          </a:solidFill>
          <a:ln w="12700">
            <a:solidFill>
              <a:srgbClr val="0A6EBD"/>
            </a:solidFill>
            <a:prstDash val="solid"/>
          </a:ln>
        </p:spPr>
      </p:sp>
      <p:sp>
        <p:nvSpPr>
          <p:cNvPr id="7" name="A0_745"/>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Architecture logique</a:t>
            </a:r>
            <a:endParaRPr lang="en-US" sz="3600" dirty="0"/>
          </a:p>
        </p:txBody>
      </p:sp>
      <p:pic>
        <p:nvPicPr>
          <p:cNvPr id="8" name="A0_746"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760"/>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761"/>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19</a:t>
            </a:r>
            <a:endParaRPr lang="en-US" sz="1500" dirty="0"/>
          </a:p>
        </p:txBody>
      </p:sp>
      <p:sp>
        <p:nvSpPr>
          <p:cNvPr id="24" name="A1_762"/>
          <p:cNvSpPr/>
          <p:nvPr/>
        </p:nvSpPr>
        <p:spPr>
          <a:xfrm>
            <a:off x="822960" y="1554480"/>
            <a:ext cx="12641580" cy="1417320"/>
          </a:xfrm>
          <a:prstGeom prst="roundRect">
            <a:avLst>
              <a:gd name="adj" fmla="val 6452"/>
            </a:avLst>
          </a:prstGeom>
          <a:solidFill>
            <a:srgbClr val="EAF2FA"/>
          </a:solidFill>
          <a:ln w="12700">
            <a:solidFill>
              <a:srgbClr val="EAF2FA"/>
            </a:solidFill>
            <a:prstDash val="solid"/>
          </a:ln>
        </p:spPr>
        <p:txBody>
          <a:bodyPr/>
          <a:lstStyle/>
          <a:p>
            <a:endParaRPr lang="fr-FR"/>
          </a:p>
        </p:txBody>
      </p:sp>
      <p:sp>
        <p:nvSpPr>
          <p:cNvPr id="25" name="A1_763"/>
          <p:cNvSpPr/>
          <p:nvPr/>
        </p:nvSpPr>
        <p:spPr>
          <a:xfrm>
            <a:off x="1005840" y="1737360"/>
            <a:ext cx="2103120" cy="1051560"/>
          </a:xfrm>
          <a:prstGeom prst="roundRect">
            <a:avLst>
              <a:gd name="adj" fmla="val 6957"/>
            </a:avLst>
          </a:prstGeom>
          <a:solidFill>
            <a:srgbClr val="0B3C66"/>
          </a:solidFill>
          <a:ln w="12700">
            <a:solidFill>
              <a:srgbClr val="0B3C66"/>
            </a:solidFill>
            <a:prstDash val="solid"/>
          </a:ln>
        </p:spPr>
        <p:txBody>
          <a:bodyPr/>
          <a:lstStyle/>
          <a:p>
            <a:endParaRPr lang="fr-FR"/>
          </a:p>
        </p:txBody>
      </p:sp>
      <p:sp>
        <p:nvSpPr>
          <p:cNvPr id="26" name="A1_764"/>
          <p:cNvSpPr txBox="1"/>
          <p:nvPr/>
        </p:nvSpPr>
        <p:spPr>
          <a:xfrm>
            <a:off x="1051560" y="1737360"/>
            <a:ext cx="20116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Présentation</a:t>
            </a:r>
            <a:endParaRPr lang="en-US" sz="1500" dirty="0"/>
          </a:p>
        </p:txBody>
      </p:sp>
      <p:sp>
        <p:nvSpPr>
          <p:cNvPr id="27" name="A2_765"/>
          <p:cNvSpPr/>
          <p:nvPr/>
        </p:nvSpPr>
        <p:spPr>
          <a:xfrm>
            <a:off x="822960" y="3429000"/>
            <a:ext cx="12641580" cy="1874520"/>
          </a:xfrm>
          <a:prstGeom prst="roundRect">
            <a:avLst>
              <a:gd name="adj" fmla="val 4878"/>
            </a:avLst>
          </a:prstGeom>
          <a:solidFill>
            <a:srgbClr val="EAF2FA"/>
          </a:solidFill>
          <a:ln w="12700">
            <a:solidFill>
              <a:srgbClr val="EAF2FA"/>
            </a:solidFill>
            <a:prstDash val="solid"/>
          </a:ln>
        </p:spPr>
        <p:txBody>
          <a:bodyPr/>
          <a:lstStyle/>
          <a:p>
            <a:endParaRPr lang="fr-FR"/>
          </a:p>
        </p:txBody>
      </p:sp>
      <p:sp>
        <p:nvSpPr>
          <p:cNvPr id="28" name="A2_766"/>
          <p:cNvSpPr/>
          <p:nvPr/>
        </p:nvSpPr>
        <p:spPr>
          <a:xfrm>
            <a:off x="1005840" y="3611880"/>
            <a:ext cx="2103120" cy="1508760"/>
          </a:xfrm>
          <a:prstGeom prst="roundRect">
            <a:avLst>
              <a:gd name="adj" fmla="val 4848"/>
            </a:avLst>
          </a:prstGeom>
          <a:solidFill>
            <a:srgbClr val="0B3C66"/>
          </a:solidFill>
          <a:ln w="12700">
            <a:solidFill>
              <a:srgbClr val="0B3C66"/>
            </a:solidFill>
            <a:prstDash val="solid"/>
          </a:ln>
        </p:spPr>
        <p:txBody>
          <a:bodyPr/>
          <a:lstStyle/>
          <a:p>
            <a:endParaRPr lang="fr-FR"/>
          </a:p>
        </p:txBody>
      </p:sp>
      <p:sp>
        <p:nvSpPr>
          <p:cNvPr id="29" name="A2_767"/>
          <p:cNvSpPr txBox="1"/>
          <p:nvPr/>
        </p:nvSpPr>
        <p:spPr>
          <a:xfrm>
            <a:off x="1051560" y="3611880"/>
            <a:ext cx="2011680" cy="150876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Métier</a:t>
            </a:r>
            <a:endParaRPr lang="en-US" sz="1500" dirty="0"/>
          </a:p>
        </p:txBody>
      </p:sp>
      <p:sp>
        <p:nvSpPr>
          <p:cNvPr id="30" name="A3_768"/>
          <p:cNvSpPr/>
          <p:nvPr/>
        </p:nvSpPr>
        <p:spPr>
          <a:xfrm>
            <a:off x="822960" y="5760720"/>
            <a:ext cx="12641580" cy="1417320"/>
          </a:xfrm>
          <a:prstGeom prst="roundRect">
            <a:avLst>
              <a:gd name="adj" fmla="val 6452"/>
            </a:avLst>
          </a:prstGeom>
          <a:solidFill>
            <a:srgbClr val="EAF2FA"/>
          </a:solidFill>
          <a:ln w="12700">
            <a:solidFill>
              <a:srgbClr val="EAF2FA"/>
            </a:solidFill>
            <a:prstDash val="solid"/>
          </a:ln>
        </p:spPr>
        <p:txBody>
          <a:bodyPr/>
          <a:lstStyle/>
          <a:p>
            <a:endParaRPr lang="fr-FR"/>
          </a:p>
        </p:txBody>
      </p:sp>
      <p:sp>
        <p:nvSpPr>
          <p:cNvPr id="31" name="A3_769"/>
          <p:cNvSpPr/>
          <p:nvPr/>
        </p:nvSpPr>
        <p:spPr>
          <a:xfrm>
            <a:off x="1005840" y="5943600"/>
            <a:ext cx="2103120" cy="1051560"/>
          </a:xfrm>
          <a:prstGeom prst="roundRect">
            <a:avLst>
              <a:gd name="adj" fmla="val 6957"/>
            </a:avLst>
          </a:prstGeom>
          <a:solidFill>
            <a:srgbClr val="0B3C66"/>
          </a:solidFill>
          <a:ln w="12700">
            <a:solidFill>
              <a:srgbClr val="0B3C66"/>
            </a:solidFill>
            <a:prstDash val="solid"/>
          </a:ln>
        </p:spPr>
        <p:txBody>
          <a:bodyPr/>
          <a:lstStyle/>
          <a:p>
            <a:endParaRPr lang="fr-FR"/>
          </a:p>
        </p:txBody>
      </p:sp>
      <p:sp>
        <p:nvSpPr>
          <p:cNvPr id="32" name="A3_770"/>
          <p:cNvSpPr txBox="1"/>
          <p:nvPr/>
        </p:nvSpPr>
        <p:spPr>
          <a:xfrm>
            <a:off x="1051560" y="5943600"/>
            <a:ext cx="20116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Données et services</a:t>
            </a:r>
            <a:endParaRPr lang="en-US" sz="1500" dirty="0"/>
          </a:p>
        </p:txBody>
      </p:sp>
      <p:sp>
        <p:nvSpPr>
          <p:cNvPr id="33" name="A4_771"/>
          <p:cNvSpPr/>
          <p:nvPr/>
        </p:nvSpPr>
        <p:spPr>
          <a:xfrm>
            <a:off x="3429000" y="1783080"/>
            <a:ext cx="10012680" cy="960120"/>
          </a:xfrm>
          <a:prstGeom prst="rect">
            <a:avLst/>
          </a:prstGeom>
          <a:solidFill>
            <a:srgbClr val="FFFFFF"/>
          </a:solidFill>
          <a:ln w="15875">
            <a:solidFill>
              <a:srgbClr val="0A6EBD"/>
            </a:solidFill>
            <a:prstDash val="solid"/>
          </a:ln>
        </p:spPr>
        <p:txBody>
          <a:bodyPr/>
          <a:lstStyle/>
          <a:p>
            <a:endParaRPr lang="fr-FR"/>
          </a:p>
        </p:txBody>
      </p:sp>
      <p:sp>
        <p:nvSpPr>
          <p:cNvPr id="34" name="A4_772"/>
          <p:cNvSpPr txBox="1"/>
          <p:nvPr/>
        </p:nvSpPr>
        <p:spPr>
          <a:xfrm>
            <a:off x="3520440" y="1783080"/>
            <a:ext cx="9829800" cy="960120"/>
          </a:xfrm>
          <a:prstGeom prst="rect">
            <a:avLst/>
          </a:prstGeom>
          <a:noFill/>
          <a:ln/>
        </p:spPr>
        <p:txBody>
          <a:bodyPr wrap="square" lIns="0" tIns="0" rIns="0" bIns="0" rtlCol="0" anchor="ctr"/>
          <a:lstStyle/>
          <a:p>
            <a:pPr marL="0" indent="0" algn="ctr">
              <a:buNone/>
            </a:pPr>
            <a:r>
              <a:rPr lang="en-US" sz="1400" b="1" dirty="0">
                <a:solidFill>
                  <a:srgbClr val="0B3C66"/>
                </a:solidFill>
                <a:latin typeface="Arial" pitchFamily="34" charset="0"/>
                <a:ea typeface="Arial" pitchFamily="34" charset="-122"/>
                <a:cs typeface="Arial" pitchFamily="34" charset="-120"/>
              </a:rPr>
              <a:t>Application web Angular</a:t>
            </a:r>
            <a:endParaRPr lang="en-US" sz="1400" dirty="0"/>
          </a:p>
          <a:p>
            <a:pPr marL="0" indent="0" algn="ctr">
              <a:buNone/>
            </a:pPr>
            <a:r>
              <a:rPr lang="en-US" sz="1100" dirty="0">
                <a:solidFill>
                  <a:srgbClr val="595959"/>
                </a:solidFill>
                <a:latin typeface="Arial" pitchFamily="34" charset="0"/>
                <a:ea typeface="Arial" pitchFamily="34" charset="-122"/>
                <a:cs typeface="Arial" pitchFamily="34" charset="-120"/>
              </a:rPr>
              <a:t>Tableau de bord · Logs · Tests · Sécurité · Assistant IA · Administration</a:t>
            </a:r>
            <a:endParaRPr lang="en-US" sz="1400" dirty="0"/>
          </a:p>
        </p:txBody>
      </p:sp>
      <p:sp>
        <p:nvSpPr>
          <p:cNvPr id="35" name="A5_773"/>
          <p:cNvSpPr/>
          <p:nvPr/>
        </p:nvSpPr>
        <p:spPr>
          <a:xfrm>
            <a:off x="3429000" y="3611880"/>
            <a:ext cx="10012680" cy="548640"/>
          </a:xfrm>
          <a:prstGeom prst="rect">
            <a:avLst/>
          </a:prstGeom>
          <a:solidFill>
            <a:srgbClr val="0A6EBD"/>
          </a:solidFill>
          <a:ln w="15875">
            <a:solidFill>
              <a:srgbClr val="0A6EBD"/>
            </a:solidFill>
            <a:prstDash val="solid"/>
          </a:ln>
        </p:spPr>
        <p:txBody>
          <a:bodyPr/>
          <a:lstStyle/>
          <a:p>
            <a:endParaRPr lang="fr-FR"/>
          </a:p>
        </p:txBody>
      </p:sp>
      <p:sp>
        <p:nvSpPr>
          <p:cNvPr id="36" name="A5_774"/>
          <p:cNvSpPr txBox="1"/>
          <p:nvPr/>
        </p:nvSpPr>
        <p:spPr>
          <a:xfrm>
            <a:off x="3520440" y="3611880"/>
            <a:ext cx="982980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Sécurité : authentification JWT, contrôle des rôles, clé d'API CI</a:t>
            </a:r>
            <a:endParaRPr lang="en-US" sz="1400" dirty="0"/>
          </a:p>
        </p:txBody>
      </p:sp>
      <p:sp>
        <p:nvSpPr>
          <p:cNvPr id="37" name="A5_775"/>
          <p:cNvSpPr/>
          <p:nvPr/>
        </p:nvSpPr>
        <p:spPr>
          <a:xfrm>
            <a:off x="3429000" y="4343400"/>
            <a:ext cx="1856232" cy="777240"/>
          </a:xfrm>
          <a:prstGeom prst="rect">
            <a:avLst/>
          </a:prstGeom>
          <a:solidFill>
            <a:srgbClr val="FFFFFF"/>
          </a:solidFill>
          <a:ln w="15875">
            <a:solidFill>
              <a:srgbClr val="0A6EBD"/>
            </a:solidFill>
            <a:prstDash val="solid"/>
          </a:ln>
        </p:spPr>
        <p:txBody>
          <a:bodyPr/>
          <a:lstStyle/>
          <a:p>
            <a:endParaRPr lang="fr-FR"/>
          </a:p>
        </p:txBody>
      </p:sp>
      <p:sp>
        <p:nvSpPr>
          <p:cNvPr id="38" name="A5_776"/>
          <p:cNvSpPr txBox="1"/>
          <p:nvPr/>
        </p:nvSpPr>
        <p:spPr>
          <a:xfrm>
            <a:off x="3520440" y="4343400"/>
            <a:ext cx="1673352" cy="777240"/>
          </a:xfrm>
          <a:prstGeom prst="rect">
            <a:avLst/>
          </a:prstGeom>
          <a:noFill/>
          <a:ln/>
        </p:spPr>
        <p:txBody>
          <a:bodyPr wrap="square" lIns="0" tIns="0" rIns="0" bIns="0" rtlCol="0" anchor="ctr"/>
          <a:lstStyle/>
          <a:p>
            <a:pPr marL="0" indent="0" algn="ctr">
              <a:buNone/>
            </a:pPr>
            <a:r>
              <a:rPr lang="en-US" sz="1400" b="1" dirty="0">
                <a:solidFill>
                  <a:srgbClr val="0B3C66"/>
                </a:solidFill>
                <a:latin typeface="Arial" pitchFamily="34" charset="0"/>
                <a:ea typeface="Arial" pitchFamily="34" charset="-122"/>
                <a:cs typeface="Arial" pitchFamily="34" charset="-120"/>
              </a:rPr>
              <a:t>Module Logs</a:t>
            </a:r>
            <a:endParaRPr lang="en-US" sz="1400" dirty="0"/>
          </a:p>
        </p:txBody>
      </p:sp>
      <p:sp>
        <p:nvSpPr>
          <p:cNvPr id="39" name="A5_777"/>
          <p:cNvSpPr/>
          <p:nvPr/>
        </p:nvSpPr>
        <p:spPr>
          <a:xfrm>
            <a:off x="5468112" y="4343400"/>
            <a:ext cx="1856232" cy="777240"/>
          </a:xfrm>
          <a:prstGeom prst="rect">
            <a:avLst/>
          </a:prstGeom>
          <a:solidFill>
            <a:srgbClr val="FFFFFF"/>
          </a:solidFill>
          <a:ln w="15875">
            <a:solidFill>
              <a:srgbClr val="0A6EBD"/>
            </a:solidFill>
            <a:prstDash val="solid"/>
          </a:ln>
        </p:spPr>
        <p:txBody>
          <a:bodyPr/>
          <a:lstStyle/>
          <a:p>
            <a:endParaRPr lang="fr-FR"/>
          </a:p>
        </p:txBody>
      </p:sp>
      <p:sp>
        <p:nvSpPr>
          <p:cNvPr id="40" name="A5_778"/>
          <p:cNvSpPr txBox="1"/>
          <p:nvPr/>
        </p:nvSpPr>
        <p:spPr>
          <a:xfrm>
            <a:off x="5559552" y="4343400"/>
            <a:ext cx="1673352" cy="777240"/>
          </a:xfrm>
          <a:prstGeom prst="rect">
            <a:avLst/>
          </a:prstGeom>
          <a:noFill/>
          <a:ln/>
        </p:spPr>
        <p:txBody>
          <a:bodyPr wrap="square" lIns="0" tIns="0" rIns="0" bIns="0" rtlCol="0" anchor="ctr"/>
          <a:lstStyle/>
          <a:p>
            <a:pPr marL="0" indent="0" algn="ctr">
              <a:buNone/>
            </a:pPr>
            <a:r>
              <a:rPr lang="en-US" sz="1400" b="1" dirty="0">
                <a:solidFill>
                  <a:srgbClr val="0B3C66"/>
                </a:solidFill>
                <a:latin typeface="Arial" pitchFamily="34" charset="0"/>
                <a:ea typeface="Arial" pitchFamily="34" charset="-122"/>
                <a:cs typeface="Arial" pitchFamily="34" charset="-120"/>
              </a:rPr>
              <a:t>Module Tests</a:t>
            </a:r>
            <a:endParaRPr lang="en-US" sz="1400" dirty="0"/>
          </a:p>
        </p:txBody>
      </p:sp>
      <p:sp>
        <p:nvSpPr>
          <p:cNvPr id="41" name="A5_779"/>
          <p:cNvSpPr/>
          <p:nvPr/>
        </p:nvSpPr>
        <p:spPr>
          <a:xfrm>
            <a:off x="7507224" y="4343400"/>
            <a:ext cx="1856232" cy="777240"/>
          </a:xfrm>
          <a:prstGeom prst="rect">
            <a:avLst/>
          </a:prstGeom>
          <a:solidFill>
            <a:srgbClr val="FFFFFF"/>
          </a:solidFill>
          <a:ln w="15875">
            <a:solidFill>
              <a:srgbClr val="0A6EBD"/>
            </a:solidFill>
            <a:prstDash val="solid"/>
          </a:ln>
        </p:spPr>
        <p:txBody>
          <a:bodyPr/>
          <a:lstStyle/>
          <a:p>
            <a:endParaRPr lang="fr-FR"/>
          </a:p>
        </p:txBody>
      </p:sp>
      <p:sp>
        <p:nvSpPr>
          <p:cNvPr id="42" name="A5_780"/>
          <p:cNvSpPr txBox="1"/>
          <p:nvPr/>
        </p:nvSpPr>
        <p:spPr>
          <a:xfrm>
            <a:off x="7598664" y="4343400"/>
            <a:ext cx="1673352" cy="777240"/>
          </a:xfrm>
          <a:prstGeom prst="rect">
            <a:avLst/>
          </a:prstGeom>
          <a:noFill/>
          <a:ln/>
        </p:spPr>
        <p:txBody>
          <a:bodyPr wrap="square" lIns="0" tIns="0" rIns="0" bIns="0" rtlCol="0" anchor="ctr"/>
          <a:lstStyle/>
          <a:p>
            <a:pPr marL="0" indent="0" algn="ctr">
              <a:buNone/>
            </a:pPr>
            <a:r>
              <a:rPr lang="en-US" sz="1400" b="1" dirty="0">
                <a:solidFill>
                  <a:srgbClr val="0B3C66"/>
                </a:solidFill>
                <a:latin typeface="Arial" pitchFamily="34" charset="0"/>
                <a:ea typeface="Arial" pitchFamily="34" charset="-122"/>
                <a:cs typeface="Arial" pitchFamily="34" charset="-120"/>
              </a:rPr>
              <a:t>Module Sécurité</a:t>
            </a:r>
            <a:endParaRPr lang="en-US" sz="1400" dirty="0"/>
          </a:p>
        </p:txBody>
      </p:sp>
      <p:sp>
        <p:nvSpPr>
          <p:cNvPr id="43" name="A5_781"/>
          <p:cNvSpPr/>
          <p:nvPr/>
        </p:nvSpPr>
        <p:spPr>
          <a:xfrm>
            <a:off x="9546336" y="4343400"/>
            <a:ext cx="1856232" cy="777240"/>
          </a:xfrm>
          <a:prstGeom prst="rect">
            <a:avLst/>
          </a:prstGeom>
          <a:solidFill>
            <a:srgbClr val="FFFFFF"/>
          </a:solidFill>
          <a:ln w="15875">
            <a:solidFill>
              <a:srgbClr val="0A6EBD"/>
            </a:solidFill>
            <a:prstDash val="solid"/>
          </a:ln>
        </p:spPr>
        <p:txBody>
          <a:bodyPr/>
          <a:lstStyle/>
          <a:p>
            <a:endParaRPr lang="fr-FR"/>
          </a:p>
        </p:txBody>
      </p:sp>
      <p:sp>
        <p:nvSpPr>
          <p:cNvPr id="44" name="A5_782"/>
          <p:cNvSpPr txBox="1"/>
          <p:nvPr/>
        </p:nvSpPr>
        <p:spPr>
          <a:xfrm>
            <a:off x="9637776" y="4343400"/>
            <a:ext cx="1673352" cy="777240"/>
          </a:xfrm>
          <a:prstGeom prst="rect">
            <a:avLst/>
          </a:prstGeom>
          <a:noFill/>
          <a:ln/>
        </p:spPr>
        <p:txBody>
          <a:bodyPr wrap="square" lIns="0" tIns="0" rIns="0" bIns="0" rtlCol="0" anchor="ctr"/>
          <a:lstStyle/>
          <a:p>
            <a:pPr marL="0" indent="0" algn="ctr">
              <a:buNone/>
            </a:pPr>
            <a:r>
              <a:rPr lang="en-US" sz="1400" b="1" dirty="0">
                <a:solidFill>
                  <a:srgbClr val="0B3C66"/>
                </a:solidFill>
                <a:latin typeface="Arial" pitchFamily="34" charset="0"/>
                <a:ea typeface="Arial" pitchFamily="34" charset="-122"/>
                <a:cs typeface="Arial" pitchFamily="34" charset="-120"/>
              </a:rPr>
              <a:t>Module IA</a:t>
            </a:r>
            <a:endParaRPr lang="en-US" sz="1400" dirty="0"/>
          </a:p>
        </p:txBody>
      </p:sp>
      <p:sp>
        <p:nvSpPr>
          <p:cNvPr id="45" name="A5_783"/>
          <p:cNvSpPr/>
          <p:nvPr/>
        </p:nvSpPr>
        <p:spPr>
          <a:xfrm>
            <a:off x="11585448" y="4343400"/>
            <a:ext cx="1856232" cy="777240"/>
          </a:xfrm>
          <a:prstGeom prst="rect">
            <a:avLst/>
          </a:prstGeom>
          <a:solidFill>
            <a:srgbClr val="FFFFFF"/>
          </a:solidFill>
          <a:ln w="15875">
            <a:solidFill>
              <a:srgbClr val="0A6EBD"/>
            </a:solidFill>
            <a:prstDash val="solid"/>
          </a:ln>
        </p:spPr>
        <p:txBody>
          <a:bodyPr/>
          <a:lstStyle/>
          <a:p>
            <a:endParaRPr lang="fr-FR"/>
          </a:p>
        </p:txBody>
      </p:sp>
      <p:sp>
        <p:nvSpPr>
          <p:cNvPr id="46" name="A5_784"/>
          <p:cNvSpPr txBox="1"/>
          <p:nvPr/>
        </p:nvSpPr>
        <p:spPr>
          <a:xfrm>
            <a:off x="11676888" y="4343400"/>
            <a:ext cx="1673352" cy="777240"/>
          </a:xfrm>
          <a:prstGeom prst="rect">
            <a:avLst/>
          </a:prstGeom>
          <a:noFill/>
          <a:ln/>
        </p:spPr>
        <p:txBody>
          <a:bodyPr wrap="square" lIns="0" tIns="0" rIns="0" bIns="0" rtlCol="0" anchor="ctr"/>
          <a:lstStyle/>
          <a:p>
            <a:pPr marL="0" indent="0" algn="ctr">
              <a:buNone/>
            </a:pPr>
            <a:r>
              <a:rPr lang="en-US" sz="1400" b="1" dirty="0">
                <a:solidFill>
                  <a:srgbClr val="0B3C66"/>
                </a:solidFill>
                <a:latin typeface="Arial" pitchFamily="34" charset="0"/>
                <a:ea typeface="Arial" pitchFamily="34" charset="-122"/>
                <a:cs typeface="Arial" pitchFamily="34" charset="-120"/>
              </a:rPr>
              <a:t>Module Pilotage</a:t>
            </a:r>
            <a:endParaRPr lang="en-US" sz="1400" dirty="0"/>
          </a:p>
        </p:txBody>
      </p:sp>
      <p:sp>
        <p:nvSpPr>
          <p:cNvPr id="47" name="A6_785"/>
          <p:cNvSpPr/>
          <p:nvPr/>
        </p:nvSpPr>
        <p:spPr>
          <a:xfrm>
            <a:off x="3429000" y="5989320"/>
            <a:ext cx="3154680" cy="960120"/>
          </a:xfrm>
          <a:prstGeom prst="rect">
            <a:avLst/>
          </a:prstGeom>
          <a:solidFill>
            <a:srgbClr val="FFFFFF"/>
          </a:solidFill>
          <a:ln w="15875">
            <a:solidFill>
              <a:srgbClr val="0A6EBD"/>
            </a:solidFill>
            <a:prstDash val="solid"/>
          </a:ln>
        </p:spPr>
        <p:txBody>
          <a:bodyPr/>
          <a:lstStyle/>
          <a:p>
            <a:endParaRPr lang="fr-FR"/>
          </a:p>
        </p:txBody>
      </p:sp>
      <p:sp>
        <p:nvSpPr>
          <p:cNvPr id="48" name="A6_786"/>
          <p:cNvSpPr txBox="1"/>
          <p:nvPr/>
        </p:nvSpPr>
        <p:spPr>
          <a:xfrm>
            <a:off x="3520440" y="5989320"/>
            <a:ext cx="2971800" cy="960120"/>
          </a:xfrm>
          <a:prstGeom prst="rect">
            <a:avLst/>
          </a:prstGeom>
          <a:noFill/>
          <a:ln/>
        </p:spPr>
        <p:txBody>
          <a:bodyPr wrap="square" lIns="0" tIns="0" rIns="0" bIns="0" rtlCol="0" anchor="ctr"/>
          <a:lstStyle/>
          <a:p>
            <a:pPr marL="0" indent="0" algn="ctr">
              <a:buNone/>
            </a:pPr>
            <a:r>
              <a:rPr lang="en-US" sz="1400" b="1" dirty="0">
                <a:solidFill>
                  <a:srgbClr val="0B3C66"/>
                </a:solidFill>
                <a:latin typeface="Arial" pitchFamily="34" charset="0"/>
                <a:ea typeface="Arial" pitchFamily="34" charset="-122"/>
                <a:cs typeface="Arial" pitchFamily="34" charset="-120"/>
              </a:rPr>
              <a:t>Base de données</a:t>
            </a:r>
            <a:endParaRPr lang="en-US" sz="1400" dirty="0"/>
          </a:p>
          <a:p>
            <a:pPr marL="0" indent="0" algn="ctr">
              <a:buNone/>
            </a:pPr>
            <a:r>
              <a:rPr lang="en-US" sz="1100" dirty="0">
                <a:solidFill>
                  <a:srgbClr val="595959"/>
                </a:solidFill>
                <a:latin typeface="Arial" pitchFamily="34" charset="0"/>
                <a:ea typeface="Arial" pitchFamily="34" charset="-122"/>
                <a:cs typeface="Arial" pitchFamily="34" charset="-120"/>
              </a:rPr>
              <a:t>PostgreSQL</a:t>
            </a:r>
            <a:endParaRPr lang="en-US" sz="1400" dirty="0"/>
          </a:p>
        </p:txBody>
      </p:sp>
      <p:sp>
        <p:nvSpPr>
          <p:cNvPr id="49" name="A6_787"/>
          <p:cNvSpPr/>
          <p:nvPr/>
        </p:nvSpPr>
        <p:spPr>
          <a:xfrm>
            <a:off x="6858000" y="5989320"/>
            <a:ext cx="3154680" cy="960120"/>
          </a:xfrm>
          <a:prstGeom prst="rect">
            <a:avLst/>
          </a:prstGeom>
          <a:solidFill>
            <a:srgbClr val="FFFFFF"/>
          </a:solidFill>
          <a:ln w="15875">
            <a:solidFill>
              <a:srgbClr val="0A6EBD"/>
            </a:solidFill>
            <a:prstDash val="solid"/>
          </a:ln>
        </p:spPr>
        <p:txBody>
          <a:bodyPr/>
          <a:lstStyle/>
          <a:p>
            <a:endParaRPr lang="fr-FR"/>
          </a:p>
        </p:txBody>
      </p:sp>
      <p:sp>
        <p:nvSpPr>
          <p:cNvPr id="50" name="A6_788"/>
          <p:cNvSpPr txBox="1"/>
          <p:nvPr/>
        </p:nvSpPr>
        <p:spPr>
          <a:xfrm>
            <a:off x="6949440" y="5989320"/>
            <a:ext cx="2971800" cy="960120"/>
          </a:xfrm>
          <a:prstGeom prst="rect">
            <a:avLst/>
          </a:prstGeom>
          <a:noFill/>
          <a:ln/>
        </p:spPr>
        <p:txBody>
          <a:bodyPr wrap="square" lIns="0" tIns="0" rIns="0" bIns="0" rtlCol="0" anchor="ctr"/>
          <a:lstStyle/>
          <a:p>
            <a:pPr marL="0" indent="0" algn="ctr">
              <a:buNone/>
            </a:pPr>
            <a:r>
              <a:rPr lang="en-US" sz="1400" b="1" dirty="0">
                <a:solidFill>
                  <a:srgbClr val="0B3C66"/>
                </a:solidFill>
                <a:latin typeface="Arial" pitchFamily="34" charset="0"/>
                <a:ea typeface="Arial" pitchFamily="34" charset="-122"/>
                <a:cs typeface="Arial" pitchFamily="34" charset="-120"/>
              </a:rPr>
              <a:t>Service IA</a:t>
            </a:r>
            <a:endParaRPr lang="en-US" sz="1400" dirty="0"/>
          </a:p>
          <a:p>
            <a:pPr marL="0" indent="0" algn="ctr">
              <a:buNone/>
            </a:pPr>
            <a:r>
              <a:rPr lang="en-US" sz="1100" dirty="0">
                <a:solidFill>
                  <a:srgbClr val="595959"/>
                </a:solidFill>
                <a:latin typeface="Arial" pitchFamily="34" charset="0"/>
                <a:ea typeface="Arial" pitchFamily="34" charset="-122"/>
                <a:cs typeface="Arial" pitchFamily="34" charset="-120"/>
              </a:rPr>
              <a:t>FastAPI · scikit-learn · LLM</a:t>
            </a:r>
            <a:endParaRPr lang="en-US" sz="1400" dirty="0"/>
          </a:p>
        </p:txBody>
      </p:sp>
      <p:sp>
        <p:nvSpPr>
          <p:cNvPr id="51" name="A6_789"/>
          <p:cNvSpPr/>
          <p:nvPr/>
        </p:nvSpPr>
        <p:spPr>
          <a:xfrm>
            <a:off x="10287000" y="5989320"/>
            <a:ext cx="3154680" cy="960120"/>
          </a:xfrm>
          <a:prstGeom prst="rect">
            <a:avLst/>
          </a:prstGeom>
          <a:solidFill>
            <a:srgbClr val="FFFFFF"/>
          </a:solidFill>
          <a:ln w="15875">
            <a:solidFill>
              <a:srgbClr val="0A6EBD"/>
            </a:solidFill>
            <a:prstDash val="solid"/>
          </a:ln>
        </p:spPr>
        <p:txBody>
          <a:bodyPr/>
          <a:lstStyle/>
          <a:p>
            <a:endParaRPr lang="fr-FR"/>
          </a:p>
        </p:txBody>
      </p:sp>
      <p:sp>
        <p:nvSpPr>
          <p:cNvPr id="52" name="A6_790"/>
          <p:cNvSpPr txBox="1"/>
          <p:nvPr/>
        </p:nvSpPr>
        <p:spPr>
          <a:xfrm>
            <a:off x="10378440" y="5989320"/>
            <a:ext cx="2971800" cy="960120"/>
          </a:xfrm>
          <a:prstGeom prst="rect">
            <a:avLst/>
          </a:prstGeom>
          <a:noFill/>
          <a:ln/>
        </p:spPr>
        <p:txBody>
          <a:bodyPr wrap="square" lIns="0" tIns="0" rIns="0" bIns="0" rtlCol="0" anchor="ctr"/>
          <a:lstStyle/>
          <a:p>
            <a:pPr marL="0" indent="0" algn="ctr">
              <a:buNone/>
            </a:pPr>
            <a:r>
              <a:rPr lang="en-US" sz="1400" b="1" dirty="0">
                <a:solidFill>
                  <a:srgbClr val="0B3C66"/>
                </a:solidFill>
                <a:latin typeface="Arial" pitchFamily="34" charset="0"/>
                <a:ea typeface="Arial" pitchFamily="34" charset="-122"/>
                <a:cs typeface="Arial" pitchFamily="34" charset="-120"/>
              </a:rPr>
              <a:t>Outils externes</a:t>
            </a:r>
            <a:endParaRPr lang="en-US" sz="1400" dirty="0"/>
          </a:p>
          <a:p>
            <a:pPr marL="0" indent="0" algn="ctr">
              <a:buNone/>
            </a:pPr>
            <a:r>
              <a:rPr lang="en-US" sz="1100" dirty="0">
                <a:solidFill>
                  <a:srgbClr val="595959"/>
                </a:solidFill>
                <a:latin typeface="Arial" pitchFamily="34" charset="0"/>
                <a:ea typeface="Arial" pitchFamily="34" charset="-122"/>
                <a:cs typeface="Arial" pitchFamily="34" charset="-120"/>
              </a:rPr>
              <a:t>SonarQube · Trivy · OWASP · Loki</a:t>
            </a:r>
            <a:endParaRPr lang="en-US" sz="1400" dirty="0"/>
          </a:p>
        </p:txBody>
      </p:sp>
      <p:sp>
        <p:nvSpPr>
          <p:cNvPr id="53" name="A7_791"/>
          <p:cNvSpPr/>
          <p:nvPr/>
        </p:nvSpPr>
        <p:spPr>
          <a:xfrm>
            <a:off x="8412480" y="2761488"/>
            <a:ext cx="0" cy="822960"/>
          </a:xfrm>
          <a:prstGeom prst="line">
            <a:avLst/>
          </a:prstGeom>
          <a:noFill/>
          <a:ln w="25400">
            <a:solidFill>
              <a:srgbClr val="EF2B41"/>
            </a:solidFill>
            <a:prstDash val="solid"/>
            <a:headEnd type="triangle"/>
            <a:tailEnd type="triangle"/>
          </a:ln>
        </p:spPr>
        <p:txBody>
          <a:bodyPr/>
          <a:lstStyle/>
          <a:p>
            <a:endParaRPr lang="fr-FR"/>
          </a:p>
        </p:txBody>
      </p:sp>
      <p:sp>
        <p:nvSpPr>
          <p:cNvPr id="54" name="A7_792"/>
          <p:cNvSpPr txBox="1"/>
          <p:nvPr/>
        </p:nvSpPr>
        <p:spPr>
          <a:xfrm>
            <a:off x="8595360" y="2999232"/>
            <a:ext cx="4114800" cy="320040"/>
          </a:xfrm>
          <a:prstGeom prst="rect">
            <a:avLst/>
          </a:prstGeom>
          <a:noFill/>
          <a:ln/>
        </p:spPr>
        <p:txBody>
          <a:bodyPr wrap="square" lIns="0" tIns="0" rIns="0" bIns="0" rtlCol="0" anchor="t"/>
          <a:lstStyle/>
          <a:p>
            <a:pPr marL="0" indent="0">
              <a:buNone/>
            </a:pPr>
            <a:r>
              <a:rPr lang="en-US" sz="1100" i="1" dirty="0">
                <a:solidFill>
                  <a:srgbClr val="595959"/>
                </a:solidFill>
                <a:latin typeface="Arial" pitchFamily="34" charset="0"/>
                <a:ea typeface="Arial" pitchFamily="34" charset="-122"/>
                <a:cs typeface="Arial" pitchFamily="34" charset="-120"/>
              </a:rPr>
              <a:t>API REST + notifications temps réel</a:t>
            </a:r>
            <a:endParaRPr lang="en-US" sz="1100" dirty="0"/>
          </a:p>
        </p:txBody>
      </p:sp>
      <p:sp>
        <p:nvSpPr>
          <p:cNvPr id="55" name="A7_793"/>
          <p:cNvSpPr/>
          <p:nvPr/>
        </p:nvSpPr>
        <p:spPr>
          <a:xfrm>
            <a:off x="5006340" y="5138928"/>
            <a:ext cx="0" cy="822960"/>
          </a:xfrm>
          <a:prstGeom prst="line">
            <a:avLst/>
          </a:prstGeom>
          <a:noFill/>
          <a:ln w="25400">
            <a:solidFill>
              <a:srgbClr val="EF2B41"/>
            </a:solidFill>
            <a:prstDash val="solid"/>
            <a:headEnd type="triangle"/>
            <a:tailEnd type="triangle"/>
          </a:ln>
        </p:spPr>
        <p:txBody>
          <a:bodyPr/>
          <a:lstStyle/>
          <a:p>
            <a:endParaRPr lang="fr-FR"/>
          </a:p>
        </p:txBody>
      </p:sp>
      <p:sp>
        <p:nvSpPr>
          <p:cNvPr id="56" name="A7_794"/>
          <p:cNvSpPr/>
          <p:nvPr/>
        </p:nvSpPr>
        <p:spPr>
          <a:xfrm>
            <a:off x="8435340" y="5138928"/>
            <a:ext cx="0" cy="822960"/>
          </a:xfrm>
          <a:prstGeom prst="line">
            <a:avLst/>
          </a:prstGeom>
          <a:noFill/>
          <a:ln w="25400">
            <a:solidFill>
              <a:srgbClr val="EF2B41"/>
            </a:solidFill>
            <a:prstDash val="solid"/>
            <a:headEnd type="triangle"/>
            <a:tailEnd type="triangle"/>
          </a:ln>
        </p:spPr>
        <p:txBody>
          <a:bodyPr/>
          <a:lstStyle/>
          <a:p>
            <a:endParaRPr lang="fr-FR"/>
          </a:p>
        </p:txBody>
      </p:sp>
      <p:sp>
        <p:nvSpPr>
          <p:cNvPr id="57" name="A7_795"/>
          <p:cNvSpPr/>
          <p:nvPr/>
        </p:nvSpPr>
        <p:spPr>
          <a:xfrm>
            <a:off x="11864340" y="5138928"/>
            <a:ext cx="0" cy="822960"/>
          </a:xfrm>
          <a:prstGeom prst="line">
            <a:avLst/>
          </a:prstGeom>
          <a:noFill/>
          <a:ln w="25400">
            <a:solidFill>
              <a:srgbClr val="EF2B41"/>
            </a:solidFill>
            <a:prstDash val="solid"/>
            <a:headEnd type="triangle"/>
            <a:tailEnd type="triangle"/>
          </a:ln>
        </p:spPr>
        <p:txBody>
          <a:bodyPr/>
          <a:lstStyle/>
          <a:p>
            <a:endParaRPr lang="fr-F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500"/>
                                        <p:tgtEl>
                                          <p:spTgt spid="29"/>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500"/>
                                        <p:tgtEl>
                                          <p:spTgt spid="34"/>
                                        </p:tgtEl>
                                      </p:cBhvr>
                                    </p:animEffect>
                                  </p:childTnLst>
                                </p:cTn>
                              </p:par>
                            </p:childTnLst>
                          </p:cTn>
                        </p:par>
                        <p:par>
                          <p:cTn id="41" fill="hold">
                            <p:stCondLst>
                              <p:cond delay="1400"/>
                            </p:stCondLst>
                            <p:childTnLst>
                              <p:par>
                                <p:cTn id="42" presetID="10" presetClass="entr" presetSubtype="0" fill="hold" grpId="0" nodeType="afterEffect">
                                  <p:stCondLst>
                                    <p:cond delay="0"/>
                                  </p:stCondLst>
                                  <p:childTnLst>
                                    <p:set>
                                      <p:cBhvr>
                                        <p:cTn id="43" dur="1" fill="hold">
                                          <p:stCondLst>
                                            <p:cond delay="0"/>
                                          </p:stCondLst>
                                        </p:cTn>
                                        <p:tgtEl>
                                          <p:spTgt spid="35"/>
                                        </p:tgtEl>
                                        <p:attrNameLst>
                                          <p:attrName>style.visibility</p:attrName>
                                        </p:attrNameLst>
                                      </p:cBhvr>
                                      <p:to>
                                        <p:strVal val="visible"/>
                                      </p:to>
                                    </p:set>
                                    <p:animEffect transition="in" filter="fade">
                                      <p:cBhvr>
                                        <p:cTn id="44" dur="500"/>
                                        <p:tgtEl>
                                          <p:spTgt spid="3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500"/>
                                        <p:tgtEl>
                                          <p:spTgt spid="3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500"/>
                                        <p:tgtEl>
                                          <p:spTgt spid="3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9"/>
                                        </p:tgtEl>
                                        <p:attrNameLst>
                                          <p:attrName>style.visibility</p:attrName>
                                        </p:attrNameLst>
                                      </p:cBhvr>
                                      <p:to>
                                        <p:strVal val="visible"/>
                                      </p:to>
                                    </p:set>
                                    <p:animEffect transition="in" filter="fade">
                                      <p:cBhvr>
                                        <p:cTn id="56" dur="500"/>
                                        <p:tgtEl>
                                          <p:spTgt spid="3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animEffect transition="in" filter="fade">
                                      <p:cBhvr>
                                        <p:cTn id="59" dur="500"/>
                                        <p:tgtEl>
                                          <p:spTgt spid="4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500"/>
                                        <p:tgtEl>
                                          <p:spTgt spid="4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42"/>
                                        </p:tgtEl>
                                        <p:attrNameLst>
                                          <p:attrName>style.visibility</p:attrName>
                                        </p:attrNameLst>
                                      </p:cBhvr>
                                      <p:to>
                                        <p:strVal val="visible"/>
                                      </p:to>
                                    </p:set>
                                    <p:animEffect transition="in" filter="fade">
                                      <p:cBhvr>
                                        <p:cTn id="65" dur="500"/>
                                        <p:tgtEl>
                                          <p:spTgt spid="4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5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500"/>
                                        <p:tgtEl>
                                          <p:spTgt spid="4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500"/>
                                        <p:tgtEl>
                                          <p:spTgt spid="4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500"/>
                                        <p:tgtEl>
                                          <p:spTgt spid="46"/>
                                        </p:tgtEl>
                                      </p:cBhvr>
                                    </p:animEffect>
                                  </p:childTnLst>
                                </p:cTn>
                              </p:par>
                            </p:childTnLst>
                          </p:cTn>
                        </p:par>
                        <p:par>
                          <p:cTn id="78" fill="hold">
                            <p:stCondLst>
                              <p:cond delay="1750"/>
                            </p:stCondLst>
                            <p:childTnLst>
                              <p:par>
                                <p:cTn id="79" presetID="10" presetClass="entr" presetSubtype="0" fill="hold" grpId="0" nodeType="afterEffect">
                                  <p:stCondLst>
                                    <p:cond delay="0"/>
                                  </p:stCondLst>
                                  <p:childTnLst>
                                    <p:set>
                                      <p:cBhvr>
                                        <p:cTn id="80" dur="1" fill="hold">
                                          <p:stCondLst>
                                            <p:cond delay="0"/>
                                          </p:stCondLst>
                                        </p:cTn>
                                        <p:tgtEl>
                                          <p:spTgt spid="47"/>
                                        </p:tgtEl>
                                        <p:attrNameLst>
                                          <p:attrName>style.visibility</p:attrName>
                                        </p:attrNameLst>
                                      </p:cBhvr>
                                      <p:to>
                                        <p:strVal val="visible"/>
                                      </p:to>
                                    </p:set>
                                    <p:animEffect transition="in" filter="fade">
                                      <p:cBhvr>
                                        <p:cTn id="81" dur="500"/>
                                        <p:tgtEl>
                                          <p:spTgt spid="4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9"/>
                                        </p:tgtEl>
                                        <p:attrNameLst>
                                          <p:attrName>style.visibility</p:attrName>
                                        </p:attrNameLst>
                                      </p:cBhvr>
                                      <p:to>
                                        <p:strVal val="visible"/>
                                      </p:to>
                                    </p:set>
                                    <p:animEffect transition="in" filter="fade">
                                      <p:cBhvr>
                                        <p:cTn id="87" dur="500"/>
                                        <p:tgtEl>
                                          <p:spTgt spid="49"/>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0"/>
                                        </p:tgtEl>
                                        <p:attrNameLst>
                                          <p:attrName>style.visibility</p:attrName>
                                        </p:attrNameLst>
                                      </p:cBhvr>
                                      <p:to>
                                        <p:strVal val="visible"/>
                                      </p:to>
                                    </p:set>
                                    <p:animEffect transition="in" filter="fade">
                                      <p:cBhvr>
                                        <p:cTn id="90" dur="500"/>
                                        <p:tgtEl>
                                          <p:spTgt spid="5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1"/>
                                        </p:tgtEl>
                                        <p:attrNameLst>
                                          <p:attrName>style.visibility</p:attrName>
                                        </p:attrNameLst>
                                      </p:cBhvr>
                                      <p:to>
                                        <p:strVal val="visible"/>
                                      </p:to>
                                    </p:set>
                                    <p:animEffect transition="in" filter="fade">
                                      <p:cBhvr>
                                        <p:cTn id="93" dur="500"/>
                                        <p:tgtEl>
                                          <p:spTgt spid="5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2"/>
                                        </p:tgtEl>
                                        <p:attrNameLst>
                                          <p:attrName>style.visibility</p:attrName>
                                        </p:attrNameLst>
                                      </p:cBhvr>
                                      <p:to>
                                        <p:strVal val="visible"/>
                                      </p:to>
                                    </p:set>
                                    <p:animEffect transition="in" filter="fade">
                                      <p:cBhvr>
                                        <p:cTn id="96" dur="500"/>
                                        <p:tgtEl>
                                          <p:spTgt spid="52"/>
                                        </p:tgtEl>
                                      </p:cBhvr>
                                    </p:animEffect>
                                  </p:childTnLst>
                                </p:cTn>
                              </p:par>
                            </p:childTnLst>
                          </p:cTn>
                        </p:par>
                        <p:par>
                          <p:cTn id="97" fill="hold">
                            <p:stCondLst>
                              <p:cond delay="2100"/>
                            </p:stCondLst>
                            <p:childTnLst>
                              <p:par>
                                <p:cTn id="98" presetID="22" presetClass="entr" presetSubtype="8" fill="hold" grpId="0" nodeType="afterEffect">
                                  <p:stCondLst>
                                    <p:cond delay="0"/>
                                  </p:stCondLst>
                                  <p:childTnLst>
                                    <p:set>
                                      <p:cBhvr>
                                        <p:cTn id="99" dur="1" fill="hold">
                                          <p:stCondLst>
                                            <p:cond delay="0"/>
                                          </p:stCondLst>
                                        </p:cTn>
                                        <p:tgtEl>
                                          <p:spTgt spid="53"/>
                                        </p:tgtEl>
                                        <p:attrNameLst>
                                          <p:attrName>style.visibility</p:attrName>
                                        </p:attrNameLst>
                                      </p:cBhvr>
                                      <p:to>
                                        <p:strVal val="visible"/>
                                      </p:to>
                                    </p:set>
                                    <p:animEffect transition="in" filter="wipe(left)">
                                      <p:cBhvr>
                                        <p:cTn id="100" dur="500"/>
                                        <p:tgtEl>
                                          <p:spTgt spid="5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4"/>
                                        </p:tgtEl>
                                        <p:attrNameLst>
                                          <p:attrName>style.visibility</p:attrName>
                                        </p:attrNameLst>
                                      </p:cBhvr>
                                      <p:to>
                                        <p:strVal val="visible"/>
                                      </p:to>
                                    </p:set>
                                    <p:animEffect transition="in" filter="fade">
                                      <p:cBhvr>
                                        <p:cTn id="103" dur="500"/>
                                        <p:tgtEl>
                                          <p:spTgt spid="54"/>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55"/>
                                        </p:tgtEl>
                                        <p:attrNameLst>
                                          <p:attrName>style.visibility</p:attrName>
                                        </p:attrNameLst>
                                      </p:cBhvr>
                                      <p:to>
                                        <p:strVal val="visible"/>
                                      </p:to>
                                    </p:set>
                                    <p:animEffect transition="in" filter="wipe(left)">
                                      <p:cBhvr>
                                        <p:cTn id="106" dur="500"/>
                                        <p:tgtEl>
                                          <p:spTgt spid="55"/>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56"/>
                                        </p:tgtEl>
                                        <p:attrNameLst>
                                          <p:attrName>style.visibility</p:attrName>
                                        </p:attrNameLst>
                                      </p:cBhvr>
                                      <p:to>
                                        <p:strVal val="visible"/>
                                      </p:to>
                                    </p:set>
                                    <p:animEffect transition="in" filter="wipe(left)">
                                      <p:cBhvr>
                                        <p:cTn id="109" dur="500"/>
                                        <p:tgtEl>
                                          <p:spTgt spid="56"/>
                                        </p:tgtEl>
                                      </p:cBhvr>
                                    </p:animEffect>
                                  </p:childTnLst>
                                </p:cTn>
                              </p:par>
                              <p:par>
                                <p:cTn id="110" presetID="22" presetClass="entr" presetSubtype="8" fill="hold" grpId="0" nodeType="withEffect">
                                  <p:stCondLst>
                                    <p:cond delay="0"/>
                                  </p:stCondLst>
                                  <p:childTnLst>
                                    <p:set>
                                      <p:cBhvr>
                                        <p:cTn id="111" dur="1" fill="hold">
                                          <p:stCondLst>
                                            <p:cond delay="0"/>
                                          </p:stCondLst>
                                        </p:cTn>
                                        <p:tgtEl>
                                          <p:spTgt spid="57"/>
                                        </p:tgtEl>
                                        <p:attrNameLst>
                                          <p:attrName>style.visibility</p:attrName>
                                        </p:attrNameLst>
                                      </p:cBhvr>
                                      <p:to>
                                        <p:strVal val="visible"/>
                                      </p:to>
                                    </p:set>
                                    <p:animEffect transition="in" filter="wipe(left)">
                                      <p:cBhvr>
                                        <p:cTn id="112"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3" name="A0_796"/>
          <p:cNvSpPr/>
          <p:nvPr/>
        </p:nvSpPr>
        <p:spPr>
          <a:xfrm>
            <a:off x="6800850" y="274320"/>
            <a:ext cx="109728" cy="109728"/>
          </a:xfrm>
          <a:prstGeom prst="rect">
            <a:avLst/>
          </a:prstGeom>
          <a:solidFill>
            <a:srgbClr val="0A6EBD"/>
          </a:solidFill>
          <a:ln w="12700">
            <a:solidFill>
              <a:srgbClr val="0A6EBD"/>
            </a:solidFill>
            <a:prstDash val="solid"/>
          </a:ln>
        </p:spPr>
      </p:sp>
      <p:sp>
        <p:nvSpPr>
          <p:cNvPr id="4" name="A0_797"/>
          <p:cNvSpPr/>
          <p:nvPr/>
        </p:nvSpPr>
        <p:spPr>
          <a:xfrm>
            <a:off x="6992874" y="274320"/>
            <a:ext cx="109728" cy="109728"/>
          </a:xfrm>
          <a:prstGeom prst="rect">
            <a:avLst/>
          </a:prstGeom>
          <a:solidFill>
            <a:srgbClr val="0A6EBD"/>
          </a:solidFill>
          <a:ln w="12700">
            <a:solidFill>
              <a:srgbClr val="0A6EBD"/>
            </a:solidFill>
            <a:prstDash val="solid"/>
          </a:ln>
        </p:spPr>
      </p:sp>
      <p:sp>
        <p:nvSpPr>
          <p:cNvPr id="5" name="A0_798"/>
          <p:cNvSpPr/>
          <p:nvPr/>
        </p:nvSpPr>
        <p:spPr>
          <a:xfrm>
            <a:off x="7184898" y="274320"/>
            <a:ext cx="109728" cy="109728"/>
          </a:xfrm>
          <a:prstGeom prst="rect">
            <a:avLst/>
          </a:prstGeom>
          <a:solidFill>
            <a:srgbClr val="0A6EBD"/>
          </a:solidFill>
          <a:ln w="12700">
            <a:solidFill>
              <a:srgbClr val="0A6EBD"/>
            </a:solidFill>
            <a:prstDash val="solid"/>
          </a:ln>
        </p:spPr>
      </p:sp>
      <p:sp>
        <p:nvSpPr>
          <p:cNvPr id="6" name="A0_799"/>
          <p:cNvSpPr/>
          <p:nvPr/>
        </p:nvSpPr>
        <p:spPr>
          <a:xfrm>
            <a:off x="7376922" y="274320"/>
            <a:ext cx="109728" cy="109728"/>
          </a:xfrm>
          <a:prstGeom prst="rect">
            <a:avLst/>
          </a:prstGeom>
          <a:solidFill>
            <a:srgbClr val="0A6EBD"/>
          </a:solidFill>
          <a:ln w="12700">
            <a:solidFill>
              <a:srgbClr val="0A6EBD"/>
            </a:solidFill>
            <a:prstDash val="solid"/>
          </a:ln>
        </p:spPr>
      </p:sp>
      <p:sp>
        <p:nvSpPr>
          <p:cNvPr id="7" name="A0_800"/>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Architecture physique</a:t>
            </a:r>
            <a:endParaRPr lang="en-US" sz="3600" dirty="0"/>
          </a:p>
        </p:txBody>
      </p:sp>
      <p:pic>
        <p:nvPicPr>
          <p:cNvPr id="8" name="A0_801"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815"/>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816"/>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20</a:t>
            </a:r>
            <a:endParaRPr lang="en-US" sz="1500" dirty="0"/>
          </a:p>
        </p:txBody>
      </p:sp>
      <p:sp>
        <p:nvSpPr>
          <p:cNvPr id="24" name="A1_817"/>
          <p:cNvSpPr/>
          <p:nvPr/>
        </p:nvSpPr>
        <p:spPr>
          <a:xfrm>
            <a:off x="3886200" y="1508760"/>
            <a:ext cx="6675120" cy="5669280"/>
          </a:xfrm>
          <a:prstGeom prst="rect">
            <a:avLst/>
          </a:prstGeom>
          <a:solidFill>
            <a:srgbClr val="F7FAFD"/>
          </a:solidFill>
          <a:ln w="19050">
            <a:solidFill>
              <a:srgbClr val="0B3C66"/>
            </a:solidFill>
            <a:prstDash val="dash"/>
          </a:ln>
        </p:spPr>
        <p:txBody>
          <a:bodyPr/>
          <a:lstStyle/>
          <a:p>
            <a:endParaRPr lang="fr-FR"/>
          </a:p>
        </p:txBody>
      </p:sp>
      <p:pic>
        <p:nvPicPr>
          <p:cNvPr id="25" name="A1_818" descr="preencoded.png"/>
          <p:cNvPicPr>
            <a:picLocks noChangeAspect="1"/>
          </p:cNvPicPr>
          <p:nvPr/>
        </p:nvPicPr>
        <p:blipFill>
          <a:blip r:embed="rId4"/>
          <a:stretch>
            <a:fillRect/>
          </a:stretch>
        </p:blipFill>
        <p:spPr>
          <a:xfrm>
            <a:off x="4069080" y="1645920"/>
            <a:ext cx="365760" cy="365760"/>
          </a:xfrm>
          <a:prstGeom prst="rect">
            <a:avLst/>
          </a:prstGeom>
        </p:spPr>
      </p:pic>
      <p:sp>
        <p:nvSpPr>
          <p:cNvPr id="26" name="A1_819"/>
          <p:cNvSpPr txBox="1"/>
          <p:nvPr/>
        </p:nvSpPr>
        <p:spPr>
          <a:xfrm>
            <a:off x="4572000" y="1645920"/>
            <a:ext cx="4572000" cy="365760"/>
          </a:xfrm>
          <a:prstGeom prst="rect">
            <a:avLst/>
          </a:prstGeom>
          <a:noFill/>
          <a:ln/>
        </p:spPr>
        <p:txBody>
          <a:bodyPr wrap="square" lIns="0" tIns="0" rIns="0" bIns="0" rtlCol="0" anchor="ctr"/>
          <a:lstStyle/>
          <a:p>
            <a:pPr marL="0" indent="0">
              <a:buNone/>
            </a:pPr>
            <a:r>
              <a:rPr lang="en-US" sz="1400" b="1" dirty="0">
                <a:solidFill>
                  <a:srgbClr val="0B3C66"/>
                </a:solidFill>
                <a:latin typeface="Arial" pitchFamily="34" charset="0"/>
                <a:ea typeface="Arial" pitchFamily="34" charset="-122"/>
                <a:cs typeface="Arial" pitchFamily="34" charset="-120"/>
              </a:rPr>
              <a:t>Serveur Docker (docker compose)</a:t>
            </a:r>
            <a:endParaRPr lang="en-US" sz="1400" dirty="0"/>
          </a:p>
        </p:txBody>
      </p:sp>
      <p:sp>
        <p:nvSpPr>
          <p:cNvPr id="27" name="A2_820"/>
          <p:cNvSpPr/>
          <p:nvPr/>
        </p:nvSpPr>
        <p:spPr>
          <a:xfrm>
            <a:off x="4206240" y="2240280"/>
            <a:ext cx="2834640" cy="960120"/>
          </a:xfrm>
          <a:prstGeom prst="rect">
            <a:avLst/>
          </a:prstGeom>
          <a:solidFill>
            <a:srgbClr val="FFFFFF"/>
          </a:solidFill>
          <a:ln w="19050">
            <a:solidFill>
              <a:srgbClr val="0A6EBD"/>
            </a:solidFill>
            <a:prstDash val="solid"/>
          </a:ln>
        </p:spPr>
        <p:txBody>
          <a:bodyPr/>
          <a:lstStyle/>
          <a:p>
            <a:endParaRPr lang="fr-FR"/>
          </a:p>
        </p:txBody>
      </p:sp>
      <p:sp>
        <p:nvSpPr>
          <p:cNvPr id="28" name="A2_821"/>
          <p:cNvSpPr txBox="1"/>
          <p:nvPr/>
        </p:nvSpPr>
        <p:spPr>
          <a:xfrm>
            <a:off x="4297680" y="2240280"/>
            <a:ext cx="2651760" cy="960120"/>
          </a:xfrm>
          <a:prstGeom prst="rect">
            <a:avLst/>
          </a:prstGeom>
          <a:noFill/>
          <a:ln/>
        </p:spPr>
        <p:txBody>
          <a:bodyPr wrap="square" lIns="0" tIns="0" rIns="0" bIns="0" rtlCol="0" anchor="ctr"/>
          <a:lstStyle/>
          <a:p>
            <a:pPr marL="0" indent="0" algn="ctr">
              <a:buNone/>
            </a:pPr>
            <a:r>
              <a:rPr lang="en-US" sz="1300" b="1" dirty="0">
                <a:solidFill>
                  <a:srgbClr val="0B3C66"/>
                </a:solidFill>
                <a:latin typeface="Arial" pitchFamily="34" charset="0"/>
                <a:ea typeface="Arial" pitchFamily="34" charset="-122"/>
                <a:cs typeface="Arial" pitchFamily="34" charset="-120"/>
              </a:rPr>
              <a:t>Frontend</a:t>
            </a:r>
            <a:endParaRPr lang="en-US" sz="1400" dirty="0"/>
          </a:p>
          <a:p>
            <a:pPr marL="0" indent="0" algn="ctr">
              <a:buNone/>
            </a:pPr>
            <a:r>
              <a:rPr lang="en-US" sz="1100" dirty="0">
                <a:solidFill>
                  <a:srgbClr val="595959"/>
                </a:solidFill>
                <a:latin typeface="Arial" pitchFamily="34" charset="0"/>
                <a:ea typeface="Arial" pitchFamily="34" charset="-122"/>
                <a:cs typeface="Arial" pitchFamily="34" charset="-120"/>
              </a:rPr>
              <a:t>nginx + Angular · port 4200</a:t>
            </a:r>
            <a:endParaRPr lang="en-US" sz="1400" dirty="0"/>
          </a:p>
        </p:txBody>
      </p:sp>
      <p:sp>
        <p:nvSpPr>
          <p:cNvPr id="29" name="A2_822"/>
          <p:cNvSpPr/>
          <p:nvPr/>
        </p:nvSpPr>
        <p:spPr>
          <a:xfrm>
            <a:off x="7406640" y="2240280"/>
            <a:ext cx="2834640" cy="960120"/>
          </a:xfrm>
          <a:prstGeom prst="rect">
            <a:avLst/>
          </a:prstGeom>
          <a:solidFill>
            <a:srgbClr val="FFFFFF"/>
          </a:solidFill>
          <a:ln w="19050">
            <a:solidFill>
              <a:srgbClr val="0A6EBD"/>
            </a:solidFill>
            <a:prstDash val="solid"/>
          </a:ln>
        </p:spPr>
        <p:txBody>
          <a:bodyPr/>
          <a:lstStyle/>
          <a:p>
            <a:endParaRPr lang="fr-FR"/>
          </a:p>
        </p:txBody>
      </p:sp>
      <p:sp>
        <p:nvSpPr>
          <p:cNvPr id="30" name="A2_823"/>
          <p:cNvSpPr txBox="1"/>
          <p:nvPr/>
        </p:nvSpPr>
        <p:spPr>
          <a:xfrm>
            <a:off x="7498080" y="2240280"/>
            <a:ext cx="2651760" cy="960120"/>
          </a:xfrm>
          <a:prstGeom prst="rect">
            <a:avLst/>
          </a:prstGeom>
          <a:noFill/>
          <a:ln/>
        </p:spPr>
        <p:txBody>
          <a:bodyPr wrap="square" lIns="0" tIns="0" rIns="0" bIns="0" rtlCol="0" anchor="ctr"/>
          <a:lstStyle/>
          <a:p>
            <a:pPr marL="0" indent="0" algn="ctr">
              <a:buNone/>
            </a:pPr>
            <a:r>
              <a:rPr lang="en-US" sz="1300" b="1" dirty="0">
                <a:solidFill>
                  <a:srgbClr val="0B3C66"/>
                </a:solidFill>
                <a:latin typeface="Arial" pitchFamily="34" charset="0"/>
                <a:ea typeface="Arial" pitchFamily="34" charset="-122"/>
                <a:cs typeface="Arial" pitchFamily="34" charset="-120"/>
              </a:rPr>
              <a:t>Backend</a:t>
            </a:r>
            <a:endParaRPr lang="en-US" sz="1400" dirty="0"/>
          </a:p>
          <a:p>
            <a:pPr marL="0" indent="0" algn="ctr">
              <a:buNone/>
            </a:pPr>
            <a:r>
              <a:rPr lang="en-US" sz="1100" dirty="0">
                <a:solidFill>
                  <a:srgbClr val="595959"/>
                </a:solidFill>
                <a:latin typeface="Arial" pitchFamily="34" charset="0"/>
                <a:ea typeface="Arial" pitchFamily="34" charset="-122"/>
                <a:cs typeface="Arial" pitchFamily="34" charset="-120"/>
              </a:rPr>
              <a:t>Spring Boot · port 8080</a:t>
            </a:r>
            <a:endParaRPr lang="en-US" sz="1400" dirty="0"/>
          </a:p>
        </p:txBody>
      </p:sp>
      <p:sp>
        <p:nvSpPr>
          <p:cNvPr id="31" name="A2_824"/>
          <p:cNvSpPr/>
          <p:nvPr/>
        </p:nvSpPr>
        <p:spPr>
          <a:xfrm>
            <a:off x="4206240" y="3840480"/>
            <a:ext cx="2834640" cy="960120"/>
          </a:xfrm>
          <a:prstGeom prst="rect">
            <a:avLst/>
          </a:prstGeom>
          <a:solidFill>
            <a:srgbClr val="FFFFFF"/>
          </a:solidFill>
          <a:ln w="19050">
            <a:solidFill>
              <a:srgbClr val="0A6EBD"/>
            </a:solidFill>
            <a:prstDash val="solid"/>
          </a:ln>
        </p:spPr>
        <p:txBody>
          <a:bodyPr/>
          <a:lstStyle/>
          <a:p>
            <a:endParaRPr lang="fr-FR"/>
          </a:p>
        </p:txBody>
      </p:sp>
      <p:sp>
        <p:nvSpPr>
          <p:cNvPr id="32" name="A2_825"/>
          <p:cNvSpPr txBox="1"/>
          <p:nvPr/>
        </p:nvSpPr>
        <p:spPr>
          <a:xfrm>
            <a:off x="4297680" y="3840480"/>
            <a:ext cx="2651760" cy="960120"/>
          </a:xfrm>
          <a:prstGeom prst="rect">
            <a:avLst/>
          </a:prstGeom>
          <a:noFill/>
          <a:ln/>
        </p:spPr>
        <p:txBody>
          <a:bodyPr wrap="square" lIns="0" tIns="0" rIns="0" bIns="0" rtlCol="0" anchor="ctr"/>
          <a:lstStyle/>
          <a:p>
            <a:pPr marL="0" indent="0" algn="ctr">
              <a:buNone/>
            </a:pPr>
            <a:r>
              <a:rPr lang="en-US" sz="1300" b="1" dirty="0">
                <a:solidFill>
                  <a:srgbClr val="0B3C66"/>
                </a:solidFill>
                <a:latin typeface="Arial" pitchFamily="34" charset="0"/>
                <a:ea typeface="Arial" pitchFamily="34" charset="-122"/>
                <a:cs typeface="Arial" pitchFamily="34" charset="-120"/>
              </a:rPr>
              <a:t>Base de données</a:t>
            </a:r>
            <a:endParaRPr lang="en-US" sz="1400" dirty="0"/>
          </a:p>
          <a:p>
            <a:pPr marL="0" indent="0" algn="ctr">
              <a:buNone/>
            </a:pPr>
            <a:r>
              <a:rPr lang="en-US" sz="1100" dirty="0">
                <a:solidFill>
                  <a:srgbClr val="595959"/>
                </a:solidFill>
                <a:latin typeface="Arial" pitchFamily="34" charset="0"/>
                <a:ea typeface="Arial" pitchFamily="34" charset="-122"/>
                <a:cs typeface="Arial" pitchFamily="34" charset="-120"/>
              </a:rPr>
              <a:t>PostgreSQL · port 5432</a:t>
            </a:r>
            <a:endParaRPr lang="en-US" sz="1400" dirty="0"/>
          </a:p>
        </p:txBody>
      </p:sp>
      <p:sp>
        <p:nvSpPr>
          <p:cNvPr id="33" name="A2_826"/>
          <p:cNvSpPr/>
          <p:nvPr/>
        </p:nvSpPr>
        <p:spPr>
          <a:xfrm>
            <a:off x="7406640" y="3840480"/>
            <a:ext cx="2834640" cy="960120"/>
          </a:xfrm>
          <a:prstGeom prst="rect">
            <a:avLst/>
          </a:prstGeom>
          <a:solidFill>
            <a:srgbClr val="FFFFFF"/>
          </a:solidFill>
          <a:ln w="19050">
            <a:solidFill>
              <a:srgbClr val="0A6EBD"/>
            </a:solidFill>
            <a:prstDash val="solid"/>
          </a:ln>
        </p:spPr>
        <p:txBody>
          <a:bodyPr/>
          <a:lstStyle/>
          <a:p>
            <a:endParaRPr lang="fr-FR"/>
          </a:p>
        </p:txBody>
      </p:sp>
      <p:sp>
        <p:nvSpPr>
          <p:cNvPr id="34" name="A2_827"/>
          <p:cNvSpPr txBox="1"/>
          <p:nvPr/>
        </p:nvSpPr>
        <p:spPr>
          <a:xfrm>
            <a:off x="7498080" y="3840480"/>
            <a:ext cx="2651760" cy="960120"/>
          </a:xfrm>
          <a:prstGeom prst="rect">
            <a:avLst/>
          </a:prstGeom>
          <a:noFill/>
          <a:ln/>
        </p:spPr>
        <p:txBody>
          <a:bodyPr wrap="square" lIns="0" tIns="0" rIns="0" bIns="0" rtlCol="0" anchor="ctr"/>
          <a:lstStyle/>
          <a:p>
            <a:pPr marL="0" indent="0" algn="ctr">
              <a:buNone/>
            </a:pPr>
            <a:r>
              <a:rPr lang="en-US" sz="1300" b="1" dirty="0">
                <a:solidFill>
                  <a:srgbClr val="0B3C66"/>
                </a:solidFill>
                <a:latin typeface="Arial" pitchFamily="34" charset="0"/>
                <a:ea typeface="Arial" pitchFamily="34" charset="-122"/>
                <a:cs typeface="Arial" pitchFamily="34" charset="-120"/>
              </a:rPr>
              <a:t>Service IA</a:t>
            </a:r>
            <a:endParaRPr lang="en-US" sz="1400" dirty="0"/>
          </a:p>
          <a:p>
            <a:pPr marL="0" indent="0" algn="ctr">
              <a:buNone/>
            </a:pPr>
            <a:r>
              <a:rPr lang="en-US" sz="1100" dirty="0">
                <a:solidFill>
                  <a:srgbClr val="595959"/>
                </a:solidFill>
                <a:latin typeface="Arial" pitchFamily="34" charset="0"/>
                <a:ea typeface="Arial" pitchFamily="34" charset="-122"/>
                <a:cs typeface="Arial" pitchFamily="34" charset="-120"/>
              </a:rPr>
              <a:t>FastAPI · port 8000</a:t>
            </a:r>
            <a:endParaRPr lang="en-US" sz="1400" dirty="0"/>
          </a:p>
        </p:txBody>
      </p:sp>
      <p:sp>
        <p:nvSpPr>
          <p:cNvPr id="35" name="A2_828"/>
          <p:cNvSpPr/>
          <p:nvPr/>
        </p:nvSpPr>
        <p:spPr>
          <a:xfrm>
            <a:off x="4206240" y="5440680"/>
            <a:ext cx="2834640" cy="960120"/>
          </a:xfrm>
          <a:prstGeom prst="rect">
            <a:avLst/>
          </a:prstGeom>
          <a:solidFill>
            <a:srgbClr val="FFFFFF"/>
          </a:solidFill>
          <a:ln w="19050">
            <a:solidFill>
              <a:srgbClr val="0A6EBD"/>
            </a:solidFill>
            <a:prstDash val="dash"/>
          </a:ln>
        </p:spPr>
        <p:txBody>
          <a:bodyPr/>
          <a:lstStyle/>
          <a:p>
            <a:endParaRPr lang="fr-FR"/>
          </a:p>
        </p:txBody>
      </p:sp>
      <p:sp>
        <p:nvSpPr>
          <p:cNvPr id="36" name="A2_829"/>
          <p:cNvSpPr txBox="1"/>
          <p:nvPr/>
        </p:nvSpPr>
        <p:spPr>
          <a:xfrm>
            <a:off x="4297680" y="5440680"/>
            <a:ext cx="2651760" cy="960120"/>
          </a:xfrm>
          <a:prstGeom prst="rect">
            <a:avLst/>
          </a:prstGeom>
          <a:noFill/>
          <a:ln/>
        </p:spPr>
        <p:txBody>
          <a:bodyPr wrap="square" lIns="0" tIns="0" rIns="0" bIns="0" rtlCol="0" anchor="ctr"/>
          <a:lstStyle/>
          <a:p>
            <a:pPr marL="0" indent="0" algn="ctr">
              <a:buNone/>
            </a:pPr>
            <a:r>
              <a:rPr lang="en-US" sz="1300" b="1" dirty="0">
                <a:solidFill>
                  <a:srgbClr val="0B3C66"/>
                </a:solidFill>
                <a:latin typeface="Arial" pitchFamily="34" charset="0"/>
                <a:ea typeface="Arial" pitchFamily="34" charset="-122"/>
                <a:cs typeface="Arial" pitchFamily="34" charset="-120"/>
              </a:rPr>
              <a:t>SonarQube</a:t>
            </a:r>
            <a:endParaRPr lang="en-US" sz="1400" dirty="0"/>
          </a:p>
          <a:p>
            <a:pPr marL="0" indent="0" algn="ctr">
              <a:buNone/>
            </a:pPr>
            <a:r>
              <a:rPr lang="en-US" sz="1100" dirty="0">
                <a:solidFill>
                  <a:srgbClr val="595959"/>
                </a:solidFill>
                <a:latin typeface="Arial" pitchFamily="34" charset="0"/>
                <a:ea typeface="Arial" pitchFamily="34" charset="-122"/>
                <a:cs typeface="Arial" pitchFamily="34" charset="-120"/>
              </a:rPr>
              <a:t>analyse du code · 9000</a:t>
            </a:r>
            <a:endParaRPr lang="en-US" sz="1400" dirty="0"/>
          </a:p>
        </p:txBody>
      </p:sp>
      <p:sp>
        <p:nvSpPr>
          <p:cNvPr id="37" name="A2_830"/>
          <p:cNvSpPr/>
          <p:nvPr/>
        </p:nvSpPr>
        <p:spPr>
          <a:xfrm>
            <a:off x="7406640" y="5440680"/>
            <a:ext cx="2834640" cy="960120"/>
          </a:xfrm>
          <a:prstGeom prst="rect">
            <a:avLst/>
          </a:prstGeom>
          <a:solidFill>
            <a:srgbClr val="FFFFFF"/>
          </a:solidFill>
          <a:ln w="19050">
            <a:solidFill>
              <a:srgbClr val="0A6EBD"/>
            </a:solidFill>
            <a:prstDash val="dash"/>
          </a:ln>
        </p:spPr>
        <p:txBody>
          <a:bodyPr/>
          <a:lstStyle/>
          <a:p>
            <a:endParaRPr lang="fr-FR"/>
          </a:p>
        </p:txBody>
      </p:sp>
      <p:sp>
        <p:nvSpPr>
          <p:cNvPr id="38" name="A2_831"/>
          <p:cNvSpPr txBox="1"/>
          <p:nvPr/>
        </p:nvSpPr>
        <p:spPr>
          <a:xfrm>
            <a:off x="7498080" y="5440680"/>
            <a:ext cx="2651760" cy="960120"/>
          </a:xfrm>
          <a:prstGeom prst="rect">
            <a:avLst/>
          </a:prstGeom>
          <a:noFill/>
          <a:ln/>
        </p:spPr>
        <p:txBody>
          <a:bodyPr wrap="square" lIns="0" tIns="0" rIns="0" bIns="0" rtlCol="0" anchor="ctr"/>
          <a:lstStyle/>
          <a:p>
            <a:pPr marL="0" indent="0" algn="ctr">
              <a:buNone/>
            </a:pPr>
            <a:r>
              <a:rPr lang="en-US" sz="1300" b="1" dirty="0">
                <a:solidFill>
                  <a:srgbClr val="0B3C66"/>
                </a:solidFill>
                <a:latin typeface="Arial" pitchFamily="34" charset="0"/>
                <a:ea typeface="Arial" pitchFamily="34" charset="-122"/>
                <a:cs typeface="Arial" pitchFamily="34" charset="-120"/>
              </a:rPr>
              <a:t>Loki + Grafana</a:t>
            </a:r>
            <a:endParaRPr lang="en-US" sz="1400" dirty="0"/>
          </a:p>
          <a:p>
            <a:pPr marL="0" indent="0" algn="ctr">
              <a:buNone/>
            </a:pPr>
            <a:r>
              <a:rPr lang="en-US" sz="1100" dirty="0">
                <a:solidFill>
                  <a:srgbClr val="595959"/>
                </a:solidFill>
                <a:latin typeface="Arial" pitchFamily="34" charset="0"/>
                <a:ea typeface="Arial" pitchFamily="34" charset="-122"/>
                <a:cs typeface="Arial" pitchFamily="34" charset="-120"/>
              </a:rPr>
              <a:t>centralisation des logs · 3000</a:t>
            </a:r>
            <a:endParaRPr lang="en-US" sz="1400" dirty="0"/>
          </a:p>
        </p:txBody>
      </p:sp>
      <p:sp>
        <p:nvSpPr>
          <p:cNvPr id="39" name="A2_832"/>
          <p:cNvSpPr txBox="1"/>
          <p:nvPr/>
        </p:nvSpPr>
        <p:spPr>
          <a:xfrm>
            <a:off x="4206240" y="6967728"/>
            <a:ext cx="6035040" cy="274320"/>
          </a:xfrm>
          <a:prstGeom prst="rect">
            <a:avLst/>
          </a:prstGeom>
          <a:noFill/>
          <a:ln/>
        </p:spPr>
        <p:txBody>
          <a:bodyPr wrap="square" lIns="0" tIns="0" rIns="0" bIns="0" rtlCol="0" anchor="t"/>
          <a:lstStyle/>
          <a:p>
            <a:pPr marL="0" indent="0" algn="ctr">
              <a:buNone/>
            </a:pPr>
            <a:r>
              <a:rPr lang="en-US" sz="1000" i="1" dirty="0">
                <a:solidFill>
                  <a:srgbClr val="595959"/>
                </a:solidFill>
                <a:latin typeface="Arial" pitchFamily="34" charset="0"/>
                <a:ea typeface="Arial" pitchFamily="34" charset="-122"/>
                <a:cs typeface="Arial" pitchFamily="34" charset="-120"/>
              </a:rPr>
              <a:t>pointillés : services optionnels</a:t>
            </a:r>
            <a:endParaRPr lang="en-US" sz="1000" dirty="0"/>
          </a:p>
        </p:txBody>
      </p:sp>
      <p:sp>
        <p:nvSpPr>
          <p:cNvPr id="40" name="A3_833"/>
          <p:cNvSpPr/>
          <p:nvPr/>
        </p:nvSpPr>
        <p:spPr>
          <a:xfrm>
            <a:off x="1600200" y="1828800"/>
            <a:ext cx="914400" cy="914400"/>
          </a:xfrm>
          <a:prstGeom prst="ellipse">
            <a:avLst/>
          </a:prstGeom>
          <a:solidFill>
            <a:srgbClr val="0B3C66"/>
          </a:solidFill>
          <a:ln w="12700">
            <a:solidFill>
              <a:srgbClr val="0B3C66"/>
            </a:solidFill>
            <a:prstDash val="solid"/>
          </a:ln>
        </p:spPr>
        <p:txBody>
          <a:bodyPr/>
          <a:lstStyle/>
          <a:p>
            <a:endParaRPr lang="fr-FR"/>
          </a:p>
        </p:txBody>
      </p:sp>
      <p:pic>
        <p:nvPicPr>
          <p:cNvPr id="41" name="A3_834" descr="preencoded.png"/>
          <p:cNvPicPr>
            <a:picLocks noChangeAspect="1"/>
          </p:cNvPicPr>
          <p:nvPr/>
        </p:nvPicPr>
        <p:blipFill>
          <a:blip r:embed="rId5"/>
          <a:stretch>
            <a:fillRect/>
          </a:stretch>
        </p:blipFill>
        <p:spPr>
          <a:xfrm>
            <a:off x="1819656" y="2048256"/>
            <a:ext cx="475488" cy="475488"/>
          </a:xfrm>
          <a:prstGeom prst="rect">
            <a:avLst/>
          </a:prstGeom>
        </p:spPr>
      </p:pic>
      <p:sp>
        <p:nvSpPr>
          <p:cNvPr id="42" name="A3_835"/>
          <p:cNvSpPr txBox="1"/>
          <p:nvPr/>
        </p:nvSpPr>
        <p:spPr>
          <a:xfrm>
            <a:off x="731520" y="2834640"/>
            <a:ext cx="2651760" cy="320040"/>
          </a:xfrm>
          <a:prstGeom prst="rect">
            <a:avLst/>
          </a:prstGeom>
          <a:noFill/>
          <a:ln/>
        </p:spPr>
        <p:txBody>
          <a:bodyPr wrap="square" lIns="0" tIns="0" rIns="0" bIns="0" rtlCol="0" anchor="t"/>
          <a:lstStyle/>
          <a:p>
            <a:pPr marL="0" indent="0" algn="ctr">
              <a:buNone/>
            </a:pPr>
            <a:r>
              <a:rPr lang="en-US" sz="1400" b="1" dirty="0">
                <a:solidFill>
                  <a:srgbClr val="0B3C66"/>
                </a:solidFill>
                <a:latin typeface="Arial" pitchFamily="34" charset="0"/>
                <a:ea typeface="Arial" pitchFamily="34" charset="-122"/>
                <a:cs typeface="Arial" pitchFamily="34" charset="-120"/>
              </a:rPr>
              <a:t>Poste utilisateur</a:t>
            </a:r>
            <a:endParaRPr lang="en-US" sz="1400" dirty="0"/>
          </a:p>
        </p:txBody>
      </p:sp>
      <p:sp>
        <p:nvSpPr>
          <p:cNvPr id="43" name="A3_836"/>
          <p:cNvSpPr txBox="1"/>
          <p:nvPr/>
        </p:nvSpPr>
        <p:spPr>
          <a:xfrm>
            <a:off x="731520" y="3154680"/>
            <a:ext cx="2651760" cy="457200"/>
          </a:xfrm>
          <a:prstGeom prst="rect">
            <a:avLst/>
          </a:prstGeom>
          <a:noFill/>
          <a:ln/>
        </p:spPr>
        <p:txBody>
          <a:bodyPr wrap="square" lIns="0" tIns="0" rIns="0" bIns="0" rtlCol="0" anchor="t"/>
          <a:lstStyle/>
          <a:p>
            <a:pPr marL="0" indent="0" algn="ctr">
              <a:buNone/>
            </a:pPr>
            <a:r>
              <a:rPr lang="en-US" sz="1100" dirty="0">
                <a:solidFill>
                  <a:srgbClr val="595959"/>
                </a:solidFill>
                <a:latin typeface="Arial" pitchFamily="34" charset="0"/>
                <a:ea typeface="Arial" pitchFamily="34" charset="-122"/>
                <a:cs typeface="Arial" pitchFamily="34" charset="-120"/>
              </a:rPr>
              <a:t>Navigateur web</a:t>
            </a:r>
            <a:endParaRPr lang="en-US" sz="1100" dirty="0"/>
          </a:p>
        </p:txBody>
      </p:sp>
      <p:sp>
        <p:nvSpPr>
          <p:cNvPr id="44" name="A3_837"/>
          <p:cNvSpPr/>
          <p:nvPr/>
        </p:nvSpPr>
        <p:spPr>
          <a:xfrm>
            <a:off x="1600200" y="4846320"/>
            <a:ext cx="914400" cy="914400"/>
          </a:xfrm>
          <a:prstGeom prst="ellipse">
            <a:avLst/>
          </a:prstGeom>
          <a:solidFill>
            <a:srgbClr val="0B3C66"/>
          </a:solidFill>
          <a:ln w="12700">
            <a:solidFill>
              <a:srgbClr val="0B3C66"/>
            </a:solidFill>
            <a:prstDash val="solid"/>
          </a:ln>
        </p:spPr>
        <p:txBody>
          <a:bodyPr/>
          <a:lstStyle/>
          <a:p>
            <a:endParaRPr lang="fr-FR"/>
          </a:p>
        </p:txBody>
      </p:sp>
      <p:pic>
        <p:nvPicPr>
          <p:cNvPr id="45" name="A3_838" descr="preencoded.png"/>
          <p:cNvPicPr>
            <a:picLocks noChangeAspect="1"/>
          </p:cNvPicPr>
          <p:nvPr/>
        </p:nvPicPr>
        <p:blipFill>
          <a:blip r:embed="rId6"/>
          <a:stretch>
            <a:fillRect/>
          </a:stretch>
        </p:blipFill>
        <p:spPr>
          <a:xfrm>
            <a:off x="1819656" y="5065776"/>
            <a:ext cx="475488" cy="475488"/>
          </a:xfrm>
          <a:prstGeom prst="rect">
            <a:avLst/>
          </a:prstGeom>
        </p:spPr>
      </p:pic>
      <p:sp>
        <p:nvSpPr>
          <p:cNvPr id="46" name="A3_839"/>
          <p:cNvSpPr txBox="1"/>
          <p:nvPr/>
        </p:nvSpPr>
        <p:spPr>
          <a:xfrm>
            <a:off x="731520" y="5852160"/>
            <a:ext cx="2651760" cy="320040"/>
          </a:xfrm>
          <a:prstGeom prst="rect">
            <a:avLst/>
          </a:prstGeom>
          <a:noFill/>
          <a:ln/>
        </p:spPr>
        <p:txBody>
          <a:bodyPr wrap="square" lIns="0" tIns="0" rIns="0" bIns="0" rtlCol="0" anchor="t"/>
          <a:lstStyle/>
          <a:p>
            <a:pPr marL="0" indent="0" algn="ctr">
              <a:buNone/>
            </a:pPr>
            <a:r>
              <a:rPr lang="en-US" sz="1400" b="1" dirty="0">
                <a:solidFill>
                  <a:srgbClr val="0B3C66"/>
                </a:solidFill>
                <a:latin typeface="Arial" pitchFamily="34" charset="0"/>
                <a:ea typeface="Arial" pitchFamily="34" charset="-122"/>
                <a:cs typeface="Arial" pitchFamily="34" charset="-120"/>
              </a:rPr>
              <a:t>Serveur CI/CD</a:t>
            </a:r>
            <a:endParaRPr lang="en-US" sz="1400" dirty="0"/>
          </a:p>
        </p:txBody>
      </p:sp>
      <p:sp>
        <p:nvSpPr>
          <p:cNvPr id="47" name="A3_840"/>
          <p:cNvSpPr txBox="1"/>
          <p:nvPr/>
        </p:nvSpPr>
        <p:spPr>
          <a:xfrm>
            <a:off x="731520" y="6172200"/>
            <a:ext cx="2651760" cy="457200"/>
          </a:xfrm>
          <a:prstGeom prst="rect">
            <a:avLst/>
          </a:prstGeom>
          <a:noFill/>
          <a:ln/>
        </p:spPr>
        <p:txBody>
          <a:bodyPr wrap="square" lIns="0" tIns="0" rIns="0" bIns="0" rtlCol="0" anchor="t"/>
          <a:lstStyle/>
          <a:p>
            <a:pPr marL="0" indent="0" algn="ctr">
              <a:buNone/>
            </a:pPr>
            <a:r>
              <a:rPr lang="en-US" sz="1100" dirty="0">
                <a:solidFill>
                  <a:srgbClr val="595959"/>
                </a:solidFill>
                <a:latin typeface="Arial" pitchFamily="34" charset="0"/>
                <a:ea typeface="Arial" pitchFamily="34" charset="-122"/>
                <a:cs typeface="Arial" pitchFamily="34" charset="-120"/>
              </a:rPr>
              <a:t>GitHub Actions · GitLab CI · Jenkins</a:t>
            </a:r>
            <a:endParaRPr lang="en-US" sz="1100" dirty="0"/>
          </a:p>
        </p:txBody>
      </p:sp>
      <p:sp>
        <p:nvSpPr>
          <p:cNvPr id="48" name="A3_841"/>
          <p:cNvSpPr/>
          <p:nvPr/>
        </p:nvSpPr>
        <p:spPr>
          <a:xfrm>
            <a:off x="11887200" y="3291840"/>
            <a:ext cx="914400" cy="914400"/>
          </a:xfrm>
          <a:prstGeom prst="ellipse">
            <a:avLst/>
          </a:prstGeom>
          <a:solidFill>
            <a:srgbClr val="0B3C66"/>
          </a:solidFill>
          <a:ln w="12700">
            <a:solidFill>
              <a:srgbClr val="0B3C66"/>
            </a:solidFill>
            <a:prstDash val="solid"/>
          </a:ln>
        </p:spPr>
        <p:txBody>
          <a:bodyPr/>
          <a:lstStyle/>
          <a:p>
            <a:endParaRPr lang="fr-FR"/>
          </a:p>
        </p:txBody>
      </p:sp>
      <p:pic>
        <p:nvPicPr>
          <p:cNvPr id="49" name="A3_842" descr="preencoded.png"/>
          <p:cNvPicPr>
            <a:picLocks noChangeAspect="1"/>
          </p:cNvPicPr>
          <p:nvPr/>
        </p:nvPicPr>
        <p:blipFill>
          <a:blip r:embed="rId7"/>
          <a:stretch>
            <a:fillRect/>
          </a:stretch>
        </p:blipFill>
        <p:spPr>
          <a:xfrm>
            <a:off x="12106656" y="3511296"/>
            <a:ext cx="475488" cy="475488"/>
          </a:xfrm>
          <a:prstGeom prst="rect">
            <a:avLst/>
          </a:prstGeom>
        </p:spPr>
      </p:pic>
      <p:sp>
        <p:nvSpPr>
          <p:cNvPr id="50" name="A3_843"/>
          <p:cNvSpPr txBox="1"/>
          <p:nvPr/>
        </p:nvSpPr>
        <p:spPr>
          <a:xfrm>
            <a:off x="11018520" y="4297680"/>
            <a:ext cx="2651760" cy="320040"/>
          </a:xfrm>
          <a:prstGeom prst="rect">
            <a:avLst/>
          </a:prstGeom>
          <a:noFill/>
          <a:ln/>
        </p:spPr>
        <p:txBody>
          <a:bodyPr wrap="square" lIns="0" tIns="0" rIns="0" bIns="0" rtlCol="0" anchor="t"/>
          <a:lstStyle/>
          <a:p>
            <a:pPr marL="0" indent="0" algn="ctr">
              <a:buNone/>
            </a:pPr>
            <a:r>
              <a:rPr lang="en-US" sz="1400" b="1" dirty="0">
                <a:solidFill>
                  <a:srgbClr val="0B3C66"/>
                </a:solidFill>
                <a:latin typeface="Arial" pitchFamily="34" charset="0"/>
                <a:ea typeface="Arial" pitchFamily="34" charset="-122"/>
                <a:cs typeface="Arial" pitchFamily="34" charset="-120"/>
              </a:rPr>
              <a:t>Cloud Groq</a:t>
            </a:r>
            <a:endParaRPr lang="en-US" sz="1400" dirty="0"/>
          </a:p>
        </p:txBody>
      </p:sp>
      <p:sp>
        <p:nvSpPr>
          <p:cNvPr id="51" name="A3_844"/>
          <p:cNvSpPr txBox="1"/>
          <p:nvPr/>
        </p:nvSpPr>
        <p:spPr>
          <a:xfrm>
            <a:off x="11018520" y="4617720"/>
            <a:ext cx="2651760" cy="457200"/>
          </a:xfrm>
          <a:prstGeom prst="rect">
            <a:avLst/>
          </a:prstGeom>
          <a:noFill/>
          <a:ln/>
        </p:spPr>
        <p:txBody>
          <a:bodyPr wrap="square" lIns="0" tIns="0" rIns="0" bIns="0" rtlCol="0" anchor="t"/>
          <a:lstStyle/>
          <a:p>
            <a:pPr marL="0" indent="0" algn="ctr">
              <a:buNone/>
            </a:pPr>
            <a:r>
              <a:rPr lang="en-US" sz="1100" dirty="0">
                <a:solidFill>
                  <a:srgbClr val="595959"/>
                </a:solidFill>
                <a:latin typeface="Arial" pitchFamily="34" charset="0"/>
                <a:ea typeface="Arial" pitchFamily="34" charset="-122"/>
                <a:cs typeface="Arial" pitchFamily="34" charset="-120"/>
              </a:rPr>
              <a:t>Modèle de langage (LLM)</a:t>
            </a:r>
            <a:endParaRPr lang="en-US" sz="1100" dirty="0"/>
          </a:p>
        </p:txBody>
      </p:sp>
      <p:sp>
        <p:nvSpPr>
          <p:cNvPr id="52" name="A4_845"/>
          <p:cNvSpPr/>
          <p:nvPr/>
        </p:nvSpPr>
        <p:spPr>
          <a:xfrm>
            <a:off x="2926080" y="2286000"/>
            <a:ext cx="1280160" cy="411480"/>
          </a:xfrm>
          <a:prstGeom prst="line">
            <a:avLst/>
          </a:prstGeom>
          <a:noFill/>
          <a:ln w="22225">
            <a:solidFill>
              <a:srgbClr val="EF2B41"/>
            </a:solidFill>
            <a:prstDash val="solid"/>
            <a:tailEnd type="triangle"/>
          </a:ln>
        </p:spPr>
        <p:txBody>
          <a:bodyPr/>
          <a:lstStyle/>
          <a:p>
            <a:endParaRPr lang="fr-FR"/>
          </a:p>
        </p:txBody>
      </p:sp>
      <p:sp>
        <p:nvSpPr>
          <p:cNvPr id="53" name="A4_846"/>
          <p:cNvSpPr txBox="1"/>
          <p:nvPr/>
        </p:nvSpPr>
        <p:spPr>
          <a:xfrm>
            <a:off x="2834640" y="2057400"/>
            <a:ext cx="1097280" cy="256032"/>
          </a:xfrm>
          <a:prstGeom prst="rect">
            <a:avLst/>
          </a:prstGeom>
          <a:noFill/>
          <a:ln/>
        </p:spPr>
        <p:txBody>
          <a:bodyPr wrap="square" lIns="0" tIns="0" rIns="0" bIns="0" rtlCol="0" anchor="t"/>
          <a:lstStyle/>
          <a:p>
            <a:pPr marL="0" indent="0">
              <a:buNone/>
            </a:pPr>
            <a:r>
              <a:rPr lang="en-US" sz="1000" b="1" dirty="0">
                <a:solidFill>
                  <a:srgbClr val="EF2B41"/>
                </a:solidFill>
                <a:latin typeface="Arial" pitchFamily="34" charset="0"/>
                <a:ea typeface="Arial" pitchFamily="34" charset="-122"/>
                <a:cs typeface="Arial" pitchFamily="34" charset="-120"/>
              </a:rPr>
              <a:t>HTTPS</a:t>
            </a:r>
            <a:endParaRPr lang="en-US" sz="1000" dirty="0"/>
          </a:p>
        </p:txBody>
      </p:sp>
      <p:sp>
        <p:nvSpPr>
          <p:cNvPr id="54" name="A4_847"/>
          <p:cNvSpPr/>
          <p:nvPr/>
        </p:nvSpPr>
        <p:spPr>
          <a:xfrm>
            <a:off x="2926080" y="5303520"/>
            <a:ext cx="1115568" cy="0"/>
          </a:xfrm>
          <a:prstGeom prst="line">
            <a:avLst/>
          </a:prstGeom>
          <a:noFill/>
          <a:ln w="22225">
            <a:solidFill>
              <a:srgbClr val="EF2B41"/>
            </a:solidFill>
            <a:prstDash val="solid"/>
          </a:ln>
        </p:spPr>
        <p:txBody>
          <a:bodyPr/>
          <a:lstStyle/>
          <a:p>
            <a:endParaRPr lang="fr-FR"/>
          </a:p>
        </p:txBody>
      </p:sp>
      <p:sp>
        <p:nvSpPr>
          <p:cNvPr id="55" name="A4_848"/>
          <p:cNvSpPr/>
          <p:nvPr/>
        </p:nvSpPr>
        <p:spPr>
          <a:xfrm flipV="1">
            <a:off x="4041648" y="3520440"/>
            <a:ext cx="0" cy="1783080"/>
          </a:xfrm>
          <a:prstGeom prst="line">
            <a:avLst/>
          </a:prstGeom>
          <a:noFill/>
          <a:ln w="22225">
            <a:solidFill>
              <a:srgbClr val="EF2B41"/>
            </a:solidFill>
            <a:prstDash val="solid"/>
          </a:ln>
        </p:spPr>
        <p:txBody>
          <a:bodyPr/>
          <a:lstStyle/>
          <a:p>
            <a:endParaRPr lang="fr-FR"/>
          </a:p>
        </p:txBody>
      </p:sp>
      <p:sp>
        <p:nvSpPr>
          <p:cNvPr id="56" name="A4_849"/>
          <p:cNvSpPr/>
          <p:nvPr/>
        </p:nvSpPr>
        <p:spPr>
          <a:xfrm>
            <a:off x="4041648" y="3520440"/>
            <a:ext cx="3593592" cy="0"/>
          </a:xfrm>
          <a:prstGeom prst="line">
            <a:avLst/>
          </a:prstGeom>
          <a:noFill/>
          <a:ln w="22225">
            <a:solidFill>
              <a:srgbClr val="EF2B41"/>
            </a:solidFill>
            <a:prstDash val="solid"/>
          </a:ln>
        </p:spPr>
        <p:txBody>
          <a:bodyPr/>
          <a:lstStyle/>
          <a:p>
            <a:endParaRPr lang="fr-FR"/>
          </a:p>
        </p:txBody>
      </p:sp>
      <p:sp>
        <p:nvSpPr>
          <p:cNvPr id="57" name="A4_850"/>
          <p:cNvSpPr/>
          <p:nvPr/>
        </p:nvSpPr>
        <p:spPr>
          <a:xfrm flipV="1">
            <a:off x="7635240" y="3227832"/>
            <a:ext cx="0" cy="292608"/>
          </a:xfrm>
          <a:prstGeom prst="line">
            <a:avLst/>
          </a:prstGeom>
          <a:noFill/>
          <a:ln w="22225">
            <a:solidFill>
              <a:srgbClr val="EF2B41"/>
            </a:solidFill>
            <a:prstDash val="solid"/>
            <a:tailEnd type="triangle"/>
          </a:ln>
        </p:spPr>
        <p:txBody>
          <a:bodyPr/>
          <a:lstStyle/>
          <a:p>
            <a:endParaRPr lang="fr-FR"/>
          </a:p>
        </p:txBody>
      </p:sp>
      <p:sp>
        <p:nvSpPr>
          <p:cNvPr id="58" name="A4_851"/>
          <p:cNvSpPr txBox="1"/>
          <p:nvPr/>
        </p:nvSpPr>
        <p:spPr>
          <a:xfrm>
            <a:off x="2651760" y="4983480"/>
            <a:ext cx="1828800" cy="256032"/>
          </a:xfrm>
          <a:prstGeom prst="rect">
            <a:avLst/>
          </a:prstGeom>
          <a:noFill/>
          <a:ln/>
        </p:spPr>
        <p:txBody>
          <a:bodyPr wrap="square" lIns="0" tIns="0" rIns="0" bIns="0" rtlCol="0" anchor="t"/>
          <a:lstStyle/>
          <a:p>
            <a:pPr marL="0" indent="0">
              <a:buNone/>
            </a:pPr>
            <a:r>
              <a:rPr lang="en-US" sz="1000" b="1" dirty="0">
                <a:solidFill>
                  <a:srgbClr val="EF2B41"/>
                </a:solidFill>
                <a:latin typeface="Arial" pitchFamily="34" charset="0"/>
                <a:ea typeface="Arial" pitchFamily="34" charset="-122"/>
                <a:cs typeface="Arial" pitchFamily="34" charset="-120"/>
              </a:rPr>
              <a:t>HTTPS + clé d'API</a:t>
            </a:r>
            <a:endParaRPr lang="en-US" sz="1000" dirty="0"/>
          </a:p>
        </p:txBody>
      </p:sp>
      <p:sp>
        <p:nvSpPr>
          <p:cNvPr id="59" name="A4_852"/>
          <p:cNvSpPr/>
          <p:nvPr/>
        </p:nvSpPr>
        <p:spPr>
          <a:xfrm>
            <a:off x="7040880" y="2715768"/>
            <a:ext cx="365760" cy="0"/>
          </a:xfrm>
          <a:prstGeom prst="line">
            <a:avLst/>
          </a:prstGeom>
          <a:noFill/>
          <a:ln w="19050">
            <a:solidFill>
              <a:srgbClr val="0A6EBD"/>
            </a:solidFill>
            <a:prstDash val="solid"/>
            <a:tailEnd type="triangle"/>
          </a:ln>
        </p:spPr>
        <p:txBody>
          <a:bodyPr/>
          <a:lstStyle/>
          <a:p>
            <a:endParaRPr lang="fr-FR"/>
          </a:p>
        </p:txBody>
      </p:sp>
      <p:sp>
        <p:nvSpPr>
          <p:cNvPr id="60" name="A4_853"/>
          <p:cNvSpPr/>
          <p:nvPr/>
        </p:nvSpPr>
        <p:spPr>
          <a:xfrm flipH="1">
            <a:off x="6583680" y="3200400"/>
            <a:ext cx="1554480" cy="640080"/>
          </a:xfrm>
          <a:prstGeom prst="line">
            <a:avLst/>
          </a:prstGeom>
          <a:noFill/>
          <a:ln w="19050">
            <a:solidFill>
              <a:srgbClr val="0A6EBD"/>
            </a:solidFill>
            <a:prstDash val="solid"/>
            <a:tailEnd type="triangle"/>
          </a:ln>
        </p:spPr>
        <p:txBody>
          <a:bodyPr/>
          <a:lstStyle/>
          <a:p>
            <a:endParaRPr lang="fr-FR"/>
          </a:p>
        </p:txBody>
      </p:sp>
      <p:sp>
        <p:nvSpPr>
          <p:cNvPr id="61" name="A4_854"/>
          <p:cNvSpPr/>
          <p:nvPr/>
        </p:nvSpPr>
        <p:spPr>
          <a:xfrm>
            <a:off x="8823960" y="3200400"/>
            <a:ext cx="0" cy="640080"/>
          </a:xfrm>
          <a:prstGeom prst="line">
            <a:avLst/>
          </a:prstGeom>
          <a:noFill/>
          <a:ln w="19050">
            <a:solidFill>
              <a:srgbClr val="0A6EBD"/>
            </a:solidFill>
            <a:prstDash val="solid"/>
            <a:tailEnd type="triangle"/>
          </a:ln>
        </p:spPr>
        <p:txBody>
          <a:bodyPr/>
          <a:lstStyle/>
          <a:p>
            <a:endParaRPr lang="fr-FR"/>
          </a:p>
        </p:txBody>
      </p:sp>
      <p:sp>
        <p:nvSpPr>
          <p:cNvPr id="62" name="A4_855"/>
          <p:cNvSpPr/>
          <p:nvPr/>
        </p:nvSpPr>
        <p:spPr>
          <a:xfrm>
            <a:off x="10241280" y="2514600"/>
            <a:ext cx="182880" cy="0"/>
          </a:xfrm>
          <a:prstGeom prst="line">
            <a:avLst/>
          </a:prstGeom>
          <a:noFill/>
          <a:ln w="15875">
            <a:solidFill>
              <a:srgbClr val="0A6EBD"/>
            </a:solidFill>
            <a:prstDash val="dash"/>
          </a:ln>
        </p:spPr>
        <p:txBody>
          <a:bodyPr/>
          <a:lstStyle/>
          <a:p>
            <a:endParaRPr lang="fr-FR"/>
          </a:p>
        </p:txBody>
      </p:sp>
      <p:sp>
        <p:nvSpPr>
          <p:cNvPr id="63" name="A4_856"/>
          <p:cNvSpPr/>
          <p:nvPr/>
        </p:nvSpPr>
        <p:spPr>
          <a:xfrm>
            <a:off x="10424160" y="2514600"/>
            <a:ext cx="0" cy="3401568"/>
          </a:xfrm>
          <a:prstGeom prst="line">
            <a:avLst/>
          </a:prstGeom>
          <a:noFill/>
          <a:ln w="15875">
            <a:solidFill>
              <a:srgbClr val="0A6EBD"/>
            </a:solidFill>
            <a:prstDash val="dash"/>
          </a:ln>
        </p:spPr>
        <p:txBody>
          <a:bodyPr/>
          <a:lstStyle/>
          <a:p>
            <a:endParaRPr lang="fr-FR"/>
          </a:p>
        </p:txBody>
      </p:sp>
      <p:sp>
        <p:nvSpPr>
          <p:cNvPr id="64" name="A4_857"/>
          <p:cNvSpPr/>
          <p:nvPr/>
        </p:nvSpPr>
        <p:spPr>
          <a:xfrm flipH="1">
            <a:off x="10259568" y="5916168"/>
            <a:ext cx="164592" cy="0"/>
          </a:xfrm>
          <a:prstGeom prst="line">
            <a:avLst/>
          </a:prstGeom>
          <a:noFill/>
          <a:ln w="15875">
            <a:solidFill>
              <a:srgbClr val="0A6EBD"/>
            </a:solidFill>
            <a:prstDash val="dash"/>
            <a:tailEnd type="triangle"/>
          </a:ln>
        </p:spPr>
        <p:txBody>
          <a:bodyPr/>
          <a:lstStyle/>
          <a:p>
            <a:endParaRPr lang="fr-FR"/>
          </a:p>
        </p:txBody>
      </p:sp>
      <p:sp>
        <p:nvSpPr>
          <p:cNvPr id="65" name="A4_858"/>
          <p:cNvSpPr/>
          <p:nvPr/>
        </p:nvSpPr>
        <p:spPr>
          <a:xfrm>
            <a:off x="10424160" y="5916168"/>
            <a:ext cx="0" cy="987552"/>
          </a:xfrm>
          <a:prstGeom prst="line">
            <a:avLst/>
          </a:prstGeom>
          <a:noFill/>
          <a:ln w="15875">
            <a:solidFill>
              <a:srgbClr val="0A6EBD"/>
            </a:solidFill>
            <a:prstDash val="dash"/>
          </a:ln>
        </p:spPr>
        <p:txBody>
          <a:bodyPr/>
          <a:lstStyle/>
          <a:p>
            <a:endParaRPr lang="fr-FR"/>
          </a:p>
        </p:txBody>
      </p:sp>
      <p:sp>
        <p:nvSpPr>
          <p:cNvPr id="66" name="A4_859"/>
          <p:cNvSpPr/>
          <p:nvPr/>
        </p:nvSpPr>
        <p:spPr>
          <a:xfrm flipH="1">
            <a:off x="5394960" y="6903720"/>
            <a:ext cx="5029200" cy="0"/>
          </a:xfrm>
          <a:prstGeom prst="line">
            <a:avLst/>
          </a:prstGeom>
          <a:noFill/>
          <a:ln w="15875">
            <a:solidFill>
              <a:srgbClr val="0A6EBD"/>
            </a:solidFill>
            <a:prstDash val="dash"/>
          </a:ln>
        </p:spPr>
        <p:txBody>
          <a:bodyPr/>
          <a:lstStyle/>
          <a:p>
            <a:endParaRPr lang="fr-FR"/>
          </a:p>
        </p:txBody>
      </p:sp>
      <p:sp>
        <p:nvSpPr>
          <p:cNvPr id="67" name="A4_860"/>
          <p:cNvSpPr/>
          <p:nvPr/>
        </p:nvSpPr>
        <p:spPr>
          <a:xfrm flipV="1">
            <a:off x="5394960" y="6419088"/>
            <a:ext cx="0" cy="484632"/>
          </a:xfrm>
          <a:prstGeom prst="line">
            <a:avLst/>
          </a:prstGeom>
          <a:noFill/>
          <a:ln w="15875">
            <a:solidFill>
              <a:srgbClr val="0A6EBD"/>
            </a:solidFill>
            <a:prstDash val="dash"/>
            <a:tailEnd type="triangle"/>
          </a:ln>
        </p:spPr>
        <p:txBody>
          <a:bodyPr/>
          <a:lstStyle/>
          <a:p>
            <a:endParaRPr lang="fr-FR"/>
          </a:p>
        </p:txBody>
      </p:sp>
      <p:sp>
        <p:nvSpPr>
          <p:cNvPr id="68" name="A4_861"/>
          <p:cNvSpPr/>
          <p:nvPr/>
        </p:nvSpPr>
        <p:spPr>
          <a:xfrm flipV="1">
            <a:off x="10241280" y="3749040"/>
            <a:ext cx="1600200" cy="566928"/>
          </a:xfrm>
          <a:prstGeom prst="line">
            <a:avLst/>
          </a:prstGeom>
          <a:noFill/>
          <a:ln w="22225">
            <a:solidFill>
              <a:srgbClr val="EF2B41"/>
            </a:solidFill>
            <a:prstDash val="solid"/>
            <a:tailEnd type="triangle"/>
          </a:ln>
        </p:spPr>
        <p:txBody>
          <a:bodyPr/>
          <a:lstStyle/>
          <a:p>
            <a:endParaRPr lang="fr-FR"/>
          </a:p>
        </p:txBody>
      </p:sp>
      <p:sp>
        <p:nvSpPr>
          <p:cNvPr id="69" name="A4_862"/>
          <p:cNvSpPr txBox="1"/>
          <p:nvPr/>
        </p:nvSpPr>
        <p:spPr>
          <a:xfrm>
            <a:off x="10744200" y="3611880"/>
            <a:ext cx="1097280" cy="256032"/>
          </a:xfrm>
          <a:prstGeom prst="rect">
            <a:avLst/>
          </a:prstGeom>
          <a:noFill/>
          <a:ln/>
        </p:spPr>
        <p:txBody>
          <a:bodyPr wrap="square" lIns="0" tIns="0" rIns="0" bIns="0" rtlCol="0" anchor="t"/>
          <a:lstStyle/>
          <a:p>
            <a:pPr marL="0" indent="0">
              <a:buNone/>
            </a:pPr>
            <a:r>
              <a:rPr lang="en-US" sz="1000" b="1" dirty="0">
                <a:solidFill>
                  <a:srgbClr val="EF2B41"/>
                </a:solidFill>
                <a:latin typeface="Arial" pitchFamily="34" charset="0"/>
                <a:ea typeface="Arial" pitchFamily="34" charset="-122"/>
                <a:cs typeface="Arial" pitchFamily="34" charset="-120"/>
              </a:rPr>
              <a:t>HTTPS</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500"/>
                                        <p:tgtEl>
                                          <p:spTgt spid="2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500"/>
                                        <p:tgtEl>
                                          <p:spTgt spid="3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500"/>
                                        <p:tgtEl>
                                          <p:spTgt spid="3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4"/>
                                        </p:tgtEl>
                                        <p:attrNameLst>
                                          <p:attrName>style.visibility</p:attrName>
                                        </p:attrNameLst>
                                      </p:cBhvr>
                                      <p:to>
                                        <p:strVal val="visible"/>
                                      </p:to>
                                    </p:set>
                                    <p:animEffect transition="in" filter="fade">
                                      <p:cBhvr>
                                        <p:cTn id="38" dur="500"/>
                                        <p:tgtEl>
                                          <p:spTgt spid="3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5"/>
                                        </p:tgtEl>
                                        <p:attrNameLst>
                                          <p:attrName>style.visibility</p:attrName>
                                        </p:attrNameLst>
                                      </p:cBhvr>
                                      <p:to>
                                        <p:strVal val="visible"/>
                                      </p:to>
                                    </p:set>
                                    <p:animEffect transition="in" filter="fade">
                                      <p:cBhvr>
                                        <p:cTn id="41" dur="500"/>
                                        <p:tgtEl>
                                          <p:spTgt spid="3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500"/>
                                        <p:tgtEl>
                                          <p:spTgt spid="3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500"/>
                                        <p:tgtEl>
                                          <p:spTgt spid="3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8"/>
                                        </p:tgtEl>
                                        <p:attrNameLst>
                                          <p:attrName>style.visibility</p:attrName>
                                        </p:attrNameLst>
                                      </p:cBhvr>
                                      <p:to>
                                        <p:strVal val="visible"/>
                                      </p:to>
                                    </p:set>
                                    <p:animEffect transition="in" filter="fade">
                                      <p:cBhvr>
                                        <p:cTn id="50" dur="500"/>
                                        <p:tgtEl>
                                          <p:spTgt spid="3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fade">
                                      <p:cBhvr>
                                        <p:cTn id="53" dur="500"/>
                                        <p:tgtEl>
                                          <p:spTgt spid="39"/>
                                        </p:tgtEl>
                                      </p:cBhvr>
                                    </p:animEffect>
                                  </p:childTnLst>
                                </p:cTn>
                              </p:par>
                            </p:childTnLst>
                          </p:cTn>
                        </p:par>
                        <p:par>
                          <p:cTn id="54" fill="hold">
                            <p:stCondLst>
                              <p:cond delay="700"/>
                            </p:stCondLst>
                            <p:childTnLst>
                              <p:par>
                                <p:cTn id="55" presetID="10" presetClass="entr" presetSubtype="0" fill="hold" grpId="0" nodeType="after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50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500"/>
                                        <p:tgtEl>
                                          <p:spTgt spid="4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animEffect transition="in" filter="fade">
                                      <p:cBhvr>
                                        <p:cTn id="63" dur="500"/>
                                        <p:tgtEl>
                                          <p:spTgt spid="4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3"/>
                                        </p:tgtEl>
                                        <p:attrNameLst>
                                          <p:attrName>style.visibility</p:attrName>
                                        </p:attrNameLst>
                                      </p:cBhvr>
                                      <p:to>
                                        <p:strVal val="visible"/>
                                      </p:to>
                                    </p:set>
                                    <p:animEffect transition="in" filter="fade">
                                      <p:cBhvr>
                                        <p:cTn id="66" dur="500"/>
                                        <p:tgtEl>
                                          <p:spTgt spid="4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4"/>
                                        </p:tgtEl>
                                        <p:attrNameLst>
                                          <p:attrName>style.visibility</p:attrName>
                                        </p:attrNameLst>
                                      </p:cBhvr>
                                      <p:to>
                                        <p:strVal val="visible"/>
                                      </p:to>
                                    </p:set>
                                    <p:animEffect transition="in" filter="fade">
                                      <p:cBhvr>
                                        <p:cTn id="69" dur="500"/>
                                        <p:tgtEl>
                                          <p:spTgt spid="44"/>
                                        </p:tgtEl>
                                      </p:cBhvr>
                                    </p:animEffect>
                                  </p:childTnLst>
                                </p:cTn>
                              </p:par>
                              <p:par>
                                <p:cTn id="70" presetID="10" presetClass="entr" presetSubtype="0" fill="hold" nodeType="withEffect">
                                  <p:stCondLst>
                                    <p:cond delay="0"/>
                                  </p:stCondLst>
                                  <p:childTnLst>
                                    <p:set>
                                      <p:cBhvr>
                                        <p:cTn id="71" dur="1" fill="hold">
                                          <p:stCondLst>
                                            <p:cond delay="0"/>
                                          </p:stCondLst>
                                        </p:cTn>
                                        <p:tgtEl>
                                          <p:spTgt spid="45"/>
                                        </p:tgtEl>
                                        <p:attrNameLst>
                                          <p:attrName>style.visibility</p:attrName>
                                        </p:attrNameLst>
                                      </p:cBhvr>
                                      <p:to>
                                        <p:strVal val="visible"/>
                                      </p:to>
                                    </p:set>
                                    <p:animEffect transition="in" filter="fade">
                                      <p:cBhvr>
                                        <p:cTn id="72" dur="500"/>
                                        <p:tgtEl>
                                          <p:spTgt spid="4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6"/>
                                        </p:tgtEl>
                                        <p:attrNameLst>
                                          <p:attrName>style.visibility</p:attrName>
                                        </p:attrNameLst>
                                      </p:cBhvr>
                                      <p:to>
                                        <p:strVal val="visible"/>
                                      </p:to>
                                    </p:set>
                                    <p:animEffect transition="in" filter="fade">
                                      <p:cBhvr>
                                        <p:cTn id="75" dur="500"/>
                                        <p:tgtEl>
                                          <p:spTgt spid="4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7"/>
                                        </p:tgtEl>
                                        <p:attrNameLst>
                                          <p:attrName>style.visibility</p:attrName>
                                        </p:attrNameLst>
                                      </p:cBhvr>
                                      <p:to>
                                        <p:strVal val="visible"/>
                                      </p:to>
                                    </p:set>
                                    <p:animEffect transition="in" filter="fade">
                                      <p:cBhvr>
                                        <p:cTn id="78" dur="500"/>
                                        <p:tgtEl>
                                          <p:spTgt spid="4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500"/>
                                        <p:tgtEl>
                                          <p:spTgt spid="48"/>
                                        </p:tgtEl>
                                      </p:cBhvr>
                                    </p:animEffect>
                                  </p:childTnLst>
                                </p:cTn>
                              </p:par>
                              <p:par>
                                <p:cTn id="82" presetID="10" presetClass="entr" presetSubtype="0" fill="hold" nodeType="withEffect">
                                  <p:stCondLst>
                                    <p:cond delay="0"/>
                                  </p:stCondLst>
                                  <p:childTnLst>
                                    <p:set>
                                      <p:cBhvr>
                                        <p:cTn id="83" dur="1" fill="hold">
                                          <p:stCondLst>
                                            <p:cond delay="0"/>
                                          </p:stCondLst>
                                        </p:cTn>
                                        <p:tgtEl>
                                          <p:spTgt spid="49"/>
                                        </p:tgtEl>
                                        <p:attrNameLst>
                                          <p:attrName>style.visibility</p:attrName>
                                        </p:attrNameLst>
                                      </p:cBhvr>
                                      <p:to>
                                        <p:strVal val="visible"/>
                                      </p:to>
                                    </p:set>
                                    <p:animEffect transition="in" filter="fade">
                                      <p:cBhvr>
                                        <p:cTn id="84" dur="500"/>
                                        <p:tgtEl>
                                          <p:spTgt spid="4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0"/>
                                        </p:tgtEl>
                                        <p:attrNameLst>
                                          <p:attrName>style.visibility</p:attrName>
                                        </p:attrNameLst>
                                      </p:cBhvr>
                                      <p:to>
                                        <p:strVal val="visible"/>
                                      </p:to>
                                    </p:set>
                                    <p:animEffect transition="in" filter="fade">
                                      <p:cBhvr>
                                        <p:cTn id="87" dur="500"/>
                                        <p:tgtEl>
                                          <p:spTgt spid="5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1"/>
                                        </p:tgtEl>
                                        <p:attrNameLst>
                                          <p:attrName>style.visibility</p:attrName>
                                        </p:attrNameLst>
                                      </p:cBhvr>
                                      <p:to>
                                        <p:strVal val="visible"/>
                                      </p:to>
                                    </p:set>
                                    <p:animEffect transition="in" filter="fade">
                                      <p:cBhvr>
                                        <p:cTn id="90" dur="500"/>
                                        <p:tgtEl>
                                          <p:spTgt spid="51"/>
                                        </p:tgtEl>
                                      </p:cBhvr>
                                    </p:animEffect>
                                  </p:childTnLst>
                                </p:cTn>
                              </p:par>
                            </p:childTnLst>
                          </p:cTn>
                        </p:par>
                        <p:par>
                          <p:cTn id="91" fill="hold">
                            <p:stCondLst>
                              <p:cond delay="1050"/>
                            </p:stCondLst>
                            <p:childTnLst>
                              <p:par>
                                <p:cTn id="92" presetID="22" presetClass="entr" presetSubtype="8" fill="hold" grpId="0" nodeType="afterEffect">
                                  <p:stCondLst>
                                    <p:cond delay="0"/>
                                  </p:stCondLst>
                                  <p:childTnLst>
                                    <p:set>
                                      <p:cBhvr>
                                        <p:cTn id="93" dur="1" fill="hold">
                                          <p:stCondLst>
                                            <p:cond delay="0"/>
                                          </p:stCondLst>
                                        </p:cTn>
                                        <p:tgtEl>
                                          <p:spTgt spid="52"/>
                                        </p:tgtEl>
                                        <p:attrNameLst>
                                          <p:attrName>style.visibility</p:attrName>
                                        </p:attrNameLst>
                                      </p:cBhvr>
                                      <p:to>
                                        <p:strVal val="visible"/>
                                      </p:to>
                                    </p:set>
                                    <p:animEffect transition="in" filter="wipe(left)">
                                      <p:cBhvr>
                                        <p:cTn id="94" dur="500"/>
                                        <p:tgtEl>
                                          <p:spTgt spid="52"/>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3"/>
                                        </p:tgtEl>
                                        <p:attrNameLst>
                                          <p:attrName>style.visibility</p:attrName>
                                        </p:attrNameLst>
                                      </p:cBhvr>
                                      <p:to>
                                        <p:strVal val="visible"/>
                                      </p:to>
                                    </p:set>
                                    <p:animEffect transition="in" filter="fade">
                                      <p:cBhvr>
                                        <p:cTn id="97" dur="500"/>
                                        <p:tgtEl>
                                          <p:spTgt spid="53"/>
                                        </p:tgtEl>
                                      </p:cBhvr>
                                    </p:animEffect>
                                  </p:childTnLst>
                                </p:cTn>
                              </p:par>
                              <p:par>
                                <p:cTn id="98" presetID="22" presetClass="entr" presetSubtype="8" fill="hold" grpId="0" nodeType="withEffect">
                                  <p:stCondLst>
                                    <p:cond delay="0"/>
                                  </p:stCondLst>
                                  <p:childTnLst>
                                    <p:set>
                                      <p:cBhvr>
                                        <p:cTn id="99" dur="1" fill="hold">
                                          <p:stCondLst>
                                            <p:cond delay="0"/>
                                          </p:stCondLst>
                                        </p:cTn>
                                        <p:tgtEl>
                                          <p:spTgt spid="54"/>
                                        </p:tgtEl>
                                        <p:attrNameLst>
                                          <p:attrName>style.visibility</p:attrName>
                                        </p:attrNameLst>
                                      </p:cBhvr>
                                      <p:to>
                                        <p:strVal val="visible"/>
                                      </p:to>
                                    </p:set>
                                    <p:animEffect transition="in" filter="wipe(left)">
                                      <p:cBhvr>
                                        <p:cTn id="100" dur="500"/>
                                        <p:tgtEl>
                                          <p:spTgt spid="54"/>
                                        </p:tgtEl>
                                      </p:cBhvr>
                                    </p:animEffect>
                                  </p:childTnLst>
                                </p:cTn>
                              </p:par>
                              <p:par>
                                <p:cTn id="101" presetID="22" presetClass="entr" presetSubtype="8" fill="hold" grpId="0" nodeType="withEffect">
                                  <p:stCondLst>
                                    <p:cond delay="0"/>
                                  </p:stCondLst>
                                  <p:childTnLst>
                                    <p:set>
                                      <p:cBhvr>
                                        <p:cTn id="102" dur="1" fill="hold">
                                          <p:stCondLst>
                                            <p:cond delay="0"/>
                                          </p:stCondLst>
                                        </p:cTn>
                                        <p:tgtEl>
                                          <p:spTgt spid="55"/>
                                        </p:tgtEl>
                                        <p:attrNameLst>
                                          <p:attrName>style.visibility</p:attrName>
                                        </p:attrNameLst>
                                      </p:cBhvr>
                                      <p:to>
                                        <p:strVal val="visible"/>
                                      </p:to>
                                    </p:set>
                                    <p:animEffect transition="in" filter="wipe(left)">
                                      <p:cBhvr>
                                        <p:cTn id="103" dur="500"/>
                                        <p:tgtEl>
                                          <p:spTgt spid="55"/>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56"/>
                                        </p:tgtEl>
                                        <p:attrNameLst>
                                          <p:attrName>style.visibility</p:attrName>
                                        </p:attrNameLst>
                                      </p:cBhvr>
                                      <p:to>
                                        <p:strVal val="visible"/>
                                      </p:to>
                                    </p:set>
                                    <p:animEffect transition="in" filter="wipe(left)">
                                      <p:cBhvr>
                                        <p:cTn id="106" dur="500"/>
                                        <p:tgtEl>
                                          <p:spTgt spid="56"/>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57"/>
                                        </p:tgtEl>
                                        <p:attrNameLst>
                                          <p:attrName>style.visibility</p:attrName>
                                        </p:attrNameLst>
                                      </p:cBhvr>
                                      <p:to>
                                        <p:strVal val="visible"/>
                                      </p:to>
                                    </p:set>
                                    <p:animEffect transition="in" filter="wipe(left)">
                                      <p:cBhvr>
                                        <p:cTn id="109" dur="500"/>
                                        <p:tgtEl>
                                          <p:spTgt spid="57"/>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58"/>
                                        </p:tgtEl>
                                        <p:attrNameLst>
                                          <p:attrName>style.visibility</p:attrName>
                                        </p:attrNameLst>
                                      </p:cBhvr>
                                      <p:to>
                                        <p:strVal val="visible"/>
                                      </p:to>
                                    </p:set>
                                    <p:animEffect transition="in" filter="fade">
                                      <p:cBhvr>
                                        <p:cTn id="112" dur="500"/>
                                        <p:tgtEl>
                                          <p:spTgt spid="58"/>
                                        </p:tgtEl>
                                      </p:cBhvr>
                                    </p:animEffect>
                                  </p:childTnLst>
                                </p:cTn>
                              </p:par>
                              <p:par>
                                <p:cTn id="113" presetID="22" presetClass="entr" presetSubtype="8" fill="hold" grpId="0" nodeType="withEffect">
                                  <p:stCondLst>
                                    <p:cond delay="0"/>
                                  </p:stCondLst>
                                  <p:childTnLst>
                                    <p:set>
                                      <p:cBhvr>
                                        <p:cTn id="114" dur="1" fill="hold">
                                          <p:stCondLst>
                                            <p:cond delay="0"/>
                                          </p:stCondLst>
                                        </p:cTn>
                                        <p:tgtEl>
                                          <p:spTgt spid="59"/>
                                        </p:tgtEl>
                                        <p:attrNameLst>
                                          <p:attrName>style.visibility</p:attrName>
                                        </p:attrNameLst>
                                      </p:cBhvr>
                                      <p:to>
                                        <p:strVal val="visible"/>
                                      </p:to>
                                    </p:set>
                                    <p:animEffect transition="in" filter="wipe(left)">
                                      <p:cBhvr>
                                        <p:cTn id="115" dur="500"/>
                                        <p:tgtEl>
                                          <p:spTgt spid="59"/>
                                        </p:tgtEl>
                                      </p:cBhvr>
                                    </p:animEffect>
                                  </p:childTnLst>
                                </p:cTn>
                              </p:par>
                              <p:par>
                                <p:cTn id="116" presetID="22" presetClass="entr" presetSubtype="8" fill="hold" grpId="0" nodeType="withEffect">
                                  <p:stCondLst>
                                    <p:cond delay="0"/>
                                  </p:stCondLst>
                                  <p:childTnLst>
                                    <p:set>
                                      <p:cBhvr>
                                        <p:cTn id="117" dur="1" fill="hold">
                                          <p:stCondLst>
                                            <p:cond delay="0"/>
                                          </p:stCondLst>
                                        </p:cTn>
                                        <p:tgtEl>
                                          <p:spTgt spid="60"/>
                                        </p:tgtEl>
                                        <p:attrNameLst>
                                          <p:attrName>style.visibility</p:attrName>
                                        </p:attrNameLst>
                                      </p:cBhvr>
                                      <p:to>
                                        <p:strVal val="visible"/>
                                      </p:to>
                                    </p:set>
                                    <p:animEffect transition="in" filter="wipe(left)">
                                      <p:cBhvr>
                                        <p:cTn id="118" dur="500"/>
                                        <p:tgtEl>
                                          <p:spTgt spid="60"/>
                                        </p:tgtEl>
                                      </p:cBhvr>
                                    </p:animEffect>
                                  </p:childTnLst>
                                </p:cTn>
                              </p:par>
                              <p:par>
                                <p:cTn id="119" presetID="22" presetClass="entr" presetSubtype="8" fill="hold" grpId="0" nodeType="withEffect">
                                  <p:stCondLst>
                                    <p:cond delay="0"/>
                                  </p:stCondLst>
                                  <p:childTnLst>
                                    <p:set>
                                      <p:cBhvr>
                                        <p:cTn id="120" dur="1" fill="hold">
                                          <p:stCondLst>
                                            <p:cond delay="0"/>
                                          </p:stCondLst>
                                        </p:cTn>
                                        <p:tgtEl>
                                          <p:spTgt spid="61"/>
                                        </p:tgtEl>
                                        <p:attrNameLst>
                                          <p:attrName>style.visibility</p:attrName>
                                        </p:attrNameLst>
                                      </p:cBhvr>
                                      <p:to>
                                        <p:strVal val="visible"/>
                                      </p:to>
                                    </p:set>
                                    <p:animEffect transition="in" filter="wipe(left)">
                                      <p:cBhvr>
                                        <p:cTn id="121" dur="500"/>
                                        <p:tgtEl>
                                          <p:spTgt spid="61"/>
                                        </p:tgtEl>
                                      </p:cBhvr>
                                    </p:animEffect>
                                  </p:childTnLst>
                                </p:cTn>
                              </p:par>
                              <p:par>
                                <p:cTn id="122" presetID="22" presetClass="entr" presetSubtype="8" fill="hold" grpId="0" nodeType="with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500"/>
                                        <p:tgtEl>
                                          <p:spTgt spid="62"/>
                                        </p:tgtEl>
                                      </p:cBhvr>
                                    </p:animEffect>
                                  </p:childTnLst>
                                </p:cTn>
                              </p:par>
                              <p:par>
                                <p:cTn id="125" presetID="22" presetClass="entr" presetSubtype="8" fill="hold" grpId="0" nodeType="withEffect">
                                  <p:stCondLst>
                                    <p:cond delay="0"/>
                                  </p:stCondLst>
                                  <p:childTnLst>
                                    <p:set>
                                      <p:cBhvr>
                                        <p:cTn id="126" dur="1" fill="hold">
                                          <p:stCondLst>
                                            <p:cond delay="0"/>
                                          </p:stCondLst>
                                        </p:cTn>
                                        <p:tgtEl>
                                          <p:spTgt spid="63"/>
                                        </p:tgtEl>
                                        <p:attrNameLst>
                                          <p:attrName>style.visibility</p:attrName>
                                        </p:attrNameLst>
                                      </p:cBhvr>
                                      <p:to>
                                        <p:strVal val="visible"/>
                                      </p:to>
                                    </p:set>
                                    <p:animEffect transition="in" filter="wipe(left)">
                                      <p:cBhvr>
                                        <p:cTn id="127" dur="500"/>
                                        <p:tgtEl>
                                          <p:spTgt spid="63"/>
                                        </p:tgtEl>
                                      </p:cBhvr>
                                    </p:animEffect>
                                  </p:childTnLst>
                                </p:cTn>
                              </p:par>
                              <p:par>
                                <p:cTn id="128" presetID="22" presetClass="entr" presetSubtype="8" fill="hold" grpId="0" nodeType="withEffect">
                                  <p:stCondLst>
                                    <p:cond delay="0"/>
                                  </p:stCondLst>
                                  <p:childTnLst>
                                    <p:set>
                                      <p:cBhvr>
                                        <p:cTn id="129" dur="1" fill="hold">
                                          <p:stCondLst>
                                            <p:cond delay="0"/>
                                          </p:stCondLst>
                                        </p:cTn>
                                        <p:tgtEl>
                                          <p:spTgt spid="64"/>
                                        </p:tgtEl>
                                        <p:attrNameLst>
                                          <p:attrName>style.visibility</p:attrName>
                                        </p:attrNameLst>
                                      </p:cBhvr>
                                      <p:to>
                                        <p:strVal val="visible"/>
                                      </p:to>
                                    </p:set>
                                    <p:animEffect transition="in" filter="wipe(left)">
                                      <p:cBhvr>
                                        <p:cTn id="130" dur="500"/>
                                        <p:tgtEl>
                                          <p:spTgt spid="64"/>
                                        </p:tgtEl>
                                      </p:cBhvr>
                                    </p:animEffect>
                                  </p:childTnLst>
                                </p:cTn>
                              </p:par>
                              <p:par>
                                <p:cTn id="131" presetID="22" presetClass="entr" presetSubtype="8" fill="hold" grpId="0" nodeType="withEffect">
                                  <p:stCondLst>
                                    <p:cond delay="0"/>
                                  </p:stCondLst>
                                  <p:childTnLst>
                                    <p:set>
                                      <p:cBhvr>
                                        <p:cTn id="132" dur="1" fill="hold">
                                          <p:stCondLst>
                                            <p:cond delay="0"/>
                                          </p:stCondLst>
                                        </p:cTn>
                                        <p:tgtEl>
                                          <p:spTgt spid="65"/>
                                        </p:tgtEl>
                                        <p:attrNameLst>
                                          <p:attrName>style.visibility</p:attrName>
                                        </p:attrNameLst>
                                      </p:cBhvr>
                                      <p:to>
                                        <p:strVal val="visible"/>
                                      </p:to>
                                    </p:set>
                                    <p:animEffect transition="in" filter="wipe(left)">
                                      <p:cBhvr>
                                        <p:cTn id="133" dur="500"/>
                                        <p:tgtEl>
                                          <p:spTgt spid="65"/>
                                        </p:tgtEl>
                                      </p:cBhvr>
                                    </p:animEffect>
                                  </p:childTnLst>
                                </p:cTn>
                              </p:par>
                              <p:par>
                                <p:cTn id="134" presetID="22" presetClass="entr" presetSubtype="8" fill="hold" grpId="0" nodeType="withEffect">
                                  <p:stCondLst>
                                    <p:cond delay="0"/>
                                  </p:stCondLst>
                                  <p:childTnLst>
                                    <p:set>
                                      <p:cBhvr>
                                        <p:cTn id="135" dur="1" fill="hold">
                                          <p:stCondLst>
                                            <p:cond delay="0"/>
                                          </p:stCondLst>
                                        </p:cTn>
                                        <p:tgtEl>
                                          <p:spTgt spid="66"/>
                                        </p:tgtEl>
                                        <p:attrNameLst>
                                          <p:attrName>style.visibility</p:attrName>
                                        </p:attrNameLst>
                                      </p:cBhvr>
                                      <p:to>
                                        <p:strVal val="visible"/>
                                      </p:to>
                                    </p:set>
                                    <p:animEffect transition="in" filter="wipe(left)">
                                      <p:cBhvr>
                                        <p:cTn id="136" dur="500"/>
                                        <p:tgtEl>
                                          <p:spTgt spid="66"/>
                                        </p:tgtEl>
                                      </p:cBhvr>
                                    </p:animEffect>
                                  </p:childTnLst>
                                </p:cTn>
                              </p:par>
                              <p:par>
                                <p:cTn id="137" presetID="22" presetClass="entr" presetSubtype="8" fill="hold" grpId="0" nodeType="withEffect">
                                  <p:stCondLst>
                                    <p:cond delay="0"/>
                                  </p:stCondLst>
                                  <p:childTnLst>
                                    <p:set>
                                      <p:cBhvr>
                                        <p:cTn id="138" dur="1" fill="hold">
                                          <p:stCondLst>
                                            <p:cond delay="0"/>
                                          </p:stCondLst>
                                        </p:cTn>
                                        <p:tgtEl>
                                          <p:spTgt spid="67"/>
                                        </p:tgtEl>
                                        <p:attrNameLst>
                                          <p:attrName>style.visibility</p:attrName>
                                        </p:attrNameLst>
                                      </p:cBhvr>
                                      <p:to>
                                        <p:strVal val="visible"/>
                                      </p:to>
                                    </p:set>
                                    <p:animEffect transition="in" filter="wipe(left)">
                                      <p:cBhvr>
                                        <p:cTn id="139" dur="500"/>
                                        <p:tgtEl>
                                          <p:spTgt spid="67"/>
                                        </p:tgtEl>
                                      </p:cBhvr>
                                    </p:animEffect>
                                  </p:childTnLst>
                                </p:cTn>
                              </p:par>
                              <p:par>
                                <p:cTn id="140" presetID="22" presetClass="entr" presetSubtype="8" fill="hold" grpId="0" nodeType="withEffect">
                                  <p:stCondLst>
                                    <p:cond delay="0"/>
                                  </p:stCondLst>
                                  <p:childTnLst>
                                    <p:set>
                                      <p:cBhvr>
                                        <p:cTn id="141" dur="1" fill="hold">
                                          <p:stCondLst>
                                            <p:cond delay="0"/>
                                          </p:stCondLst>
                                        </p:cTn>
                                        <p:tgtEl>
                                          <p:spTgt spid="68"/>
                                        </p:tgtEl>
                                        <p:attrNameLst>
                                          <p:attrName>style.visibility</p:attrName>
                                        </p:attrNameLst>
                                      </p:cBhvr>
                                      <p:to>
                                        <p:strVal val="visible"/>
                                      </p:to>
                                    </p:set>
                                    <p:animEffect transition="in" filter="wipe(left)">
                                      <p:cBhvr>
                                        <p:cTn id="142" dur="500"/>
                                        <p:tgtEl>
                                          <p:spTgt spid="68"/>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69"/>
                                        </p:tgtEl>
                                        <p:attrNameLst>
                                          <p:attrName>style.visibility</p:attrName>
                                        </p:attrNameLst>
                                      </p:cBhvr>
                                      <p:to>
                                        <p:strVal val="visible"/>
                                      </p:to>
                                    </p:set>
                                    <p:animEffect transition="in" filter="fade">
                                      <p:cBhvr>
                                        <p:cTn id="145"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6" grpId="0" animBg="1"/>
      <p:bldP spid="47" grpId="0" animBg="1"/>
      <p:bldP spid="48"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3" name="A0_863"/>
          <p:cNvSpPr/>
          <p:nvPr/>
        </p:nvSpPr>
        <p:spPr>
          <a:xfrm>
            <a:off x="6800850" y="274320"/>
            <a:ext cx="109728" cy="109728"/>
          </a:xfrm>
          <a:prstGeom prst="rect">
            <a:avLst/>
          </a:prstGeom>
          <a:solidFill>
            <a:srgbClr val="0A6EBD"/>
          </a:solidFill>
          <a:ln w="12700">
            <a:solidFill>
              <a:srgbClr val="0A6EBD"/>
            </a:solidFill>
            <a:prstDash val="solid"/>
          </a:ln>
        </p:spPr>
      </p:sp>
      <p:sp>
        <p:nvSpPr>
          <p:cNvPr id="4" name="A0_864"/>
          <p:cNvSpPr/>
          <p:nvPr/>
        </p:nvSpPr>
        <p:spPr>
          <a:xfrm>
            <a:off x="6992874" y="274320"/>
            <a:ext cx="109728" cy="109728"/>
          </a:xfrm>
          <a:prstGeom prst="rect">
            <a:avLst/>
          </a:prstGeom>
          <a:solidFill>
            <a:srgbClr val="0A6EBD"/>
          </a:solidFill>
          <a:ln w="12700">
            <a:solidFill>
              <a:srgbClr val="0A6EBD"/>
            </a:solidFill>
            <a:prstDash val="solid"/>
          </a:ln>
        </p:spPr>
      </p:sp>
      <p:sp>
        <p:nvSpPr>
          <p:cNvPr id="5" name="A0_865"/>
          <p:cNvSpPr/>
          <p:nvPr/>
        </p:nvSpPr>
        <p:spPr>
          <a:xfrm>
            <a:off x="7184898" y="274320"/>
            <a:ext cx="109728" cy="109728"/>
          </a:xfrm>
          <a:prstGeom prst="rect">
            <a:avLst/>
          </a:prstGeom>
          <a:solidFill>
            <a:srgbClr val="0A6EBD"/>
          </a:solidFill>
          <a:ln w="12700">
            <a:solidFill>
              <a:srgbClr val="0A6EBD"/>
            </a:solidFill>
            <a:prstDash val="solid"/>
          </a:ln>
        </p:spPr>
      </p:sp>
      <p:sp>
        <p:nvSpPr>
          <p:cNvPr id="6" name="A0_866"/>
          <p:cNvSpPr/>
          <p:nvPr/>
        </p:nvSpPr>
        <p:spPr>
          <a:xfrm>
            <a:off x="7376922" y="274320"/>
            <a:ext cx="109728" cy="109728"/>
          </a:xfrm>
          <a:prstGeom prst="rect">
            <a:avLst/>
          </a:prstGeom>
          <a:solidFill>
            <a:srgbClr val="0A6EBD"/>
          </a:solidFill>
          <a:ln w="12700">
            <a:solidFill>
              <a:srgbClr val="0A6EBD"/>
            </a:solidFill>
            <a:prstDash val="solid"/>
          </a:ln>
        </p:spPr>
      </p:sp>
      <p:sp>
        <p:nvSpPr>
          <p:cNvPr id="7" name="A0_867"/>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Modèles IA et fonctionnalités avancées</a:t>
            </a:r>
            <a:endParaRPr lang="en-US" sz="3600" dirty="0"/>
          </a:p>
        </p:txBody>
      </p:sp>
      <p:pic>
        <p:nvPicPr>
          <p:cNvPr id="8" name="A0_868"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882"/>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883"/>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21</a:t>
            </a:r>
            <a:endParaRPr lang="en-US" sz="1500" dirty="0"/>
          </a:p>
        </p:txBody>
      </p:sp>
      <p:sp>
        <p:nvSpPr>
          <p:cNvPr id="24" name="A1_884"/>
          <p:cNvSpPr/>
          <p:nvPr/>
        </p:nvSpPr>
        <p:spPr>
          <a:xfrm>
            <a:off x="822960" y="1554480"/>
            <a:ext cx="2920365" cy="3703320"/>
          </a:xfrm>
          <a:prstGeom prst="rect">
            <a:avLst/>
          </a:prstGeom>
          <a:solidFill>
            <a:srgbClr val="FFFFFF"/>
          </a:solidFill>
          <a:ln w="15875">
            <a:solidFill>
              <a:srgbClr val="A9C4DE"/>
            </a:solidFill>
            <a:prstDash val="solid"/>
          </a:ln>
        </p:spPr>
        <p:txBody>
          <a:bodyPr/>
          <a:lstStyle/>
          <a:p>
            <a:endParaRPr lang="fr-FR"/>
          </a:p>
        </p:txBody>
      </p:sp>
      <p:sp>
        <p:nvSpPr>
          <p:cNvPr id="25" name="A1_885"/>
          <p:cNvSpPr/>
          <p:nvPr/>
        </p:nvSpPr>
        <p:spPr>
          <a:xfrm>
            <a:off x="1780222" y="1828800"/>
            <a:ext cx="1005840" cy="1005840"/>
          </a:xfrm>
          <a:prstGeom prst="ellipse">
            <a:avLst/>
          </a:prstGeom>
          <a:solidFill>
            <a:srgbClr val="FFFFFF"/>
          </a:solidFill>
          <a:ln w="76835">
            <a:solidFill>
              <a:srgbClr val="0A6EBD"/>
            </a:solidFill>
            <a:prstDash val="solid"/>
          </a:ln>
        </p:spPr>
        <p:txBody>
          <a:bodyPr/>
          <a:lstStyle/>
          <a:p>
            <a:endParaRPr lang="fr-FR"/>
          </a:p>
        </p:txBody>
      </p:sp>
      <p:pic>
        <p:nvPicPr>
          <p:cNvPr id="26" name="A1_886" descr="preencoded.png"/>
          <p:cNvPicPr>
            <a:picLocks noChangeAspect="1"/>
          </p:cNvPicPr>
          <p:nvPr/>
        </p:nvPicPr>
        <p:blipFill>
          <a:blip r:embed="rId4"/>
          <a:stretch>
            <a:fillRect/>
          </a:stretch>
        </p:blipFill>
        <p:spPr>
          <a:xfrm>
            <a:off x="2001507" y="2050085"/>
            <a:ext cx="563270" cy="563270"/>
          </a:xfrm>
          <a:prstGeom prst="rect">
            <a:avLst/>
          </a:prstGeom>
        </p:spPr>
      </p:pic>
      <p:sp>
        <p:nvSpPr>
          <p:cNvPr id="27" name="A1_887"/>
          <p:cNvSpPr txBox="1"/>
          <p:nvPr/>
        </p:nvSpPr>
        <p:spPr>
          <a:xfrm>
            <a:off x="1005840" y="2971800"/>
            <a:ext cx="2554605" cy="640080"/>
          </a:xfrm>
          <a:prstGeom prst="rect">
            <a:avLst/>
          </a:prstGeom>
          <a:noFill/>
          <a:ln/>
        </p:spPr>
        <p:txBody>
          <a:bodyPr wrap="square" lIns="0" tIns="0" rIns="0" bIns="0" rtlCol="0" anchor="ctr"/>
          <a:lstStyle/>
          <a:p>
            <a:pPr marL="0" indent="0" algn="ctr">
              <a:buNone/>
            </a:pPr>
            <a:r>
              <a:rPr lang="en-US" sz="1600" b="1" dirty="0">
                <a:solidFill>
                  <a:srgbClr val="0B3C66"/>
                </a:solidFill>
                <a:latin typeface="Arial" pitchFamily="34" charset="0"/>
                <a:ea typeface="Arial" pitchFamily="34" charset="-122"/>
                <a:cs typeface="Arial" pitchFamily="34" charset="-120"/>
              </a:rPr>
              <a:t>Regroupement des erreurs</a:t>
            </a:r>
            <a:endParaRPr lang="en-US" sz="1600" dirty="0"/>
          </a:p>
        </p:txBody>
      </p:sp>
      <p:sp>
        <p:nvSpPr>
          <p:cNvPr id="28" name="A1_888"/>
          <p:cNvSpPr/>
          <p:nvPr/>
        </p:nvSpPr>
        <p:spPr>
          <a:xfrm>
            <a:off x="1051560" y="3703320"/>
            <a:ext cx="2463165" cy="457200"/>
          </a:xfrm>
          <a:prstGeom prst="roundRect">
            <a:avLst>
              <a:gd name="adj" fmla="val 50000"/>
            </a:avLst>
          </a:prstGeom>
          <a:solidFill>
            <a:srgbClr val="EAF2FA"/>
          </a:solidFill>
          <a:ln w="12700">
            <a:solidFill>
              <a:srgbClr val="EAF2FA"/>
            </a:solidFill>
            <a:prstDash val="solid"/>
          </a:ln>
        </p:spPr>
        <p:txBody>
          <a:bodyPr/>
          <a:lstStyle/>
          <a:p>
            <a:endParaRPr lang="fr-FR"/>
          </a:p>
        </p:txBody>
      </p:sp>
      <p:sp>
        <p:nvSpPr>
          <p:cNvPr id="29" name="A1_889"/>
          <p:cNvSpPr txBox="1"/>
          <p:nvPr/>
        </p:nvSpPr>
        <p:spPr>
          <a:xfrm>
            <a:off x="1051560" y="3703320"/>
            <a:ext cx="2463165" cy="457200"/>
          </a:xfrm>
          <a:prstGeom prst="rect">
            <a:avLst/>
          </a:prstGeom>
          <a:noFill/>
          <a:ln/>
        </p:spPr>
        <p:txBody>
          <a:bodyPr wrap="square" lIns="0" tIns="0" rIns="0" bIns="0" rtlCol="0" anchor="ctr"/>
          <a:lstStyle/>
          <a:p>
            <a:pPr marL="0" indent="0" algn="ctr">
              <a:buNone/>
            </a:pPr>
            <a:r>
              <a:rPr lang="en-US" sz="1100" b="1" dirty="0">
                <a:solidFill>
                  <a:srgbClr val="0A6EBD"/>
                </a:solidFill>
                <a:latin typeface="Arial" pitchFamily="34" charset="0"/>
                <a:ea typeface="Arial" pitchFamily="34" charset="-122"/>
                <a:cs typeface="Arial" pitchFamily="34" charset="-120"/>
              </a:rPr>
              <a:t>TF-IDF + DBSCAN</a:t>
            </a:r>
            <a:endParaRPr lang="en-US" sz="1100" dirty="0"/>
          </a:p>
        </p:txBody>
      </p:sp>
      <p:sp>
        <p:nvSpPr>
          <p:cNvPr id="30" name="A1_890"/>
          <p:cNvSpPr txBox="1"/>
          <p:nvPr/>
        </p:nvSpPr>
        <p:spPr>
          <a:xfrm>
            <a:off x="1051560" y="4297680"/>
            <a:ext cx="2463165" cy="868680"/>
          </a:xfrm>
          <a:prstGeom prst="rect">
            <a:avLst/>
          </a:prstGeom>
          <a:noFill/>
          <a:ln/>
        </p:spPr>
        <p:txBody>
          <a:bodyPr wrap="square" lIns="0" tIns="0" rIns="0" bIns="0" rtlCol="0" anchor="t"/>
          <a:lstStyle/>
          <a:p>
            <a:pPr marL="0" indent="0" algn="ctr">
              <a:buNone/>
            </a:pPr>
            <a:r>
              <a:rPr lang="en-US" sz="1300" dirty="0">
                <a:solidFill>
                  <a:srgbClr val="595959"/>
                </a:solidFill>
                <a:latin typeface="Arial" pitchFamily="34" charset="0"/>
                <a:ea typeface="Arial" pitchFamily="34" charset="-122"/>
                <a:cs typeface="Arial" pitchFamily="34" charset="-120"/>
              </a:rPr>
              <a:t>Des milliers de lignes réduites à quelques familles d'erreurs</a:t>
            </a:r>
            <a:endParaRPr lang="en-US" sz="1300" dirty="0"/>
          </a:p>
        </p:txBody>
      </p:sp>
      <p:sp>
        <p:nvSpPr>
          <p:cNvPr id="31" name="A2_891"/>
          <p:cNvSpPr/>
          <p:nvPr/>
        </p:nvSpPr>
        <p:spPr>
          <a:xfrm>
            <a:off x="4063365" y="1554480"/>
            <a:ext cx="2920365" cy="3703320"/>
          </a:xfrm>
          <a:prstGeom prst="rect">
            <a:avLst/>
          </a:prstGeom>
          <a:solidFill>
            <a:srgbClr val="FFFFFF"/>
          </a:solidFill>
          <a:ln w="15875">
            <a:solidFill>
              <a:srgbClr val="A9C4DE"/>
            </a:solidFill>
            <a:prstDash val="solid"/>
          </a:ln>
        </p:spPr>
        <p:txBody>
          <a:bodyPr/>
          <a:lstStyle/>
          <a:p>
            <a:endParaRPr lang="fr-FR"/>
          </a:p>
        </p:txBody>
      </p:sp>
      <p:sp>
        <p:nvSpPr>
          <p:cNvPr id="32" name="A2_892"/>
          <p:cNvSpPr/>
          <p:nvPr/>
        </p:nvSpPr>
        <p:spPr>
          <a:xfrm>
            <a:off x="5020628" y="1828800"/>
            <a:ext cx="1005840" cy="1005840"/>
          </a:xfrm>
          <a:prstGeom prst="ellipse">
            <a:avLst/>
          </a:prstGeom>
          <a:solidFill>
            <a:srgbClr val="FFFFFF"/>
          </a:solidFill>
          <a:ln w="76835">
            <a:solidFill>
              <a:srgbClr val="0A6EBD"/>
            </a:solidFill>
            <a:prstDash val="solid"/>
          </a:ln>
        </p:spPr>
        <p:txBody>
          <a:bodyPr/>
          <a:lstStyle/>
          <a:p>
            <a:endParaRPr lang="fr-FR"/>
          </a:p>
        </p:txBody>
      </p:sp>
      <p:pic>
        <p:nvPicPr>
          <p:cNvPr id="33" name="A2_893" descr="preencoded.png"/>
          <p:cNvPicPr>
            <a:picLocks noChangeAspect="1"/>
          </p:cNvPicPr>
          <p:nvPr/>
        </p:nvPicPr>
        <p:blipFill>
          <a:blip r:embed="rId5"/>
          <a:stretch>
            <a:fillRect/>
          </a:stretch>
        </p:blipFill>
        <p:spPr>
          <a:xfrm>
            <a:off x="5241912" y="2050085"/>
            <a:ext cx="563270" cy="563270"/>
          </a:xfrm>
          <a:prstGeom prst="rect">
            <a:avLst/>
          </a:prstGeom>
        </p:spPr>
      </p:pic>
      <p:sp>
        <p:nvSpPr>
          <p:cNvPr id="34" name="A2_894"/>
          <p:cNvSpPr txBox="1"/>
          <p:nvPr/>
        </p:nvSpPr>
        <p:spPr>
          <a:xfrm>
            <a:off x="4246245" y="2971800"/>
            <a:ext cx="2554605" cy="640080"/>
          </a:xfrm>
          <a:prstGeom prst="rect">
            <a:avLst/>
          </a:prstGeom>
          <a:noFill/>
          <a:ln/>
        </p:spPr>
        <p:txBody>
          <a:bodyPr wrap="square" lIns="0" tIns="0" rIns="0" bIns="0" rtlCol="0" anchor="ctr"/>
          <a:lstStyle/>
          <a:p>
            <a:pPr marL="0" indent="0" algn="ctr">
              <a:buNone/>
            </a:pPr>
            <a:r>
              <a:rPr lang="en-US" sz="1600" b="1" dirty="0">
                <a:solidFill>
                  <a:srgbClr val="0B3C66"/>
                </a:solidFill>
                <a:latin typeface="Arial" pitchFamily="34" charset="0"/>
                <a:ea typeface="Arial" pitchFamily="34" charset="-122"/>
                <a:cs typeface="Arial" pitchFamily="34" charset="-120"/>
              </a:rPr>
              <a:t>Détection de pics</a:t>
            </a:r>
            <a:endParaRPr lang="en-US" sz="1600" dirty="0"/>
          </a:p>
        </p:txBody>
      </p:sp>
      <p:sp>
        <p:nvSpPr>
          <p:cNvPr id="35" name="A2_895"/>
          <p:cNvSpPr/>
          <p:nvPr/>
        </p:nvSpPr>
        <p:spPr>
          <a:xfrm>
            <a:off x="4291965" y="3703320"/>
            <a:ext cx="2463165" cy="457200"/>
          </a:xfrm>
          <a:prstGeom prst="roundRect">
            <a:avLst>
              <a:gd name="adj" fmla="val 50000"/>
            </a:avLst>
          </a:prstGeom>
          <a:solidFill>
            <a:srgbClr val="EAF2FA"/>
          </a:solidFill>
          <a:ln w="12700">
            <a:solidFill>
              <a:srgbClr val="EAF2FA"/>
            </a:solidFill>
            <a:prstDash val="solid"/>
          </a:ln>
        </p:spPr>
        <p:txBody>
          <a:bodyPr/>
          <a:lstStyle/>
          <a:p>
            <a:endParaRPr lang="fr-FR"/>
          </a:p>
        </p:txBody>
      </p:sp>
      <p:sp>
        <p:nvSpPr>
          <p:cNvPr id="36" name="A2_896"/>
          <p:cNvSpPr txBox="1"/>
          <p:nvPr/>
        </p:nvSpPr>
        <p:spPr>
          <a:xfrm>
            <a:off x="4291965" y="3703320"/>
            <a:ext cx="2463165" cy="457200"/>
          </a:xfrm>
          <a:prstGeom prst="rect">
            <a:avLst/>
          </a:prstGeom>
          <a:noFill/>
          <a:ln/>
        </p:spPr>
        <p:txBody>
          <a:bodyPr wrap="square" lIns="0" tIns="0" rIns="0" bIns="0" rtlCol="0" anchor="ctr"/>
          <a:lstStyle/>
          <a:p>
            <a:pPr marL="0" indent="0" algn="ctr">
              <a:buNone/>
            </a:pPr>
            <a:r>
              <a:rPr lang="en-US" sz="1100" b="1" dirty="0">
                <a:solidFill>
                  <a:srgbClr val="0A6EBD"/>
                </a:solidFill>
                <a:latin typeface="Arial" pitchFamily="34" charset="0"/>
                <a:ea typeface="Arial" pitchFamily="34" charset="-122"/>
                <a:cs typeface="Arial" pitchFamily="34" charset="-120"/>
              </a:rPr>
              <a:t>Z-score robuste + Isolation Forest</a:t>
            </a:r>
            <a:endParaRPr lang="en-US" sz="1100" dirty="0"/>
          </a:p>
        </p:txBody>
      </p:sp>
      <p:sp>
        <p:nvSpPr>
          <p:cNvPr id="37" name="A2_897"/>
          <p:cNvSpPr txBox="1"/>
          <p:nvPr/>
        </p:nvSpPr>
        <p:spPr>
          <a:xfrm>
            <a:off x="4291965" y="4297680"/>
            <a:ext cx="2463165" cy="868680"/>
          </a:xfrm>
          <a:prstGeom prst="rect">
            <a:avLst/>
          </a:prstGeom>
          <a:noFill/>
          <a:ln/>
        </p:spPr>
        <p:txBody>
          <a:bodyPr wrap="square" lIns="0" tIns="0" rIns="0" bIns="0" rtlCol="0" anchor="t"/>
          <a:lstStyle/>
          <a:p>
            <a:pPr marL="0" indent="0" algn="ctr">
              <a:buNone/>
            </a:pPr>
            <a:r>
              <a:rPr lang="en-US" sz="1300" dirty="0">
                <a:solidFill>
                  <a:srgbClr val="595959"/>
                </a:solidFill>
                <a:latin typeface="Arial" pitchFamily="34" charset="0"/>
                <a:ea typeface="Arial" pitchFamily="34" charset="-122"/>
                <a:cs typeface="Arial" pitchFamily="34" charset="-120"/>
              </a:rPr>
              <a:t>Repère automatiquement les moments anormaux</a:t>
            </a:r>
            <a:endParaRPr lang="en-US" sz="1300" dirty="0"/>
          </a:p>
        </p:txBody>
      </p:sp>
      <p:sp>
        <p:nvSpPr>
          <p:cNvPr id="38" name="A3_898"/>
          <p:cNvSpPr/>
          <p:nvPr/>
        </p:nvSpPr>
        <p:spPr>
          <a:xfrm>
            <a:off x="7303770" y="1554480"/>
            <a:ext cx="2920365" cy="3703320"/>
          </a:xfrm>
          <a:prstGeom prst="rect">
            <a:avLst/>
          </a:prstGeom>
          <a:solidFill>
            <a:srgbClr val="FFFFFF"/>
          </a:solidFill>
          <a:ln w="15875">
            <a:solidFill>
              <a:srgbClr val="A9C4DE"/>
            </a:solidFill>
            <a:prstDash val="solid"/>
          </a:ln>
        </p:spPr>
        <p:txBody>
          <a:bodyPr/>
          <a:lstStyle/>
          <a:p>
            <a:endParaRPr lang="fr-FR"/>
          </a:p>
        </p:txBody>
      </p:sp>
      <p:sp>
        <p:nvSpPr>
          <p:cNvPr id="39" name="A3_899"/>
          <p:cNvSpPr/>
          <p:nvPr/>
        </p:nvSpPr>
        <p:spPr>
          <a:xfrm>
            <a:off x="8261032" y="1828800"/>
            <a:ext cx="1005840" cy="1005840"/>
          </a:xfrm>
          <a:prstGeom prst="ellipse">
            <a:avLst/>
          </a:prstGeom>
          <a:solidFill>
            <a:srgbClr val="FFFFFF"/>
          </a:solidFill>
          <a:ln w="76835">
            <a:solidFill>
              <a:srgbClr val="0A6EBD"/>
            </a:solidFill>
            <a:prstDash val="solid"/>
          </a:ln>
        </p:spPr>
        <p:txBody>
          <a:bodyPr/>
          <a:lstStyle/>
          <a:p>
            <a:endParaRPr lang="fr-FR"/>
          </a:p>
        </p:txBody>
      </p:sp>
      <p:pic>
        <p:nvPicPr>
          <p:cNvPr id="40" name="A3_900" descr="preencoded.png"/>
          <p:cNvPicPr>
            <a:picLocks noChangeAspect="1"/>
          </p:cNvPicPr>
          <p:nvPr/>
        </p:nvPicPr>
        <p:blipFill>
          <a:blip r:embed="rId6"/>
          <a:stretch>
            <a:fillRect/>
          </a:stretch>
        </p:blipFill>
        <p:spPr>
          <a:xfrm>
            <a:off x="8482317" y="2050085"/>
            <a:ext cx="563270" cy="563270"/>
          </a:xfrm>
          <a:prstGeom prst="rect">
            <a:avLst/>
          </a:prstGeom>
        </p:spPr>
      </p:pic>
      <p:sp>
        <p:nvSpPr>
          <p:cNvPr id="41" name="A3_901"/>
          <p:cNvSpPr txBox="1"/>
          <p:nvPr/>
        </p:nvSpPr>
        <p:spPr>
          <a:xfrm>
            <a:off x="7486650" y="2971800"/>
            <a:ext cx="2554605" cy="640080"/>
          </a:xfrm>
          <a:prstGeom prst="rect">
            <a:avLst/>
          </a:prstGeom>
          <a:noFill/>
          <a:ln/>
        </p:spPr>
        <p:txBody>
          <a:bodyPr wrap="square" lIns="0" tIns="0" rIns="0" bIns="0" rtlCol="0" anchor="ctr"/>
          <a:lstStyle/>
          <a:p>
            <a:pPr marL="0" indent="0" algn="ctr">
              <a:buNone/>
            </a:pPr>
            <a:r>
              <a:rPr lang="en-US" sz="1600" b="1" dirty="0">
                <a:solidFill>
                  <a:srgbClr val="0B3C66"/>
                </a:solidFill>
                <a:latin typeface="Arial" pitchFamily="34" charset="0"/>
                <a:ea typeface="Arial" pitchFamily="34" charset="-122"/>
                <a:cs typeface="Arial" pitchFamily="34" charset="-120"/>
              </a:rPr>
              <a:t>Explication et correctif</a:t>
            </a:r>
            <a:endParaRPr lang="en-US" sz="1600" dirty="0"/>
          </a:p>
        </p:txBody>
      </p:sp>
      <p:sp>
        <p:nvSpPr>
          <p:cNvPr id="42" name="A3_902"/>
          <p:cNvSpPr/>
          <p:nvPr/>
        </p:nvSpPr>
        <p:spPr>
          <a:xfrm>
            <a:off x="7532370" y="3703320"/>
            <a:ext cx="2463165" cy="457200"/>
          </a:xfrm>
          <a:prstGeom prst="roundRect">
            <a:avLst>
              <a:gd name="adj" fmla="val 50000"/>
            </a:avLst>
          </a:prstGeom>
          <a:solidFill>
            <a:srgbClr val="EAF2FA"/>
          </a:solidFill>
          <a:ln w="12700">
            <a:solidFill>
              <a:srgbClr val="EAF2FA"/>
            </a:solidFill>
            <a:prstDash val="solid"/>
          </a:ln>
        </p:spPr>
        <p:txBody>
          <a:bodyPr/>
          <a:lstStyle/>
          <a:p>
            <a:endParaRPr lang="fr-FR"/>
          </a:p>
        </p:txBody>
      </p:sp>
      <p:sp>
        <p:nvSpPr>
          <p:cNvPr id="43" name="A3_903"/>
          <p:cNvSpPr txBox="1"/>
          <p:nvPr/>
        </p:nvSpPr>
        <p:spPr>
          <a:xfrm>
            <a:off x="7532370" y="3703320"/>
            <a:ext cx="2463165" cy="457200"/>
          </a:xfrm>
          <a:prstGeom prst="rect">
            <a:avLst/>
          </a:prstGeom>
          <a:noFill/>
          <a:ln/>
        </p:spPr>
        <p:txBody>
          <a:bodyPr wrap="square" lIns="0" tIns="0" rIns="0" bIns="0" rtlCol="0" anchor="ctr"/>
          <a:lstStyle/>
          <a:p>
            <a:pPr marL="0" indent="0" algn="ctr">
              <a:buNone/>
            </a:pPr>
            <a:r>
              <a:rPr lang="en-US" sz="1100" b="1" dirty="0">
                <a:solidFill>
                  <a:srgbClr val="0A6EBD"/>
                </a:solidFill>
                <a:latin typeface="Arial" pitchFamily="34" charset="0"/>
                <a:ea typeface="Arial" pitchFamily="34" charset="-122"/>
                <a:cs typeface="Arial" pitchFamily="34" charset="-120"/>
              </a:rPr>
              <a:t>LLM via Groq</a:t>
            </a:r>
            <a:endParaRPr lang="en-US" sz="1100" dirty="0"/>
          </a:p>
        </p:txBody>
      </p:sp>
      <p:sp>
        <p:nvSpPr>
          <p:cNvPr id="44" name="A3_904"/>
          <p:cNvSpPr txBox="1"/>
          <p:nvPr/>
        </p:nvSpPr>
        <p:spPr>
          <a:xfrm>
            <a:off x="7532370" y="4297680"/>
            <a:ext cx="2463165" cy="868680"/>
          </a:xfrm>
          <a:prstGeom prst="rect">
            <a:avLst/>
          </a:prstGeom>
          <a:noFill/>
          <a:ln/>
        </p:spPr>
        <p:txBody>
          <a:bodyPr wrap="square" lIns="0" tIns="0" rIns="0" bIns="0" rtlCol="0" anchor="t"/>
          <a:lstStyle/>
          <a:p>
            <a:pPr marL="0" indent="0" algn="ctr">
              <a:buNone/>
            </a:pPr>
            <a:r>
              <a:rPr lang="en-US" sz="1300" dirty="0">
                <a:solidFill>
                  <a:srgbClr val="595959"/>
                </a:solidFill>
                <a:latin typeface="Arial" pitchFamily="34" charset="0"/>
                <a:ea typeface="Arial" pitchFamily="34" charset="-122"/>
                <a:cs typeface="Arial" pitchFamily="34" charset="-120"/>
              </a:rPr>
              <a:t>Explique la cause en langage clair et propose une correction</a:t>
            </a:r>
            <a:endParaRPr lang="en-US" sz="1300" dirty="0"/>
          </a:p>
        </p:txBody>
      </p:sp>
      <p:sp>
        <p:nvSpPr>
          <p:cNvPr id="45" name="A4_905"/>
          <p:cNvSpPr/>
          <p:nvPr/>
        </p:nvSpPr>
        <p:spPr>
          <a:xfrm>
            <a:off x="10544175" y="1554480"/>
            <a:ext cx="2920365" cy="3703320"/>
          </a:xfrm>
          <a:prstGeom prst="rect">
            <a:avLst/>
          </a:prstGeom>
          <a:solidFill>
            <a:srgbClr val="FFFFFF"/>
          </a:solidFill>
          <a:ln w="15875">
            <a:solidFill>
              <a:srgbClr val="A9C4DE"/>
            </a:solidFill>
            <a:prstDash val="solid"/>
          </a:ln>
        </p:spPr>
        <p:txBody>
          <a:bodyPr/>
          <a:lstStyle/>
          <a:p>
            <a:endParaRPr lang="fr-FR"/>
          </a:p>
        </p:txBody>
      </p:sp>
      <p:sp>
        <p:nvSpPr>
          <p:cNvPr id="46" name="A4_906"/>
          <p:cNvSpPr/>
          <p:nvPr/>
        </p:nvSpPr>
        <p:spPr>
          <a:xfrm>
            <a:off x="11501438" y="1828800"/>
            <a:ext cx="1005840" cy="1005840"/>
          </a:xfrm>
          <a:prstGeom prst="ellipse">
            <a:avLst/>
          </a:prstGeom>
          <a:solidFill>
            <a:srgbClr val="FFFFFF"/>
          </a:solidFill>
          <a:ln w="76835">
            <a:solidFill>
              <a:srgbClr val="0A6EBD"/>
            </a:solidFill>
            <a:prstDash val="solid"/>
          </a:ln>
        </p:spPr>
        <p:txBody>
          <a:bodyPr/>
          <a:lstStyle/>
          <a:p>
            <a:endParaRPr lang="fr-FR"/>
          </a:p>
        </p:txBody>
      </p:sp>
      <p:pic>
        <p:nvPicPr>
          <p:cNvPr id="47" name="A4_907" descr="preencoded.png"/>
          <p:cNvPicPr>
            <a:picLocks noChangeAspect="1"/>
          </p:cNvPicPr>
          <p:nvPr/>
        </p:nvPicPr>
        <p:blipFill>
          <a:blip r:embed="rId7"/>
          <a:stretch>
            <a:fillRect/>
          </a:stretch>
        </p:blipFill>
        <p:spPr>
          <a:xfrm>
            <a:off x="11722722" y="2050085"/>
            <a:ext cx="563270" cy="563270"/>
          </a:xfrm>
          <a:prstGeom prst="rect">
            <a:avLst/>
          </a:prstGeom>
        </p:spPr>
      </p:pic>
      <p:sp>
        <p:nvSpPr>
          <p:cNvPr id="48" name="A4_908"/>
          <p:cNvSpPr txBox="1"/>
          <p:nvPr/>
        </p:nvSpPr>
        <p:spPr>
          <a:xfrm>
            <a:off x="10727055" y="2971800"/>
            <a:ext cx="2554605" cy="640080"/>
          </a:xfrm>
          <a:prstGeom prst="rect">
            <a:avLst/>
          </a:prstGeom>
          <a:noFill/>
          <a:ln/>
        </p:spPr>
        <p:txBody>
          <a:bodyPr wrap="square" lIns="0" tIns="0" rIns="0" bIns="0" rtlCol="0" anchor="ctr"/>
          <a:lstStyle/>
          <a:p>
            <a:pPr marL="0" indent="0" algn="ctr">
              <a:buNone/>
            </a:pPr>
            <a:r>
              <a:rPr lang="en-US" sz="1600" b="1" dirty="0">
                <a:solidFill>
                  <a:srgbClr val="0B3C66"/>
                </a:solidFill>
                <a:latin typeface="Arial" pitchFamily="34" charset="0"/>
                <a:ea typeface="Arial" pitchFamily="34" charset="-122"/>
                <a:cs typeface="Arial" pitchFamily="34" charset="-120"/>
              </a:rPr>
              <a:t>Copilote conversationnel</a:t>
            </a:r>
            <a:endParaRPr lang="en-US" sz="1600" dirty="0"/>
          </a:p>
        </p:txBody>
      </p:sp>
      <p:sp>
        <p:nvSpPr>
          <p:cNvPr id="49" name="A4_909"/>
          <p:cNvSpPr/>
          <p:nvPr/>
        </p:nvSpPr>
        <p:spPr>
          <a:xfrm>
            <a:off x="10772775" y="3703320"/>
            <a:ext cx="2463165" cy="457200"/>
          </a:xfrm>
          <a:prstGeom prst="roundRect">
            <a:avLst>
              <a:gd name="adj" fmla="val 50000"/>
            </a:avLst>
          </a:prstGeom>
          <a:solidFill>
            <a:srgbClr val="EAF2FA"/>
          </a:solidFill>
          <a:ln w="12700">
            <a:solidFill>
              <a:srgbClr val="EAF2FA"/>
            </a:solidFill>
            <a:prstDash val="solid"/>
          </a:ln>
        </p:spPr>
        <p:txBody>
          <a:bodyPr/>
          <a:lstStyle/>
          <a:p>
            <a:endParaRPr lang="fr-FR"/>
          </a:p>
        </p:txBody>
      </p:sp>
      <p:sp>
        <p:nvSpPr>
          <p:cNvPr id="50" name="A4_910"/>
          <p:cNvSpPr txBox="1"/>
          <p:nvPr/>
        </p:nvSpPr>
        <p:spPr>
          <a:xfrm>
            <a:off x="10772775" y="3703320"/>
            <a:ext cx="2463165" cy="457200"/>
          </a:xfrm>
          <a:prstGeom prst="rect">
            <a:avLst/>
          </a:prstGeom>
          <a:noFill/>
          <a:ln/>
        </p:spPr>
        <p:txBody>
          <a:bodyPr wrap="square" lIns="0" tIns="0" rIns="0" bIns="0" rtlCol="0" anchor="ctr"/>
          <a:lstStyle/>
          <a:p>
            <a:pPr marL="0" indent="0" algn="ctr">
              <a:buNone/>
            </a:pPr>
            <a:r>
              <a:rPr lang="en-US" sz="1100" b="1" dirty="0">
                <a:solidFill>
                  <a:srgbClr val="0A6EBD"/>
                </a:solidFill>
                <a:latin typeface="Arial" pitchFamily="34" charset="0"/>
                <a:ea typeface="Arial" pitchFamily="34" charset="-122"/>
                <a:cs typeface="Arial" pitchFamily="34" charset="-120"/>
              </a:rPr>
              <a:t>LLM + état réel du projet</a:t>
            </a:r>
            <a:endParaRPr lang="en-US" sz="1100" dirty="0"/>
          </a:p>
        </p:txBody>
      </p:sp>
      <p:sp>
        <p:nvSpPr>
          <p:cNvPr id="51" name="A4_911"/>
          <p:cNvSpPr txBox="1"/>
          <p:nvPr/>
        </p:nvSpPr>
        <p:spPr>
          <a:xfrm>
            <a:off x="10772775" y="4297680"/>
            <a:ext cx="2463165" cy="868680"/>
          </a:xfrm>
          <a:prstGeom prst="rect">
            <a:avLst/>
          </a:prstGeom>
          <a:noFill/>
          <a:ln/>
        </p:spPr>
        <p:txBody>
          <a:bodyPr wrap="square" lIns="0" tIns="0" rIns="0" bIns="0" rtlCol="0" anchor="t"/>
          <a:lstStyle/>
          <a:p>
            <a:pPr marL="0" indent="0" algn="ctr">
              <a:buNone/>
            </a:pPr>
            <a:r>
              <a:rPr lang="en-US" sz="1300" dirty="0">
                <a:solidFill>
                  <a:srgbClr val="595959"/>
                </a:solidFill>
                <a:latin typeface="Arial" pitchFamily="34" charset="0"/>
                <a:ea typeface="Arial" pitchFamily="34" charset="-122"/>
                <a:cs typeface="Arial" pitchFamily="34" charset="-120"/>
              </a:rPr>
              <a:t>Répond aux questions de l'équipe sur le projet</a:t>
            </a:r>
            <a:endParaRPr lang="en-US" sz="1300" dirty="0"/>
          </a:p>
        </p:txBody>
      </p:sp>
      <p:sp>
        <p:nvSpPr>
          <p:cNvPr id="52" name="A5_912"/>
          <p:cNvSpPr/>
          <p:nvPr/>
        </p:nvSpPr>
        <p:spPr>
          <a:xfrm>
            <a:off x="822960" y="5532120"/>
            <a:ext cx="6160770" cy="1600200"/>
          </a:xfrm>
          <a:prstGeom prst="rect">
            <a:avLst/>
          </a:prstGeom>
          <a:solidFill>
            <a:srgbClr val="0B3C66"/>
          </a:solidFill>
          <a:ln w="12700">
            <a:solidFill>
              <a:srgbClr val="0B3C66"/>
            </a:solidFill>
            <a:prstDash val="solid"/>
          </a:ln>
        </p:spPr>
        <p:txBody>
          <a:bodyPr/>
          <a:lstStyle/>
          <a:p>
            <a:endParaRPr lang="fr-FR"/>
          </a:p>
        </p:txBody>
      </p:sp>
      <p:sp>
        <p:nvSpPr>
          <p:cNvPr id="53" name="A5_913"/>
          <p:cNvSpPr/>
          <p:nvPr/>
        </p:nvSpPr>
        <p:spPr>
          <a:xfrm>
            <a:off x="1097280" y="5943600"/>
            <a:ext cx="777240" cy="777240"/>
          </a:xfrm>
          <a:prstGeom prst="ellipse">
            <a:avLst/>
          </a:prstGeom>
          <a:solidFill>
            <a:srgbClr val="FFFFFF"/>
          </a:solidFill>
          <a:ln w="12700">
            <a:solidFill>
              <a:srgbClr val="FFFFFF"/>
            </a:solidFill>
            <a:prstDash val="solid"/>
          </a:ln>
        </p:spPr>
        <p:txBody>
          <a:bodyPr/>
          <a:lstStyle/>
          <a:p>
            <a:endParaRPr lang="fr-FR"/>
          </a:p>
        </p:txBody>
      </p:sp>
      <p:pic>
        <p:nvPicPr>
          <p:cNvPr id="54" name="A5_914" descr="preencoded.png"/>
          <p:cNvPicPr>
            <a:picLocks noChangeAspect="1"/>
          </p:cNvPicPr>
          <p:nvPr/>
        </p:nvPicPr>
        <p:blipFill>
          <a:blip r:embed="rId8"/>
          <a:stretch>
            <a:fillRect/>
          </a:stretch>
        </p:blipFill>
        <p:spPr>
          <a:xfrm>
            <a:off x="1283818" y="6130138"/>
            <a:ext cx="404165" cy="404165"/>
          </a:xfrm>
          <a:prstGeom prst="rect">
            <a:avLst/>
          </a:prstGeom>
        </p:spPr>
      </p:pic>
      <p:sp>
        <p:nvSpPr>
          <p:cNvPr id="55" name="A5_915"/>
          <p:cNvSpPr txBox="1"/>
          <p:nvPr/>
        </p:nvSpPr>
        <p:spPr>
          <a:xfrm>
            <a:off x="2103120" y="5760720"/>
            <a:ext cx="4697730" cy="384048"/>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Moteur heuristique local</a:t>
            </a:r>
            <a:endParaRPr lang="en-US" sz="1600" dirty="0"/>
          </a:p>
        </p:txBody>
      </p:sp>
      <p:sp>
        <p:nvSpPr>
          <p:cNvPr id="56" name="A5_916"/>
          <p:cNvSpPr txBox="1"/>
          <p:nvPr/>
        </p:nvSpPr>
        <p:spPr>
          <a:xfrm>
            <a:off x="2103120" y="6172200"/>
            <a:ext cx="4697730" cy="822960"/>
          </a:xfrm>
          <a:prstGeom prst="rect">
            <a:avLst/>
          </a:prstGeom>
          <a:noFill/>
          <a:ln/>
        </p:spPr>
        <p:txBody>
          <a:bodyPr wrap="square" lIns="0" tIns="0" rIns="0" bIns="0" rtlCol="0" anchor="t"/>
          <a:lstStyle/>
          <a:p>
            <a:pPr marL="0" indent="0">
              <a:buNone/>
            </a:pPr>
            <a:r>
              <a:rPr lang="en-US" sz="1300" dirty="0">
                <a:solidFill>
                  <a:srgbClr val="DCEAF7"/>
                </a:solidFill>
                <a:latin typeface="Arial" pitchFamily="34" charset="0"/>
                <a:ea typeface="Arial" pitchFamily="34" charset="-122"/>
                <a:cs typeface="Arial" pitchFamily="34" charset="-120"/>
              </a:rPr>
              <a:t>Si le LLM est indisponible, des règles locales prennent le relais : l'assistant reste utile hors ligne.</a:t>
            </a:r>
            <a:endParaRPr lang="en-US" sz="1300" dirty="0"/>
          </a:p>
        </p:txBody>
      </p:sp>
      <p:sp>
        <p:nvSpPr>
          <p:cNvPr id="57" name="A6_917"/>
          <p:cNvSpPr/>
          <p:nvPr/>
        </p:nvSpPr>
        <p:spPr>
          <a:xfrm>
            <a:off x="7303770" y="5532120"/>
            <a:ext cx="6160770" cy="1600200"/>
          </a:xfrm>
          <a:prstGeom prst="rect">
            <a:avLst/>
          </a:prstGeom>
          <a:solidFill>
            <a:srgbClr val="0A6EBD"/>
          </a:solidFill>
          <a:ln w="12700">
            <a:solidFill>
              <a:srgbClr val="0A6EBD"/>
            </a:solidFill>
            <a:prstDash val="solid"/>
          </a:ln>
        </p:spPr>
        <p:txBody>
          <a:bodyPr/>
          <a:lstStyle/>
          <a:p>
            <a:endParaRPr lang="fr-FR"/>
          </a:p>
        </p:txBody>
      </p:sp>
      <p:sp>
        <p:nvSpPr>
          <p:cNvPr id="58" name="A6_918"/>
          <p:cNvSpPr/>
          <p:nvPr/>
        </p:nvSpPr>
        <p:spPr>
          <a:xfrm>
            <a:off x="7578090" y="5943600"/>
            <a:ext cx="777240" cy="777240"/>
          </a:xfrm>
          <a:prstGeom prst="ellipse">
            <a:avLst/>
          </a:prstGeom>
          <a:solidFill>
            <a:srgbClr val="FFFFFF"/>
          </a:solidFill>
          <a:ln w="12700">
            <a:solidFill>
              <a:srgbClr val="FFFFFF"/>
            </a:solidFill>
            <a:prstDash val="solid"/>
          </a:ln>
        </p:spPr>
        <p:txBody>
          <a:bodyPr/>
          <a:lstStyle/>
          <a:p>
            <a:endParaRPr lang="fr-FR"/>
          </a:p>
        </p:txBody>
      </p:sp>
      <p:pic>
        <p:nvPicPr>
          <p:cNvPr id="59" name="A6_919" descr="preencoded.png"/>
          <p:cNvPicPr>
            <a:picLocks noChangeAspect="1"/>
          </p:cNvPicPr>
          <p:nvPr/>
        </p:nvPicPr>
        <p:blipFill>
          <a:blip r:embed="rId9"/>
          <a:stretch>
            <a:fillRect/>
          </a:stretch>
        </p:blipFill>
        <p:spPr>
          <a:xfrm>
            <a:off x="7764628" y="6130138"/>
            <a:ext cx="404165" cy="404165"/>
          </a:xfrm>
          <a:prstGeom prst="rect">
            <a:avLst/>
          </a:prstGeom>
        </p:spPr>
      </p:pic>
      <p:sp>
        <p:nvSpPr>
          <p:cNvPr id="60" name="A6_920"/>
          <p:cNvSpPr txBox="1"/>
          <p:nvPr/>
        </p:nvSpPr>
        <p:spPr>
          <a:xfrm>
            <a:off x="8583930" y="5760720"/>
            <a:ext cx="4697730" cy="384048"/>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Validation humaine obligatoire</a:t>
            </a:r>
            <a:endParaRPr lang="en-US" sz="1600" dirty="0"/>
          </a:p>
        </p:txBody>
      </p:sp>
      <p:sp>
        <p:nvSpPr>
          <p:cNvPr id="61" name="A6_921"/>
          <p:cNvSpPr txBox="1"/>
          <p:nvPr/>
        </p:nvSpPr>
        <p:spPr>
          <a:xfrm>
            <a:off x="8583930" y="6172200"/>
            <a:ext cx="4697730" cy="822960"/>
          </a:xfrm>
          <a:prstGeom prst="rect">
            <a:avLst/>
          </a:prstGeom>
          <a:noFill/>
          <a:ln/>
        </p:spPr>
        <p:txBody>
          <a:bodyPr wrap="square" lIns="0" tIns="0" rIns="0" bIns="0" rtlCol="0" anchor="t"/>
          <a:lstStyle/>
          <a:p>
            <a:pPr marL="0" indent="0">
              <a:buNone/>
            </a:pPr>
            <a:r>
              <a:rPr lang="en-US" sz="1300" dirty="0">
                <a:solidFill>
                  <a:srgbClr val="DCEAF7"/>
                </a:solidFill>
                <a:latin typeface="Arial" pitchFamily="34" charset="0"/>
                <a:ea typeface="Arial" pitchFamily="34" charset="-122"/>
                <a:cs typeface="Arial" pitchFamily="34" charset="-120"/>
              </a:rPr>
              <a:t>Aucune correction n'est appliquée automatiquement : chaque recommandation est validée et tracée.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500"/>
                                        <p:tgtEl>
                                          <p:spTgt spid="2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childTnLst>
                          </p:cTn>
                        </p:par>
                        <p:par>
                          <p:cTn id="26" fill="hold">
                            <p:stCondLst>
                              <p:cond delay="350"/>
                            </p:stCondLst>
                            <p:childTnLst>
                              <p:par>
                                <p:cTn id="27" presetID="10" presetClass="entr" presetSubtype="0" fill="hold" grpId="0" nodeType="after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childTnLst>
                                </p:cTn>
                              </p:par>
                              <p:par>
                                <p:cTn id="33" presetID="10" presetClass="entr" presetSubtype="0" fill="hold" nodeType="with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500"/>
                                        <p:tgtEl>
                                          <p:spTgt spid="3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4"/>
                                        </p:tgtEl>
                                        <p:attrNameLst>
                                          <p:attrName>style.visibility</p:attrName>
                                        </p:attrNameLst>
                                      </p:cBhvr>
                                      <p:to>
                                        <p:strVal val="visible"/>
                                      </p:to>
                                    </p:set>
                                    <p:animEffect transition="in" filter="fade">
                                      <p:cBhvr>
                                        <p:cTn id="38" dur="500"/>
                                        <p:tgtEl>
                                          <p:spTgt spid="3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5"/>
                                        </p:tgtEl>
                                        <p:attrNameLst>
                                          <p:attrName>style.visibility</p:attrName>
                                        </p:attrNameLst>
                                      </p:cBhvr>
                                      <p:to>
                                        <p:strVal val="visible"/>
                                      </p:to>
                                    </p:set>
                                    <p:animEffect transition="in" filter="fade">
                                      <p:cBhvr>
                                        <p:cTn id="41" dur="500"/>
                                        <p:tgtEl>
                                          <p:spTgt spid="3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500"/>
                                        <p:tgtEl>
                                          <p:spTgt spid="3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500"/>
                                        <p:tgtEl>
                                          <p:spTgt spid="37"/>
                                        </p:tgtEl>
                                      </p:cBhvr>
                                    </p:animEffect>
                                  </p:childTnLst>
                                </p:cTn>
                              </p:par>
                            </p:childTnLst>
                          </p:cTn>
                        </p:par>
                        <p:par>
                          <p:cTn id="48" fill="hold">
                            <p:stCondLst>
                              <p:cond delay="700"/>
                            </p:stCondLst>
                            <p:childTnLst>
                              <p:par>
                                <p:cTn id="49" presetID="10" presetClass="entr" presetSubtype="0" fill="hold" grpId="0" nodeType="after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500"/>
                                        <p:tgtEl>
                                          <p:spTgt spid="3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500"/>
                                        <p:tgtEl>
                                          <p:spTgt spid="39"/>
                                        </p:tgtEl>
                                      </p:cBhvr>
                                    </p:animEffect>
                                  </p:childTnLst>
                                </p:cTn>
                              </p:par>
                              <p:par>
                                <p:cTn id="55" presetID="10" presetClass="entr" presetSubtype="0" fill="hold"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500"/>
                                        <p:tgtEl>
                                          <p:spTgt spid="4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500"/>
                                        <p:tgtEl>
                                          <p:spTgt spid="4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animEffect transition="in" filter="fade">
                                      <p:cBhvr>
                                        <p:cTn id="63" dur="500"/>
                                        <p:tgtEl>
                                          <p:spTgt spid="4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3"/>
                                        </p:tgtEl>
                                        <p:attrNameLst>
                                          <p:attrName>style.visibility</p:attrName>
                                        </p:attrNameLst>
                                      </p:cBhvr>
                                      <p:to>
                                        <p:strVal val="visible"/>
                                      </p:to>
                                    </p:set>
                                    <p:animEffect transition="in" filter="fade">
                                      <p:cBhvr>
                                        <p:cTn id="66" dur="500"/>
                                        <p:tgtEl>
                                          <p:spTgt spid="4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4"/>
                                        </p:tgtEl>
                                        <p:attrNameLst>
                                          <p:attrName>style.visibility</p:attrName>
                                        </p:attrNameLst>
                                      </p:cBhvr>
                                      <p:to>
                                        <p:strVal val="visible"/>
                                      </p:to>
                                    </p:set>
                                    <p:animEffect transition="in" filter="fade">
                                      <p:cBhvr>
                                        <p:cTn id="69" dur="500"/>
                                        <p:tgtEl>
                                          <p:spTgt spid="44"/>
                                        </p:tgtEl>
                                      </p:cBhvr>
                                    </p:animEffect>
                                  </p:childTnLst>
                                </p:cTn>
                              </p:par>
                            </p:childTnLst>
                          </p:cTn>
                        </p:par>
                        <p:par>
                          <p:cTn id="70" fill="hold">
                            <p:stCondLst>
                              <p:cond delay="1050"/>
                            </p:stCondLst>
                            <p:childTnLst>
                              <p:par>
                                <p:cTn id="71" presetID="10" presetClass="entr" presetSubtype="0" fill="hold" grpId="0" nodeType="afterEffect">
                                  <p:stCondLst>
                                    <p:cond delay="0"/>
                                  </p:stCondLst>
                                  <p:childTnLst>
                                    <p:set>
                                      <p:cBhvr>
                                        <p:cTn id="72" dur="1" fill="hold">
                                          <p:stCondLst>
                                            <p:cond delay="0"/>
                                          </p:stCondLst>
                                        </p:cTn>
                                        <p:tgtEl>
                                          <p:spTgt spid="45"/>
                                        </p:tgtEl>
                                        <p:attrNameLst>
                                          <p:attrName>style.visibility</p:attrName>
                                        </p:attrNameLst>
                                      </p:cBhvr>
                                      <p:to>
                                        <p:strVal val="visible"/>
                                      </p:to>
                                    </p:set>
                                    <p:animEffect transition="in" filter="fade">
                                      <p:cBhvr>
                                        <p:cTn id="73" dur="500"/>
                                        <p:tgtEl>
                                          <p:spTgt spid="45"/>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par>
                                <p:cTn id="77" presetID="10" presetClass="entr" presetSubtype="0" fill="hold" nodeType="withEffect">
                                  <p:stCondLst>
                                    <p:cond delay="0"/>
                                  </p:stCondLst>
                                  <p:childTnLst>
                                    <p:set>
                                      <p:cBhvr>
                                        <p:cTn id="78" dur="1" fill="hold">
                                          <p:stCondLst>
                                            <p:cond delay="0"/>
                                          </p:stCondLst>
                                        </p:cTn>
                                        <p:tgtEl>
                                          <p:spTgt spid="47"/>
                                        </p:tgtEl>
                                        <p:attrNameLst>
                                          <p:attrName>style.visibility</p:attrName>
                                        </p:attrNameLst>
                                      </p:cBhvr>
                                      <p:to>
                                        <p:strVal val="visible"/>
                                      </p:to>
                                    </p:set>
                                    <p:animEffect transition="in" filter="fade">
                                      <p:cBhvr>
                                        <p:cTn id="79" dur="500"/>
                                        <p:tgtEl>
                                          <p:spTgt spid="47"/>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8"/>
                                        </p:tgtEl>
                                        <p:attrNameLst>
                                          <p:attrName>style.visibility</p:attrName>
                                        </p:attrNameLst>
                                      </p:cBhvr>
                                      <p:to>
                                        <p:strVal val="visible"/>
                                      </p:to>
                                    </p:set>
                                    <p:animEffect transition="in" filter="fade">
                                      <p:cBhvr>
                                        <p:cTn id="82" dur="500"/>
                                        <p:tgtEl>
                                          <p:spTgt spid="48"/>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9"/>
                                        </p:tgtEl>
                                        <p:attrNameLst>
                                          <p:attrName>style.visibility</p:attrName>
                                        </p:attrNameLst>
                                      </p:cBhvr>
                                      <p:to>
                                        <p:strVal val="visible"/>
                                      </p:to>
                                    </p:set>
                                    <p:animEffect transition="in" filter="fade">
                                      <p:cBhvr>
                                        <p:cTn id="85" dur="500"/>
                                        <p:tgtEl>
                                          <p:spTgt spid="49"/>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0"/>
                                        </p:tgtEl>
                                        <p:attrNameLst>
                                          <p:attrName>style.visibility</p:attrName>
                                        </p:attrNameLst>
                                      </p:cBhvr>
                                      <p:to>
                                        <p:strVal val="visible"/>
                                      </p:to>
                                    </p:set>
                                    <p:animEffect transition="in" filter="fade">
                                      <p:cBhvr>
                                        <p:cTn id="88" dur="500"/>
                                        <p:tgtEl>
                                          <p:spTgt spid="5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1"/>
                                        </p:tgtEl>
                                        <p:attrNameLst>
                                          <p:attrName>style.visibility</p:attrName>
                                        </p:attrNameLst>
                                      </p:cBhvr>
                                      <p:to>
                                        <p:strVal val="visible"/>
                                      </p:to>
                                    </p:set>
                                    <p:animEffect transition="in" filter="fade">
                                      <p:cBhvr>
                                        <p:cTn id="91" dur="500"/>
                                        <p:tgtEl>
                                          <p:spTgt spid="51"/>
                                        </p:tgtEl>
                                      </p:cBhvr>
                                    </p:animEffect>
                                  </p:childTnLst>
                                </p:cTn>
                              </p:par>
                            </p:childTnLst>
                          </p:cTn>
                        </p:par>
                        <p:par>
                          <p:cTn id="92" fill="hold">
                            <p:stCondLst>
                              <p:cond delay="1400"/>
                            </p:stCondLst>
                            <p:childTnLst>
                              <p:par>
                                <p:cTn id="93" presetID="10" presetClass="entr" presetSubtype="0" fill="hold" grpId="0" nodeType="after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3"/>
                                        </p:tgtEl>
                                        <p:attrNameLst>
                                          <p:attrName>style.visibility</p:attrName>
                                        </p:attrNameLst>
                                      </p:cBhvr>
                                      <p:to>
                                        <p:strVal val="visible"/>
                                      </p:to>
                                    </p:set>
                                    <p:animEffect transition="in" filter="fade">
                                      <p:cBhvr>
                                        <p:cTn id="98" dur="500"/>
                                        <p:tgtEl>
                                          <p:spTgt spid="53"/>
                                        </p:tgtEl>
                                      </p:cBhvr>
                                    </p:animEffect>
                                  </p:childTnLst>
                                </p:cTn>
                              </p:par>
                              <p:par>
                                <p:cTn id="99" presetID="10" presetClass="entr" presetSubtype="0" fill="hold" nodeType="with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fade">
                                      <p:cBhvr>
                                        <p:cTn id="101" dur="500"/>
                                        <p:tgtEl>
                                          <p:spTgt spid="5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5"/>
                                        </p:tgtEl>
                                        <p:attrNameLst>
                                          <p:attrName>style.visibility</p:attrName>
                                        </p:attrNameLst>
                                      </p:cBhvr>
                                      <p:to>
                                        <p:strVal val="visible"/>
                                      </p:to>
                                    </p:set>
                                    <p:animEffect transition="in" filter="fade">
                                      <p:cBhvr>
                                        <p:cTn id="104" dur="500"/>
                                        <p:tgtEl>
                                          <p:spTgt spid="55"/>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6"/>
                                        </p:tgtEl>
                                        <p:attrNameLst>
                                          <p:attrName>style.visibility</p:attrName>
                                        </p:attrNameLst>
                                      </p:cBhvr>
                                      <p:to>
                                        <p:strVal val="visible"/>
                                      </p:to>
                                    </p:set>
                                    <p:animEffect transition="in" filter="fade">
                                      <p:cBhvr>
                                        <p:cTn id="107" dur="500"/>
                                        <p:tgtEl>
                                          <p:spTgt spid="56"/>
                                        </p:tgtEl>
                                      </p:cBhvr>
                                    </p:animEffect>
                                  </p:childTnLst>
                                </p:cTn>
                              </p:par>
                            </p:childTnLst>
                          </p:cTn>
                        </p:par>
                        <p:par>
                          <p:cTn id="108" fill="hold">
                            <p:stCondLst>
                              <p:cond delay="1750"/>
                            </p:stCondLst>
                            <p:childTnLst>
                              <p:par>
                                <p:cTn id="109" presetID="10" presetClass="entr" presetSubtype="0" fill="hold" grpId="0" nodeType="afterEffect">
                                  <p:stCondLst>
                                    <p:cond delay="0"/>
                                  </p:stCondLst>
                                  <p:childTnLst>
                                    <p:set>
                                      <p:cBhvr>
                                        <p:cTn id="110" dur="1" fill="hold">
                                          <p:stCondLst>
                                            <p:cond delay="0"/>
                                          </p:stCondLst>
                                        </p:cTn>
                                        <p:tgtEl>
                                          <p:spTgt spid="57"/>
                                        </p:tgtEl>
                                        <p:attrNameLst>
                                          <p:attrName>style.visibility</p:attrName>
                                        </p:attrNameLst>
                                      </p:cBhvr>
                                      <p:to>
                                        <p:strVal val="visible"/>
                                      </p:to>
                                    </p:set>
                                    <p:animEffect transition="in" filter="fade">
                                      <p:cBhvr>
                                        <p:cTn id="111" dur="500"/>
                                        <p:tgtEl>
                                          <p:spTgt spid="57"/>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8"/>
                                        </p:tgtEl>
                                        <p:attrNameLst>
                                          <p:attrName>style.visibility</p:attrName>
                                        </p:attrNameLst>
                                      </p:cBhvr>
                                      <p:to>
                                        <p:strVal val="visible"/>
                                      </p:to>
                                    </p:set>
                                    <p:animEffect transition="in" filter="fade">
                                      <p:cBhvr>
                                        <p:cTn id="114" dur="500"/>
                                        <p:tgtEl>
                                          <p:spTgt spid="58"/>
                                        </p:tgtEl>
                                      </p:cBhvr>
                                    </p:animEffect>
                                  </p:childTnLst>
                                </p:cTn>
                              </p:par>
                              <p:par>
                                <p:cTn id="115" presetID="10" presetClass="entr" presetSubtype="0" fill="hold" nodeType="withEffect">
                                  <p:stCondLst>
                                    <p:cond delay="0"/>
                                  </p:stCondLst>
                                  <p:childTnLst>
                                    <p:set>
                                      <p:cBhvr>
                                        <p:cTn id="116" dur="1" fill="hold">
                                          <p:stCondLst>
                                            <p:cond delay="0"/>
                                          </p:stCondLst>
                                        </p:cTn>
                                        <p:tgtEl>
                                          <p:spTgt spid="59"/>
                                        </p:tgtEl>
                                        <p:attrNameLst>
                                          <p:attrName>style.visibility</p:attrName>
                                        </p:attrNameLst>
                                      </p:cBhvr>
                                      <p:to>
                                        <p:strVal val="visible"/>
                                      </p:to>
                                    </p:set>
                                    <p:animEffect transition="in" filter="fade">
                                      <p:cBhvr>
                                        <p:cTn id="117" dur="500"/>
                                        <p:tgtEl>
                                          <p:spTgt spid="59"/>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0"/>
                                        </p:tgtEl>
                                        <p:attrNameLst>
                                          <p:attrName>style.visibility</p:attrName>
                                        </p:attrNameLst>
                                      </p:cBhvr>
                                      <p:to>
                                        <p:strVal val="visible"/>
                                      </p:to>
                                    </p:set>
                                    <p:animEffect transition="in" filter="fade">
                                      <p:cBhvr>
                                        <p:cTn id="120" dur="500"/>
                                        <p:tgtEl>
                                          <p:spTgt spid="60"/>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1"/>
                                        </p:tgtEl>
                                        <p:attrNameLst>
                                          <p:attrName>style.visibility</p:attrName>
                                        </p:attrNameLst>
                                      </p:cBhvr>
                                      <p:to>
                                        <p:strVal val="visible"/>
                                      </p:to>
                                    </p:set>
                                    <p:animEffect transition="in" filter="fade">
                                      <p:cBhvr>
                                        <p:cTn id="123"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7" grpId="0" animBg="1"/>
      <p:bldP spid="28" grpId="0" animBg="1"/>
      <p:bldP spid="29" grpId="0" animBg="1"/>
      <p:bldP spid="30" grpId="0" animBg="1"/>
      <p:bldP spid="31" grpId="0" animBg="1"/>
      <p:bldP spid="32"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P spid="46" grpId="0" animBg="1"/>
      <p:bldP spid="48" grpId="0" animBg="1"/>
      <p:bldP spid="49" grpId="0" animBg="1"/>
      <p:bldP spid="50" grpId="0" animBg="1"/>
      <p:bldP spid="51" grpId="0" animBg="1"/>
      <p:bldP spid="52" grpId="0" animBg="1"/>
      <p:bldP spid="53" grpId="0" animBg="1"/>
      <p:bldP spid="55" grpId="0" animBg="1"/>
      <p:bldP spid="56" grpId="0" animBg="1"/>
      <p:bldP spid="57" grpId="0" animBg="1"/>
      <p:bldP spid="58" grpId="0" animBg="1"/>
      <p:bldP spid="60" grpId="0" animBg="1"/>
      <p:bldP spid="6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3" name="A0_922"/>
          <p:cNvSpPr/>
          <p:nvPr/>
        </p:nvSpPr>
        <p:spPr>
          <a:xfrm>
            <a:off x="6800850" y="274320"/>
            <a:ext cx="109728" cy="109728"/>
          </a:xfrm>
          <a:prstGeom prst="rect">
            <a:avLst/>
          </a:prstGeom>
          <a:solidFill>
            <a:srgbClr val="0A6EBD"/>
          </a:solidFill>
          <a:ln w="12700">
            <a:solidFill>
              <a:srgbClr val="0A6EBD"/>
            </a:solidFill>
            <a:prstDash val="solid"/>
          </a:ln>
        </p:spPr>
      </p:sp>
      <p:sp>
        <p:nvSpPr>
          <p:cNvPr id="4" name="A0_923"/>
          <p:cNvSpPr/>
          <p:nvPr/>
        </p:nvSpPr>
        <p:spPr>
          <a:xfrm>
            <a:off x="6992874" y="274320"/>
            <a:ext cx="109728" cy="109728"/>
          </a:xfrm>
          <a:prstGeom prst="rect">
            <a:avLst/>
          </a:prstGeom>
          <a:solidFill>
            <a:srgbClr val="0A6EBD"/>
          </a:solidFill>
          <a:ln w="12700">
            <a:solidFill>
              <a:srgbClr val="0A6EBD"/>
            </a:solidFill>
            <a:prstDash val="solid"/>
          </a:ln>
        </p:spPr>
      </p:sp>
      <p:sp>
        <p:nvSpPr>
          <p:cNvPr id="5" name="A0_924"/>
          <p:cNvSpPr/>
          <p:nvPr/>
        </p:nvSpPr>
        <p:spPr>
          <a:xfrm>
            <a:off x="7184898" y="274320"/>
            <a:ext cx="109728" cy="109728"/>
          </a:xfrm>
          <a:prstGeom prst="rect">
            <a:avLst/>
          </a:prstGeom>
          <a:solidFill>
            <a:srgbClr val="0A6EBD"/>
          </a:solidFill>
          <a:ln w="12700">
            <a:solidFill>
              <a:srgbClr val="0A6EBD"/>
            </a:solidFill>
            <a:prstDash val="solid"/>
          </a:ln>
        </p:spPr>
      </p:sp>
      <p:sp>
        <p:nvSpPr>
          <p:cNvPr id="6" name="A0_925"/>
          <p:cNvSpPr/>
          <p:nvPr/>
        </p:nvSpPr>
        <p:spPr>
          <a:xfrm>
            <a:off x="7376922" y="274320"/>
            <a:ext cx="109728" cy="109728"/>
          </a:xfrm>
          <a:prstGeom prst="rect">
            <a:avLst/>
          </a:prstGeom>
          <a:solidFill>
            <a:srgbClr val="0A6EBD"/>
          </a:solidFill>
          <a:ln w="12700">
            <a:solidFill>
              <a:srgbClr val="0A6EBD"/>
            </a:solidFill>
            <a:prstDash val="solid"/>
          </a:ln>
        </p:spPr>
      </p:sp>
      <p:sp>
        <p:nvSpPr>
          <p:cNvPr id="7" name="A0_926"/>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Du log brut à la solution : un exemple</a:t>
            </a:r>
            <a:endParaRPr lang="en-US" sz="3600" dirty="0"/>
          </a:p>
        </p:txBody>
      </p:sp>
      <p:pic>
        <p:nvPicPr>
          <p:cNvPr id="8" name="A0_927"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941"/>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942"/>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22</a:t>
            </a:r>
            <a:endParaRPr lang="en-US" sz="1500" dirty="0"/>
          </a:p>
        </p:txBody>
      </p:sp>
      <p:sp>
        <p:nvSpPr>
          <p:cNvPr id="24" name="A1_943"/>
          <p:cNvSpPr txBox="1"/>
          <p:nvPr/>
        </p:nvSpPr>
        <p:spPr>
          <a:xfrm>
            <a:off x="914400" y="1463040"/>
            <a:ext cx="12458700" cy="411480"/>
          </a:xfrm>
          <a:prstGeom prst="rect">
            <a:avLst/>
          </a:prstGeom>
          <a:noFill/>
          <a:ln/>
        </p:spPr>
        <p:txBody>
          <a:bodyPr wrap="square" lIns="0" tIns="0" rIns="0" bIns="0" rtlCol="0" anchor="t"/>
          <a:lstStyle/>
          <a:p>
            <a:pPr marL="0" indent="0" algn="ctr">
              <a:buNone/>
            </a:pPr>
            <a:r>
              <a:rPr lang="en-US" sz="1700" i="1" dirty="0">
                <a:solidFill>
                  <a:srgbClr val="595959"/>
                </a:solidFill>
                <a:latin typeface="Arial" pitchFamily="34" charset="0"/>
                <a:ea typeface="Arial" pitchFamily="34" charset="-122"/>
                <a:cs typeface="Arial" pitchFamily="34" charset="-120"/>
              </a:rPr>
              <a:t>Scénario : saturation du pool de connexions à la base de données</a:t>
            </a:r>
            <a:endParaRPr lang="en-US" sz="1700" dirty="0"/>
          </a:p>
        </p:txBody>
      </p:sp>
      <p:sp>
        <p:nvSpPr>
          <p:cNvPr id="25" name="A2_944"/>
          <p:cNvSpPr/>
          <p:nvPr/>
        </p:nvSpPr>
        <p:spPr>
          <a:xfrm>
            <a:off x="2160270" y="2834640"/>
            <a:ext cx="9966960" cy="0"/>
          </a:xfrm>
          <a:prstGeom prst="line">
            <a:avLst/>
          </a:prstGeom>
          <a:noFill/>
          <a:ln w="31750">
            <a:solidFill>
              <a:srgbClr val="A9C4DE"/>
            </a:solidFill>
            <a:prstDash val="solid"/>
          </a:ln>
        </p:spPr>
        <p:txBody>
          <a:bodyPr/>
          <a:lstStyle/>
          <a:p>
            <a:endParaRPr lang="fr-FR"/>
          </a:p>
        </p:txBody>
      </p:sp>
      <p:sp>
        <p:nvSpPr>
          <p:cNvPr id="26" name="A3_945"/>
          <p:cNvSpPr/>
          <p:nvPr/>
        </p:nvSpPr>
        <p:spPr>
          <a:xfrm>
            <a:off x="1588770" y="2267712"/>
            <a:ext cx="1143000" cy="1143000"/>
          </a:xfrm>
          <a:prstGeom prst="ellipse">
            <a:avLst/>
          </a:prstGeom>
          <a:solidFill>
            <a:srgbClr val="FFFFFF"/>
          </a:solidFill>
          <a:ln w="87313">
            <a:solidFill>
              <a:srgbClr val="0A6EBD"/>
            </a:solidFill>
            <a:prstDash val="solid"/>
          </a:ln>
        </p:spPr>
        <p:txBody>
          <a:bodyPr/>
          <a:lstStyle/>
          <a:p>
            <a:endParaRPr lang="fr-FR"/>
          </a:p>
        </p:txBody>
      </p:sp>
      <p:pic>
        <p:nvPicPr>
          <p:cNvPr id="27" name="A3_946" descr="preencoded.png"/>
          <p:cNvPicPr>
            <a:picLocks noChangeAspect="1"/>
          </p:cNvPicPr>
          <p:nvPr/>
        </p:nvPicPr>
        <p:blipFill>
          <a:blip r:embed="rId4"/>
          <a:stretch>
            <a:fillRect/>
          </a:stretch>
        </p:blipFill>
        <p:spPr>
          <a:xfrm>
            <a:off x="1840230" y="2519172"/>
            <a:ext cx="640080" cy="640080"/>
          </a:xfrm>
          <a:prstGeom prst="rect">
            <a:avLst/>
          </a:prstGeom>
        </p:spPr>
      </p:pic>
      <p:sp>
        <p:nvSpPr>
          <p:cNvPr id="28" name="A3_947"/>
          <p:cNvSpPr/>
          <p:nvPr/>
        </p:nvSpPr>
        <p:spPr>
          <a:xfrm>
            <a:off x="2416302" y="2148840"/>
            <a:ext cx="411480" cy="411480"/>
          </a:xfrm>
          <a:prstGeom prst="ellipse">
            <a:avLst/>
          </a:prstGeom>
          <a:solidFill>
            <a:srgbClr val="0B3C66"/>
          </a:solidFill>
          <a:ln w="19050">
            <a:solidFill>
              <a:srgbClr val="FFFFFF"/>
            </a:solidFill>
            <a:prstDash val="solid"/>
          </a:ln>
        </p:spPr>
        <p:txBody>
          <a:bodyPr/>
          <a:lstStyle/>
          <a:p>
            <a:endParaRPr lang="fr-FR"/>
          </a:p>
        </p:txBody>
      </p:sp>
      <p:sp>
        <p:nvSpPr>
          <p:cNvPr id="29" name="A3_948"/>
          <p:cNvSpPr txBox="1"/>
          <p:nvPr/>
        </p:nvSpPr>
        <p:spPr>
          <a:xfrm>
            <a:off x="2416302" y="214884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30" name="A3_949"/>
          <p:cNvSpPr/>
          <p:nvPr/>
        </p:nvSpPr>
        <p:spPr>
          <a:xfrm>
            <a:off x="1024128" y="3749040"/>
            <a:ext cx="2272284" cy="2057400"/>
          </a:xfrm>
          <a:prstGeom prst="roundRect">
            <a:avLst>
              <a:gd name="adj" fmla="val 5333"/>
            </a:avLst>
          </a:prstGeom>
          <a:solidFill>
            <a:srgbClr val="EAF2FA"/>
          </a:solidFill>
          <a:ln w="12700">
            <a:solidFill>
              <a:srgbClr val="EAF2FA"/>
            </a:solidFill>
            <a:prstDash val="solid"/>
          </a:ln>
        </p:spPr>
        <p:txBody>
          <a:bodyPr/>
          <a:lstStyle/>
          <a:p>
            <a:endParaRPr lang="fr-FR"/>
          </a:p>
        </p:txBody>
      </p:sp>
      <p:sp>
        <p:nvSpPr>
          <p:cNvPr id="31" name="A3_950"/>
          <p:cNvSpPr txBox="1"/>
          <p:nvPr/>
        </p:nvSpPr>
        <p:spPr>
          <a:xfrm>
            <a:off x="1188720" y="3931920"/>
            <a:ext cx="1943100" cy="411480"/>
          </a:xfrm>
          <a:prstGeom prst="rect">
            <a:avLst/>
          </a:prstGeom>
          <a:noFill/>
          <a:ln/>
        </p:spPr>
        <p:txBody>
          <a:bodyPr wrap="square" lIns="0" tIns="0" rIns="0" bIns="0" rtlCol="0" anchor="t"/>
          <a:lstStyle/>
          <a:p>
            <a:pPr marL="0" indent="0" algn="ctr">
              <a:buNone/>
            </a:pPr>
            <a:r>
              <a:rPr lang="en-US" sz="1700" b="1" dirty="0">
                <a:solidFill>
                  <a:srgbClr val="0B3C66"/>
                </a:solidFill>
                <a:latin typeface="Arial" pitchFamily="34" charset="0"/>
                <a:ea typeface="Arial" pitchFamily="34" charset="-122"/>
                <a:cs typeface="Arial" pitchFamily="34" charset="-120"/>
              </a:rPr>
              <a:t>Logs bruts</a:t>
            </a:r>
            <a:endParaRPr lang="en-US" sz="1700" dirty="0"/>
          </a:p>
        </p:txBody>
      </p:sp>
      <p:sp>
        <p:nvSpPr>
          <p:cNvPr id="32" name="A3_951"/>
          <p:cNvSpPr txBox="1"/>
          <p:nvPr/>
        </p:nvSpPr>
        <p:spPr>
          <a:xfrm>
            <a:off x="1188720" y="4434840"/>
            <a:ext cx="1943100" cy="1188720"/>
          </a:xfrm>
          <a:prstGeom prst="rect">
            <a:avLst/>
          </a:prstGeom>
          <a:noFill/>
          <a:ln/>
        </p:spPr>
        <p:txBody>
          <a:bodyPr wrap="square" lIns="0" tIns="0" rIns="0" bIns="0" rtlCol="0" anchor="t"/>
          <a:lstStyle/>
          <a:p>
            <a:pPr marL="0" indent="0" algn="ctr">
              <a:buNone/>
            </a:pPr>
            <a:r>
              <a:rPr lang="en-US" sz="1400" dirty="0">
                <a:solidFill>
                  <a:srgbClr val="595959"/>
                </a:solidFill>
                <a:latin typeface="Arial" pitchFamily="34" charset="0"/>
                <a:ea typeface="Arial" pitchFamily="34" charset="-122"/>
                <a:cs typeface="Arial" pitchFamily="34" charset="-120"/>
              </a:rPr>
              <a:t>Des centaines de lignes d'erreur en quelques minutes</a:t>
            </a:r>
            <a:endParaRPr lang="en-US" sz="1400" dirty="0"/>
          </a:p>
        </p:txBody>
      </p:sp>
      <p:sp>
        <p:nvSpPr>
          <p:cNvPr id="33" name="A4_952"/>
          <p:cNvSpPr/>
          <p:nvPr/>
        </p:nvSpPr>
        <p:spPr>
          <a:xfrm>
            <a:off x="4080510" y="2267712"/>
            <a:ext cx="1143000" cy="1143000"/>
          </a:xfrm>
          <a:prstGeom prst="ellipse">
            <a:avLst/>
          </a:prstGeom>
          <a:solidFill>
            <a:srgbClr val="FFFFFF"/>
          </a:solidFill>
          <a:ln w="87313">
            <a:solidFill>
              <a:srgbClr val="0A6EBD"/>
            </a:solidFill>
            <a:prstDash val="solid"/>
          </a:ln>
        </p:spPr>
        <p:txBody>
          <a:bodyPr/>
          <a:lstStyle/>
          <a:p>
            <a:endParaRPr lang="fr-FR"/>
          </a:p>
        </p:txBody>
      </p:sp>
      <p:pic>
        <p:nvPicPr>
          <p:cNvPr id="34" name="A4_953" descr="preencoded.png"/>
          <p:cNvPicPr>
            <a:picLocks noChangeAspect="1"/>
          </p:cNvPicPr>
          <p:nvPr/>
        </p:nvPicPr>
        <p:blipFill>
          <a:blip r:embed="rId5"/>
          <a:stretch>
            <a:fillRect/>
          </a:stretch>
        </p:blipFill>
        <p:spPr>
          <a:xfrm>
            <a:off x="4331970" y="2519172"/>
            <a:ext cx="640080" cy="640080"/>
          </a:xfrm>
          <a:prstGeom prst="rect">
            <a:avLst/>
          </a:prstGeom>
        </p:spPr>
      </p:pic>
      <p:sp>
        <p:nvSpPr>
          <p:cNvPr id="35" name="A4_954"/>
          <p:cNvSpPr/>
          <p:nvPr/>
        </p:nvSpPr>
        <p:spPr>
          <a:xfrm>
            <a:off x="4908042" y="2148840"/>
            <a:ext cx="411480" cy="411480"/>
          </a:xfrm>
          <a:prstGeom prst="ellipse">
            <a:avLst/>
          </a:prstGeom>
          <a:solidFill>
            <a:srgbClr val="0B3C66"/>
          </a:solidFill>
          <a:ln w="19050">
            <a:solidFill>
              <a:srgbClr val="FFFFFF"/>
            </a:solidFill>
            <a:prstDash val="solid"/>
          </a:ln>
        </p:spPr>
        <p:txBody>
          <a:bodyPr/>
          <a:lstStyle/>
          <a:p>
            <a:endParaRPr lang="fr-FR"/>
          </a:p>
        </p:txBody>
      </p:sp>
      <p:sp>
        <p:nvSpPr>
          <p:cNvPr id="36" name="A4_955"/>
          <p:cNvSpPr txBox="1"/>
          <p:nvPr/>
        </p:nvSpPr>
        <p:spPr>
          <a:xfrm>
            <a:off x="4908042" y="214884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37" name="A4_956"/>
          <p:cNvSpPr/>
          <p:nvPr/>
        </p:nvSpPr>
        <p:spPr>
          <a:xfrm>
            <a:off x="3515868" y="3749040"/>
            <a:ext cx="2272284" cy="2057400"/>
          </a:xfrm>
          <a:prstGeom prst="roundRect">
            <a:avLst>
              <a:gd name="adj" fmla="val 5333"/>
            </a:avLst>
          </a:prstGeom>
          <a:solidFill>
            <a:srgbClr val="EAF2FA"/>
          </a:solidFill>
          <a:ln w="12700">
            <a:solidFill>
              <a:srgbClr val="EAF2FA"/>
            </a:solidFill>
            <a:prstDash val="solid"/>
          </a:ln>
        </p:spPr>
        <p:txBody>
          <a:bodyPr/>
          <a:lstStyle/>
          <a:p>
            <a:endParaRPr lang="fr-FR"/>
          </a:p>
        </p:txBody>
      </p:sp>
      <p:sp>
        <p:nvSpPr>
          <p:cNvPr id="38" name="A4_957"/>
          <p:cNvSpPr txBox="1"/>
          <p:nvPr/>
        </p:nvSpPr>
        <p:spPr>
          <a:xfrm>
            <a:off x="3680460" y="3931920"/>
            <a:ext cx="1943100" cy="411480"/>
          </a:xfrm>
          <a:prstGeom prst="rect">
            <a:avLst/>
          </a:prstGeom>
          <a:noFill/>
          <a:ln/>
        </p:spPr>
        <p:txBody>
          <a:bodyPr wrap="square" lIns="0" tIns="0" rIns="0" bIns="0" rtlCol="0" anchor="t"/>
          <a:lstStyle/>
          <a:p>
            <a:pPr marL="0" indent="0" algn="ctr">
              <a:buNone/>
            </a:pPr>
            <a:r>
              <a:rPr lang="en-US" sz="1700" b="1" dirty="0">
                <a:solidFill>
                  <a:srgbClr val="0B3C66"/>
                </a:solidFill>
                <a:latin typeface="Arial" pitchFamily="34" charset="0"/>
                <a:ea typeface="Arial" pitchFamily="34" charset="-122"/>
                <a:cs typeface="Arial" pitchFamily="34" charset="-120"/>
              </a:rPr>
              <a:t>Regroupement</a:t>
            </a:r>
            <a:endParaRPr lang="en-US" sz="1700" dirty="0"/>
          </a:p>
        </p:txBody>
      </p:sp>
      <p:sp>
        <p:nvSpPr>
          <p:cNvPr id="39" name="A4_958"/>
          <p:cNvSpPr txBox="1"/>
          <p:nvPr/>
        </p:nvSpPr>
        <p:spPr>
          <a:xfrm>
            <a:off x="3680460" y="4434840"/>
            <a:ext cx="1943100" cy="1188720"/>
          </a:xfrm>
          <a:prstGeom prst="rect">
            <a:avLst/>
          </a:prstGeom>
          <a:noFill/>
          <a:ln/>
        </p:spPr>
        <p:txBody>
          <a:bodyPr wrap="square" lIns="0" tIns="0" rIns="0" bIns="0" rtlCol="0" anchor="t"/>
          <a:lstStyle/>
          <a:p>
            <a:pPr marL="0" indent="0" algn="ctr">
              <a:buNone/>
            </a:pPr>
            <a:r>
              <a:rPr lang="en-US" sz="1400" dirty="0">
                <a:solidFill>
                  <a:srgbClr val="595959"/>
                </a:solidFill>
                <a:latin typeface="Arial" pitchFamily="34" charset="0"/>
                <a:ea typeface="Arial" pitchFamily="34" charset="-122"/>
                <a:cs typeface="Arial" pitchFamily="34" charset="-120"/>
              </a:rPr>
              <a:t>Une seule famille : « connexion impossible au pool »</a:t>
            </a:r>
            <a:endParaRPr lang="en-US" sz="1400" dirty="0"/>
          </a:p>
        </p:txBody>
      </p:sp>
      <p:sp>
        <p:nvSpPr>
          <p:cNvPr id="40" name="A5_959"/>
          <p:cNvSpPr/>
          <p:nvPr/>
        </p:nvSpPr>
        <p:spPr>
          <a:xfrm>
            <a:off x="6572250" y="2267712"/>
            <a:ext cx="1143000" cy="1143000"/>
          </a:xfrm>
          <a:prstGeom prst="ellipse">
            <a:avLst/>
          </a:prstGeom>
          <a:solidFill>
            <a:srgbClr val="FFFFFF"/>
          </a:solidFill>
          <a:ln w="87313">
            <a:solidFill>
              <a:srgbClr val="0A6EBD"/>
            </a:solidFill>
            <a:prstDash val="solid"/>
          </a:ln>
        </p:spPr>
        <p:txBody>
          <a:bodyPr/>
          <a:lstStyle/>
          <a:p>
            <a:endParaRPr lang="fr-FR"/>
          </a:p>
        </p:txBody>
      </p:sp>
      <p:pic>
        <p:nvPicPr>
          <p:cNvPr id="41" name="A5_960" descr="preencoded.png"/>
          <p:cNvPicPr>
            <a:picLocks noChangeAspect="1"/>
          </p:cNvPicPr>
          <p:nvPr/>
        </p:nvPicPr>
        <p:blipFill>
          <a:blip r:embed="rId6"/>
          <a:stretch>
            <a:fillRect/>
          </a:stretch>
        </p:blipFill>
        <p:spPr>
          <a:xfrm>
            <a:off x="6823710" y="2519172"/>
            <a:ext cx="640080" cy="640080"/>
          </a:xfrm>
          <a:prstGeom prst="rect">
            <a:avLst/>
          </a:prstGeom>
        </p:spPr>
      </p:pic>
      <p:sp>
        <p:nvSpPr>
          <p:cNvPr id="42" name="A5_961"/>
          <p:cNvSpPr/>
          <p:nvPr/>
        </p:nvSpPr>
        <p:spPr>
          <a:xfrm>
            <a:off x="7399782" y="2148840"/>
            <a:ext cx="411480" cy="411480"/>
          </a:xfrm>
          <a:prstGeom prst="ellipse">
            <a:avLst/>
          </a:prstGeom>
          <a:solidFill>
            <a:srgbClr val="0B3C66"/>
          </a:solidFill>
          <a:ln w="19050">
            <a:solidFill>
              <a:srgbClr val="FFFFFF"/>
            </a:solidFill>
            <a:prstDash val="solid"/>
          </a:ln>
        </p:spPr>
        <p:txBody>
          <a:bodyPr/>
          <a:lstStyle/>
          <a:p>
            <a:endParaRPr lang="fr-FR"/>
          </a:p>
        </p:txBody>
      </p:sp>
      <p:sp>
        <p:nvSpPr>
          <p:cNvPr id="43" name="A5_962"/>
          <p:cNvSpPr txBox="1"/>
          <p:nvPr/>
        </p:nvSpPr>
        <p:spPr>
          <a:xfrm>
            <a:off x="7399782" y="214884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44" name="A5_963"/>
          <p:cNvSpPr/>
          <p:nvPr/>
        </p:nvSpPr>
        <p:spPr>
          <a:xfrm>
            <a:off x="6007608" y="3749040"/>
            <a:ext cx="2272284" cy="2057400"/>
          </a:xfrm>
          <a:prstGeom prst="roundRect">
            <a:avLst>
              <a:gd name="adj" fmla="val 5333"/>
            </a:avLst>
          </a:prstGeom>
          <a:solidFill>
            <a:srgbClr val="EAF2FA"/>
          </a:solidFill>
          <a:ln w="12700">
            <a:solidFill>
              <a:srgbClr val="EAF2FA"/>
            </a:solidFill>
            <a:prstDash val="solid"/>
          </a:ln>
        </p:spPr>
        <p:txBody>
          <a:bodyPr/>
          <a:lstStyle/>
          <a:p>
            <a:endParaRPr lang="fr-FR"/>
          </a:p>
        </p:txBody>
      </p:sp>
      <p:sp>
        <p:nvSpPr>
          <p:cNvPr id="45" name="A5_964"/>
          <p:cNvSpPr txBox="1"/>
          <p:nvPr/>
        </p:nvSpPr>
        <p:spPr>
          <a:xfrm>
            <a:off x="6172200" y="3931920"/>
            <a:ext cx="1943100" cy="411480"/>
          </a:xfrm>
          <a:prstGeom prst="rect">
            <a:avLst/>
          </a:prstGeom>
          <a:noFill/>
          <a:ln/>
        </p:spPr>
        <p:txBody>
          <a:bodyPr wrap="square" lIns="0" tIns="0" rIns="0" bIns="0" rtlCol="0" anchor="t"/>
          <a:lstStyle/>
          <a:p>
            <a:pPr marL="0" indent="0" algn="ctr">
              <a:buNone/>
            </a:pPr>
            <a:r>
              <a:rPr lang="en-US" sz="1700" b="1" dirty="0">
                <a:solidFill>
                  <a:srgbClr val="0B3C66"/>
                </a:solidFill>
                <a:latin typeface="Arial" pitchFamily="34" charset="0"/>
                <a:ea typeface="Arial" pitchFamily="34" charset="-122"/>
                <a:cs typeface="Arial" pitchFamily="34" charset="-120"/>
              </a:rPr>
              <a:t>Détection</a:t>
            </a:r>
            <a:endParaRPr lang="en-US" sz="1700" dirty="0"/>
          </a:p>
        </p:txBody>
      </p:sp>
      <p:sp>
        <p:nvSpPr>
          <p:cNvPr id="46" name="A5_965"/>
          <p:cNvSpPr txBox="1"/>
          <p:nvPr/>
        </p:nvSpPr>
        <p:spPr>
          <a:xfrm>
            <a:off x="6172200" y="4434840"/>
            <a:ext cx="1943100" cy="1188720"/>
          </a:xfrm>
          <a:prstGeom prst="rect">
            <a:avLst/>
          </a:prstGeom>
          <a:noFill/>
          <a:ln/>
        </p:spPr>
        <p:txBody>
          <a:bodyPr wrap="square" lIns="0" tIns="0" rIns="0" bIns="0" rtlCol="0" anchor="t"/>
          <a:lstStyle/>
          <a:p>
            <a:pPr marL="0" indent="0" algn="ctr">
              <a:buNone/>
            </a:pPr>
            <a:r>
              <a:rPr lang="en-US" sz="1400" dirty="0">
                <a:solidFill>
                  <a:srgbClr val="595959"/>
                </a:solidFill>
                <a:latin typeface="Arial" pitchFamily="34" charset="0"/>
                <a:ea typeface="Arial" pitchFamily="34" charset="-122"/>
                <a:cs typeface="Arial" pitchFamily="34" charset="-120"/>
              </a:rPr>
              <a:t>Pic d'erreurs anormal signalé en temps réel</a:t>
            </a:r>
            <a:endParaRPr lang="en-US" sz="1400" dirty="0"/>
          </a:p>
        </p:txBody>
      </p:sp>
      <p:sp>
        <p:nvSpPr>
          <p:cNvPr id="47" name="A6_966"/>
          <p:cNvSpPr/>
          <p:nvPr/>
        </p:nvSpPr>
        <p:spPr>
          <a:xfrm>
            <a:off x="9063990" y="2267712"/>
            <a:ext cx="1143000" cy="1143000"/>
          </a:xfrm>
          <a:prstGeom prst="ellipse">
            <a:avLst/>
          </a:prstGeom>
          <a:solidFill>
            <a:srgbClr val="FFFFFF"/>
          </a:solidFill>
          <a:ln w="87313">
            <a:solidFill>
              <a:srgbClr val="0A6EBD"/>
            </a:solidFill>
            <a:prstDash val="solid"/>
          </a:ln>
        </p:spPr>
        <p:txBody>
          <a:bodyPr/>
          <a:lstStyle/>
          <a:p>
            <a:endParaRPr lang="fr-FR"/>
          </a:p>
        </p:txBody>
      </p:sp>
      <p:pic>
        <p:nvPicPr>
          <p:cNvPr id="48" name="A6_967" descr="preencoded.png"/>
          <p:cNvPicPr>
            <a:picLocks noChangeAspect="1"/>
          </p:cNvPicPr>
          <p:nvPr/>
        </p:nvPicPr>
        <p:blipFill>
          <a:blip r:embed="rId7"/>
          <a:stretch>
            <a:fillRect/>
          </a:stretch>
        </p:blipFill>
        <p:spPr>
          <a:xfrm>
            <a:off x="9315450" y="2519172"/>
            <a:ext cx="640080" cy="640080"/>
          </a:xfrm>
          <a:prstGeom prst="rect">
            <a:avLst/>
          </a:prstGeom>
        </p:spPr>
      </p:pic>
      <p:sp>
        <p:nvSpPr>
          <p:cNvPr id="49" name="A6_968"/>
          <p:cNvSpPr/>
          <p:nvPr/>
        </p:nvSpPr>
        <p:spPr>
          <a:xfrm>
            <a:off x="9891522" y="2148840"/>
            <a:ext cx="411480" cy="411480"/>
          </a:xfrm>
          <a:prstGeom prst="ellipse">
            <a:avLst/>
          </a:prstGeom>
          <a:solidFill>
            <a:srgbClr val="0B3C66"/>
          </a:solidFill>
          <a:ln w="19050">
            <a:solidFill>
              <a:srgbClr val="FFFFFF"/>
            </a:solidFill>
            <a:prstDash val="solid"/>
          </a:ln>
        </p:spPr>
        <p:txBody>
          <a:bodyPr/>
          <a:lstStyle/>
          <a:p>
            <a:endParaRPr lang="fr-FR"/>
          </a:p>
        </p:txBody>
      </p:sp>
      <p:sp>
        <p:nvSpPr>
          <p:cNvPr id="50" name="A6_969"/>
          <p:cNvSpPr txBox="1"/>
          <p:nvPr/>
        </p:nvSpPr>
        <p:spPr>
          <a:xfrm>
            <a:off x="9891522" y="214884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51" name="A6_970"/>
          <p:cNvSpPr/>
          <p:nvPr/>
        </p:nvSpPr>
        <p:spPr>
          <a:xfrm>
            <a:off x="8499348" y="3749040"/>
            <a:ext cx="2272284" cy="2057400"/>
          </a:xfrm>
          <a:prstGeom prst="roundRect">
            <a:avLst>
              <a:gd name="adj" fmla="val 5333"/>
            </a:avLst>
          </a:prstGeom>
          <a:solidFill>
            <a:srgbClr val="EAF2FA"/>
          </a:solidFill>
          <a:ln w="12700">
            <a:solidFill>
              <a:srgbClr val="EAF2FA"/>
            </a:solidFill>
            <a:prstDash val="solid"/>
          </a:ln>
        </p:spPr>
        <p:txBody>
          <a:bodyPr/>
          <a:lstStyle/>
          <a:p>
            <a:endParaRPr lang="fr-FR"/>
          </a:p>
        </p:txBody>
      </p:sp>
      <p:sp>
        <p:nvSpPr>
          <p:cNvPr id="52" name="A6_971"/>
          <p:cNvSpPr txBox="1"/>
          <p:nvPr/>
        </p:nvSpPr>
        <p:spPr>
          <a:xfrm>
            <a:off x="8663940" y="3931920"/>
            <a:ext cx="1943100" cy="411480"/>
          </a:xfrm>
          <a:prstGeom prst="rect">
            <a:avLst/>
          </a:prstGeom>
          <a:noFill/>
          <a:ln/>
        </p:spPr>
        <p:txBody>
          <a:bodyPr wrap="square" lIns="0" tIns="0" rIns="0" bIns="0" rtlCol="0" anchor="t"/>
          <a:lstStyle/>
          <a:p>
            <a:pPr marL="0" indent="0" algn="ctr">
              <a:buNone/>
            </a:pPr>
            <a:r>
              <a:rPr lang="en-US" sz="1700" b="1" dirty="0">
                <a:solidFill>
                  <a:srgbClr val="0B3C66"/>
                </a:solidFill>
                <a:latin typeface="Arial" pitchFamily="34" charset="0"/>
                <a:ea typeface="Arial" pitchFamily="34" charset="-122"/>
                <a:cs typeface="Arial" pitchFamily="34" charset="-120"/>
              </a:rPr>
              <a:t>Explication IA</a:t>
            </a:r>
            <a:endParaRPr lang="en-US" sz="1700" dirty="0"/>
          </a:p>
        </p:txBody>
      </p:sp>
      <p:sp>
        <p:nvSpPr>
          <p:cNvPr id="53" name="A6_972"/>
          <p:cNvSpPr txBox="1"/>
          <p:nvPr/>
        </p:nvSpPr>
        <p:spPr>
          <a:xfrm>
            <a:off x="8663940" y="4434840"/>
            <a:ext cx="1943100" cy="1188720"/>
          </a:xfrm>
          <a:prstGeom prst="rect">
            <a:avLst/>
          </a:prstGeom>
          <a:noFill/>
          <a:ln/>
        </p:spPr>
        <p:txBody>
          <a:bodyPr wrap="square" lIns="0" tIns="0" rIns="0" bIns="0" rtlCol="0" anchor="t"/>
          <a:lstStyle/>
          <a:p>
            <a:pPr marL="0" indent="0" algn="ctr">
              <a:buNone/>
            </a:pPr>
            <a:r>
              <a:rPr lang="en-US" sz="1400" dirty="0">
                <a:solidFill>
                  <a:srgbClr val="595959"/>
                </a:solidFill>
                <a:latin typeface="Arial" pitchFamily="34" charset="0"/>
                <a:ea typeface="Arial" pitchFamily="34" charset="-122"/>
                <a:cs typeface="Arial" pitchFamily="34" charset="-120"/>
              </a:rPr>
              <a:t>Cause probable et correctif proposé</a:t>
            </a:r>
            <a:endParaRPr lang="en-US" sz="1400" dirty="0"/>
          </a:p>
        </p:txBody>
      </p:sp>
      <p:sp>
        <p:nvSpPr>
          <p:cNvPr id="54" name="A7_973"/>
          <p:cNvSpPr/>
          <p:nvPr/>
        </p:nvSpPr>
        <p:spPr>
          <a:xfrm>
            <a:off x="11555730" y="2267712"/>
            <a:ext cx="1143000" cy="1143000"/>
          </a:xfrm>
          <a:prstGeom prst="ellipse">
            <a:avLst/>
          </a:prstGeom>
          <a:solidFill>
            <a:srgbClr val="EF2B41"/>
          </a:solidFill>
          <a:ln w="12700">
            <a:solidFill>
              <a:srgbClr val="EF2B41"/>
            </a:solidFill>
            <a:prstDash val="solid"/>
          </a:ln>
        </p:spPr>
        <p:txBody>
          <a:bodyPr/>
          <a:lstStyle/>
          <a:p>
            <a:endParaRPr lang="fr-FR"/>
          </a:p>
        </p:txBody>
      </p:sp>
      <p:pic>
        <p:nvPicPr>
          <p:cNvPr id="55" name="A7_974" descr="preencoded.png"/>
          <p:cNvPicPr>
            <a:picLocks noChangeAspect="1"/>
          </p:cNvPicPr>
          <p:nvPr/>
        </p:nvPicPr>
        <p:blipFill>
          <a:blip r:embed="rId8"/>
          <a:stretch>
            <a:fillRect/>
          </a:stretch>
        </p:blipFill>
        <p:spPr>
          <a:xfrm>
            <a:off x="11830050" y="2542032"/>
            <a:ext cx="594360" cy="594360"/>
          </a:xfrm>
          <a:prstGeom prst="rect">
            <a:avLst/>
          </a:prstGeom>
        </p:spPr>
      </p:pic>
      <p:sp>
        <p:nvSpPr>
          <p:cNvPr id="56" name="A7_975"/>
          <p:cNvSpPr/>
          <p:nvPr/>
        </p:nvSpPr>
        <p:spPr>
          <a:xfrm>
            <a:off x="12383262" y="2148840"/>
            <a:ext cx="411480" cy="411480"/>
          </a:xfrm>
          <a:prstGeom prst="ellipse">
            <a:avLst/>
          </a:prstGeom>
          <a:solidFill>
            <a:srgbClr val="0B3C66"/>
          </a:solidFill>
          <a:ln w="19050">
            <a:solidFill>
              <a:srgbClr val="FFFFFF"/>
            </a:solidFill>
            <a:prstDash val="solid"/>
          </a:ln>
        </p:spPr>
        <p:txBody>
          <a:bodyPr/>
          <a:lstStyle/>
          <a:p>
            <a:endParaRPr lang="fr-FR"/>
          </a:p>
        </p:txBody>
      </p:sp>
      <p:sp>
        <p:nvSpPr>
          <p:cNvPr id="57" name="A7_976"/>
          <p:cNvSpPr txBox="1"/>
          <p:nvPr/>
        </p:nvSpPr>
        <p:spPr>
          <a:xfrm>
            <a:off x="12383262" y="214884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58" name="A7_977"/>
          <p:cNvSpPr/>
          <p:nvPr/>
        </p:nvSpPr>
        <p:spPr>
          <a:xfrm>
            <a:off x="10991088" y="3749040"/>
            <a:ext cx="2272284" cy="2057400"/>
          </a:xfrm>
          <a:prstGeom prst="roundRect">
            <a:avLst>
              <a:gd name="adj" fmla="val 5333"/>
            </a:avLst>
          </a:prstGeom>
          <a:solidFill>
            <a:srgbClr val="EAF2FA"/>
          </a:solidFill>
          <a:ln w="12700">
            <a:solidFill>
              <a:srgbClr val="EAF2FA"/>
            </a:solidFill>
            <a:prstDash val="solid"/>
          </a:ln>
        </p:spPr>
        <p:txBody>
          <a:bodyPr/>
          <a:lstStyle/>
          <a:p>
            <a:endParaRPr lang="fr-FR"/>
          </a:p>
        </p:txBody>
      </p:sp>
      <p:sp>
        <p:nvSpPr>
          <p:cNvPr id="59" name="A7_978"/>
          <p:cNvSpPr txBox="1"/>
          <p:nvPr/>
        </p:nvSpPr>
        <p:spPr>
          <a:xfrm>
            <a:off x="11155680" y="3931920"/>
            <a:ext cx="1943100" cy="411480"/>
          </a:xfrm>
          <a:prstGeom prst="rect">
            <a:avLst/>
          </a:prstGeom>
          <a:noFill/>
          <a:ln/>
        </p:spPr>
        <p:txBody>
          <a:bodyPr wrap="square" lIns="0" tIns="0" rIns="0" bIns="0" rtlCol="0" anchor="t"/>
          <a:lstStyle/>
          <a:p>
            <a:pPr marL="0" indent="0" algn="ctr">
              <a:buNone/>
            </a:pPr>
            <a:r>
              <a:rPr lang="en-US" sz="1700" b="1" dirty="0">
                <a:solidFill>
                  <a:srgbClr val="0B3C66"/>
                </a:solidFill>
                <a:latin typeface="Arial" pitchFamily="34" charset="0"/>
                <a:ea typeface="Arial" pitchFamily="34" charset="-122"/>
                <a:cs typeface="Arial" pitchFamily="34" charset="-120"/>
              </a:rPr>
              <a:t>Validation</a:t>
            </a:r>
            <a:endParaRPr lang="en-US" sz="1700" dirty="0"/>
          </a:p>
        </p:txBody>
      </p:sp>
      <p:sp>
        <p:nvSpPr>
          <p:cNvPr id="60" name="A7_979"/>
          <p:cNvSpPr txBox="1"/>
          <p:nvPr/>
        </p:nvSpPr>
        <p:spPr>
          <a:xfrm>
            <a:off x="11155680" y="4434840"/>
            <a:ext cx="1943100" cy="1188720"/>
          </a:xfrm>
          <a:prstGeom prst="rect">
            <a:avLst/>
          </a:prstGeom>
          <a:noFill/>
          <a:ln/>
        </p:spPr>
        <p:txBody>
          <a:bodyPr wrap="square" lIns="0" tIns="0" rIns="0" bIns="0" rtlCol="0" anchor="t"/>
          <a:lstStyle/>
          <a:p>
            <a:pPr marL="0" indent="0" algn="ctr">
              <a:buNone/>
            </a:pPr>
            <a:r>
              <a:rPr lang="en-US" sz="1400" dirty="0">
                <a:solidFill>
                  <a:srgbClr val="595959"/>
                </a:solidFill>
                <a:latin typeface="Arial" pitchFamily="34" charset="0"/>
                <a:ea typeface="Arial" pitchFamily="34" charset="-122"/>
                <a:cs typeface="Arial" pitchFamily="34" charset="-120"/>
              </a:rPr>
              <a:t>Le responsable valide : action tracée</a:t>
            </a:r>
            <a:endParaRPr lang="en-US" sz="1400" dirty="0"/>
          </a:p>
        </p:txBody>
      </p:sp>
      <p:sp>
        <p:nvSpPr>
          <p:cNvPr id="61" name="A8_980"/>
          <p:cNvSpPr/>
          <p:nvPr/>
        </p:nvSpPr>
        <p:spPr>
          <a:xfrm>
            <a:off x="3017520" y="6217920"/>
            <a:ext cx="8252460" cy="822960"/>
          </a:xfrm>
          <a:prstGeom prst="roundRect">
            <a:avLst>
              <a:gd name="adj" fmla="val 13333"/>
            </a:avLst>
          </a:prstGeom>
          <a:solidFill>
            <a:srgbClr val="0A6EBD"/>
          </a:solidFill>
          <a:ln w="12700">
            <a:solidFill>
              <a:srgbClr val="0A6EBD"/>
            </a:solidFill>
            <a:prstDash val="solid"/>
          </a:ln>
        </p:spPr>
        <p:txBody>
          <a:bodyPr/>
          <a:lstStyle/>
          <a:p>
            <a:endParaRPr lang="fr-FR"/>
          </a:p>
        </p:txBody>
      </p:sp>
      <p:sp>
        <p:nvSpPr>
          <p:cNvPr id="62" name="A8_981"/>
          <p:cNvSpPr txBox="1"/>
          <p:nvPr/>
        </p:nvSpPr>
        <p:spPr>
          <a:xfrm>
            <a:off x="3200400" y="6217920"/>
            <a:ext cx="788670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Résultat : un diagnostic obtenu en quelques minutes au lieu d'une longue recherche manuelle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childTnLst>
                          </p:cTn>
                        </p:par>
                        <p:par>
                          <p:cTn id="8" fill="hold">
                            <p:stCondLst>
                              <p:cond delay="350"/>
                            </p:stCondLst>
                            <p:childTnLst>
                              <p:par>
                                <p:cTn id="9" presetID="22" presetClass="entr" presetSubtype="8"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par>
                          <p:cTn id="12" fill="hold">
                            <p:stCondLst>
                              <p:cond delay="700"/>
                            </p:stCondLst>
                            <p:childTnLst>
                              <p:par>
                                <p:cTn id="13" presetID="10"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500"/>
                                        <p:tgtEl>
                                          <p:spTgt spid="2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500"/>
                                        <p:tgtEl>
                                          <p:spTgt spid="3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500"/>
                                        <p:tgtEl>
                                          <p:spTgt spid="3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500"/>
                                        <p:tgtEl>
                                          <p:spTgt spid="3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500"/>
                                        <p:tgtEl>
                                          <p:spTgt spid="39"/>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40"/>
                                        </p:tgtEl>
                                        <p:attrNameLst>
                                          <p:attrName>style.visibility</p:attrName>
                                        </p:attrNameLst>
                                      </p:cBhvr>
                                      <p:to>
                                        <p:strVal val="visible"/>
                                      </p:to>
                                    </p:set>
                                    <p:animEffect transition="in" filter="fade">
                                      <p:cBhvr>
                                        <p:cTn id="59" dur="500"/>
                                        <p:tgtEl>
                                          <p:spTgt spid="40"/>
                                        </p:tgtEl>
                                      </p:cBhvr>
                                    </p:animEffect>
                                  </p:childTnLst>
                                </p:cTn>
                              </p:par>
                              <p:par>
                                <p:cTn id="60" presetID="10" presetClass="entr" presetSubtype="0" fill="hold" nodeType="with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500"/>
                                        <p:tgtEl>
                                          <p:spTgt spid="4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42"/>
                                        </p:tgtEl>
                                        <p:attrNameLst>
                                          <p:attrName>style.visibility</p:attrName>
                                        </p:attrNameLst>
                                      </p:cBhvr>
                                      <p:to>
                                        <p:strVal val="visible"/>
                                      </p:to>
                                    </p:set>
                                    <p:animEffect transition="in" filter="fade">
                                      <p:cBhvr>
                                        <p:cTn id="65" dur="500"/>
                                        <p:tgtEl>
                                          <p:spTgt spid="4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5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500"/>
                                        <p:tgtEl>
                                          <p:spTgt spid="4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500"/>
                                        <p:tgtEl>
                                          <p:spTgt spid="4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500"/>
                                        <p:tgtEl>
                                          <p:spTgt spid="46"/>
                                        </p:tgtEl>
                                      </p:cBhvr>
                                    </p:animEffect>
                                  </p:childTnLst>
                                </p:cTn>
                              </p:par>
                            </p:childTnLst>
                          </p:cTn>
                        </p:par>
                        <p:par>
                          <p:cTn id="78" fill="hold">
                            <p:stCondLst>
                              <p:cond delay="1750"/>
                            </p:stCondLst>
                            <p:childTnLst>
                              <p:par>
                                <p:cTn id="79" presetID="10" presetClass="entr" presetSubtype="0" fill="hold" grpId="0" nodeType="afterEffect">
                                  <p:stCondLst>
                                    <p:cond delay="0"/>
                                  </p:stCondLst>
                                  <p:childTnLst>
                                    <p:set>
                                      <p:cBhvr>
                                        <p:cTn id="80" dur="1" fill="hold">
                                          <p:stCondLst>
                                            <p:cond delay="0"/>
                                          </p:stCondLst>
                                        </p:cTn>
                                        <p:tgtEl>
                                          <p:spTgt spid="47"/>
                                        </p:tgtEl>
                                        <p:attrNameLst>
                                          <p:attrName>style.visibility</p:attrName>
                                        </p:attrNameLst>
                                      </p:cBhvr>
                                      <p:to>
                                        <p:strVal val="visible"/>
                                      </p:to>
                                    </p:set>
                                    <p:animEffect transition="in" filter="fade">
                                      <p:cBhvr>
                                        <p:cTn id="81" dur="500"/>
                                        <p:tgtEl>
                                          <p:spTgt spid="47"/>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9"/>
                                        </p:tgtEl>
                                        <p:attrNameLst>
                                          <p:attrName>style.visibility</p:attrName>
                                        </p:attrNameLst>
                                      </p:cBhvr>
                                      <p:to>
                                        <p:strVal val="visible"/>
                                      </p:to>
                                    </p:set>
                                    <p:animEffect transition="in" filter="fade">
                                      <p:cBhvr>
                                        <p:cTn id="87" dur="500"/>
                                        <p:tgtEl>
                                          <p:spTgt spid="49"/>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0"/>
                                        </p:tgtEl>
                                        <p:attrNameLst>
                                          <p:attrName>style.visibility</p:attrName>
                                        </p:attrNameLst>
                                      </p:cBhvr>
                                      <p:to>
                                        <p:strVal val="visible"/>
                                      </p:to>
                                    </p:set>
                                    <p:animEffect transition="in" filter="fade">
                                      <p:cBhvr>
                                        <p:cTn id="90" dur="500"/>
                                        <p:tgtEl>
                                          <p:spTgt spid="5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1"/>
                                        </p:tgtEl>
                                        <p:attrNameLst>
                                          <p:attrName>style.visibility</p:attrName>
                                        </p:attrNameLst>
                                      </p:cBhvr>
                                      <p:to>
                                        <p:strVal val="visible"/>
                                      </p:to>
                                    </p:set>
                                    <p:animEffect transition="in" filter="fade">
                                      <p:cBhvr>
                                        <p:cTn id="93" dur="500"/>
                                        <p:tgtEl>
                                          <p:spTgt spid="5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2"/>
                                        </p:tgtEl>
                                        <p:attrNameLst>
                                          <p:attrName>style.visibility</p:attrName>
                                        </p:attrNameLst>
                                      </p:cBhvr>
                                      <p:to>
                                        <p:strVal val="visible"/>
                                      </p:to>
                                    </p:set>
                                    <p:animEffect transition="in" filter="fade">
                                      <p:cBhvr>
                                        <p:cTn id="96" dur="500"/>
                                        <p:tgtEl>
                                          <p:spTgt spid="5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3"/>
                                        </p:tgtEl>
                                        <p:attrNameLst>
                                          <p:attrName>style.visibility</p:attrName>
                                        </p:attrNameLst>
                                      </p:cBhvr>
                                      <p:to>
                                        <p:strVal val="visible"/>
                                      </p:to>
                                    </p:set>
                                    <p:animEffect transition="in" filter="fade">
                                      <p:cBhvr>
                                        <p:cTn id="99" dur="500"/>
                                        <p:tgtEl>
                                          <p:spTgt spid="53"/>
                                        </p:tgtEl>
                                      </p:cBhvr>
                                    </p:animEffect>
                                  </p:childTnLst>
                                </p:cTn>
                              </p:par>
                            </p:childTnLst>
                          </p:cTn>
                        </p:par>
                        <p:par>
                          <p:cTn id="100" fill="hold">
                            <p:stCondLst>
                              <p:cond delay="2100"/>
                            </p:stCondLst>
                            <p:childTnLst>
                              <p:par>
                                <p:cTn id="101" presetID="10" presetClass="entr" presetSubtype="0" fill="hold" grpId="0" nodeType="afterEffect">
                                  <p:stCondLst>
                                    <p:cond delay="0"/>
                                  </p:stCondLst>
                                  <p:childTnLst>
                                    <p:set>
                                      <p:cBhvr>
                                        <p:cTn id="102" dur="1" fill="hold">
                                          <p:stCondLst>
                                            <p:cond delay="0"/>
                                          </p:stCondLst>
                                        </p:cTn>
                                        <p:tgtEl>
                                          <p:spTgt spid="54"/>
                                        </p:tgtEl>
                                        <p:attrNameLst>
                                          <p:attrName>style.visibility</p:attrName>
                                        </p:attrNameLst>
                                      </p:cBhvr>
                                      <p:to>
                                        <p:strVal val="visible"/>
                                      </p:to>
                                    </p:set>
                                    <p:animEffect transition="in" filter="fade">
                                      <p:cBhvr>
                                        <p:cTn id="103" dur="500"/>
                                        <p:tgtEl>
                                          <p:spTgt spid="54"/>
                                        </p:tgtEl>
                                      </p:cBhvr>
                                    </p:animEffect>
                                  </p:childTnLst>
                                </p:cTn>
                              </p:par>
                              <p:par>
                                <p:cTn id="104" presetID="10" presetClass="entr" presetSubtype="0" fill="hold" nodeType="withEffect">
                                  <p:stCondLst>
                                    <p:cond delay="0"/>
                                  </p:stCondLst>
                                  <p:childTnLst>
                                    <p:set>
                                      <p:cBhvr>
                                        <p:cTn id="105" dur="1" fill="hold">
                                          <p:stCondLst>
                                            <p:cond delay="0"/>
                                          </p:stCondLst>
                                        </p:cTn>
                                        <p:tgtEl>
                                          <p:spTgt spid="55"/>
                                        </p:tgtEl>
                                        <p:attrNameLst>
                                          <p:attrName>style.visibility</p:attrName>
                                        </p:attrNameLst>
                                      </p:cBhvr>
                                      <p:to>
                                        <p:strVal val="visible"/>
                                      </p:to>
                                    </p:set>
                                    <p:animEffect transition="in" filter="fade">
                                      <p:cBhvr>
                                        <p:cTn id="106" dur="500"/>
                                        <p:tgtEl>
                                          <p:spTgt spid="55"/>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6"/>
                                        </p:tgtEl>
                                        <p:attrNameLst>
                                          <p:attrName>style.visibility</p:attrName>
                                        </p:attrNameLst>
                                      </p:cBhvr>
                                      <p:to>
                                        <p:strVal val="visible"/>
                                      </p:to>
                                    </p:set>
                                    <p:animEffect transition="in" filter="fade">
                                      <p:cBhvr>
                                        <p:cTn id="109" dur="500"/>
                                        <p:tgtEl>
                                          <p:spTgt spid="5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57"/>
                                        </p:tgtEl>
                                        <p:attrNameLst>
                                          <p:attrName>style.visibility</p:attrName>
                                        </p:attrNameLst>
                                      </p:cBhvr>
                                      <p:to>
                                        <p:strVal val="visible"/>
                                      </p:to>
                                    </p:set>
                                    <p:animEffect transition="in" filter="fade">
                                      <p:cBhvr>
                                        <p:cTn id="112" dur="500"/>
                                        <p:tgtEl>
                                          <p:spTgt spid="5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58"/>
                                        </p:tgtEl>
                                        <p:attrNameLst>
                                          <p:attrName>style.visibility</p:attrName>
                                        </p:attrNameLst>
                                      </p:cBhvr>
                                      <p:to>
                                        <p:strVal val="visible"/>
                                      </p:to>
                                    </p:set>
                                    <p:animEffect transition="in" filter="fade">
                                      <p:cBhvr>
                                        <p:cTn id="115" dur="500"/>
                                        <p:tgtEl>
                                          <p:spTgt spid="5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59"/>
                                        </p:tgtEl>
                                        <p:attrNameLst>
                                          <p:attrName>style.visibility</p:attrName>
                                        </p:attrNameLst>
                                      </p:cBhvr>
                                      <p:to>
                                        <p:strVal val="visible"/>
                                      </p:to>
                                    </p:set>
                                    <p:animEffect transition="in" filter="fade">
                                      <p:cBhvr>
                                        <p:cTn id="118" dur="500"/>
                                        <p:tgtEl>
                                          <p:spTgt spid="59"/>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60"/>
                                        </p:tgtEl>
                                        <p:attrNameLst>
                                          <p:attrName>style.visibility</p:attrName>
                                        </p:attrNameLst>
                                      </p:cBhvr>
                                      <p:to>
                                        <p:strVal val="visible"/>
                                      </p:to>
                                    </p:set>
                                    <p:animEffect transition="in" filter="fade">
                                      <p:cBhvr>
                                        <p:cTn id="121" dur="500"/>
                                        <p:tgtEl>
                                          <p:spTgt spid="60"/>
                                        </p:tgtEl>
                                      </p:cBhvr>
                                    </p:animEffect>
                                  </p:childTnLst>
                                </p:cTn>
                              </p:par>
                            </p:childTnLst>
                          </p:cTn>
                        </p:par>
                        <p:par>
                          <p:cTn id="122" fill="hold">
                            <p:stCondLst>
                              <p:cond delay="2450"/>
                            </p:stCondLst>
                            <p:childTnLst>
                              <p:par>
                                <p:cTn id="123" presetID="10" presetClass="entr" presetSubtype="0" fill="hold" grpId="0" nodeType="afterEffect">
                                  <p:stCondLst>
                                    <p:cond delay="0"/>
                                  </p:stCondLst>
                                  <p:childTnLst>
                                    <p:set>
                                      <p:cBhvr>
                                        <p:cTn id="124" dur="1" fill="hold">
                                          <p:stCondLst>
                                            <p:cond delay="0"/>
                                          </p:stCondLst>
                                        </p:cTn>
                                        <p:tgtEl>
                                          <p:spTgt spid="61"/>
                                        </p:tgtEl>
                                        <p:attrNameLst>
                                          <p:attrName>style.visibility</p:attrName>
                                        </p:attrNameLst>
                                      </p:cBhvr>
                                      <p:to>
                                        <p:strVal val="visible"/>
                                      </p:to>
                                    </p:set>
                                    <p:animEffect transition="in" filter="fade">
                                      <p:cBhvr>
                                        <p:cTn id="125" dur="500"/>
                                        <p:tgtEl>
                                          <p:spTgt spid="6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62"/>
                                        </p:tgtEl>
                                        <p:attrNameLst>
                                          <p:attrName>style.visibility</p:attrName>
                                        </p:attrNameLst>
                                      </p:cBhvr>
                                      <p:to>
                                        <p:strVal val="visible"/>
                                      </p:to>
                                    </p:set>
                                    <p:animEffect transition="in" filter="fade">
                                      <p:cBhvr>
                                        <p:cTn id="128"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P spid="47" grpId="0" animBg="1"/>
      <p:bldP spid="49" grpId="0" animBg="1"/>
      <p:bldP spid="50" grpId="0" animBg="1"/>
      <p:bldP spid="51" grpId="0" animBg="1"/>
      <p:bldP spid="52" grpId="0" animBg="1"/>
      <p:bldP spid="53" grpId="0" animBg="1"/>
      <p:bldP spid="54" grpId="0" animBg="1"/>
      <p:bldP spid="56" grpId="0" animBg="1"/>
      <p:bldP spid="57" grpId="0" animBg="1"/>
      <p:bldP spid="58" grpId="0" animBg="1"/>
      <p:bldP spid="59" grpId="0" animBg="1"/>
      <p:bldP spid="60" grpId="0" animBg="1"/>
      <p:bldP spid="61" grpId="0" animBg="1"/>
      <p:bldP spid="6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3" name="A0_982" descr="preencoded.png"/>
          <p:cNvPicPr>
            <a:picLocks noChangeAspect="1"/>
          </p:cNvPicPr>
          <p:nvPr/>
        </p:nvPicPr>
        <p:blipFill>
          <a:blip r:embed="rId3"/>
          <a:stretch>
            <a:fillRect/>
          </a:stretch>
        </p:blipFill>
        <p:spPr>
          <a:xfrm>
            <a:off x="0" y="0"/>
            <a:ext cx="14287500" cy="8058150"/>
          </a:xfrm>
          <a:prstGeom prst="rect">
            <a:avLst/>
          </a:prstGeom>
        </p:spPr>
      </p:pic>
      <p:sp>
        <p:nvSpPr>
          <p:cNvPr id="4" name="A1_983"/>
          <p:cNvSpPr txBox="1"/>
          <p:nvPr/>
        </p:nvSpPr>
        <p:spPr>
          <a:xfrm>
            <a:off x="9545955" y="4754880"/>
            <a:ext cx="4330065" cy="2272665"/>
          </a:xfrm>
          <a:prstGeom prst="rect">
            <a:avLst/>
          </a:prstGeom>
          <a:noFill/>
          <a:ln/>
        </p:spPr>
        <p:txBody>
          <a:bodyPr wrap="square" lIns="0" tIns="0" rIns="0" bIns="0" rtlCol="0" anchor="ctr"/>
          <a:lstStyle/>
          <a:p>
            <a:pPr marL="0" indent="0" algn="l">
              <a:spcAft>
                <a:spcPts val="400"/>
              </a:spcAft>
              <a:buNone/>
            </a:pPr>
            <a:r>
              <a:rPr lang="en-US" sz="1500" dirty="0">
                <a:solidFill>
                  <a:srgbClr val="CFE3F5"/>
                </a:solidFill>
                <a:latin typeface="Arial" pitchFamily="34" charset="0"/>
                <a:ea typeface="Arial" pitchFamily="34" charset="-122"/>
                <a:cs typeface="Arial" pitchFamily="34" charset="-120"/>
              </a:rPr>
              <a:t>Partie 05</a:t>
            </a:r>
            <a:endParaRPr lang="en-US" sz="1400" dirty="0"/>
          </a:p>
          <a:p>
            <a:pPr marL="0" indent="0" algn="l">
              <a:spcAft>
                <a:spcPts val="400"/>
              </a:spcAft>
              <a:buNone/>
            </a:pPr>
            <a:r>
              <a:rPr lang="en-US" sz="3000" b="1" dirty="0">
                <a:solidFill>
                  <a:srgbClr val="FFFFFF"/>
                </a:solidFill>
                <a:latin typeface="Arial" pitchFamily="34" charset="0"/>
                <a:ea typeface="Arial" pitchFamily="34" charset="-122"/>
                <a:cs typeface="Arial" pitchFamily="34" charset="-120"/>
              </a:rPr>
              <a:t>Démonstration et conclusion</a:t>
            </a:r>
            <a:endParaRPr lang="en-US" sz="1400"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3" name="A0_984"/>
          <p:cNvSpPr/>
          <p:nvPr/>
        </p:nvSpPr>
        <p:spPr>
          <a:xfrm>
            <a:off x="6800850" y="274320"/>
            <a:ext cx="109728" cy="109728"/>
          </a:xfrm>
          <a:prstGeom prst="rect">
            <a:avLst/>
          </a:prstGeom>
          <a:solidFill>
            <a:srgbClr val="0A6EBD"/>
          </a:solidFill>
          <a:ln w="12700">
            <a:solidFill>
              <a:srgbClr val="0A6EBD"/>
            </a:solidFill>
            <a:prstDash val="solid"/>
          </a:ln>
        </p:spPr>
      </p:sp>
      <p:sp>
        <p:nvSpPr>
          <p:cNvPr id="4" name="A0_985"/>
          <p:cNvSpPr/>
          <p:nvPr/>
        </p:nvSpPr>
        <p:spPr>
          <a:xfrm>
            <a:off x="6992874" y="274320"/>
            <a:ext cx="109728" cy="109728"/>
          </a:xfrm>
          <a:prstGeom prst="rect">
            <a:avLst/>
          </a:prstGeom>
          <a:solidFill>
            <a:srgbClr val="0A6EBD"/>
          </a:solidFill>
          <a:ln w="12700">
            <a:solidFill>
              <a:srgbClr val="0A6EBD"/>
            </a:solidFill>
            <a:prstDash val="solid"/>
          </a:ln>
        </p:spPr>
      </p:sp>
      <p:sp>
        <p:nvSpPr>
          <p:cNvPr id="5" name="A0_986"/>
          <p:cNvSpPr/>
          <p:nvPr/>
        </p:nvSpPr>
        <p:spPr>
          <a:xfrm>
            <a:off x="7184898" y="274320"/>
            <a:ext cx="109728" cy="109728"/>
          </a:xfrm>
          <a:prstGeom prst="rect">
            <a:avLst/>
          </a:prstGeom>
          <a:solidFill>
            <a:srgbClr val="0A6EBD"/>
          </a:solidFill>
          <a:ln w="12700">
            <a:solidFill>
              <a:srgbClr val="0A6EBD"/>
            </a:solidFill>
            <a:prstDash val="solid"/>
          </a:ln>
        </p:spPr>
      </p:sp>
      <p:sp>
        <p:nvSpPr>
          <p:cNvPr id="6" name="A0_987"/>
          <p:cNvSpPr/>
          <p:nvPr/>
        </p:nvSpPr>
        <p:spPr>
          <a:xfrm>
            <a:off x="7376922" y="274320"/>
            <a:ext cx="109728" cy="109728"/>
          </a:xfrm>
          <a:prstGeom prst="rect">
            <a:avLst/>
          </a:prstGeom>
          <a:solidFill>
            <a:srgbClr val="0A6EBD"/>
          </a:solidFill>
          <a:ln w="12700">
            <a:solidFill>
              <a:srgbClr val="0A6EBD"/>
            </a:solidFill>
            <a:prstDash val="solid"/>
          </a:ln>
        </p:spPr>
      </p:sp>
      <p:sp>
        <p:nvSpPr>
          <p:cNvPr id="7" name="A0_988"/>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Démonstration live</a:t>
            </a:r>
            <a:endParaRPr lang="en-US" sz="3600" dirty="0"/>
          </a:p>
        </p:txBody>
      </p:sp>
      <p:pic>
        <p:nvPicPr>
          <p:cNvPr id="8" name="A0_989"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1003"/>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1004"/>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24</a:t>
            </a:r>
            <a:endParaRPr lang="en-US" sz="1500" dirty="0"/>
          </a:p>
        </p:txBody>
      </p:sp>
      <p:sp>
        <p:nvSpPr>
          <p:cNvPr id="24" name="A1_1005"/>
          <p:cNvSpPr/>
          <p:nvPr/>
        </p:nvSpPr>
        <p:spPr>
          <a:xfrm>
            <a:off x="4404929" y="1965396"/>
            <a:ext cx="5394960" cy="3383280"/>
          </a:xfrm>
          <a:prstGeom prst="roundRect">
            <a:avLst>
              <a:gd name="adj" fmla="val 3243"/>
            </a:avLst>
          </a:prstGeom>
          <a:solidFill>
            <a:srgbClr val="0B3C66"/>
          </a:solidFill>
          <a:ln w="12700">
            <a:solidFill>
              <a:srgbClr val="0B3C66"/>
            </a:solidFill>
            <a:prstDash val="solid"/>
          </a:ln>
        </p:spPr>
        <p:txBody>
          <a:bodyPr/>
          <a:lstStyle/>
          <a:p>
            <a:endParaRPr lang="fr-FR"/>
          </a:p>
        </p:txBody>
      </p:sp>
      <p:sp>
        <p:nvSpPr>
          <p:cNvPr id="25" name="A1_1006"/>
          <p:cNvSpPr/>
          <p:nvPr/>
        </p:nvSpPr>
        <p:spPr>
          <a:xfrm>
            <a:off x="4633529" y="2193996"/>
            <a:ext cx="4937760" cy="2926080"/>
          </a:xfrm>
          <a:prstGeom prst="rect">
            <a:avLst/>
          </a:prstGeom>
          <a:solidFill>
            <a:srgbClr val="0A6EBD"/>
          </a:solidFill>
          <a:ln w="12700">
            <a:solidFill>
              <a:srgbClr val="0A6EBD"/>
            </a:solidFill>
            <a:prstDash val="solid"/>
          </a:ln>
        </p:spPr>
        <p:txBody>
          <a:bodyPr/>
          <a:lstStyle/>
          <a:p>
            <a:endParaRPr lang="fr-FR"/>
          </a:p>
        </p:txBody>
      </p:sp>
      <p:sp>
        <p:nvSpPr>
          <p:cNvPr id="26" name="A1_1007"/>
          <p:cNvSpPr/>
          <p:nvPr/>
        </p:nvSpPr>
        <p:spPr>
          <a:xfrm>
            <a:off x="4039169" y="5348676"/>
            <a:ext cx="6126480" cy="320040"/>
          </a:xfrm>
          <a:prstGeom prst="trapezoid">
            <a:avLst/>
          </a:prstGeom>
          <a:solidFill>
            <a:srgbClr val="5B7A99"/>
          </a:solidFill>
          <a:ln w="12700">
            <a:solidFill>
              <a:srgbClr val="5B7A99"/>
            </a:solidFill>
            <a:prstDash val="solid"/>
          </a:ln>
        </p:spPr>
        <p:txBody>
          <a:bodyPr/>
          <a:lstStyle/>
          <a:p>
            <a:endParaRPr lang="fr-FR"/>
          </a:p>
        </p:txBody>
      </p:sp>
      <p:pic>
        <p:nvPicPr>
          <p:cNvPr id="27" name="A1_1008" descr="preencoded.png"/>
          <p:cNvPicPr>
            <a:picLocks noChangeAspect="1"/>
          </p:cNvPicPr>
          <p:nvPr/>
        </p:nvPicPr>
        <p:blipFill>
          <a:blip r:embed="rId4"/>
          <a:stretch>
            <a:fillRect/>
          </a:stretch>
        </p:blipFill>
        <p:spPr>
          <a:xfrm>
            <a:off x="6599489" y="2742636"/>
            <a:ext cx="1005840" cy="1005840"/>
          </a:xfrm>
          <a:prstGeom prst="rect">
            <a:avLst/>
          </a:prstGeom>
        </p:spPr>
      </p:pic>
      <p:sp>
        <p:nvSpPr>
          <p:cNvPr id="28" name="A1_1009"/>
          <p:cNvSpPr txBox="1"/>
          <p:nvPr/>
        </p:nvSpPr>
        <p:spPr>
          <a:xfrm>
            <a:off x="4633529" y="3977076"/>
            <a:ext cx="4937760" cy="502920"/>
          </a:xfrm>
          <a:prstGeom prst="rect">
            <a:avLst/>
          </a:prstGeom>
          <a:noFill/>
          <a:ln/>
        </p:spPr>
        <p:txBody>
          <a:bodyPr wrap="square" lIns="0" tIns="0" rIns="0" bIns="0" rtlCol="0" anchor="ctr"/>
          <a:lstStyle/>
          <a:p>
            <a:pPr marL="0" indent="0" algn="ctr">
              <a:buNone/>
            </a:pPr>
            <a:r>
              <a:rPr lang="en-US" sz="2200" b="1" kern="0" spc="200" dirty="0">
                <a:solidFill>
                  <a:srgbClr val="FFFFFF"/>
                </a:solidFill>
                <a:latin typeface="Arial" pitchFamily="34" charset="0"/>
                <a:ea typeface="Arial" pitchFamily="34" charset="-122"/>
                <a:cs typeface="Arial" pitchFamily="34" charset="-120"/>
              </a:rPr>
              <a:t>DÉMO EN DIRECT</a:t>
            </a:r>
            <a:endParaRPr lang="en-US" sz="2200" dirty="0"/>
          </a:p>
        </p:txBody>
      </p:sp>
      <p:sp>
        <p:nvSpPr>
          <p:cNvPr id="29" name="A1_1010"/>
          <p:cNvSpPr/>
          <p:nvPr/>
        </p:nvSpPr>
        <p:spPr>
          <a:xfrm>
            <a:off x="5913689" y="4589724"/>
            <a:ext cx="182880" cy="182880"/>
          </a:xfrm>
          <a:prstGeom prst="ellipse">
            <a:avLst/>
          </a:prstGeom>
          <a:solidFill>
            <a:srgbClr val="EF2B41"/>
          </a:solidFill>
          <a:ln w="12700">
            <a:solidFill>
              <a:srgbClr val="EF2B41"/>
            </a:solidFill>
            <a:prstDash val="solid"/>
          </a:ln>
        </p:spPr>
        <p:txBody>
          <a:bodyPr/>
          <a:lstStyle/>
          <a:p>
            <a:endParaRPr lang="fr-FR"/>
          </a:p>
        </p:txBody>
      </p:sp>
      <p:sp>
        <p:nvSpPr>
          <p:cNvPr id="30" name="A1_1011"/>
          <p:cNvSpPr txBox="1"/>
          <p:nvPr/>
        </p:nvSpPr>
        <p:spPr>
          <a:xfrm>
            <a:off x="6188009" y="4507428"/>
            <a:ext cx="2286000" cy="347472"/>
          </a:xfrm>
          <a:prstGeom prst="rect">
            <a:avLst/>
          </a:prstGeom>
          <a:noFill/>
          <a:ln/>
        </p:spPr>
        <p:txBody>
          <a:bodyPr wrap="square" lIns="0" tIns="0" rIns="0" bIns="0" rtlCol="0" anchor="ctr"/>
          <a:lstStyle/>
          <a:p>
            <a:pPr marL="0" indent="0">
              <a:buNone/>
            </a:pPr>
            <a:r>
              <a:rPr lang="en-US" sz="1300" dirty="0">
                <a:solidFill>
                  <a:srgbClr val="DCEAF7"/>
                </a:solidFill>
                <a:latin typeface="Arial" pitchFamily="34" charset="0"/>
                <a:ea typeface="Arial" pitchFamily="34" charset="-122"/>
                <a:cs typeface="Arial" pitchFamily="34" charset="-120"/>
              </a:rPr>
              <a:t>localhost:4200</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500"/>
                                        <p:tgtEl>
                                          <p:spTgt spid="2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8" grpId="0" animBg="1"/>
      <p:bldP spid="29" grpId="0" animBg="1"/>
      <p:bldP spid="3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3" name="A0_1033"/>
          <p:cNvSpPr/>
          <p:nvPr/>
        </p:nvSpPr>
        <p:spPr>
          <a:xfrm>
            <a:off x="6800850" y="274320"/>
            <a:ext cx="109728" cy="109728"/>
          </a:xfrm>
          <a:prstGeom prst="rect">
            <a:avLst/>
          </a:prstGeom>
          <a:solidFill>
            <a:srgbClr val="0A6EBD"/>
          </a:solidFill>
          <a:ln w="12700">
            <a:solidFill>
              <a:srgbClr val="0A6EBD"/>
            </a:solidFill>
            <a:prstDash val="solid"/>
          </a:ln>
        </p:spPr>
      </p:sp>
      <p:sp>
        <p:nvSpPr>
          <p:cNvPr id="4" name="A0_1034"/>
          <p:cNvSpPr/>
          <p:nvPr/>
        </p:nvSpPr>
        <p:spPr>
          <a:xfrm>
            <a:off x="6992874" y="274320"/>
            <a:ext cx="109728" cy="109728"/>
          </a:xfrm>
          <a:prstGeom prst="rect">
            <a:avLst/>
          </a:prstGeom>
          <a:solidFill>
            <a:srgbClr val="0A6EBD"/>
          </a:solidFill>
          <a:ln w="12700">
            <a:solidFill>
              <a:srgbClr val="0A6EBD"/>
            </a:solidFill>
            <a:prstDash val="solid"/>
          </a:ln>
        </p:spPr>
      </p:sp>
      <p:sp>
        <p:nvSpPr>
          <p:cNvPr id="5" name="A0_1035"/>
          <p:cNvSpPr/>
          <p:nvPr/>
        </p:nvSpPr>
        <p:spPr>
          <a:xfrm>
            <a:off x="7184898" y="274320"/>
            <a:ext cx="109728" cy="109728"/>
          </a:xfrm>
          <a:prstGeom prst="rect">
            <a:avLst/>
          </a:prstGeom>
          <a:solidFill>
            <a:srgbClr val="0A6EBD"/>
          </a:solidFill>
          <a:ln w="12700">
            <a:solidFill>
              <a:srgbClr val="0A6EBD"/>
            </a:solidFill>
            <a:prstDash val="solid"/>
          </a:ln>
        </p:spPr>
      </p:sp>
      <p:sp>
        <p:nvSpPr>
          <p:cNvPr id="6" name="A0_1036"/>
          <p:cNvSpPr/>
          <p:nvPr/>
        </p:nvSpPr>
        <p:spPr>
          <a:xfrm>
            <a:off x="7376922" y="274320"/>
            <a:ext cx="109728" cy="109728"/>
          </a:xfrm>
          <a:prstGeom prst="rect">
            <a:avLst/>
          </a:prstGeom>
          <a:solidFill>
            <a:srgbClr val="0A6EBD"/>
          </a:solidFill>
          <a:ln w="12700">
            <a:solidFill>
              <a:srgbClr val="0A6EBD"/>
            </a:solidFill>
            <a:prstDash val="solid"/>
          </a:ln>
        </p:spPr>
      </p:sp>
      <p:sp>
        <p:nvSpPr>
          <p:cNvPr id="7" name="A0_1037"/>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Conclusion</a:t>
            </a:r>
            <a:endParaRPr lang="en-US" sz="3600" dirty="0"/>
          </a:p>
        </p:txBody>
      </p:sp>
      <p:pic>
        <p:nvPicPr>
          <p:cNvPr id="8" name="A0_1038"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1052"/>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1053"/>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25</a:t>
            </a:r>
            <a:endParaRPr lang="en-US" sz="1500" dirty="0"/>
          </a:p>
        </p:txBody>
      </p:sp>
      <p:sp>
        <p:nvSpPr>
          <p:cNvPr id="24" name="A1_1054"/>
          <p:cNvSpPr/>
          <p:nvPr/>
        </p:nvSpPr>
        <p:spPr>
          <a:xfrm rot="-180000">
            <a:off x="914400" y="1691640"/>
            <a:ext cx="2834640" cy="2331720"/>
          </a:xfrm>
          <a:prstGeom prst="foldedCorner">
            <a:avLst/>
          </a:prstGeom>
          <a:solidFill>
            <a:srgbClr val="DADDE1"/>
          </a:solidFill>
          <a:ln w="12700">
            <a:solidFill>
              <a:srgbClr val="DADDE1"/>
            </a:solidFill>
            <a:prstDash val="solid"/>
          </a:ln>
          <a:effectLst>
            <a:outerShdw blurRad="101600" dist="50800" dir="2700000" algn="bl" rotWithShape="0">
              <a:srgbClr val="000000">
                <a:alpha val="28000"/>
              </a:srgbClr>
            </a:outerShdw>
          </a:effectLst>
        </p:spPr>
        <p:txBody>
          <a:bodyPr/>
          <a:lstStyle/>
          <a:p>
            <a:endParaRPr lang="fr-FR"/>
          </a:p>
        </p:txBody>
      </p:sp>
      <p:sp>
        <p:nvSpPr>
          <p:cNvPr id="25" name="A1_1055"/>
          <p:cNvSpPr txBox="1"/>
          <p:nvPr/>
        </p:nvSpPr>
        <p:spPr>
          <a:xfrm rot="-180000">
            <a:off x="1188720" y="1920240"/>
            <a:ext cx="2286000" cy="1691640"/>
          </a:xfrm>
          <a:prstGeom prst="rect">
            <a:avLst/>
          </a:prstGeom>
          <a:noFill/>
          <a:ln/>
        </p:spPr>
        <p:txBody>
          <a:bodyPr wrap="square" lIns="0" tIns="0" rIns="0" bIns="0" rtlCol="0" anchor="ctr"/>
          <a:lstStyle/>
          <a:p>
            <a:pPr marL="0" indent="0" algn="ctr">
              <a:buNone/>
            </a:pPr>
            <a:r>
              <a:rPr lang="en-US" sz="1500" b="1" dirty="0">
                <a:solidFill>
                  <a:srgbClr val="262626"/>
                </a:solidFill>
                <a:latin typeface="Arial" pitchFamily="34" charset="0"/>
                <a:ea typeface="Arial" pitchFamily="34" charset="-122"/>
                <a:cs typeface="Arial" pitchFamily="34" charset="-120"/>
              </a:rPr>
              <a:t>Une plateforme unique</a:t>
            </a:r>
            <a:endParaRPr lang="en-US" sz="1500" dirty="0"/>
          </a:p>
          <a:p>
            <a:pPr marL="0" indent="0" algn="ctr">
              <a:buNone/>
            </a:pPr>
            <a:r>
              <a:rPr lang="en-US" sz="1500" dirty="0">
                <a:solidFill>
                  <a:srgbClr val="262626"/>
                </a:solidFill>
                <a:latin typeface="Arial" pitchFamily="34" charset="0"/>
                <a:ea typeface="Arial" pitchFamily="34" charset="-122"/>
                <a:cs typeface="Arial" pitchFamily="34" charset="-120"/>
              </a:rPr>
              <a:t>qui réunit logs, tests, sécurité et IA</a:t>
            </a:r>
            <a:endParaRPr lang="en-US" sz="1500" dirty="0"/>
          </a:p>
        </p:txBody>
      </p:sp>
      <p:pic>
        <p:nvPicPr>
          <p:cNvPr id="26" name="A1_1056" descr="preencoded.png"/>
          <p:cNvPicPr>
            <a:picLocks noChangeAspect="1"/>
          </p:cNvPicPr>
          <p:nvPr/>
        </p:nvPicPr>
        <p:blipFill>
          <a:blip r:embed="rId4"/>
          <a:stretch>
            <a:fillRect/>
          </a:stretch>
        </p:blipFill>
        <p:spPr>
          <a:xfrm>
            <a:off x="2926080" y="3246120"/>
            <a:ext cx="548640" cy="548640"/>
          </a:xfrm>
          <a:prstGeom prst="rect">
            <a:avLst/>
          </a:prstGeom>
        </p:spPr>
      </p:pic>
      <p:sp>
        <p:nvSpPr>
          <p:cNvPr id="27" name="A2_1057"/>
          <p:cNvSpPr/>
          <p:nvPr/>
        </p:nvSpPr>
        <p:spPr>
          <a:xfrm rot="120000">
            <a:off x="4160520" y="3611880"/>
            <a:ext cx="2834640" cy="2331720"/>
          </a:xfrm>
          <a:prstGeom prst="foldedCorner">
            <a:avLst/>
          </a:prstGeom>
          <a:solidFill>
            <a:srgbClr val="BFD9F2"/>
          </a:solidFill>
          <a:ln w="12700">
            <a:solidFill>
              <a:srgbClr val="BFD9F2"/>
            </a:solidFill>
            <a:prstDash val="solid"/>
          </a:ln>
          <a:effectLst>
            <a:outerShdw blurRad="101600" dist="50800" dir="2700000" algn="bl" rotWithShape="0">
              <a:srgbClr val="000000">
                <a:alpha val="28000"/>
              </a:srgbClr>
            </a:outerShdw>
          </a:effectLst>
        </p:spPr>
        <p:txBody>
          <a:bodyPr/>
          <a:lstStyle/>
          <a:p>
            <a:endParaRPr lang="fr-FR"/>
          </a:p>
        </p:txBody>
      </p:sp>
      <p:sp>
        <p:nvSpPr>
          <p:cNvPr id="28" name="A2_1058"/>
          <p:cNvSpPr txBox="1"/>
          <p:nvPr/>
        </p:nvSpPr>
        <p:spPr>
          <a:xfrm rot="120000">
            <a:off x="4434840" y="3840480"/>
            <a:ext cx="2286000" cy="1691640"/>
          </a:xfrm>
          <a:prstGeom prst="rect">
            <a:avLst/>
          </a:prstGeom>
          <a:noFill/>
          <a:ln/>
        </p:spPr>
        <p:txBody>
          <a:bodyPr wrap="square" lIns="0" tIns="0" rIns="0" bIns="0" rtlCol="0" anchor="ctr"/>
          <a:lstStyle/>
          <a:p>
            <a:pPr marL="0" indent="0" algn="ctr">
              <a:buNone/>
            </a:pPr>
            <a:r>
              <a:rPr lang="en-US" sz="1500" b="1" dirty="0">
                <a:solidFill>
                  <a:srgbClr val="262626"/>
                </a:solidFill>
                <a:latin typeface="Arial" pitchFamily="34" charset="0"/>
                <a:ea typeface="Arial" pitchFamily="34" charset="-122"/>
                <a:cs typeface="Arial" pitchFamily="34" charset="-120"/>
              </a:rPr>
              <a:t>Un diagnostic accéléré</a:t>
            </a:r>
            <a:endParaRPr lang="en-US" sz="1500" dirty="0"/>
          </a:p>
          <a:p>
            <a:pPr marL="0" indent="0" algn="ctr">
              <a:buNone/>
            </a:pPr>
            <a:r>
              <a:rPr lang="en-US" sz="1500" dirty="0">
                <a:solidFill>
                  <a:srgbClr val="262626"/>
                </a:solidFill>
                <a:latin typeface="Arial" pitchFamily="34" charset="0"/>
                <a:ea typeface="Arial" pitchFamily="34" charset="-122"/>
                <a:cs typeface="Arial" pitchFamily="34" charset="-120"/>
              </a:rPr>
              <a:t>grâce au regroupement et à la détection automatiques</a:t>
            </a:r>
            <a:endParaRPr lang="en-US" sz="1500" dirty="0"/>
          </a:p>
        </p:txBody>
      </p:sp>
      <p:pic>
        <p:nvPicPr>
          <p:cNvPr id="29" name="A2_1059" descr="preencoded.png"/>
          <p:cNvPicPr>
            <a:picLocks noChangeAspect="1"/>
          </p:cNvPicPr>
          <p:nvPr/>
        </p:nvPicPr>
        <p:blipFill>
          <a:blip r:embed="rId4"/>
          <a:stretch>
            <a:fillRect/>
          </a:stretch>
        </p:blipFill>
        <p:spPr>
          <a:xfrm>
            <a:off x="6172200" y="5166360"/>
            <a:ext cx="548640" cy="548640"/>
          </a:xfrm>
          <a:prstGeom prst="rect">
            <a:avLst/>
          </a:prstGeom>
        </p:spPr>
      </p:pic>
      <p:sp>
        <p:nvSpPr>
          <p:cNvPr id="30" name="A3_1060"/>
          <p:cNvSpPr/>
          <p:nvPr/>
        </p:nvSpPr>
        <p:spPr>
          <a:xfrm rot="-120000">
            <a:off x="7406640" y="1691640"/>
            <a:ext cx="2834640" cy="2331720"/>
          </a:xfrm>
          <a:prstGeom prst="foldedCorner">
            <a:avLst/>
          </a:prstGeom>
          <a:solidFill>
            <a:srgbClr val="DADDE1"/>
          </a:solidFill>
          <a:ln w="12700">
            <a:solidFill>
              <a:srgbClr val="DADDE1"/>
            </a:solidFill>
            <a:prstDash val="solid"/>
          </a:ln>
          <a:effectLst>
            <a:outerShdw blurRad="101600" dist="50800" dir="2700000" algn="bl" rotWithShape="0">
              <a:srgbClr val="000000">
                <a:alpha val="28000"/>
              </a:srgbClr>
            </a:outerShdw>
          </a:effectLst>
        </p:spPr>
        <p:txBody>
          <a:bodyPr/>
          <a:lstStyle/>
          <a:p>
            <a:endParaRPr lang="fr-FR"/>
          </a:p>
        </p:txBody>
      </p:sp>
      <p:sp>
        <p:nvSpPr>
          <p:cNvPr id="31" name="A3_1061"/>
          <p:cNvSpPr txBox="1"/>
          <p:nvPr/>
        </p:nvSpPr>
        <p:spPr>
          <a:xfrm rot="-120000">
            <a:off x="7680960" y="1920240"/>
            <a:ext cx="2286000" cy="1691640"/>
          </a:xfrm>
          <a:prstGeom prst="rect">
            <a:avLst/>
          </a:prstGeom>
          <a:noFill/>
          <a:ln/>
        </p:spPr>
        <p:txBody>
          <a:bodyPr wrap="square" lIns="0" tIns="0" rIns="0" bIns="0" rtlCol="0" anchor="ctr"/>
          <a:lstStyle/>
          <a:p>
            <a:pPr marL="0" indent="0" algn="ctr">
              <a:buNone/>
            </a:pPr>
            <a:r>
              <a:rPr lang="en-US" sz="1500" b="1" dirty="0">
                <a:solidFill>
                  <a:srgbClr val="262626"/>
                </a:solidFill>
                <a:latin typeface="Arial" pitchFamily="34" charset="0"/>
                <a:ea typeface="Arial" pitchFamily="34" charset="-122"/>
                <a:cs typeface="Arial" pitchFamily="34" charset="-120"/>
              </a:rPr>
              <a:t>Une IA explicable</a:t>
            </a:r>
            <a:endParaRPr lang="en-US" sz="1500" dirty="0"/>
          </a:p>
          <a:p>
            <a:pPr marL="0" indent="0" algn="ctr">
              <a:buNone/>
            </a:pPr>
            <a:r>
              <a:rPr lang="en-US" sz="1500" dirty="0">
                <a:solidFill>
                  <a:srgbClr val="262626"/>
                </a:solidFill>
                <a:latin typeface="Arial" pitchFamily="34" charset="0"/>
                <a:ea typeface="Arial" pitchFamily="34" charset="-122"/>
                <a:cs typeface="Arial" pitchFamily="34" charset="-120"/>
              </a:rPr>
              <a:t>toujours encadrée par une validation humaine</a:t>
            </a:r>
            <a:endParaRPr lang="en-US" sz="1500" dirty="0"/>
          </a:p>
        </p:txBody>
      </p:sp>
      <p:pic>
        <p:nvPicPr>
          <p:cNvPr id="32" name="A3_1062" descr="preencoded.png"/>
          <p:cNvPicPr>
            <a:picLocks noChangeAspect="1"/>
          </p:cNvPicPr>
          <p:nvPr/>
        </p:nvPicPr>
        <p:blipFill>
          <a:blip r:embed="rId4"/>
          <a:stretch>
            <a:fillRect/>
          </a:stretch>
        </p:blipFill>
        <p:spPr>
          <a:xfrm>
            <a:off x="9418320" y="3246120"/>
            <a:ext cx="548640" cy="548640"/>
          </a:xfrm>
          <a:prstGeom prst="rect">
            <a:avLst/>
          </a:prstGeom>
        </p:spPr>
      </p:pic>
      <p:sp>
        <p:nvSpPr>
          <p:cNvPr id="33" name="A4_1063"/>
          <p:cNvSpPr/>
          <p:nvPr/>
        </p:nvSpPr>
        <p:spPr>
          <a:xfrm rot="180000">
            <a:off x="10652760" y="3611880"/>
            <a:ext cx="2834640" cy="2331720"/>
          </a:xfrm>
          <a:prstGeom prst="foldedCorner">
            <a:avLst/>
          </a:prstGeom>
          <a:solidFill>
            <a:srgbClr val="BFD9F2"/>
          </a:solidFill>
          <a:ln w="12700">
            <a:solidFill>
              <a:srgbClr val="BFD9F2"/>
            </a:solidFill>
            <a:prstDash val="solid"/>
          </a:ln>
          <a:effectLst>
            <a:outerShdw blurRad="101600" dist="50800" dir="2700000" algn="bl" rotWithShape="0">
              <a:srgbClr val="000000">
                <a:alpha val="28000"/>
              </a:srgbClr>
            </a:outerShdw>
          </a:effectLst>
        </p:spPr>
        <p:txBody>
          <a:bodyPr/>
          <a:lstStyle/>
          <a:p>
            <a:endParaRPr lang="fr-FR"/>
          </a:p>
        </p:txBody>
      </p:sp>
      <p:sp>
        <p:nvSpPr>
          <p:cNvPr id="34" name="A4_1064"/>
          <p:cNvSpPr txBox="1"/>
          <p:nvPr/>
        </p:nvSpPr>
        <p:spPr>
          <a:xfrm rot="180000">
            <a:off x="10927080" y="3840480"/>
            <a:ext cx="2286000" cy="1691640"/>
          </a:xfrm>
          <a:prstGeom prst="rect">
            <a:avLst/>
          </a:prstGeom>
          <a:noFill/>
          <a:ln/>
        </p:spPr>
        <p:txBody>
          <a:bodyPr wrap="square" lIns="0" tIns="0" rIns="0" bIns="0" rtlCol="0" anchor="ctr"/>
          <a:lstStyle/>
          <a:p>
            <a:pPr marL="0" indent="0" algn="ctr">
              <a:buNone/>
            </a:pPr>
            <a:r>
              <a:rPr lang="en-US" sz="1500" b="1" dirty="0">
                <a:solidFill>
                  <a:srgbClr val="262626"/>
                </a:solidFill>
                <a:latin typeface="Arial" pitchFamily="34" charset="0"/>
                <a:ea typeface="Arial" pitchFamily="34" charset="-122"/>
                <a:cs typeface="Arial" pitchFamily="34" charset="-120"/>
              </a:rPr>
              <a:t>Intégrée à la CI/CD</a:t>
            </a:r>
            <a:endParaRPr lang="en-US" sz="1500" dirty="0"/>
          </a:p>
          <a:p>
            <a:pPr marL="0" indent="0" algn="ctr">
              <a:buNone/>
            </a:pPr>
            <a:r>
              <a:rPr lang="en-US" sz="1500" dirty="0">
                <a:solidFill>
                  <a:srgbClr val="262626"/>
                </a:solidFill>
                <a:latin typeface="Arial" pitchFamily="34" charset="0"/>
                <a:ea typeface="Arial" pitchFamily="34" charset="-122"/>
                <a:cs typeface="Arial" pitchFamily="34" charset="-120"/>
              </a:rPr>
              <a:t>avec une quality gate à chaque livraison</a:t>
            </a:r>
            <a:endParaRPr lang="en-US" sz="1500" dirty="0"/>
          </a:p>
        </p:txBody>
      </p:sp>
      <p:pic>
        <p:nvPicPr>
          <p:cNvPr id="35" name="A4_1065" descr="preencoded.png"/>
          <p:cNvPicPr>
            <a:picLocks noChangeAspect="1"/>
          </p:cNvPicPr>
          <p:nvPr/>
        </p:nvPicPr>
        <p:blipFill>
          <a:blip r:embed="rId4"/>
          <a:stretch>
            <a:fillRect/>
          </a:stretch>
        </p:blipFill>
        <p:spPr>
          <a:xfrm>
            <a:off x="12664440" y="5166360"/>
            <a:ext cx="548640" cy="548640"/>
          </a:xfrm>
          <a:prstGeom prst="rect">
            <a:avLst/>
          </a:prstGeom>
        </p:spPr>
      </p:pic>
      <p:sp>
        <p:nvSpPr>
          <p:cNvPr id="36" name="A5_1066"/>
          <p:cNvSpPr txBox="1"/>
          <p:nvPr/>
        </p:nvSpPr>
        <p:spPr>
          <a:xfrm>
            <a:off x="914400" y="6446520"/>
            <a:ext cx="12458700" cy="457200"/>
          </a:xfrm>
          <a:prstGeom prst="rect">
            <a:avLst/>
          </a:prstGeom>
          <a:noFill/>
          <a:ln/>
        </p:spPr>
        <p:txBody>
          <a:bodyPr wrap="square" lIns="0" tIns="0" rIns="0" bIns="0" rtlCol="0" anchor="t"/>
          <a:lstStyle/>
          <a:p>
            <a:pPr marL="0" indent="0" algn="ctr">
              <a:buNone/>
            </a:pPr>
            <a:r>
              <a:rPr lang="en-US" sz="1800" i="1" dirty="0">
                <a:solidFill>
                  <a:srgbClr val="0B3C66"/>
                </a:solidFill>
                <a:latin typeface="Arial" pitchFamily="34" charset="0"/>
                <a:ea typeface="Arial" pitchFamily="34" charset="-122"/>
                <a:cs typeface="Arial" pitchFamily="34" charset="-120"/>
              </a:rPr>
              <a:t>Des signaux dispersés transformés en décisions claires.</a:t>
            </a:r>
            <a:endParaRPr lang="en-US" sz="1800" dirty="0"/>
          </a:p>
        </p:txBody>
      </p:sp>
      <p:pic>
        <p:nvPicPr>
          <p:cNvPr id="37" name="A5_1067" descr="preencoded.png"/>
          <p:cNvPicPr>
            <a:picLocks noChangeAspect="1"/>
          </p:cNvPicPr>
          <p:nvPr/>
        </p:nvPicPr>
        <p:blipFill>
          <a:blip r:embed="rId5"/>
          <a:stretch>
            <a:fillRect/>
          </a:stretch>
        </p:blipFill>
        <p:spPr>
          <a:xfrm>
            <a:off x="6309360" y="6858000"/>
            <a:ext cx="3108960" cy="18288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par>
                                <p:cTn id="21" presetID="10" presetClass="entr" presetSubtype="0" fill="hold" nodeType="with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500"/>
                                        <p:tgtEl>
                                          <p:spTgt spid="29"/>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childTnLst>
                                </p:cTn>
                              </p:par>
                              <p:par>
                                <p:cTn id="31" presetID="10" presetClass="entr" presetSubtype="0" fill="hold"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500"/>
                                        <p:tgtEl>
                                          <p:spTgt spid="34"/>
                                        </p:tgtEl>
                                      </p:cBhvr>
                                    </p:animEffect>
                                  </p:childTnLst>
                                </p:cTn>
                              </p:par>
                              <p:par>
                                <p:cTn id="41" presetID="10" presetClass="entr" presetSubtype="0" fill="hold"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500"/>
                                        <p:tgtEl>
                                          <p:spTgt spid="35"/>
                                        </p:tgtEl>
                                      </p:cBhvr>
                                    </p:animEffect>
                                  </p:childTnLst>
                                </p:cTn>
                              </p:par>
                            </p:childTnLst>
                          </p:cTn>
                        </p:par>
                        <p:par>
                          <p:cTn id="44" fill="hold">
                            <p:stCondLst>
                              <p:cond delay="1400"/>
                            </p:stCondLst>
                            <p:childTnLst>
                              <p:par>
                                <p:cTn id="45" presetID="10" presetClass="entr" presetSubtype="0" fill="hold" grpId="0" nodeType="after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500"/>
                                        <p:tgtEl>
                                          <p:spTgt spid="36"/>
                                        </p:tgtEl>
                                      </p:cBhvr>
                                    </p:animEffect>
                                  </p:childTnLst>
                                </p:cTn>
                              </p:par>
                              <p:par>
                                <p:cTn id="48" presetID="10" presetClass="entr" presetSubtype="0" fill="hold"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7" grpId="0" animBg="1"/>
      <p:bldP spid="28" grpId="0" animBg="1"/>
      <p:bldP spid="30" grpId="0" animBg="1"/>
      <p:bldP spid="31" grpId="0" animBg="1"/>
      <p:bldP spid="33" grpId="0" animBg="1"/>
      <p:bldP spid="34" grpId="0" animBg="1"/>
      <p:bldP spid="3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3" name="A0_1068"/>
          <p:cNvSpPr/>
          <p:nvPr/>
        </p:nvSpPr>
        <p:spPr>
          <a:xfrm>
            <a:off x="6800850" y="274320"/>
            <a:ext cx="109728" cy="109728"/>
          </a:xfrm>
          <a:prstGeom prst="rect">
            <a:avLst/>
          </a:prstGeom>
          <a:solidFill>
            <a:srgbClr val="0A6EBD"/>
          </a:solidFill>
          <a:ln w="12700">
            <a:solidFill>
              <a:srgbClr val="0A6EBD"/>
            </a:solidFill>
            <a:prstDash val="solid"/>
          </a:ln>
        </p:spPr>
      </p:sp>
      <p:sp>
        <p:nvSpPr>
          <p:cNvPr id="4" name="A0_1069"/>
          <p:cNvSpPr/>
          <p:nvPr/>
        </p:nvSpPr>
        <p:spPr>
          <a:xfrm>
            <a:off x="6992874" y="274320"/>
            <a:ext cx="109728" cy="109728"/>
          </a:xfrm>
          <a:prstGeom prst="rect">
            <a:avLst/>
          </a:prstGeom>
          <a:solidFill>
            <a:srgbClr val="0A6EBD"/>
          </a:solidFill>
          <a:ln w="12700">
            <a:solidFill>
              <a:srgbClr val="0A6EBD"/>
            </a:solidFill>
            <a:prstDash val="solid"/>
          </a:ln>
        </p:spPr>
      </p:sp>
      <p:sp>
        <p:nvSpPr>
          <p:cNvPr id="5" name="A0_1070"/>
          <p:cNvSpPr/>
          <p:nvPr/>
        </p:nvSpPr>
        <p:spPr>
          <a:xfrm>
            <a:off x="7184898" y="274320"/>
            <a:ext cx="109728" cy="109728"/>
          </a:xfrm>
          <a:prstGeom prst="rect">
            <a:avLst/>
          </a:prstGeom>
          <a:solidFill>
            <a:srgbClr val="0A6EBD"/>
          </a:solidFill>
          <a:ln w="12700">
            <a:solidFill>
              <a:srgbClr val="0A6EBD"/>
            </a:solidFill>
            <a:prstDash val="solid"/>
          </a:ln>
        </p:spPr>
      </p:sp>
      <p:sp>
        <p:nvSpPr>
          <p:cNvPr id="6" name="A0_1071"/>
          <p:cNvSpPr/>
          <p:nvPr/>
        </p:nvSpPr>
        <p:spPr>
          <a:xfrm>
            <a:off x="7376922" y="274320"/>
            <a:ext cx="109728" cy="109728"/>
          </a:xfrm>
          <a:prstGeom prst="rect">
            <a:avLst/>
          </a:prstGeom>
          <a:solidFill>
            <a:srgbClr val="0A6EBD"/>
          </a:solidFill>
          <a:ln w="12700">
            <a:solidFill>
              <a:srgbClr val="0A6EBD"/>
            </a:solidFill>
            <a:prstDash val="solid"/>
          </a:ln>
        </p:spPr>
      </p:sp>
      <p:sp>
        <p:nvSpPr>
          <p:cNvPr id="7" name="A0_1072"/>
          <p:cNvSpPr txBox="1"/>
          <p:nvPr/>
        </p:nvSpPr>
        <p:spPr>
          <a:xfrm>
            <a:off x="1828800" y="457200"/>
            <a:ext cx="10629900" cy="868680"/>
          </a:xfrm>
          <a:prstGeom prst="rect">
            <a:avLst/>
          </a:prstGeom>
          <a:noFill/>
          <a:ln/>
        </p:spPr>
        <p:txBody>
          <a:bodyPr wrap="square" lIns="0" tIns="0" rIns="0" bIns="0" rtlCol="0" anchor="ctr"/>
          <a:lstStyle/>
          <a:p>
            <a:pPr marL="0" indent="0" algn="ctr">
              <a:buNone/>
            </a:pPr>
            <a:r>
              <a:rPr lang="en-US" sz="3600" dirty="0">
                <a:solidFill>
                  <a:srgbClr val="262626"/>
                </a:solidFill>
                <a:latin typeface="Arial" pitchFamily="34" charset="0"/>
                <a:ea typeface="Arial" pitchFamily="34" charset="-122"/>
                <a:cs typeface="Arial" pitchFamily="34" charset="-120"/>
              </a:rPr>
              <a:t>Perspectives</a:t>
            </a:r>
            <a:endParaRPr lang="en-US" sz="3600" dirty="0"/>
          </a:p>
        </p:txBody>
      </p:sp>
      <p:pic>
        <p:nvPicPr>
          <p:cNvPr id="8" name="A0_1073" descr="preencoded.png"/>
          <p:cNvPicPr>
            <a:picLocks noChangeAspect="1"/>
          </p:cNvPicPr>
          <p:nvPr/>
        </p:nvPicPr>
        <p:blipFill>
          <a:blip r:embed="rId3"/>
          <a:stretch>
            <a:fillRect/>
          </a:stretch>
        </p:blipFill>
        <p:spPr>
          <a:xfrm>
            <a:off x="12687300" y="274320"/>
            <a:ext cx="1097280" cy="254766"/>
          </a:xfrm>
          <a:prstGeom prst="rect">
            <a:avLst/>
          </a:prstGeom>
        </p:spPr>
      </p:pic>
      <p:sp>
        <p:nvSpPr>
          <p:cNvPr id="22" name="A0_1087"/>
          <p:cNvSpPr/>
          <p:nvPr/>
        </p:nvSpPr>
        <p:spPr>
          <a:xfrm>
            <a:off x="13482828" y="7443216"/>
            <a:ext cx="502920" cy="502920"/>
          </a:xfrm>
          <a:prstGeom prst="rect">
            <a:avLst/>
          </a:prstGeom>
          <a:solidFill>
            <a:srgbClr val="0B3C66"/>
          </a:solidFill>
          <a:ln w="12700">
            <a:solidFill>
              <a:srgbClr val="0B3C66"/>
            </a:solidFill>
            <a:prstDash val="solid"/>
          </a:ln>
        </p:spPr>
      </p:sp>
      <p:sp>
        <p:nvSpPr>
          <p:cNvPr id="23" name="A0_1088"/>
          <p:cNvSpPr txBox="1"/>
          <p:nvPr/>
        </p:nvSpPr>
        <p:spPr>
          <a:xfrm>
            <a:off x="13482828" y="7443216"/>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26</a:t>
            </a:r>
            <a:endParaRPr lang="en-US" sz="1500" dirty="0"/>
          </a:p>
        </p:txBody>
      </p:sp>
      <p:sp>
        <p:nvSpPr>
          <p:cNvPr id="24" name="A1_1089"/>
          <p:cNvSpPr/>
          <p:nvPr/>
        </p:nvSpPr>
        <p:spPr>
          <a:xfrm>
            <a:off x="1188720" y="4754880"/>
            <a:ext cx="1188720" cy="1188720"/>
          </a:xfrm>
          <a:prstGeom prst="ellipse">
            <a:avLst/>
          </a:prstGeom>
          <a:solidFill>
            <a:srgbClr val="FFFFFF"/>
          </a:solidFill>
          <a:ln w="90805">
            <a:solidFill>
              <a:srgbClr val="0A6EBD"/>
            </a:solidFill>
            <a:prstDash val="solid"/>
          </a:ln>
        </p:spPr>
        <p:txBody>
          <a:bodyPr/>
          <a:lstStyle/>
          <a:p>
            <a:endParaRPr lang="fr-FR"/>
          </a:p>
        </p:txBody>
      </p:sp>
      <p:pic>
        <p:nvPicPr>
          <p:cNvPr id="25" name="A1_1090" descr="preencoded.png"/>
          <p:cNvPicPr>
            <a:picLocks noChangeAspect="1"/>
          </p:cNvPicPr>
          <p:nvPr/>
        </p:nvPicPr>
        <p:blipFill>
          <a:blip r:embed="rId4"/>
          <a:stretch>
            <a:fillRect/>
          </a:stretch>
        </p:blipFill>
        <p:spPr>
          <a:xfrm>
            <a:off x="1450238" y="5016398"/>
            <a:ext cx="665683" cy="665683"/>
          </a:xfrm>
          <a:prstGeom prst="rect">
            <a:avLst/>
          </a:prstGeom>
        </p:spPr>
      </p:pic>
      <p:sp>
        <p:nvSpPr>
          <p:cNvPr id="26" name="A1_1091"/>
          <p:cNvSpPr txBox="1"/>
          <p:nvPr/>
        </p:nvSpPr>
        <p:spPr>
          <a:xfrm>
            <a:off x="822960" y="6053328"/>
            <a:ext cx="2743200" cy="384048"/>
          </a:xfrm>
          <a:prstGeom prst="rect">
            <a:avLst/>
          </a:prstGeom>
          <a:noFill/>
          <a:ln/>
        </p:spPr>
        <p:txBody>
          <a:bodyPr wrap="square" lIns="0" tIns="0" rIns="0" bIns="0" rtlCol="0" anchor="t"/>
          <a:lstStyle/>
          <a:p>
            <a:pPr marL="0" indent="0">
              <a:buNone/>
            </a:pPr>
            <a:r>
              <a:rPr lang="en-US" sz="1700" b="1" dirty="0">
                <a:solidFill>
                  <a:srgbClr val="0B3C66"/>
                </a:solidFill>
                <a:latin typeface="Arial" pitchFamily="34" charset="0"/>
                <a:ea typeface="Arial" pitchFamily="34" charset="-122"/>
                <a:cs typeface="Arial" pitchFamily="34" charset="-120"/>
              </a:rPr>
              <a:t>Passage à l'échelle</a:t>
            </a:r>
            <a:endParaRPr lang="en-US" sz="1700" dirty="0"/>
          </a:p>
        </p:txBody>
      </p:sp>
      <p:sp>
        <p:nvSpPr>
          <p:cNvPr id="27" name="A1_1092"/>
          <p:cNvSpPr txBox="1"/>
          <p:nvPr/>
        </p:nvSpPr>
        <p:spPr>
          <a:xfrm>
            <a:off x="822960" y="6446520"/>
            <a:ext cx="2743200" cy="685800"/>
          </a:xfrm>
          <a:prstGeom prst="rect">
            <a:avLst/>
          </a:prstGeom>
          <a:noFill/>
          <a:ln/>
        </p:spPr>
        <p:txBody>
          <a:bodyPr wrap="square" lIns="0" tIns="0" rIns="0" bIns="0" rtlCol="0" anchor="t"/>
          <a:lstStyle/>
          <a:p>
            <a:pPr marL="0" indent="0">
              <a:buNone/>
            </a:pPr>
            <a:r>
              <a:rPr lang="en-US" sz="1300" dirty="0">
                <a:solidFill>
                  <a:srgbClr val="595959"/>
                </a:solidFill>
                <a:latin typeface="Arial" pitchFamily="34" charset="0"/>
                <a:ea typeface="Arial" pitchFamily="34" charset="-122"/>
                <a:cs typeface="Arial" pitchFamily="34" charset="-120"/>
              </a:rPr>
              <a:t>Déploiement sur Kubernetes</a:t>
            </a:r>
            <a:endParaRPr lang="en-US" sz="1300" dirty="0"/>
          </a:p>
        </p:txBody>
      </p:sp>
      <p:pic>
        <p:nvPicPr>
          <p:cNvPr id="28" name="A2_1093" descr="preencoded.png"/>
          <p:cNvPicPr>
            <a:picLocks noChangeAspect="1"/>
          </p:cNvPicPr>
          <p:nvPr/>
        </p:nvPicPr>
        <p:blipFill>
          <a:blip r:embed="rId5"/>
          <a:stretch>
            <a:fillRect/>
          </a:stretch>
        </p:blipFill>
        <p:spPr>
          <a:xfrm>
            <a:off x="2441448" y="4221364"/>
            <a:ext cx="2020824" cy="835268"/>
          </a:xfrm>
          <a:prstGeom prst="rect">
            <a:avLst/>
          </a:prstGeom>
        </p:spPr>
      </p:pic>
      <p:sp>
        <p:nvSpPr>
          <p:cNvPr id="29" name="A3_1094"/>
          <p:cNvSpPr/>
          <p:nvPr/>
        </p:nvSpPr>
        <p:spPr>
          <a:xfrm>
            <a:off x="4526280" y="3703320"/>
            <a:ext cx="1188720" cy="1188720"/>
          </a:xfrm>
          <a:prstGeom prst="ellipse">
            <a:avLst/>
          </a:prstGeom>
          <a:solidFill>
            <a:srgbClr val="FFFFFF"/>
          </a:solidFill>
          <a:ln w="90805">
            <a:solidFill>
              <a:srgbClr val="0A6EBD"/>
            </a:solidFill>
            <a:prstDash val="solid"/>
          </a:ln>
        </p:spPr>
        <p:txBody>
          <a:bodyPr/>
          <a:lstStyle/>
          <a:p>
            <a:endParaRPr lang="fr-FR"/>
          </a:p>
        </p:txBody>
      </p:sp>
      <p:pic>
        <p:nvPicPr>
          <p:cNvPr id="30" name="A3_1095" descr="preencoded.png"/>
          <p:cNvPicPr>
            <a:picLocks noChangeAspect="1"/>
          </p:cNvPicPr>
          <p:nvPr/>
        </p:nvPicPr>
        <p:blipFill>
          <a:blip r:embed="rId6"/>
          <a:stretch>
            <a:fillRect/>
          </a:stretch>
        </p:blipFill>
        <p:spPr>
          <a:xfrm>
            <a:off x="4787798" y="3964838"/>
            <a:ext cx="665683" cy="665683"/>
          </a:xfrm>
          <a:prstGeom prst="rect">
            <a:avLst/>
          </a:prstGeom>
        </p:spPr>
      </p:pic>
      <p:sp>
        <p:nvSpPr>
          <p:cNvPr id="31" name="A3_1096"/>
          <p:cNvSpPr txBox="1"/>
          <p:nvPr/>
        </p:nvSpPr>
        <p:spPr>
          <a:xfrm>
            <a:off x="4160520" y="5001768"/>
            <a:ext cx="2743200" cy="384048"/>
          </a:xfrm>
          <a:prstGeom prst="rect">
            <a:avLst/>
          </a:prstGeom>
          <a:noFill/>
          <a:ln/>
        </p:spPr>
        <p:txBody>
          <a:bodyPr wrap="square" lIns="0" tIns="0" rIns="0" bIns="0" rtlCol="0" anchor="t"/>
          <a:lstStyle/>
          <a:p>
            <a:pPr marL="0" indent="0">
              <a:buNone/>
            </a:pPr>
            <a:r>
              <a:rPr lang="en-US" sz="1700" b="1" dirty="0">
                <a:solidFill>
                  <a:srgbClr val="0B3C66"/>
                </a:solidFill>
                <a:latin typeface="Arial" pitchFamily="34" charset="0"/>
                <a:ea typeface="Arial" pitchFamily="34" charset="-122"/>
                <a:cs typeface="Arial" pitchFamily="34" charset="-120"/>
              </a:rPr>
              <a:t>IA enrichie</a:t>
            </a:r>
            <a:endParaRPr lang="en-US" sz="1700" dirty="0"/>
          </a:p>
        </p:txBody>
      </p:sp>
      <p:sp>
        <p:nvSpPr>
          <p:cNvPr id="32" name="A3_1097"/>
          <p:cNvSpPr txBox="1"/>
          <p:nvPr/>
        </p:nvSpPr>
        <p:spPr>
          <a:xfrm>
            <a:off x="4160520" y="5394960"/>
            <a:ext cx="2743200" cy="685800"/>
          </a:xfrm>
          <a:prstGeom prst="rect">
            <a:avLst/>
          </a:prstGeom>
          <a:noFill/>
          <a:ln/>
        </p:spPr>
        <p:txBody>
          <a:bodyPr wrap="square" lIns="0" tIns="0" rIns="0" bIns="0" rtlCol="0" anchor="t"/>
          <a:lstStyle/>
          <a:p>
            <a:pPr marL="0" indent="0">
              <a:buNone/>
            </a:pPr>
            <a:r>
              <a:rPr lang="en-US" sz="1300" dirty="0">
                <a:solidFill>
                  <a:srgbClr val="595959"/>
                </a:solidFill>
                <a:latin typeface="Arial" pitchFamily="34" charset="0"/>
                <a:ea typeface="Arial" pitchFamily="34" charset="-122"/>
                <a:cs typeface="Arial" pitchFamily="34" charset="-120"/>
              </a:rPr>
              <a:t>Exploiter la documentation interne de Vermeg (RAG)</a:t>
            </a:r>
            <a:endParaRPr lang="en-US" sz="1300" dirty="0"/>
          </a:p>
        </p:txBody>
      </p:sp>
      <p:pic>
        <p:nvPicPr>
          <p:cNvPr id="33" name="A4_1098" descr="preencoded.png"/>
          <p:cNvPicPr>
            <a:picLocks noChangeAspect="1"/>
          </p:cNvPicPr>
          <p:nvPr/>
        </p:nvPicPr>
        <p:blipFill>
          <a:blip r:embed="rId7"/>
          <a:stretch>
            <a:fillRect/>
          </a:stretch>
        </p:blipFill>
        <p:spPr>
          <a:xfrm>
            <a:off x="5779008" y="3165742"/>
            <a:ext cx="2020824" cy="839330"/>
          </a:xfrm>
          <a:prstGeom prst="rect">
            <a:avLst/>
          </a:prstGeom>
        </p:spPr>
      </p:pic>
      <p:sp>
        <p:nvSpPr>
          <p:cNvPr id="34" name="A5_1099"/>
          <p:cNvSpPr/>
          <p:nvPr/>
        </p:nvSpPr>
        <p:spPr>
          <a:xfrm>
            <a:off x="7863840" y="2651760"/>
            <a:ext cx="1188720" cy="1188720"/>
          </a:xfrm>
          <a:prstGeom prst="ellipse">
            <a:avLst/>
          </a:prstGeom>
          <a:solidFill>
            <a:srgbClr val="FFFFFF"/>
          </a:solidFill>
          <a:ln w="90805">
            <a:solidFill>
              <a:srgbClr val="0A6EBD"/>
            </a:solidFill>
            <a:prstDash val="solid"/>
          </a:ln>
        </p:spPr>
        <p:txBody>
          <a:bodyPr/>
          <a:lstStyle/>
          <a:p>
            <a:endParaRPr lang="fr-FR"/>
          </a:p>
        </p:txBody>
      </p:sp>
      <p:pic>
        <p:nvPicPr>
          <p:cNvPr id="35" name="A5_1100" descr="preencoded.png"/>
          <p:cNvPicPr>
            <a:picLocks noChangeAspect="1"/>
          </p:cNvPicPr>
          <p:nvPr/>
        </p:nvPicPr>
        <p:blipFill>
          <a:blip r:embed="rId8"/>
          <a:stretch>
            <a:fillRect/>
          </a:stretch>
        </p:blipFill>
        <p:spPr>
          <a:xfrm>
            <a:off x="8125358" y="2913278"/>
            <a:ext cx="665683" cy="665683"/>
          </a:xfrm>
          <a:prstGeom prst="rect">
            <a:avLst/>
          </a:prstGeom>
        </p:spPr>
      </p:pic>
      <p:sp>
        <p:nvSpPr>
          <p:cNvPr id="36" name="A5_1101"/>
          <p:cNvSpPr txBox="1"/>
          <p:nvPr/>
        </p:nvSpPr>
        <p:spPr>
          <a:xfrm>
            <a:off x="7498080" y="3950208"/>
            <a:ext cx="2743200" cy="384048"/>
          </a:xfrm>
          <a:prstGeom prst="rect">
            <a:avLst/>
          </a:prstGeom>
          <a:noFill/>
          <a:ln/>
        </p:spPr>
        <p:txBody>
          <a:bodyPr wrap="square" lIns="0" tIns="0" rIns="0" bIns="0" rtlCol="0" anchor="t"/>
          <a:lstStyle/>
          <a:p>
            <a:pPr marL="0" indent="0">
              <a:buNone/>
            </a:pPr>
            <a:r>
              <a:rPr lang="en-US" sz="1700" b="1" dirty="0">
                <a:solidFill>
                  <a:srgbClr val="0B3C66"/>
                </a:solidFill>
                <a:latin typeface="Arial" pitchFamily="34" charset="0"/>
                <a:ea typeface="Arial" pitchFamily="34" charset="-122"/>
                <a:cs typeface="Arial" pitchFamily="34" charset="-120"/>
              </a:rPr>
              <a:t>Correction assistée</a:t>
            </a:r>
            <a:endParaRPr lang="en-US" sz="1700" dirty="0"/>
          </a:p>
        </p:txBody>
      </p:sp>
      <p:sp>
        <p:nvSpPr>
          <p:cNvPr id="37" name="A5_1102"/>
          <p:cNvSpPr txBox="1"/>
          <p:nvPr/>
        </p:nvSpPr>
        <p:spPr>
          <a:xfrm>
            <a:off x="7498080" y="4343400"/>
            <a:ext cx="2743200" cy="685800"/>
          </a:xfrm>
          <a:prstGeom prst="rect">
            <a:avLst/>
          </a:prstGeom>
          <a:noFill/>
          <a:ln/>
        </p:spPr>
        <p:txBody>
          <a:bodyPr wrap="square" lIns="0" tIns="0" rIns="0" bIns="0" rtlCol="0" anchor="t"/>
          <a:lstStyle/>
          <a:p>
            <a:pPr marL="0" indent="0">
              <a:buNone/>
            </a:pPr>
            <a:r>
              <a:rPr lang="en-US" sz="1300" dirty="0">
                <a:solidFill>
                  <a:srgbClr val="595959"/>
                </a:solidFill>
                <a:latin typeface="Arial" pitchFamily="34" charset="0"/>
                <a:ea typeface="Arial" pitchFamily="34" charset="-122"/>
                <a:cs typeface="Arial" pitchFamily="34" charset="-120"/>
              </a:rPr>
              <a:t>Proposer les correctifs en merge request</a:t>
            </a:r>
            <a:endParaRPr lang="en-US" sz="1300" dirty="0"/>
          </a:p>
        </p:txBody>
      </p:sp>
      <p:pic>
        <p:nvPicPr>
          <p:cNvPr id="38" name="A6_1103" descr="preencoded.png"/>
          <p:cNvPicPr>
            <a:picLocks noChangeAspect="1"/>
          </p:cNvPicPr>
          <p:nvPr/>
        </p:nvPicPr>
        <p:blipFill>
          <a:blip r:embed="rId9"/>
          <a:stretch>
            <a:fillRect/>
          </a:stretch>
        </p:blipFill>
        <p:spPr>
          <a:xfrm>
            <a:off x="9116568" y="2126285"/>
            <a:ext cx="2020824" cy="827227"/>
          </a:xfrm>
          <a:prstGeom prst="rect">
            <a:avLst/>
          </a:prstGeom>
        </p:spPr>
      </p:pic>
      <p:sp>
        <p:nvSpPr>
          <p:cNvPr id="39" name="A7_1104"/>
          <p:cNvSpPr/>
          <p:nvPr/>
        </p:nvSpPr>
        <p:spPr>
          <a:xfrm>
            <a:off x="11201400" y="1600200"/>
            <a:ext cx="1188720" cy="1188720"/>
          </a:xfrm>
          <a:prstGeom prst="ellipse">
            <a:avLst/>
          </a:prstGeom>
          <a:solidFill>
            <a:srgbClr val="FFFFFF"/>
          </a:solidFill>
          <a:ln w="90805">
            <a:solidFill>
              <a:srgbClr val="0A6EBD"/>
            </a:solidFill>
            <a:prstDash val="solid"/>
          </a:ln>
        </p:spPr>
        <p:txBody>
          <a:bodyPr/>
          <a:lstStyle/>
          <a:p>
            <a:endParaRPr lang="fr-FR"/>
          </a:p>
        </p:txBody>
      </p:sp>
      <p:pic>
        <p:nvPicPr>
          <p:cNvPr id="40" name="A7_1105" descr="preencoded.png"/>
          <p:cNvPicPr>
            <a:picLocks noChangeAspect="1"/>
          </p:cNvPicPr>
          <p:nvPr/>
        </p:nvPicPr>
        <p:blipFill>
          <a:blip r:embed="rId10"/>
          <a:stretch>
            <a:fillRect/>
          </a:stretch>
        </p:blipFill>
        <p:spPr>
          <a:xfrm>
            <a:off x="11462918" y="1861718"/>
            <a:ext cx="665683" cy="665683"/>
          </a:xfrm>
          <a:prstGeom prst="rect">
            <a:avLst/>
          </a:prstGeom>
        </p:spPr>
      </p:pic>
      <p:sp>
        <p:nvSpPr>
          <p:cNvPr id="41" name="A7_1106"/>
          <p:cNvSpPr txBox="1"/>
          <p:nvPr/>
        </p:nvSpPr>
        <p:spPr>
          <a:xfrm>
            <a:off x="10835640" y="2898648"/>
            <a:ext cx="2743200" cy="384048"/>
          </a:xfrm>
          <a:prstGeom prst="rect">
            <a:avLst/>
          </a:prstGeom>
          <a:noFill/>
          <a:ln/>
        </p:spPr>
        <p:txBody>
          <a:bodyPr wrap="square" lIns="0" tIns="0" rIns="0" bIns="0" rtlCol="0" anchor="t"/>
          <a:lstStyle/>
          <a:p>
            <a:pPr marL="0" indent="0">
              <a:buNone/>
            </a:pPr>
            <a:r>
              <a:rPr lang="en-US" sz="1700" b="1" dirty="0">
                <a:solidFill>
                  <a:srgbClr val="0B3C66"/>
                </a:solidFill>
                <a:latin typeface="Arial" pitchFamily="34" charset="0"/>
                <a:ea typeface="Arial" pitchFamily="34" charset="-122"/>
                <a:cs typeface="Arial" pitchFamily="34" charset="-120"/>
              </a:rPr>
              <a:t>Prévention</a:t>
            </a:r>
            <a:endParaRPr lang="en-US" sz="1700" dirty="0"/>
          </a:p>
        </p:txBody>
      </p:sp>
      <p:sp>
        <p:nvSpPr>
          <p:cNvPr id="42" name="A7_1107"/>
          <p:cNvSpPr txBox="1"/>
          <p:nvPr/>
        </p:nvSpPr>
        <p:spPr>
          <a:xfrm>
            <a:off x="10835640" y="3291840"/>
            <a:ext cx="2743200" cy="685800"/>
          </a:xfrm>
          <a:prstGeom prst="rect">
            <a:avLst/>
          </a:prstGeom>
          <a:noFill/>
          <a:ln/>
        </p:spPr>
        <p:txBody>
          <a:bodyPr wrap="square" lIns="0" tIns="0" rIns="0" bIns="0" rtlCol="0" anchor="t"/>
          <a:lstStyle/>
          <a:p>
            <a:pPr marL="0" indent="0">
              <a:buNone/>
            </a:pPr>
            <a:r>
              <a:rPr lang="en-US" sz="1300" dirty="0">
                <a:solidFill>
                  <a:srgbClr val="595959"/>
                </a:solidFill>
                <a:latin typeface="Arial" pitchFamily="34" charset="0"/>
                <a:ea typeface="Arial" pitchFamily="34" charset="-122"/>
                <a:cs typeface="Arial" pitchFamily="34" charset="-120"/>
              </a:rPr>
              <a:t>Prédire les incidents avant qu'ils ne surviennent</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childTnLst>
                          </p:cTn>
                        </p:par>
                        <p:par>
                          <p:cTn id="17" fill="hold">
                            <p:stCondLst>
                              <p:cond delay="350"/>
                            </p:stCondLst>
                            <p:childTnLst>
                              <p:par>
                                <p:cTn id="18" presetID="10" presetClass="entr" presetSubtype="0" fill="hold" nodeType="after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500"/>
                                        <p:tgtEl>
                                          <p:spTgt spid="28"/>
                                        </p:tgtEl>
                                      </p:cBhvr>
                                    </p:animEffect>
                                  </p:childTnLst>
                                </p:cTn>
                              </p:par>
                            </p:childTnLst>
                          </p:cTn>
                        </p:par>
                        <p:par>
                          <p:cTn id="21" fill="hold">
                            <p:stCondLst>
                              <p:cond delay="700"/>
                            </p:stCondLst>
                            <p:childTnLst>
                              <p:par>
                                <p:cTn id="22" presetID="10" presetClass="entr" presetSubtype="0" fill="hold" grpId="0" nodeType="after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childTnLst>
                                </p:cTn>
                              </p:par>
                              <p:par>
                                <p:cTn id="25" presetID="10" presetClass="entr" presetSubtype="0" fill="hold"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childTnLst>
                          </p:cTn>
                        </p:par>
                        <p:par>
                          <p:cTn id="34" fill="hold">
                            <p:stCondLst>
                              <p:cond delay="1050"/>
                            </p:stCondLst>
                            <p:childTnLst>
                              <p:par>
                                <p:cTn id="35" presetID="10"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childTnLst>
                          </p:cTn>
                        </p:par>
                        <p:par>
                          <p:cTn id="38" fill="hold">
                            <p:stCondLst>
                              <p:cond delay="1400"/>
                            </p:stCondLst>
                            <p:childTnLst>
                              <p:par>
                                <p:cTn id="39" presetID="10" presetClass="entr" presetSubtype="0" fill="hold" grpId="0" nodeType="afterEffect">
                                  <p:stCondLst>
                                    <p:cond delay="0"/>
                                  </p:stCondLst>
                                  <p:childTnLst>
                                    <p:set>
                                      <p:cBhvr>
                                        <p:cTn id="40" dur="1" fill="hold">
                                          <p:stCondLst>
                                            <p:cond delay="0"/>
                                          </p:stCondLst>
                                        </p:cTn>
                                        <p:tgtEl>
                                          <p:spTgt spid="34"/>
                                        </p:tgtEl>
                                        <p:attrNameLst>
                                          <p:attrName>style.visibility</p:attrName>
                                        </p:attrNameLst>
                                      </p:cBhvr>
                                      <p:to>
                                        <p:strVal val="visible"/>
                                      </p:to>
                                    </p:set>
                                    <p:animEffect transition="in" filter="fade">
                                      <p:cBhvr>
                                        <p:cTn id="41" dur="500"/>
                                        <p:tgtEl>
                                          <p:spTgt spid="34"/>
                                        </p:tgtEl>
                                      </p:cBhvr>
                                    </p:animEffect>
                                  </p:childTnLst>
                                </p:cTn>
                              </p:par>
                              <p:par>
                                <p:cTn id="42" presetID="10" presetClass="entr" presetSubtype="0" fill="hold" nodeType="withEffect">
                                  <p:stCondLst>
                                    <p:cond delay="0"/>
                                  </p:stCondLst>
                                  <p:childTnLst>
                                    <p:set>
                                      <p:cBhvr>
                                        <p:cTn id="43" dur="1" fill="hold">
                                          <p:stCondLst>
                                            <p:cond delay="0"/>
                                          </p:stCondLst>
                                        </p:cTn>
                                        <p:tgtEl>
                                          <p:spTgt spid="35"/>
                                        </p:tgtEl>
                                        <p:attrNameLst>
                                          <p:attrName>style.visibility</p:attrName>
                                        </p:attrNameLst>
                                      </p:cBhvr>
                                      <p:to>
                                        <p:strVal val="visible"/>
                                      </p:to>
                                    </p:set>
                                    <p:animEffect transition="in" filter="fade">
                                      <p:cBhvr>
                                        <p:cTn id="44" dur="500"/>
                                        <p:tgtEl>
                                          <p:spTgt spid="3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500"/>
                                        <p:tgtEl>
                                          <p:spTgt spid="3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500"/>
                                        <p:tgtEl>
                                          <p:spTgt spid="37"/>
                                        </p:tgtEl>
                                      </p:cBhvr>
                                    </p:animEffect>
                                  </p:childTnLst>
                                </p:cTn>
                              </p:par>
                            </p:childTnLst>
                          </p:cTn>
                        </p:par>
                        <p:par>
                          <p:cTn id="51" fill="hold">
                            <p:stCondLst>
                              <p:cond delay="1750"/>
                            </p:stCondLst>
                            <p:childTnLst>
                              <p:par>
                                <p:cTn id="52" presetID="10" presetClass="entr" presetSubtype="0" fill="hold" nodeType="afterEffect">
                                  <p:stCondLst>
                                    <p:cond delay="0"/>
                                  </p:stCondLst>
                                  <p:childTnLst>
                                    <p:set>
                                      <p:cBhvr>
                                        <p:cTn id="53" dur="1" fill="hold">
                                          <p:stCondLst>
                                            <p:cond delay="0"/>
                                          </p:stCondLst>
                                        </p:cTn>
                                        <p:tgtEl>
                                          <p:spTgt spid="38"/>
                                        </p:tgtEl>
                                        <p:attrNameLst>
                                          <p:attrName>style.visibility</p:attrName>
                                        </p:attrNameLst>
                                      </p:cBhvr>
                                      <p:to>
                                        <p:strVal val="visible"/>
                                      </p:to>
                                    </p:set>
                                    <p:animEffect transition="in" filter="fade">
                                      <p:cBhvr>
                                        <p:cTn id="54" dur="500"/>
                                        <p:tgtEl>
                                          <p:spTgt spid="38"/>
                                        </p:tgtEl>
                                      </p:cBhvr>
                                    </p:animEffect>
                                  </p:childTnLst>
                                </p:cTn>
                              </p:par>
                            </p:childTnLst>
                          </p:cTn>
                        </p:par>
                        <p:par>
                          <p:cTn id="55" fill="hold">
                            <p:stCondLst>
                              <p:cond delay="2100"/>
                            </p:stCondLst>
                            <p:childTnLst>
                              <p:par>
                                <p:cTn id="56" presetID="10" presetClass="entr" presetSubtype="0" fill="hold" grpId="0" nodeType="after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500"/>
                                        <p:tgtEl>
                                          <p:spTgt spid="39"/>
                                        </p:tgtEl>
                                      </p:cBhvr>
                                    </p:animEffect>
                                  </p:childTnLst>
                                </p:cTn>
                              </p:par>
                              <p:par>
                                <p:cTn id="59" presetID="10" presetClass="entr" presetSubtype="0" fill="hold" nodeType="withEffect">
                                  <p:stCondLst>
                                    <p:cond delay="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500"/>
                                        <p:tgtEl>
                                          <p:spTgt spid="4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1"/>
                                        </p:tgtEl>
                                        <p:attrNameLst>
                                          <p:attrName>style.visibility</p:attrName>
                                        </p:attrNameLst>
                                      </p:cBhvr>
                                      <p:to>
                                        <p:strVal val="visible"/>
                                      </p:to>
                                    </p:set>
                                    <p:animEffect transition="in" filter="fade">
                                      <p:cBhvr>
                                        <p:cTn id="64" dur="500"/>
                                        <p:tgtEl>
                                          <p:spTgt spid="4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7" grpId="0" animBg="1"/>
      <p:bldP spid="29" grpId="0" animBg="1"/>
      <p:bldP spid="31" grpId="0" animBg="1"/>
      <p:bldP spid="32" grpId="0" animBg="1"/>
      <p:bldP spid="34" grpId="0" animBg="1"/>
      <p:bldP spid="36" grpId="0" animBg="1"/>
      <p:bldP spid="37" grpId="0" animBg="1"/>
      <p:bldP spid="39" grpId="0" animBg="1"/>
      <p:bldP spid="41" grpId="0" animBg="1"/>
      <p:bldP spid="4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3" name="A0_1108" descr="preencoded.png"/>
          <p:cNvPicPr>
            <a:picLocks noChangeAspect="1"/>
          </p:cNvPicPr>
          <p:nvPr/>
        </p:nvPicPr>
        <p:blipFill>
          <a:blip r:embed="rId3"/>
          <a:stretch>
            <a:fillRect/>
          </a:stretch>
        </p:blipFill>
        <p:spPr>
          <a:xfrm>
            <a:off x="0" y="0"/>
            <a:ext cx="14287500" cy="8058150"/>
          </a:xfrm>
          <a:prstGeom prst="rect">
            <a:avLst/>
          </a:prstGeom>
        </p:spPr>
      </p:pic>
    </p:spTree>
  </p:cSld>
  <p:clrMapOvr>
    <a:masterClrMapping/>
  </p:clrMapOvr>
  <p:transition spd="slow">
    <p:fade thruBlk="1"/>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140</TotalTime>
  <Words>3827</Words>
  <Application>Microsoft Office PowerPoint</Application>
  <PresentationFormat>Custom</PresentationFormat>
  <Paragraphs>443</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Assistant DevSecOps intelligent - Soutenance PFE</dc:title>
  <dc:subject>PptxGenJS Presentation</dc:subject>
  <dc:creator>Emna Ounissi</dc:creator>
  <cp:lastModifiedBy>Anis Lahmer</cp:lastModifiedBy>
  <cp:revision>10</cp:revision>
  <dcterms:created xsi:type="dcterms:W3CDTF">2026-09-27T14:39:08Z</dcterms:created>
  <dcterms:modified xsi:type="dcterms:W3CDTF">2026-09-27T21:05:50Z</dcterms:modified>
</cp:coreProperties>
</file>