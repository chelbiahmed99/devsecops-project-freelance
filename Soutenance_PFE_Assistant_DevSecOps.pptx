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5D669AF-5697-4CA2-0B58-4EB8A049A6D3}">
          <p14:sldIdLst>
            <p14:sldId id="256"/>
            <p14:sldId id="257"/>
            <p14:sldId id="258"/>
          </p14:sldIdLst>
        </p14:section>
        <p14:section name="Contexte" id="{1AE5CFC0-B22F-67F0-FC17-30B1538B5ED1}">
          <p14:sldIdLst>
            <p14:sldId id="259"/>
            <p14:sldId id="260"/>
            <p14:sldId id="261"/>
            <p14:sldId id="262"/>
            <p14:sldId id="263"/>
          </p14:sldIdLst>
        </p14:section>
        <p14:section name="Solution" id="{5374B34D-5F55-332B-30B2-70C82A07CA9A}">
          <p14:sldIdLst>
            <p14:sldId id="264"/>
            <p14:sldId id="265"/>
            <p14:sldId id="266"/>
            <p14:sldId id="267"/>
          </p14:sldIdLst>
        </p14:section>
        <p14:section name="Conception" id="{574BC2C2-AD84-F34A-44D1-E34D05625EC8}">
          <p14:sldIdLst>
            <p14:sldId id="268"/>
            <p14:sldId id="269"/>
          </p14:sldIdLst>
        </p14:section>
        <p14:section name="Réalisation" id="{5DEF199F-21DD-5ECA-33AA-974E3A41F22C}">
          <p14:sldIdLst>
            <p14:sldId id="270"/>
            <p14:sldId id="271"/>
            <p14:sldId id="272"/>
            <p14:sldId id="273"/>
            <p14:sldId id="274"/>
            <p14:sldId id="275"/>
            <p14:sldId id="276"/>
          </p14:sldIdLst>
        </p14:section>
        <p14:section name="Démo et conclusion" id="{BC8ABFC1-023C-2853-5910-B5C30970158C}">
          <p14:sldIdLst>
            <p14:sldId id="277"/>
            <p14:sldId id="278"/>
            <p14:sldId id="279"/>
            <p14:sldId id="280"/>
            <p14:sldId id="281"/>
          </p14:sldIdLst>
        </p14:section>
        <p14:section name="Annexes" id="{FBE62645-BD76-A5C2-C2AE-0DDCBC1E27CC}">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89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Madame, Monsieur les membres du jury, merci de votre présence. Je m'appelle Emna Ounissi et je vais vous présenter mon projet de fin d'études réalisé chez Vermeg : un assistant intelligent qui aide les équipes à trouver, comprendre et corriger les problèmes de leurs applications. Mon objectif aujourd'hui : que chacun, même sans connaissances techniques, reparte en ayant compris à quoi il sert et ce qu'il apporte.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cinq étapes simples. D'abord le contexte : l'entreprise et le problème qu'on rencontre aujourd'hui. Ensuite la solution que j'ai construite. Puis la conception : qui utilise l'outil. Ensuite la réalisation : comment c'est organisé et comment fonctionne l'intelligence artificielle. Et enfin une démonstration en direct avant de conclure.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application vit en cinq étapes : on la crée, on la teste, on vérifie sa sécurité, on la met en ligne, puis elle est utilisée et tient un journal de tout ce qu'elle fait. À chaque étape, elle produit des informations très utiles. Le problème : ces informations sont éparpillées dans plusieurs outils, et comprendre un incident demande du temps et un expert. Notre idée : un seul assistant qui rassemble tout, détecte les problèmes, les explique et aide à les corriger.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contexte du projet.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réalisé mon stage chez Vermeg, un éditeur international de logiciels pour les banques, les assurances et les gestionnaires d'actifs. L'entreprise est née à Tunis en 1993, son siège est aujourd'hui à Amsterdam. Elle est présente dans 16 pays, compte plus de 1 000 collaborateurs et a des clients dans plus de 40 pays. Dans ce secteur, une panne ou une faille de sécurité coûte très cher : la qualité des logiciels est vitale. C'est ce qui donne tout son sens à mon projet.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se passe un incident aujourd'hui ? Un problème apparaît : un test échoue ou une erreur surgit chez un client. L'équipe doit alors ouvrir chaque outil, un par un. Elle cherche la cause à la main, parfois dans des milliers de lignes. Et la correction dépend de l'expérience de chacun. Résultat : des heures perdues, et un savoir qui reste dans la tête de quelques experts.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façon de faire a quatre limites. Les informations sont éparpillées : personne n'a de vue d'ensemble. Le diagnostic est lent, car tout se fait à la main. Les alertes ne sont pas classées : on ne sait pas par où commencer. Et l'équipe dépend de quelques experts. C'est un effet domino : plus de temps pour trouver la cause, donc plus de risques d'erreurs chez le client, et au final une qualité qui baisse.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cela nous amène à la question de départ : comment aider les équipes à trouver, comprendre et corriger plus vite les incidents de leurs applications, grâce à l'intelligence artificielle ? Concrètement, l'outil doit répondre à trois questions simples : où est le problème, pourquoi est-il arrivé, et comment le corriger.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solution que j'ai construite.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solution est un assistant unique avec quatre missions. Il surveille les journaux d'activité de l'application et regroupe automatiquement les erreurs qui se ressemblent. Il vérifie les tests et relie chaque échec à sa cause. Il protège, en classant les failles de sécurité par ordre d'urgence. Et il explique : l'intelligence artificielle donne la cause du problème et propose une solution en langage clair. Le tout est réuni dans un tableau de bord unique qui montre la santé du projet en un coup d'œil.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voici ce que l'assistant fait pour l'équipe. Il rassemble tous les messages de l'application au même endroit. Il repère les anomalies et envoie une alerte dès qu'un pic d'erreurs apparaît. Il suit les tests et repère ceux qui sont instables. Il donne à chaque faille de sécurité une note d'urgence de 0 à 100. Il explique les problèmes grâce à l'IA, avec un copilote qui répond aux questions. Et il permet de piloter le projet : tableau de bord, feu vert avant chaque livraison et gestion des comptes.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ce qu'il fait, l'assistant respecte six engagements de qualité. Il est sécurisé : chacun n'accède qu'à ce que son rôle permet. Il est toujours disponible : si l'IA en ligne ne répond pas, un plan B local prend le relais. Il est rapide, car les tâches lourdes tournent en arrière-plan. Il est simple à utiliser. Il est évolutif, car construit en trois blocs indépendants. Et il s'installe en une seule commande. Pour moi, un outil de sécurité doit lui-même être exemplaire.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conception : qui utilise l'assistant et pour faire quoi.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profils utilisent l'assistant. Le développeur consulte le tableau de bord, analyse les journaux et les tests, et discute avec le copilote. Le responsable qualité peut faire tout cela, et en plus il gère les failles de sécurité, valide les propositions de l'IA et consulte l'historique des actions. L'administrateur a tous ces droits, et gère en plus les comptes. Enfin, il y a un acteur automatique : la chaîne de livraison, qui envoie ses résultats à l'assistant et vérifie le feu vert avant chaque mise en ligne. Toute personne doit se connecter avant d'agir. Le diagramme UML complet est en annexe.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réalisation.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organiser le travail, j'ai utilisé la méthode Scrum. Le principe : on liste les besoins par priorité, on planifie un petit lot de tâches, on développe pendant deux à trois semaines, on livre une fonctionnalité testée, puis on s'améliore grâce aux retours. Ce cycle s'appelle un sprint. Le projet en a compté six : les fondations et la connexion sécurisée, les journaux d'activité, les tests, la sécurité, l'intelligence artificielle, et enfin le tableau de bord et la mise en ligne.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l'organisation logique de l'assistant, en trois étages, comme un immeuble. En haut, ce que l'on voit : l'application web avec ses différents écrans. Elle échange avec le moteur de façon sécurisée, et reçoit des alertes en direct. Au milieu, le moteur : chaque demande passe d'abord par un contrôle d'accès, qui vérifie qui est connecté et ses droits. Puis elle est traitée par l'un des cinq modules : journaux, tests, sécurité, IA et pilotage. En bas, les fondations : la base de données qui garde tout en mémoire, le service d'intelligence artificielle, et les outils d'analyse externes.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où l'assistant fonctionne physiquement. Tout tourne sur un seul serveur, découpé en petites boîtes indépendantes appelées conteneurs Docker. On y trouve le site web, le moteur central, la base de données et le service d'intelligence artificielle. Deux services sont optionnels, en pointillés : l'analyse du code et le suivi des journaux. L'utilisateur accède au site depuis son navigateur, par une connexion chiffrée. La chaîne de livraison envoie ses résultats avec une clé d'accès dédiée. Et seul le service IA communique avec l'extérieur, pour interroger le modèle de langage en ligne.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construire l'assistant, j'ai choisi des technologies reconnues et largement utilisées en entreprise. Angular pour l'interface, Java et Spring Boot pour le moteur, Python pour l'intelligence artificielle, et PostgreSQL pour les données. Côté qualité et sécurité, l'assistant s'appuie sur des outils de référence comme SonarQube ou Trivy. Et pour la mise en ligne, Docker et les chaînes de livraison GitHub, GitLab et Jenkins.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c'est l'intelligence artificielle. Elle a quatre super-pouvoirs. Trier : elle regroupe des milliers de lignes d'erreurs en quelques familles. Alerter : elle repère toute seule les moments anormaux, par exemple un pic soudain d'erreurs. Expliquer : un modèle de langage, comme ceux qu'on utilise dans les assistants conversationnels, donne la cause en langage clair et propose une solution. Et dialoguer : un copilote répond aux questions de l'équipe à partir des vraies données du projet. Deux garde-fous complètent le tout : un plan B local si l'IA en ligne ne répond pas, et surtout, l'humain garde la main : aucune correction n'est appliquée sans validation.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Prenons un exemple concret : la base de données est saturée. En quelques minutes, des centaines de lignes d'erreur apparaissent. L'assistant les regroupe en une seule famille : « connexion impossible ». Il détecte un pic anormal et envoie une alerte en direct. L'IA explique la cause probable et propose une solution. Enfin, le responsable valide, et cette décision est enregistrée. Avant, c'était une longue enquête outil par outil. Avec l'assistant, on obtient un diagnostic clair en quelques minutes.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 démonstration, puis à la conclusion.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vous montrer l'assistant en action, en quatre étapes. D'abord la connexion : l'écran s'adapte au rôle de la personne. Puis le tableau de bord, avec la santé du projet et le feu vert de livraison. Ensuite les journaux, les tests et la sécurité, déjà triés et classés. Et enfin l'assistant IA : l'explication d'un incident, sa validation par un responsable, et une conversation avec le copilote, qui reste affichée même quand on change d'écran.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a donné naissance à une plateforme unique qui réunit journaux, tests, sécurité et intelligence artificielle. Elle accélère le diagnostic grâce au tri et aux alertes automatiques. Son IA reste sous contrôle : chaque proposition est validée par un humain. Et elle donne un feu vert à chaque livraison. En une phrase : l'assistant transforme des signaux dispersés en décisions claires. Sur le plan personnel, ce stage m'a fait progresser à la fois en développement, en sécurité et en intelligence artificielle.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demain ? Je vois quatre étapes. D'abord grandir : déployer l'assistant à grande échelle. Ensuite lui faire connaître Vermeg, en nourrissant l'IA de la documentation interne de l'entreprise pour des réponses encore plus précises. Puis aller vers la correction : proposer des correctifs prêts à appliquer. Et enfin prévoir : anticiper les incidents avant même qu'ils n'arrivent.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pour votre attention. Je suis maintenant à votre disposition pour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Diagramme UML de cas d'utilisation, à montrer si le jury le demande.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Diagramme de classes : utilisateur, recommandation IA, audit, log, exécution de tests et vulnérabilité. À montrer si le jury le demande.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img/image5.png"/>
          <p:cNvPicPr>
            <a:picLocks noChangeAspect="1"/>
          </p:cNvPicPr>
          <p:nvPr/>
        </p:nvPicPr>
        <p:blipFill>
          <a:blip r:embed="rId2"/>
          <a:stretch>
            <a:fillRect/>
          </a:stretch>
        </p:blipFill>
        <p:spPr>
          <a:xfrm>
            <a:off x="10543032" y="365760"/>
            <a:ext cx="1097280" cy="255118"/>
          </a:xfrm>
          <a:prstGeom prst="rect">
            <a:avLst/>
          </a:prstGeom>
        </p:spPr>
      </p:pic>
      <p:sp>
        <p:nvSpPr>
          <p:cNvPr id="3" name="Text 0"/>
          <p:cNvSpPr>
            <a:spLocks noGrp="1"/>
          </p:cNvSpPr>
          <p:nvPr>
            <p:ph type="title" idx="101" hasCustomPrompt="1"/>
          </p:nvPr>
        </p:nvSpPr>
        <p:spPr>
          <a:xfrm>
            <a:off x="548640" y="457200"/>
            <a:ext cx="9692640" cy="64008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1.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53.png"/><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60.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63.png"/><Relationship Id="rId5" Type="http://schemas.openxmlformats.org/officeDocument/2006/relationships/image" Target="../media/image36.png"/><Relationship Id="rId10"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4.png"/><Relationship Id="rId7" Type="http://schemas.openxmlformats.org/officeDocument/2006/relationships/image" Target="../media/image39.png"/><Relationship Id="rId12"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9.png"/><Relationship Id="rId5" Type="http://schemas.openxmlformats.org/officeDocument/2006/relationships/image" Target="../media/image65.png"/><Relationship Id="rId10" Type="http://schemas.openxmlformats.org/officeDocument/2006/relationships/image" Target="../media/image68.png"/><Relationship Id="rId4" Type="http://schemas.openxmlformats.org/officeDocument/2006/relationships/image" Target="../media/image60.png"/><Relationship Id="rId9" Type="http://schemas.openxmlformats.org/officeDocument/2006/relationships/image" Target="../media/image67.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1.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4.png"/><Relationship Id="rId7"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75.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8.png"/><Relationship Id="rId7"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5.png"/><Relationship Id="rId5" Type="http://schemas.openxmlformats.org/officeDocument/2006/relationships/image" Target="../media/image18.png"/><Relationship Id="rId10" Type="http://schemas.openxmlformats.org/officeDocument/2006/relationships/image" Target="../media/image81.png"/><Relationship Id="rId4" Type="http://schemas.openxmlformats.org/officeDocument/2006/relationships/image" Target="../media/image74.png"/><Relationship Id="rId9" Type="http://schemas.openxmlformats.org/officeDocument/2006/relationships/image" Target="../media/image80.png"/></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2.png"/><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o_1" descr="img/image2.png"/>
          <p:cNvPicPr>
            <a:picLocks noChangeAspect="1"/>
          </p:cNvPicPr>
          <p:nvPr/>
        </p:nvPicPr>
        <p:blipFill>
          <a:blip r:embed="rId4"/>
          <a:stretch>
            <a:fillRect/>
          </a:stretch>
        </p:blipFill>
        <p:spPr>
          <a:xfrm>
            <a:off x="548640" y="457200"/>
            <a:ext cx="1463040" cy="339242"/>
          </a:xfrm>
          <a:prstGeom prst="rect">
            <a:avLst/>
          </a:prstGeom>
        </p:spPr>
      </p:pic>
      <p:sp>
        <p:nvSpPr>
          <p:cNvPr id="3" name="o_2"/>
          <p:cNvSpPr/>
          <p:nvPr/>
        </p:nvSpPr>
        <p:spPr>
          <a:xfrm>
            <a:off x="9921240" y="320040"/>
            <a:ext cx="1828800" cy="777240"/>
          </a:xfrm>
          <a:prstGeom prst="roundRect">
            <a:avLst>
              <a:gd name="adj" fmla="val 14118"/>
            </a:avLst>
          </a:prstGeom>
          <a:solidFill>
            <a:srgbClr val="FFFFFF"/>
          </a:solidFill>
          <a:ln w="12700">
            <a:solidFill>
              <a:srgbClr val="FFFFFF"/>
            </a:solidFill>
            <a:prstDash val="solid"/>
          </a:ln>
        </p:spPr>
      </p:sp>
      <p:pic>
        <p:nvPicPr>
          <p:cNvPr id="4" name="o_3" descr="img/image3.png"/>
          <p:cNvPicPr>
            <a:picLocks noChangeAspect="1"/>
          </p:cNvPicPr>
          <p:nvPr/>
        </p:nvPicPr>
        <p:blipFill>
          <a:blip r:embed="rId5"/>
          <a:stretch>
            <a:fillRect/>
          </a:stretch>
        </p:blipFill>
        <p:spPr>
          <a:xfrm>
            <a:off x="10058400" y="402336"/>
            <a:ext cx="1554480" cy="576072"/>
          </a:xfrm>
          <a:prstGeom prst="rect">
            <a:avLst/>
          </a:prstGeom>
        </p:spPr>
      </p:pic>
      <p:sp>
        <p:nvSpPr>
          <p:cNvPr id="5" name="A1_4"/>
          <p:cNvSpPr txBox="1"/>
          <p:nvPr/>
        </p:nvSpPr>
        <p:spPr>
          <a:xfrm>
            <a:off x="548640" y="1097280"/>
            <a:ext cx="8229600" cy="73152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Assistant DevSecOps intelligent</a:t>
            </a:r>
            <a:endParaRPr lang="en-US" sz="4000" dirty="0"/>
          </a:p>
        </p:txBody>
      </p:sp>
      <p:sp>
        <p:nvSpPr>
          <p:cNvPr id="6" name="A2_5"/>
          <p:cNvSpPr txBox="1"/>
          <p:nvPr/>
        </p:nvSpPr>
        <p:spPr>
          <a:xfrm>
            <a:off x="548640" y="1828800"/>
            <a:ext cx="7498080" cy="685800"/>
          </a:xfrm>
          <a:prstGeom prst="rect">
            <a:avLst/>
          </a:prstGeom>
          <a:noFill/>
          <a:ln/>
        </p:spPr>
        <p:txBody>
          <a:bodyPr wrap="square" lIns="0" tIns="0" rIns="0" bIns="0" rtlCol="0" anchor="t"/>
          <a:lstStyle/>
          <a:p>
            <a:pPr marL="0" indent="0">
              <a:buNone/>
            </a:pPr>
            <a:r>
              <a:rPr lang="en-US" sz="1800" dirty="0">
                <a:solidFill>
                  <a:srgbClr val="CADCFC"/>
                </a:solidFill>
              </a:rPr>
              <a:t>Trouver, comprendre et corriger les incidents d'une application, avec l'aide de l'intelligence artificielle</a:t>
            </a:r>
            <a:endParaRPr lang="en-US" sz="1800" dirty="0"/>
          </a:p>
        </p:txBody>
      </p:sp>
      <p:sp>
        <p:nvSpPr>
          <p:cNvPr id="7" name="A3_6"/>
          <p:cNvSpPr txBox="1"/>
          <p:nvPr/>
        </p:nvSpPr>
        <p:spPr>
          <a:xfrm>
            <a:off x="548640" y="4343400"/>
            <a:ext cx="6400800" cy="192024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rPr>
              <a:t>Soutenance de Projet de Fin d'Études</a:t>
            </a:r>
            <a:endParaRPr lang="en-US" sz="1300" dirty="0"/>
          </a:p>
          <a:p>
            <a:pPr marL="0" indent="0">
              <a:spcAft>
                <a:spcPts val="400"/>
              </a:spcAft>
              <a:buNone/>
            </a:pPr>
            <a:r>
              <a:rPr lang="en-US" sz="1300" dirty="0">
                <a:solidFill>
                  <a:srgbClr val="DCE4EE"/>
                </a:solidFill>
              </a:rPr>
              <a:t>Réalisé par : Emna Ounissi</a:t>
            </a:r>
            <a:endParaRPr lang="en-US" sz="1300" dirty="0"/>
          </a:p>
          <a:p>
            <a:pPr marL="0" indent="0">
              <a:spcAft>
                <a:spcPts val="400"/>
              </a:spcAft>
              <a:buNone/>
            </a:pPr>
            <a:r>
              <a:rPr lang="en-US" sz="1300" dirty="0">
                <a:solidFill>
                  <a:srgbClr val="DCE4EE"/>
                </a:solidFill>
              </a:rPr>
              <a:t>Encadrant(e) Vermeg : ……………………</a:t>
            </a:r>
            <a:endParaRPr lang="en-US" sz="1300" dirty="0"/>
          </a:p>
          <a:p>
            <a:pPr marL="0" indent="0">
              <a:spcAft>
                <a:spcPts val="400"/>
              </a:spcAft>
              <a:buNone/>
            </a:pPr>
            <a:r>
              <a:rPr lang="en-US" sz="1300" dirty="0">
                <a:solidFill>
                  <a:srgbClr val="DCE4EE"/>
                </a:solidFill>
              </a:rPr>
              <a:t>Encadrant(e) académique : ……………………</a:t>
            </a:r>
            <a:endParaRPr lang="en-US" sz="1300" dirty="0"/>
          </a:p>
          <a:p>
            <a:pPr marL="0" indent="0">
              <a:spcAft>
                <a:spcPts val="400"/>
              </a:spcAft>
              <a:buNone/>
            </a:pPr>
            <a:r>
              <a:rPr lang="en-US" sz="1300" dirty="0">
                <a:solidFill>
                  <a:srgbClr val="DCE4EE"/>
                </a:solidFill>
              </a:rPr>
              <a:t>Année universitaire 2025 – 2026</a:t>
            </a:r>
            <a:endParaRPr lang="en-US"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9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12" fill="hold">
                            <p:stCondLst>
                              <p:cond delay="16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7"/>
          <p:cNvSpPr txBox="1"/>
          <p:nvPr/>
        </p:nvSpPr>
        <p:spPr>
          <a:xfrm>
            <a:off x="6400800" y="777240"/>
            <a:ext cx="914400" cy="731520"/>
          </a:xfrm>
          <a:prstGeom prst="rect">
            <a:avLst/>
          </a:prstGeom>
          <a:noFill/>
          <a:ln/>
        </p:spPr>
        <p:txBody>
          <a:bodyPr wrap="square" lIns="0" tIns="0" rIns="0" bIns="0" rtlCol="0" anchor="ctr"/>
          <a:lstStyle/>
          <a:p>
            <a:pPr marL="0" indent="0">
              <a:buNone/>
            </a:pPr>
            <a:r>
              <a:rPr lang="en-US" sz="3000" b="1" dirty="0">
                <a:solidFill>
                  <a:srgbClr val="5AA9F5"/>
                </a:solidFill>
              </a:rPr>
              <a:t>01</a:t>
            </a:r>
            <a:endParaRPr lang="en-US" sz="3000" dirty="0"/>
          </a:p>
        </p:txBody>
      </p:sp>
      <p:sp>
        <p:nvSpPr>
          <p:cNvPr id="3" name="A1_8"/>
          <p:cNvSpPr txBox="1"/>
          <p:nvPr/>
        </p:nvSpPr>
        <p:spPr>
          <a:xfrm>
            <a:off x="7406640" y="795528"/>
            <a:ext cx="4297680" cy="384048"/>
          </a:xfrm>
          <a:prstGeom prst="rect">
            <a:avLst/>
          </a:prstGeom>
          <a:noFill/>
          <a:ln/>
        </p:spPr>
        <p:txBody>
          <a:bodyPr wrap="square" lIns="0" tIns="0" rIns="0" bIns="0" rtlCol="0" anchor="t"/>
          <a:lstStyle/>
          <a:p>
            <a:pPr marL="0" indent="0">
              <a:buNone/>
            </a:pPr>
            <a:r>
              <a:rPr lang="en-US" sz="2000" b="1" dirty="0">
                <a:solidFill>
                  <a:srgbClr val="FFFFFF"/>
                </a:solidFill>
              </a:rPr>
              <a:t>Le contexte</a:t>
            </a:r>
            <a:endParaRPr lang="en-US" sz="2000" dirty="0"/>
          </a:p>
        </p:txBody>
      </p:sp>
      <p:sp>
        <p:nvSpPr>
          <p:cNvPr id="4" name="A1_9"/>
          <p:cNvSpPr txBox="1"/>
          <p:nvPr/>
        </p:nvSpPr>
        <p:spPr>
          <a:xfrm>
            <a:off x="7406640" y="1188720"/>
            <a:ext cx="4297680" cy="320040"/>
          </a:xfrm>
          <a:prstGeom prst="rect">
            <a:avLst/>
          </a:prstGeom>
          <a:noFill/>
          <a:ln/>
        </p:spPr>
        <p:txBody>
          <a:bodyPr wrap="square" lIns="0" tIns="0" rIns="0" bIns="0" rtlCol="0" anchor="t"/>
          <a:lstStyle/>
          <a:p>
            <a:pPr marL="0" indent="0">
              <a:buNone/>
            </a:pPr>
            <a:r>
              <a:rPr lang="en-US" sz="1300" dirty="0">
                <a:solidFill>
                  <a:srgbClr val="C9D3E0"/>
                </a:solidFill>
              </a:rPr>
              <a:t>Vermeg · la situation actuelle · le problème</a:t>
            </a:r>
            <a:endParaRPr lang="en-US" sz="1300" dirty="0"/>
          </a:p>
        </p:txBody>
      </p:sp>
      <p:sp>
        <p:nvSpPr>
          <p:cNvPr id="5" name="A2_10"/>
          <p:cNvSpPr txBox="1"/>
          <p:nvPr/>
        </p:nvSpPr>
        <p:spPr>
          <a:xfrm>
            <a:off x="6400800" y="1892808"/>
            <a:ext cx="914400" cy="731520"/>
          </a:xfrm>
          <a:prstGeom prst="rect">
            <a:avLst/>
          </a:prstGeom>
          <a:noFill/>
          <a:ln/>
        </p:spPr>
        <p:txBody>
          <a:bodyPr wrap="square" lIns="0" tIns="0" rIns="0" bIns="0" rtlCol="0" anchor="ctr"/>
          <a:lstStyle/>
          <a:p>
            <a:pPr marL="0" indent="0">
              <a:buNone/>
            </a:pPr>
            <a:r>
              <a:rPr lang="en-US" sz="3000" b="1" dirty="0">
                <a:solidFill>
                  <a:srgbClr val="5AA9F5"/>
                </a:solidFill>
              </a:rPr>
              <a:t>02</a:t>
            </a:r>
            <a:endParaRPr lang="en-US" sz="3000" dirty="0"/>
          </a:p>
        </p:txBody>
      </p:sp>
      <p:sp>
        <p:nvSpPr>
          <p:cNvPr id="6" name="A2_11"/>
          <p:cNvSpPr txBox="1"/>
          <p:nvPr/>
        </p:nvSpPr>
        <p:spPr>
          <a:xfrm>
            <a:off x="7406640" y="1911096"/>
            <a:ext cx="4297680" cy="384048"/>
          </a:xfrm>
          <a:prstGeom prst="rect">
            <a:avLst/>
          </a:prstGeom>
          <a:noFill/>
          <a:ln/>
        </p:spPr>
        <p:txBody>
          <a:bodyPr wrap="square" lIns="0" tIns="0" rIns="0" bIns="0" rtlCol="0" anchor="t"/>
          <a:lstStyle/>
          <a:p>
            <a:pPr marL="0" indent="0">
              <a:buNone/>
            </a:pPr>
            <a:r>
              <a:rPr lang="en-US" sz="2000" b="1" dirty="0">
                <a:solidFill>
                  <a:srgbClr val="FFFFFF"/>
                </a:solidFill>
              </a:rPr>
              <a:t>Notre solution</a:t>
            </a:r>
            <a:endParaRPr lang="en-US" sz="2000" dirty="0"/>
          </a:p>
        </p:txBody>
      </p:sp>
      <p:sp>
        <p:nvSpPr>
          <p:cNvPr id="7" name="A2_12"/>
          <p:cNvSpPr txBox="1"/>
          <p:nvPr/>
        </p:nvSpPr>
        <p:spPr>
          <a:xfrm>
            <a:off x="7406640" y="2304288"/>
            <a:ext cx="4297680" cy="320040"/>
          </a:xfrm>
          <a:prstGeom prst="rect">
            <a:avLst/>
          </a:prstGeom>
          <a:noFill/>
          <a:ln/>
        </p:spPr>
        <p:txBody>
          <a:bodyPr wrap="square" lIns="0" tIns="0" rIns="0" bIns="0" rtlCol="0" anchor="t"/>
          <a:lstStyle/>
          <a:p>
            <a:pPr marL="0" indent="0">
              <a:buNone/>
            </a:pPr>
            <a:r>
              <a:rPr lang="en-US" sz="1300" dirty="0">
                <a:solidFill>
                  <a:srgbClr val="C9D3E0"/>
                </a:solidFill>
              </a:rPr>
              <a:t>L'assistant · ce qu'il fait · nos engagements</a:t>
            </a:r>
            <a:endParaRPr lang="en-US" sz="1300" dirty="0"/>
          </a:p>
        </p:txBody>
      </p:sp>
      <p:sp>
        <p:nvSpPr>
          <p:cNvPr id="8" name="A3_13"/>
          <p:cNvSpPr txBox="1"/>
          <p:nvPr/>
        </p:nvSpPr>
        <p:spPr>
          <a:xfrm>
            <a:off x="6400800" y="3008376"/>
            <a:ext cx="914400" cy="731520"/>
          </a:xfrm>
          <a:prstGeom prst="rect">
            <a:avLst/>
          </a:prstGeom>
          <a:noFill/>
          <a:ln/>
        </p:spPr>
        <p:txBody>
          <a:bodyPr wrap="square" lIns="0" tIns="0" rIns="0" bIns="0" rtlCol="0" anchor="ctr"/>
          <a:lstStyle/>
          <a:p>
            <a:pPr marL="0" indent="0">
              <a:buNone/>
            </a:pPr>
            <a:r>
              <a:rPr lang="en-US" sz="3000" b="1" dirty="0">
                <a:solidFill>
                  <a:srgbClr val="5AA9F5"/>
                </a:solidFill>
              </a:rPr>
              <a:t>03</a:t>
            </a:r>
            <a:endParaRPr lang="en-US" sz="3000" dirty="0"/>
          </a:p>
        </p:txBody>
      </p:sp>
      <p:sp>
        <p:nvSpPr>
          <p:cNvPr id="9" name="A3_14"/>
          <p:cNvSpPr txBox="1"/>
          <p:nvPr/>
        </p:nvSpPr>
        <p:spPr>
          <a:xfrm>
            <a:off x="7406640" y="3026664"/>
            <a:ext cx="4297680" cy="384048"/>
          </a:xfrm>
          <a:prstGeom prst="rect">
            <a:avLst/>
          </a:prstGeom>
          <a:noFill/>
          <a:ln/>
        </p:spPr>
        <p:txBody>
          <a:bodyPr wrap="square" lIns="0" tIns="0" rIns="0" bIns="0" rtlCol="0" anchor="t"/>
          <a:lstStyle/>
          <a:p>
            <a:pPr marL="0" indent="0">
              <a:buNone/>
            </a:pPr>
            <a:r>
              <a:rPr lang="en-US" sz="2000" b="1" dirty="0">
                <a:solidFill>
                  <a:srgbClr val="FFFFFF"/>
                </a:solidFill>
              </a:rPr>
              <a:t>La conception</a:t>
            </a:r>
            <a:endParaRPr lang="en-US" sz="2000" dirty="0"/>
          </a:p>
        </p:txBody>
      </p:sp>
      <p:sp>
        <p:nvSpPr>
          <p:cNvPr id="10" name="A3_15"/>
          <p:cNvSpPr txBox="1"/>
          <p:nvPr/>
        </p:nvSpPr>
        <p:spPr>
          <a:xfrm>
            <a:off x="7406640" y="3419856"/>
            <a:ext cx="4297680" cy="320040"/>
          </a:xfrm>
          <a:prstGeom prst="rect">
            <a:avLst/>
          </a:prstGeom>
          <a:noFill/>
          <a:ln/>
        </p:spPr>
        <p:txBody>
          <a:bodyPr wrap="square" lIns="0" tIns="0" rIns="0" bIns="0" rtlCol="0" anchor="t"/>
          <a:lstStyle/>
          <a:p>
            <a:pPr marL="0" indent="0">
              <a:buNone/>
            </a:pPr>
            <a:r>
              <a:rPr lang="en-US" sz="1300" dirty="0">
                <a:solidFill>
                  <a:srgbClr val="C9D3E0"/>
                </a:solidFill>
              </a:rPr>
              <a:t>Qui utilise l'assistant ?</a:t>
            </a:r>
            <a:endParaRPr lang="en-US" sz="1300" dirty="0"/>
          </a:p>
        </p:txBody>
      </p:sp>
      <p:sp>
        <p:nvSpPr>
          <p:cNvPr id="11" name="A4_16"/>
          <p:cNvSpPr txBox="1"/>
          <p:nvPr/>
        </p:nvSpPr>
        <p:spPr>
          <a:xfrm>
            <a:off x="6400800" y="4123944"/>
            <a:ext cx="914400" cy="731520"/>
          </a:xfrm>
          <a:prstGeom prst="rect">
            <a:avLst/>
          </a:prstGeom>
          <a:noFill/>
          <a:ln/>
        </p:spPr>
        <p:txBody>
          <a:bodyPr wrap="square" lIns="0" tIns="0" rIns="0" bIns="0" rtlCol="0" anchor="ctr"/>
          <a:lstStyle/>
          <a:p>
            <a:pPr marL="0" indent="0">
              <a:buNone/>
            </a:pPr>
            <a:r>
              <a:rPr lang="en-US" sz="3000" b="1" dirty="0">
                <a:solidFill>
                  <a:srgbClr val="5AA9F5"/>
                </a:solidFill>
              </a:rPr>
              <a:t>04</a:t>
            </a:r>
            <a:endParaRPr lang="en-US" sz="3000" dirty="0"/>
          </a:p>
        </p:txBody>
      </p:sp>
      <p:sp>
        <p:nvSpPr>
          <p:cNvPr id="12" name="A4_17"/>
          <p:cNvSpPr txBox="1"/>
          <p:nvPr/>
        </p:nvSpPr>
        <p:spPr>
          <a:xfrm>
            <a:off x="7406640" y="4142232"/>
            <a:ext cx="4297680" cy="384048"/>
          </a:xfrm>
          <a:prstGeom prst="rect">
            <a:avLst/>
          </a:prstGeom>
          <a:noFill/>
          <a:ln/>
        </p:spPr>
        <p:txBody>
          <a:bodyPr wrap="square" lIns="0" tIns="0" rIns="0" bIns="0" rtlCol="0" anchor="t"/>
          <a:lstStyle/>
          <a:p>
            <a:pPr marL="0" indent="0">
              <a:buNone/>
            </a:pPr>
            <a:r>
              <a:rPr lang="en-US" sz="2000" b="1" dirty="0">
                <a:solidFill>
                  <a:srgbClr val="FFFFFF"/>
                </a:solidFill>
              </a:rPr>
              <a:t>La réalisation</a:t>
            </a:r>
            <a:endParaRPr lang="en-US" sz="2000" dirty="0"/>
          </a:p>
        </p:txBody>
      </p:sp>
      <p:sp>
        <p:nvSpPr>
          <p:cNvPr id="13" name="A4_18"/>
          <p:cNvSpPr txBox="1"/>
          <p:nvPr/>
        </p:nvSpPr>
        <p:spPr>
          <a:xfrm>
            <a:off x="7406640" y="4535424"/>
            <a:ext cx="4297680" cy="320040"/>
          </a:xfrm>
          <a:prstGeom prst="rect">
            <a:avLst/>
          </a:prstGeom>
          <a:noFill/>
          <a:ln/>
        </p:spPr>
        <p:txBody>
          <a:bodyPr wrap="square" lIns="0" tIns="0" rIns="0" bIns="0" rtlCol="0" anchor="t"/>
          <a:lstStyle/>
          <a:p>
            <a:pPr marL="0" indent="0">
              <a:buNone/>
            </a:pPr>
            <a:r>
              <a:rPr lang="en-US" sz="1300" dirty="0">
                <a:solidFill>
                  <a:srgbClr val="C9D3E0"/>
                </a:solidFill>
              </a:rPr>
              <a:t>Méthode · architectures · intelligence artificielle</a:t>
            </a:r>
            <a:endParaRPr lang="en-US" sz="1300" dirty="0"/>
          </a:p>
        </p:txBody>
      </p:sp>
      <p:sp>
        <p:nvSpPr>
          <p:cNvPr id="14" name="A5_19"/>
          <p:cNvSpPr txBox="1"/>
          <p:nvPr/>
        </p:nvSpPr>
        <p:spPr>
          <a:xfrm>
            <a:off x="6400800" y="5239512"/>
            <a:ext cx="914400" cy="731520"/>
          </a:xfrm>
          <a:prstGeom prst="rect">
            <a:avLst/>
          </a:prstGeom>
          <a:noFill/>
          <a:ln/>
        </p:spPr>
        <p:txBody>
          <a:bodyPr wrap="square" lIns="0" tIns="0" rIns="0" bIns="0" rtlCol="0" anchor="ctr"/>
          <a:lstStyle/>
          <a:p>
            <a:pPr marL="0" indent="0">
              <a:buNone/>
            </a:pPr>
            <a:r>
              <a:rPr lang="en-US" sz="3000" b="1" dirty="0">
                <a:solidFill>
                  <a:srgbClr val="5AA9F5"/>
                </a:solidFill>
              </a:rPr>
              <a:t>05</a:t>
            </a:r>
            <a:endParaRPr lang="en-US" sz="3000" dirty="0"/>
          </a:p>
        </p:txBody>
      </p:sp>
      <p:sp>
        <p:nvSpPr>
          <p:cNvPr id="15" name="A5_20"/>
          <p:cNvSpPr txBox="1"/>
          <p:nvPr/>
        </p:nvSpPr>
        <p:spPr>
          <a:xfrm>
            <a:off x="7406640" y="5257800"/>
            <a:ext cx="4297680" cy="384048"/>
          </a:xfrm>
          <a:prstGeom prst="rect">
            <a:avLst/>
          </a:prstGeom>
          <a:noFill/>
          <a:ln/>
        </p:spPr>
        <p:txBody>
          <a:bodyPr wrap="square" lIns="0" tIns="0" rIns="0" bIns="0" rtlCol="0" anchor="t"/>
          <a:lstStyle/>
          <a:p>
            <a:pPr marL="0" indent="0">
              <a:buNone/>
            </a:pPr>
            <a:r>
              <a:rPr lang="en-US" sz="2000" b="1" dirty="0">
                <a:solidFill>
                  <a:srgbClr val="FFFFFF"/>
                </a:solidFill>
              </a:rPr>
              <a:t>Démo et conclusion</a:t>
            </a:r>
            <a:endParaRPr lang="en-US" sz="2000" dirty="0"/>
          </a:p>
        </p:txBody>
      </p:sp>
      <p:sp>
        <p:nvSpPr>
          <p:cNvPr id="16" name="A5_21"/>
          <p:cNvSpPr txBox="1"/>
          <p:nvPr/>
        </p:nvSpPr>
        <p:spPr>
          <a:xfrm>
            <a:off x="7406640" y="5650992"/>
            <a:ext cx="4297680" cy="320040"/>
          </a:xfrm>
          <a:prstGeom prst="rect">
            <a:avLst/>
          </a:prstGeom>
          <a:noFill/>
          <a:ln/>
        </p:spPr>
        <p:txBody>
          <a:bodyPr wrap="square" lIns="0" tIns="0" rIns="0" bIns="0" rtlCol="0" anchor="t"/>
          <a:lstStyle/>
          <a:p>
            <a:pPr marL="0" indent="0">
              <a:buNone/>
            </a:pPr>
            <a:r>
              <a:rPr lang="en-US" sz="1300" dirty="0">
                <a:solidFill>
                  <a:srgbClr val="C9D3E0"/>
                </a:solidFill>
              </a:rPr>
              <a:t>L'assistant en action · bilan · avenir</a:t>
            </a:r>
            <a:endParaRPr lang="en-US" sz="13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5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50"/>
                                        <p:tgtEl>
                                          <p:spTgt spid="7"/>
                                        </p:tgtEl>
                                      </p:cBhvr>
                                    </p:animEffect>
                                  </p:childTnLst>
                                </p:cTn>
                              </p:par>
                            </p:childTnLst>
                          </p:cTn>
                        </p:par>
                        <p:par>
                          <p:cTn id="24" fill="hold">
                            <p:stCondLst>
                              <p:cond delay="16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450"/>
                                        <p:tgtEl>
                                          <p:spTgt spid="10"/>
                                        </p:tgtEl>
                                      </p:cBhvr>
                                    </p:animEffect>
                                  </p:childTnLst>
                                </p:cTn>
                              </p:par>
                            </p:childTnLst>
                          </p:cTn>
                        </p:par>
                        <p:par>
                          <p:cTn id="34" fill="hold">
                            <p:stCondLst>
                              <p:cond delay="23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5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Une application nous parle en permanence</a:t>
            </a:r>
            <a:endParaRPr lang="en-US" sz="3000" dirty="0"/>
          </a:p>
        </p:txBody>
      </p:sp>
      <p:sp>
        <p:nvSpPr>
          <p:cNvPr id="3" name="o_22"/>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INTRODUCTION</a:t>
            </a:r>
            <a:endParaRPr lang="en-US" sz="1100" dirty="0"/>
          </a:p>
        </p:txBody>
      </p:sp>
      <p:sp>
        <p:nvSpPr>
          <p:cNvPr id="4" name="A1_23"/>
          <p:cNvSpPr/>
          <p:nvPr/>
        </p:nvSpPr>
        <p:spPr>
          <a:xfrm>
            <a:off x="1657807" y="1897380"/>
            <a:ext cx="8873338" cy="0"/>
          </a:xfrm>
          <a:prstGeom prst="line">
            <a:avLst/>
          </a:prstGeom>
          <a:noFill/>
          <a:ln w="31750">
            <a:solidFill>
              <a:srgbClr val="D5E2F0"/>
            </a:solidFill>
            <a:prstDash val="solid"/>
          </a:ln>
        </p:spPr>
      </p:sp>
      <p:sp>
        <p:nvSpPr>
          <p:cNvPr id="5" name="A1_24"/>
          <p:cNvSpPr/>
          <p:nvPr/>
        </p:nvSpPr>
        <p:spPr>
          <a:xfrm>
            <a:off x="1177747" y="1417320"/>
            <a:ext cx="960120" cy="960120"/>
          </a:xfrm>
          <a:prstGeom prst="ellipse">
            <a:avLst/>
          </a:prstGeom>
          <a:solidFill>
            <a:srgbClr val="0E5CA8"/>
          </a:solidFill>
          <a:ln w="12700">
            <a:solidFill>
              <a:srgbClr val="0E5CA8"/>
            </a:solidFill>
            <a:prstDash val="solid"/>
          </a:ln>
        </p:spPr>
      </p:sp>
      <p:pic>
        <p:nvPicPr>
          <p:cNvPr id="6" name="A1_25" descr="FaCode"/>
          <p:cNvPicPr>
            <a:picLocks noChangeAspect="1"/>
          </p:cNvPicPr>
          <p:nvPr/>
        </p:nvPicPr>
        <p:blipFill>
          <a:blip r:embed="rId3"/>
          <a:stretch>
            <a:fillRect/>
          </a:stretch>
        </p:blipFill>
        <p:spPr>
          <a:xfrm>
            <a:off x="1417777" y="1657350"/>
            <a:ext cx="480060" cy="480060"/>
          </a:xfrm>
          <a:prstGeom prst="rect">
            <a:avLst/>
          </a:prstGeom>
        </p:spPr>
      </p:pic>
      <p:sp>
        <p:nvSpPr>
          <p:cNvPr id="7" name="A1_26"/>
          <p:cNvSpPr txBox="1"/>
          <p:nvPr/>
        </p:nvSpPr>
        <p:spPr>
          <a:xfrm>
            <a:off x="594360" y="251460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Créer</a:t>
            </a:r>
            <a:endParaRPr lang="en-US" sz="1600" dirty="0"/>
          </a:p>
        </p:txBody>
      </p:sp>
      <p:sp>
        <p:nvSpPr>
          <p:cNvPr id="8" name="A1_27"/>
          <p:cNvSpPr txBox="1"/>
          <p:nvPr/>
        </p:nvSpPr>
        <p:spPr>
          <a:xfrm>
            <a:off x="658368" y="288036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on écrit l'application</a:t>
            </a:r>
            <a:endParaRPr lang="en-US" sz="1250" dirty="0"/>
          </a:p>
        </p:txBody>
      </p:sp>
      <p:sp>
        <p:nvSpPr>
          <p:cNvPr id="9" name="A2_28"/>
          <p:cNvSpPr/>
          <p:nvPr/>
        </p:nvSpPr>
        <p:spPr>
          <a:xfrm>
            <a:off x="3396082" y="1417320"/>
            <a:ext cx="960120" cy="960120"/>
          </a:xfrm>
          <a:prstGeom prst="ellipse">
            <a:avLst/>
          </a:prstGeom>
          <a:solidFill>
            <a:srgbClr val="0E5CA8"/>
          </a:solidFill>
          <a:ln w="12700">
            <a:solidFill>
              <a:srgbClr val="0E5CA8"/>
            </a:solidFill>
            <a:prstDash val="solid"/>
          </a:ln>
        </p:spPr>
      </p:sp>
      <p:pic>
        <p:nvPicPr>
          <p:cNvPr id="10" name="A2_29" descr="FaFlask"/>
          <p:cNvPicPr>
            <a:picLocks noChangeAspect="1"/>
          </p:cNvPicPr>
          <p:nvPr/>
        </p:nvPicPr>
        <p:blipFill>
          <a:blip r:embed="rId4"/>
          <a:stretch>
            <a:fillRect/>
          </a:stretch>
        </p:blipFill>
        <p:spPr>
          <a:xfrm>
            <a:off x="3636112" y="1657350"/>
            <a:ext cx="480060" cy="480060"/>
          </a:xfrm>
          <a:prstGeom prst="rect">
            <a:avLst/>
          </a:prstGeom>
        </p:spPr>
      </p:pic>
      <p:sp>
        <p:nvSpPr>
          <p:cNvPr id="11" name="A2_30"/>
          <p:cNvSpPr txBox="1"/>
          <p:nvPr/>
        </p:nvSpPr>
        <p:spPr>
          <a:xfrm>
            <a:off x="2812694" y="251460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Tester</a:t>
            </a:r>
            <a:endParaRPr lang="en-US" sz="1600" dirty="0"/>
          </a:p>
        </p:txBody>
      </p:sp>
      <p:sp>
        <p:nvSpPr>
          <p:cNvPr id="12" name="A2_31"/>
          <p:cNvSpPr txBox="1"/>
          <p:nvPr/>
        </p:nvSpPr>
        <p:spPr>
          <a:xfrm>
            <a:off x="2876702" y="288036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on vérifie que tout fonctionne</a:t>
            </a:r>
            <a:endParaRPr lang="en-US" sz="1250" dirty="0"/>
          </a:p>
        </p:txBody>
      </p:sp>
      <p:sp>
        <p:nvSpPr>
          <p:cNvPr id="13" name="A3_32"/>
          <p:cNvSpPr/>
          <p:nvPr/>
        </p:nvSpPr>
        <p:spPr>
          <a:xfrm>
            <a:off x="5614416" y="1417320"/>
            <a:ext cx="960120" cy="960120"/>
          </a:xfrm>
          <a:prstGeom prst="ellipse">
            <a:avLst/>
          </a:prstGeom>
          <a:solidFill>
            <a:srgbClr val="0E5CA8"/>
          </a:solidFill>
          <a:ln w="12700">
            <a:solidFill>
              <a:srgbClr val="0E5CA8"/>
            </a:solidFill>
            <a:prstDash val="solid"/>
          </a:ln>
        </p:spPr>
      </p:sp>
      <p:pic>
        <p:nvPicPr>
          <p:cNvPr id="14" name="A3_33" descr="FaShieldAlt"/>
          <p:cNvPicPr>
            <a:picLocks noChangeAspect="1"/>
          </p:cNvPicPr>
          <p:nvPr/>
        </p:nvPicPr>
        <p:blipFill>
          <a:blip r:embed="rId5"/>
          <a:stretch>
            <a:fillRect/>
          </a:stretch>
        </p:blipFill>
        <p:spPr>
          <a:xfrm>
            <a:off x="5854446" y="1657350"/>
            <a:ext cx="480060" cy="480060"/>
          </a:xfrm>
          <a:prstGeom prst="rect">
            <a:avLst/>
          </a:prstGeom>
        </p:spPr>
      </p:pic>
      <p:sp>
        <p:nvSpPr>
          <p:cNvPr id="15" name="A3_34"/>
          <p:cNvSpPr txBox="1"/>
          <p:nvPr/>
        </p:nvSpPr>
        <p:spPr>
          <a:xfrm>
            <a:off x="5031029" y="251460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Protéger</a:t>
            </a:r>
            <a:endParaRPr lang="en-US" sz="1600" dirty="0"/>
          </a:p>
        </p:txBody>
      </p:sp>
      <p:sp>
        <p:nvSpPr>
          <p:cNvPr id="16" name="A3_35"/>
          <p:cNvSpPr txBox="1"/>
          <p:nvPr/>
        </p:nvSpPr>
        <p:spPr>
          <a:xfrm>
            <a:off x="5095037" y="288036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on cherche les failles</a:t>
            </a:r>
            <a:endParaRPr lang="en-US" sz="1250" dirty="0"/>
          </a:p>
        </p:txBody>
      </p:sp>
      <p:sp>
        <p:nvSpPr>
          <p:cNvPr id="17" name="A4_36"/>
          <p:cNvSpPr/>
          <p:nvPr/>
        </p:nvSpPr>
        <p:spPr>
          <a:xfrm>
            <a:off x="7832750" y="1417320"/>
            <a:ext cx="960120" cy="960120"/>
          </a:xfrm>
          <a:prstGeom prst="ellipse">
            <a:avLst/>
          </a:prstGeom>
          <a:solidFill>
            <a:srgbClr val="0E5CA8"/>
          </a:solidFill>
          <a:ln w="12700">
            <a:solidFill>
              <a:srgbClr val="0E5CA8"/>
            </a:solidFill>
            <a:prstDash val="solid"/>
          </a:ln>
        </p:spPr>
      </p:sp>
      <p:pic>
        <p:nvPicPr>
          <p:cNvPr id="18" name="A4_37" descr="FaRocket"/>
          <p:cNvPicPr>
            <a:picLocks noChangeAspect="1"/>
          </p:cNvPicPr>
          <p:nvPr/>
        </p:nvPicPr>
        <p:blipFill>
          <a:blip r:embed="rId6"/>
          <a:stretch>
            <a:fillRect/>
          </a:stretch>
        </p:blipFill>
        <p:spPr>
          <a:xfrm>
            <a:off x="8072780" y="1657350"/>
            <a:ext cx="480060" cy="480060"/>
          </a:xfrm>
          <a:prstGeom prst="rect">
            <a:avLst/>
          </a:prstGeom>
        </p:spPr>
      </p:pic>
      <p:sp>
        <p:nvSpPr>
          <p:cNvPr id="19" name="A4_38"/>
          <p:cNvSpPr txBox="1"/>
          <p:nvPr/>
        </p:nvSpPr>
        <p:spPr>
          <a:xfrm>
            <a:off x="7249363" y="251460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Livrer</a:t>
            </a:r>
            <a:endParaRPr lang="en-US" sz="1600" dirty="0"/>
          </a:p>
        </p:txBody>
      </p:sp>
      <p:sp>
        <p:nvSpPr>
          <p:cNvPr id="20" name="A4_39"/>
          <p:cNvSpPr txBox="1"/>
          <p:nvPr/>
        </p:nvSpPr>
        <p:spPr>
          <a:xfrm>
            <a:off x="7313371" y="288036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on la met en ligne</a:t>
            </a:r>
            <a:endParaRPr lang="en-US" sz="1250" dirty="0"/>
          </a:p>
        </p:txBody>
      </p:sp>
      <p:sp>
        <p:nvSpPr>
          <p:cNvPr id="21" name="A5_40"/>
          <p:cNvSpPr/>
          <p:nvPr/>
        </p:nvSpPr>
        <p:spPr>
          <a:xfrm>
            <a:off x="10051085" y="1417320"/>
            <a:ext cx="960120" cy="960120"/>
          </a:xfrm>
          <a:prstGeom prst="ellipse">
            <a:avLst/>
          </a:prstGeom>
          <a:solidFill>
            <a:srgbClr val="0E5CA8"/>
          </a:solidFill>
          <a:ln w="12700">
            <a:solidFill>
              <a:srgbClr val="0E5CA8"/>
            </a:solidFill>
            <a:prstDash val="solid"/>
          </a:ln>
        </p:spPr>
      </p:sp>
      <p:pic>
        <p:nvPicPr>
          <p:cNvPr id="22" name="A5_41" descr="FaChartLine"/>
          <p:cNvPicPr>
            <a:picLocks noChangeAspect="1"/>
          </p:cNvPicPr>
          <p:nvPr/>
        </p:nvPicPr>
        <p:blipFill>
          <a:blip r:embed="rId7"/>
          <a:stretch>
            <a:fillRect/>
          </a:stretch>
        </p:blipFill>
        <p:spPr>
          <a:xfrm>
            <a:off x="10291115" y="1657350"/>
            <a:ext cx="480060" cy="480060"/>
          </a:xfrm>
          <a:prstGeom prst="rect">
            <a:avLst/>
          </a:prstGeom>
        </p:spPr>
      </p:pic>
      <p:sp>
        <p:nvSpPr>
          <p:cNvPr id="23" name="A5_42"/>
          <p:cNvSpPr txBox="1"/>
          <p:nvPr/>
        </p:nvSpPr>
        <p:spPr>
          <a:xfrm>
            <a:off x="9467698" y="251460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Utiliser</a:t>
            </a:r>
            <a:endParaRPr lang="en-US" sz="1600" dirty="0"/>
          </a:p>
        </p:txBody>
      </p:sp>
      <p:sp>
        <p:nvSpPr>
          <p:cNvPr id="24" name="A5_43"/>
          <p:cNvSpPr txBox="1"/>
          <p:nvPr/>
        </p:nvSpPr>
        <p:spPr>
          <a:xfrm>
            <a:off x="9531706" y="288036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elle tient un journal de son activité</a:t>
            </a:r>
            <a:endParaRPr lang="en-US" sz="1250" dirty="0"/>
          </a:p>
        </p:txBody>
      </p:sp>
      <p:sp>
        <p:nvSpPr>
          <p:cNvPr id="25" name="A6_44"/>
          <p:cNvSpPr/>
          <p:nvPr/>
        </p:nvSpPr>
        <p:spPr>
          <a:xfrm>
            <a:off x="548640" y="3977640"/>
            <a:ext cx="5394960" cy="2011680"/>
          </a:xfrm>
          <a:prstGeom prst="roundRect">
            <a:avLst>
              <a:gd name="adj" fmla="val 5455"/>
            </a:avLst>
          </a:prstGeom>
          <a:solidFill>
            <a:srgbClr val="FDECEC"/>
          </a:solidFill>
          <a:ln w="12700">
            <a:solidFill>
              <a:srgbClr val="FFFFFF"/>
            </a:solidFill>
            <a:prstDash val="solid"/>
          </a:ln>
        </p:spPr>
      </p:sp>
      <p:sp>
        <p:nvSpPr>
          <p:cNvPr id="26" name="A6_45"/>
          <p:cNvSpPr/>
          <p:nvPr/>
        </p:nvSpPr>
        <p:spPr>
          <a:xfrm>
            <a:off x="868680" y="4251960"/>
            <a:ext cx="731520" cy="731520"/>
          </a:xfrm>
          <a:prstGeom prst="ellipse">
            <a:avLst/>
          </a:prstGeom>
          <a:solidFill>
            <a:srgbClr val="E5322D"/>
          </a:solidFill>
          <a:ln w="12700">
            <a:solidFill>
              <a:srgbClr val="E5322D"/>
            </a:solidFill>
            <a:prstDash val="solid"/>
          </a:ln>
        </p:spPr>
      </p:sp>
      <p:pic>
        <p:nvPicPr>
          <p:cNvPr id="27" name="A6_46" descr="FaExclamationTriangle"/>
          <p:cNvPicPr>
            <a:picLocks noChangeAspect="1"/>
          </p:cNvPicPr>
          <p:nvPr/>
        </p:nvPicPr>
        <p:blipFill>
          <a:blip r:embed="rId8"/>
          <a:stretch>
            <a:fillRect/>
          </a:stretch>
        </p:blipFill>
        <p:spPr>
          <a:xfrm>
            <a:off x="1051560" y="4434840"/>
            <a:ext cx="365760" cy="365760"/>
          </a:xfrm>
          <a:prstGeom prst="rect">
            <a:avLst/>
          </a:prstGeom>
        </p:spPr>
      </p:pic>
      <p:sp>
        <p:nvSpPr>
          <p:cNvPr id="28" name="A6_47"/>
          <p:cNvSpPr txBox="1"/>
          <p:nvPr/>
        </p:nvSpPr>
        <p:spPr>
          <a:xfrm>
            <a:off x="1828800" y="4251960"/>
            <a:ext cx="3931920" cy="365760"/>
          </a:xfrm>
          <a:prstGeom prst="rect">
            <a:avLst/>
          </a:prstGeom>
          <a:noFill/>
          <a:ln/>
        </p:spPr>
        <p:txBody>
          <a:bodyPr wrap="square" lIns="0" tIns="0" rIns="0" bIns="0" rtlCol="0" anchor="t"/>
          <a:lstStyle/>
          <a:p>
            <a:pPr marL="0" indent="0">
              <a:buNone/>
            </a:pPr>
            <a:r>
              <a:rPr lang="en-US" sz="1800" b="1" dirty="0">
                <a:solidFill>
                  <a:schemeClr val="accent2"/>
                </a:solidFill>
              </a:rPr>
              <a:t>… mais aujourd'hui</a:t>
            </a:r>
            <a:endParaRPr lang="en-US" sz="1800" dirty="0"/>
          </a:p>
        </p:txBody>
      </p:sp>
      <p:sp>
        <p:nvSpPr>
          <p:cNvPr id="29" name="A6_48"/>
          <p:cNvSpPr txBox="1"/>
          <p:nvPr/>
        </p:nvSpPr>
        <p:spPr>
          <a:xfrm>
            <a:off x="1828800" y="4663440"/>
            <a:ext cx="3931920" cy="1097280"/>
          </a:xfrm>
          <a:prstGeom prst="rect">
            <a:avLst/>
          </a:prstGeom>
          <a:noFill/>
          <a:ln/>
        </p:spPr>
        <p:txBody>
          <a:bodyPr wrap="square" lIns="0" tIns="0" rIns="0" bIns="0" rtlCol="0" anchor="t"/>
          <a:lstStyle/>
          <a:p>
            <a:pPr marL="0" indent="0">
              <a:buNone/>
            </a:pPr>
            <a:r>
              <a:rPr lang="en-US" sz="1400" dirty="0">
                <a:solidFill>
                  <a:schemeClr val="tx1"/>
                </a:solidFill>
              </a:rPr>
              <a:t>Ces signaux sont éparpillés dans plusieurs outils. Comprendre un incident prend du temps et demande un expert.</a:t>
            </a:r>
            <a:endParaRPr lang="en-US" sz="1400" dirty="0"/>
          </a:p>
        </p:txBody>
      </p:sp>
      <p:sp>
        <p:nvSpPr>
          <p:cNvPr id="30" name="A7_49"/>
          <p:cNvSpPr/>
          <p:nvPr/>
        </p:nvSpPr>
        <p:spPr>
          <a:xfrm>
            <a:off x="6245352" y="3977640"/>
            <a:ext cx="5394960" cy="2011680"/>
          </a:xfrm>
          <a:prstGeom prst="roundRect">
            <a:avLst>
              <a:gd name="adj" fmla="val 5455"/>
            </a:avLst>
          </a:prstGeom>
          <a:solidFill>
            <a:srgbClr val="0E5CA8"/>
          </a:solidFill>
          <a:ln w="12700">
            <a:solidFill>
              <a:srgbClr val="FFFFFF"/>
            </a:solidFill>
            <a:prstDash val="solid"/>
          </a:ln>
          <a:effectLst>
            <a:outerShdw blurRad="101600" dist="25400" dir="5400000" algn="bl" rotWithShape="0">
              <a:srgbClr val="0B1F3A">
                <a:alpha val="12000"/>
              </a:srgbClr>
            </a:outerShdw>
          </a:effectLst>
        </p:spPr>
      </p:sp>
      <p:sp>
        <p:nvSpPr>
          <p:cNvPr id="31" name="A7_50"/>
          <p:cNvSpPr/>
          <p:nvPr/>
        </p:nvSpPr>
        <p:spPr>
          <a:xfrm>
            <a:off x="6565392" y="4251960"/>
            <a:ext cx="731520" cy="731520"/>
          </a:xfrm>
          <a:prstGeom prst="ellipse">
            <a:avLst/>
          </a:prstGeom>
          <a:solidFill>
            <a:srgbClr val="FFFFFF"/>
          </a:solidFill>
          <a:ln w="12700">
            <a:solidFill>
              <a:srgbClr val="FFFFFF"/>
            </a:solidFill>
            <a:prstDash val="solid"/>
          </a:ln>
        </p:spPr>
      </p:sp>
      <p:pic>
        <p:nvPicPr>
          <p:cNvPr id="32" name="A7_51" descr="FaLightbulb"/>
          <p:cNvPicPr>
            <a:picLocks noChangeAspect="1"/>
          </p:cNvPicPr>
          <p:nvPr/>
        </p:nvPicPr>
        <p:blipFill>
          <a:blip r:embed="rId9"/>
          <a:stretch>
            <a:fillRect/>
          </a:stretch>
        </p:blipFill>
        <p:spPr>
          <a:xfrm>
            <a:off x="6748272" y="4434840"/>
            <a:ext cx="365760" cy="365760"/>
          </a:xfrm>
          <a:prstGeom prst="rect">
            <a:avLst/>
          </a:prstGeom>
        </p:spPr>
      </p:pic>
      <p:sp>
        <p:nvSpPr>
          <p:cNvPr id="33" name="A7_52"/>
          <p:cNvSpPr txBox="1"/>
          <p:nvPr/>
        </p:nvSpPr>
        <p:spPr>
          <a:xfrm>
            <a:off x="7525512" y="4251960"/>
            <a:ext cx="3931920" cy="365760"/>
          </a:xfrm>
          <a:prstGeom prst="rect">
            <a:avLst/>
          </a:prstGeom>
          <a:noFill/>
          <a:ln/>
        </p:spPr>
        <p:txBody>
          <a:bodyPr wrap="square" lIns="0" tIns="0" rIns="0" bIns="0" rtlCol="0" anchor="t"/>
          <a:lstStyle/>
          <a:p>
            <a:pPr marL="0" indent="0">
              <a:buNone/>
            </a:pPr>
            <a:r>
              <a:rPr lang="en-US" sz="1800" b="1" dirty="0">
                <a:solidFill>
                  <a:srgbClr val="FFFFFF"/>
                </a:solidFill>
              </a:rPr>
              <a:t>Notre idée</a:t>
            </a:r>
            <a:endParaRPr lang="en-US" sz="1800" dirty="0"/>
          </a:p>
        </p:txBody>
      </p:sp>
      <p:sp>
        <p:nvSpPr>
          <p:cNvPr id="34" name="A7_53"/>
          <p:cNvSpPr txBox="1"/>
          <p:nvPr/>
        </p:nvSpPr>
        <p:spPr>
          <a:xfrm>
            <a:off x="7525512" y="4663440"/>
            <a:ext cx="3931920" cy="1097280"/>
          </a:xfrm>
          <a:prstGeom prst="rect">
            <a:avLst/>
          </a:prstGeom>
          <a:noFill/>
          <a:ln/>
        </p:spPr>
        <p:txBody>
          <a:bodyPr wrap="square" lIns="0" tIns="0" rIns="0" bIns="0" rtlCol="0" anchor="t"/>
          <a:lstStyle/>
          <a:p>
            <a:pPr marL="0" indent="0">
              <a:buNone/>
            </a:pPr>
            <a:r>
              <a:rPr lang="en-US" sz="1400" dirty="0">
                <a:solidFill>
                  <a:srgbClr val="FFFFFF"/>
                </a:solidFill>
              </a:rPr>
              <a:t>Un assistant unique qui détecte, explique et aide à corriger les incidents, grâce à l'intelligence artificielle.</a:t>
            </a:r>
            <a:endParaRPr lang="en-US" sz="1400" dirty="0"/>
          </a:p>
        </p:txBody>
      </p:sp>
      <p:sp>
        <p:nvSpPr>
          <p:cNvPr id="3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3</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childTnLst>
                          </p:cTn>
                        </p:par>
                        <p:par>
                          <p:cTn id="46" fill="hold">
                            <p:stCondLst>
                              <p:cond delay="23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childTnLst>
                          </p:cTn>
                        </p:par>
                        <p:par>
                          <p:cTn id="59" fill="hold">
                            <p:stCondLst>
                              <p:cond delay="3000"/>
                            </p:stCondLst>
                            <p:childTnLst>
                              <p:par>
                                <p:cTn id="60" presetID="10" presetClass="entr" presetSubtype="0" fill="hold" grpId="0"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72" fill="hold">
                            <p:stCondLst>
                              <p:cond delay="37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50"/>
                                        <p:tgtEl>
                                          <p:spTgt spid="29"/>
                                        </p:tgtEl>
                                      </p:cBhvr>
                                    </p:animEffect>
                                  </p:childTnLst>
                                </p:cTn>
                              </p:par>
                            </p:childTnLst>
                          </p:cTn>
                        </p:par>
                        <p:par>
                          <p:cTn id="88" fill="hold">
                            <p:stCondLst>
                              <p:cond delay="4400"/>
                            </p:stCondLst>
                            <p:childTnLst>
                              <p:par>
                                <p:cTn id="89" presetID="10" presetClass="entr" presetSubtype="0" fill="hold" grpId="0" nodeType="after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54"/>
          <p:cNvSpPr txBox="1"/>
          <p:nvPr/>
        </p:nvSpPr>
        <p:spPr>
          <a:xfrm>
            <a:off x="548640" y="1005840"/>
            <a:ext cx="4572000" cy="320040"/>
          </a:xfrm>
          <a:prstGeom prst="rect">
            <a:avLst/>
          </a:prstGeom>
          <a:noFill/>
          <a:ln/>
        </p:spPr>
        <p:txBody>
          <a:bodyPr wrap="square" lIns="0" tIns="0" rIns="0" bIns="0" rtlCol="0" anchor="t"/>
          <a:lstStyle/>
          <a:p>
            <a:pPr marL="0" indent="0">
              <a:buNone/>
            </a:pPr>
            <a:r>
              <a:rPr lang="en-US" sz="1400" dirty="0">
                <a:solidFill>
                  <a:srgbClr val="DCE8F6"/>
                </a:solidFill>
              </a:rPr>
              <a:t>Partie 01</a:t>
            </a:r>
            <a:endParaRPr lang="en-US" sz="1400" dirty="0"/>
          </a:p>
        </p:txBody>
      </p:sp>
      <p:sp>
        <p:nvSpPr>
          <p:cNvPr id="3" name="A1_55"/>
          <p:cNvSpPr txBox="1"/>
          <p:nvPr/>
        </p:nvSpPr>
        <p:spPr>
          <a:xfrm>
            <a:off x="548640" y="1353312"/>
            <a:ext cx="45720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Le contexte</a:t>
            </a:r>
            <a:endParaRPr lang="en-US" sz="3200" dirty="0"/>
          </a:p>
        </p:txBody>
      </p:sp>
    </p:spTree>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Vermeg, un acteur international du logiciel financier</a:t>
            </a:r>
            <a:endParaRPr lang="en-US" sz="3000" dirty="0"/>
          </a:p>
        </p:txBody>
      </p:sp>
      <p:sp>
        <p:nvSpPr>
          <p:cNvPr id="3" name="o_56"/>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ORGANISME D'ACCUEIL</a:t>
            </a:r>
            <a:endParaRPr lang="en-US" sz="1100" dirty="0"/>
          </a:p>
        </p:txBody>
      </p:sp>
      <p:pic>
        <p:nvPicPr>
          <p:cNvPr id="4" name="A1_57" descr="img/image5.png"/>
          <p:cNvPicPr>
            <a:picLocks noChangeAspect="1"/>
          </p:cNvPicPr>
          <p:nvPr/>
        </p:nvPicPr>
        <p:blipFill>
          <a:blip r:embed="rId3"/>
          <a:stretch>
            <a:fillRect/>
          </a:stretch>
        </p:blipFill>
        <p:spPr>
          <a:xfrm>
            <a:off x="548640" y="1600200"/>
            <a:ext cx="2743200" cy="636422"/>
          </a:xfrm>
          <a:prstGeom prst="rect">
            <a:avLst/>
          </a:prstGeom>
        </p:spPr>
      </p:pic>
      <p:sp>
        <p:nvSpPr>
          <p:cNvPr id="5" name="A1_58"/>
          <p:cNvSpPr txBox="1"/>
          <p:nvPr/>
        </p:nvSpPr>
        <p:spPr>
          <a:xfrm>
            <a:off x="548640" y="2514600"/>
            <a:ext cx="5120640" cy="914400"/>
          </a:xfrm>
          <a:prstGeom prst="rect">
            <a:avLst/>
          </a:prstGeom>
          <a:noFill/>
          <a:ln/>
        </p:spPr>
        <p:txBody>
          <a:bodyPr wrap="square" lIns="0" tIns="0" rIns="0" bIns="0" rtlCol="0" anchor="t"/>
          <a:lstStyle/>
          <a:p>
            <a:pPr marL="0" indent="0">
              <a:buNone/>
            </a:pPr>
            <a:r>
              <a:rPr lang="en-US" sz="2000" dirty="0">
                <a:solidFill>
                  <a:schemeClr val="tx2"/>
                </a:solidFill>
              </a:rPr>
              <a:t>Éditeur de logiciels pour la banque, l'assurance et la gestion d'actifs</a:t>
            </a:r>
            <a:endParaRPr lang="en-US" sz="2000" dirty="0"/>
          </a:p>
        </p:txBody>
      </p:sp>
      <p:sp>
        <p:nvSpPr>
          <p:cNvPr id="6" name="A1_59"/>
          <p:cNvSpPr txBox="1"/>
          <p:nvPr/>
        </p:nvSpPr>
        <p:spPr>
          <a:xfrm>
            <a:off x="548640" y="3566160"/>
            <a:ext cx="5120640" cy="365760"/>
          </a:xfrm>
          <a:prstGeom prst="rect">
            <a:avLst/>
          </a:prstGeom>
          <a:noFill/>
          <a:ln/>
        </p:spPr>
        <p:txBody>
          <a:bodyPr wrap="square" lIns="0" tIns="0" rIns="0" bIns="0" rtlCol="0" anchor="t"/>
          <a:lstStyle/>
          <a:p>
            <a:pPr marL="0" indent="0">
              <a:buNone/>
            </a:pPr>
            <a:r>
              <a:rPr lang="en-US" sz="1500" b="1" dirty="0">
                <a:solidFill>
                  <a:schemeClr val="accent1"/>
                </a:solidFill>
              </a:rPr>
              <a:t>Née à Tunis · siège à Amsterdam</a:t>
            </a:r>
            <a:endParaRPr lang="en-US" sz="1500" dirty="0"/>
          </a:p>
        </p:txBody>
      </p:sp>
      <p:sp>
        <p:nvSpPr>
          <p:cNvPr id="7" name="A1_60"/>
          <p:cNvSpPr txBox="1"/>
          <p:nvPr/>
        </p:nvSpPr>
        <p:spPr>
          <a:xfrm>
            <a:off x="548640" y="4023360"/>
            <a:ext cx="5120640" cy="548640"/>
          </a:xfrm>
          <a:prstGeom prst="rect">
            <a:avLst/>
          </a:prstGeom>
          <a:noFill/>
          <a:ln/>
        </p:spPr>
        <p:txBody>
          <a:bodyPr wrap="square" lIns="0" tIns="0" rIns="0" bIns="0" rtlCol="0" anchor="t"/>
          <a:lstStyle/>
          <a:p>
            <a:pPr marL="0" indent="0">
              <a:buNone/>
            </a:pPr>
            <a:r>
              <a:rPr lang="en-US" sz="1300" dirty="0">
                <a:solidFill>
                  <a:srgbClr val="5B6B7F"/>
                </a:solidFill>
              </a:rPr>
              <a:t>Produits : Colline · Soliam · Solife · AGILE Reporter · Palmyra</a:t>
            </a:r>
            <a:endParaRPr lang="en-US" sz="1300" dirty="0"/>
          </a:p>
        </p:txBody>
      </p:sp>
      <p:sp>
        <p:nvSpPr>
          <p:cNvPr id="8" name="A1_61"/>
          <p:cNvSpPr/>
          <p:nvPr/>
        </p:nvSpPr>
        <p:spPr>
          <a:xfrm>
            <a:off x="548640" y="4892040"/>
            <a:ext cx="5120640" cy="1005840"/>
          </a:xfrm>
          <a:prstGeom prst="roundRect">
            <a:avLst>
              <a:gd name="adj" fmla="val 10909"/>
            </a:avLst>
          </a:prstGeom>
          <a:solidFill>
            <a:srgbClr val="EEF4FB"/>
          </a:solidFill>
          <a:ln w="12700">
            <a:solidFill>
              <a:srgbClr val="FFFFFF"/>
            </a:solidFill>
            <a:prstDash val="solid"/>
          </a:ln>
        </p:spPr>
      </p:sp>
      <p:sp>
        <p:nvSpPr>
          <p:cNvPr id="9" name="A1_62"/>
          <p:cNvSpPr txBox="1"/>
          <p:nvPr/>
        </p:nvSpPr>
        <p:spPr>
          <a:xfrm>
            <a:off x="777240" y="4983480"/>
            <a:ext cx="4663440" cy="822960"/>
          </a:xfrm>
          <a:prstGeom prst="rect">
            <a:avLst/>
          </a:prstGeom>
          <a:noFill/>
          <a:ln/>
        </p:spPr>
        <p:txBody>
          <a:bodyPr wrap="square" lIns="0" tIns="0" rIns="0" bIns="0" rtlCol="0" anchor="ctr"/>
          <a:lstStyle/>
          <a:p>
            <a:pPr marL="0" indent="0">
              <a:buNone/>
            </a:pPr>
            <a:r>
              <a:rPr lang="en-US" sz="1400" i="1" dirty="0">
                <a:solidFill>
                  <a:schemeClr val="tx2"/>
                </a:solidFill>
              </a:rPr>
              <a:t>Dans la finance, une panne ou une faille coûte cher : la qualité des logiciels est vitale.</a:t>
            </a:r>
            <a:endParaRPr lang="en-US" sz="1400" dirty="0"/>
          </a:p>
        </p:txBody>
      </p:sp>
      <p:sp>
        <p:nvSpPr>
          <p:cNvPr id="10" name="A2_63"/>
          <p:cNvSpPr/>
          <p:nvPr/>
        </p:nvSpPr>
        <p:spPr>
          <a:xfrm>
            <a:off x="6309360" y="1463040"/>
            <a:ext cx="2587752"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pic>
        <p:nvPicPr>
          <p:cNvPr id="11" name="A2_64" descr="preencoded.png"/>
          <p:cNvPicPr>
            <a:picLocks noChangeAspect="1"/>
          </p:cNvPicPr>
          <p:nvPr/>
        </p:nvPicPr>
        <p:blipFill>
          <a:blip r:embed="rId4"/>
          <a:stretch>
            <a:fillRect/>
          </a:stretch>
        </p:blipFill>
        <p:spPr>
          <a:xfrm>
            <a:off x="8275320" y="1691640"/>
            <a:ext cx="384048" cy="384048"/>
          </a:xfrm>
          <a:prstGeom prst="rect">
            <a:avLst/>
          </a:prstGeom>
        </p:spPr>
      </p:pic>
      <p:sp>
        <p:nvSpPr>
          <p:cNvPr id="12" name="A2_65"/>
          <p:cNvSpPr txBox="1"/>
          <p:nvPr/>
        </p:nvSpPr>
        <p:spPr>
          <a:xfrm>
            <a:off x="6537960" y="2011680"/>
            <a:ext cx="219456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1993</a:t>
            </a:r>
            <a:endParaRPr lang="en-US" sz="4000" dirty="0"/>
          </a:p>
        </p:txBody>
      </p:sp>
      <p:sp>
        <p:nvSpPr>
          <p:cNvPr id="13" name="A2_66"/>
          <p:cNvSpPr txBox="1"/>
          <p:nvPr/>
        </p:nvSpPr>
        <p:spPr>
          <a:xfrm>
            <a:off x="6537960" y="2880360"/>
            <a:ext cx="2194560" cy="365760"/>
          </a:xfrm>
          <a:prstGeom prst="rect">
            <a:avLst/>
          </a:prstGeom>
          <a:noFill/>
          <a:ln/>
        </p:spPr>
        <p:txBody>
          <a:bodyPr wrap="square" lIns="0" tIns="0" rIns="0" bIns="0" rtlCol="0" anchor="t"/>
          <a:lstStyle/>
          <a:p>
            <a:pPr marL="0" indent="0">
              <a:buNone/>
            </a:pPr>
            <a:r>
              <a:rPr lang="en-US" sz="1400" dirty="0">
                <a:solidFill>
                  <a:srgbClr val="5B6B7F"/>
                </a:solidFill>
              </a:rPr>
              <a:t>année de création</a:t>
            </a:r>
            <a:endParaRPr lang="en-US" sz="1400" dirty="0"/>
          </a:p>
        </p:txBody>
      </p:sp>
      <p:sp>
        <p:nvSpPr>
          <p:cNvPr id="14" name="A3_67"/>
          <p:cNvSpPr/>
          <p:nvPr/>
        </p:nvSpPr>
        <p:spPr>
          <a:xfrm>
            <a:off x="9052560" y="1463040"/>
            <a:ext cx="2587752"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pic>
        <p:nvPicPr>
          <p:cNvPr id="15" name="A3_68" descr="preencoded.png"/>
          <p:cNvPicPr>
            <a:picLocks noChangeAspect="1"/>
          </p:cNvPicPr>
          <p:nvPr/>
        </p:nvPicPr>
        <p:blipFill>
          <a:blip r:embed="rId5"/>
          <a:stretch>
            <a:fillRect/>
          </a:stretch>
        </p:blipFill>
        <p:spPr>
          <a:xfrm>
            <a:off x="11018520" y="1691640"/>
            <a:ext cx="384048" cy="384048"/>
          </a:xfrm>
          <a:prstGeom prst="rect">
            <a:avLst/>
          </a:prstGeom>
        </p:spPr>
      </p:pic>
      <p:sp>
        <p:nvSpPr>
          <p:cNvPr id="16" name="A3_69"/>
          <p:cNvSpPr txBox="1"/>
          <p:nvPr/>
        </p:nvSpPr>
        <p:spPr>
          <a:xfrm>
            <a:off x="9281160" y="2011680"/>
            <a:ext cx="219456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16</a:t>
            </a:r>
            <a:endParaRPr lang="en-US" sz="4000" dirty="0"/>
          </a:p>
        </p:txBody>
      </p:sp>
      <p:sp>
        <p:nvSpPr>
          <p:cNvPr id="17" name="A3_70"/>
          <p:cNvSpPr txBox="1"/>
          <p:nvPr/>
        </p:nvSpPr>
        <p:spPr>
          <a:xfrm>
            <a:off x="9281160" y="2880360"/>
            <a:ext cx="2194560" cy="365760"/>
          </a:xfrm>
          <a:prstGeom prst="rect">
            <a:avLst/>
          </a:prstGeom>
          <a:noFill/>
          <a:ln/>
        </p:spPr>
        <p:txBody>
          <a:bodyPr wrap="square" lIns="0" tIns="0" rIns="0" bIns="0" rtlCol="0" anchor="t"/>
          <a:lstStyle/>
          <a:p>
            <a:pPr marL="0" indent="0">
              <a:buNone/>
            </a:pPr>
            <a:r>
              <a:rPr lang="en-US" sz="1400" dirty="0">
                <a:solidFill>
                  <a:srgbClr val="5B6B7F"/>
                </a:solidFill>
              </a:rPr>
              <a:t>pays d'implantation</a:t>
            </a:r>
            <a:endParaRPr lang="en-US" sz="1400" dirty="0"/>
          </a:p>
        </p:txBody>
      </p:sp>
      <p:sp>
        <p:nvSpPr>
          <p:cNvPr id="18" name="A4_71"/>
          <p:cNvSpPr/>
          <p:nvPr/>
        </p:nvSpPr>
        <p:spPr>
          <a:xfrm>
            <a:off x="6309360" y="3749040"/>
            <a:ext cx="2587752"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pic>
        <p:nvPicPr>
          <p:cNvPr id="19" name="A4_72" descr="preencoded.png"/>
          <p:cNvPicPr>
            <a:picLocks noChangeAspect="1"/>
          </p:cNvPicPr>
          <p:nvPr/>
        </p:nvPicPr>
        <p:blipFill>
          <a:blip r:embed="rId6"/>
          <a:stretch>
            <a:fillRect/>
          </a:stretch>
        </p:blipFill>
        <p:spPr>
          <a:xfrm>
            <a:off x="8275320" y="3977640"/>
            <a:ext cx="384048" cy="384048"/>
          </a:xfrm>
          <a:prstGeom prst="rect">
            <a:avLst/>
          </a:prstGeom>
        </p:spPr>
      </p:pic>
      <p:sp>
        <p:nvSpPr>
          <p:cNvPr id="20" name="A4_73"/>
          <p:cNvSpPr txBox="1"/>
          <p:nvPr/>
        </p:nvSpPr>
        <p:spPr>
          <a:xfrm>
            <a:off x="6537960" y="4297680"/>
            <a:ext cx="219456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+1 000</a:t>
            </a:r>
            <a:endParaRPr lang="en-US" sz="4000" dirty="0"/>
          </a:p>
        </p:txBody>
      </p:sp>
      <p:sp>
        <p:nvSpPr>
          <p:cNvPr id="21" name="A4_74"/>
          <p:cNvSpPr txBox="1"/>
          <p:nvPr/>
        </p:nvSpPr>
        <p:spPr>
          <a:xfrm>
            <a:off x="6537960" y="5166360"/>
            <a:ext cx="2194560" cy="365760"/>
          </a:xfrm>
          <a:prstGeom prst="rect">
            <a:avLst/>
          </a:prstGeom>
          <a:noFill/>
          <a:ln/>
        </p:spPr>
        <p:txBody>
          <a:bodyPr wrap="square" lIns="0" tIns="0" rIns="0" bIns="0" rtlCol="0" anchor="t"/>
          <a:lstStyle/>
          <a:p>
            <a:pPr marL="0" indent="0">
              <a:buNone/>
            </a:pPr>
            <a:r>
              <a:rPr lang="en-US" sz="1400" dirty="0">
                <a:solidFill>
                  <a:srgbClr val="5B6B7F"/>
                </a:solidFill>
              </a:rPr>
              <a:t>collaborateurs</a:t>
            </a:r>
            <a:endParaRPr lang="en-US" sz="1400" dirty="0"/>
          </a:p>
        </p:txBody>
      </p:sp>
      <p:sp>
        <p:nvSpPr>
          <p:cNvPr id="22" name="A5_75"/>
          <p:cNvSpPr/>
          <p:nvPr/>
        </p:nvSpPr>
        <p:spPr>
          <a:xfrm>
            <a:off x="9052560" y="3749040"/>
            <a:ext cx="2587752"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pic>
        <p:nvPicPr>
          <p:cNvPr id="23" name="A5_76" descr="preencoded.png"/>
          <p:cNvPicPr>
            <a:picLocks noChangeAspect="1"/>
          </p:cNvPicPr>
          <p:nvPr/>
        </p:nvPicPr>
        <p:blipFill>
          <a:blip r:embed="rId7"/>
          <a:stretch>
            <a:fillRect/>
          </a:stretch>
        </p:blipFill>
        <p:spPr>
          <a:xfrm>
            <a:off x="11018520" y="3977640"/>
            <a:ext cx="384048" cy="384048"/>
          </a:xfrm>
          <a:prstGeom prst="rect">
            <a:avLst/>
          </a:prstGeom>
        </p:spPr>
      </p:pic>
      <p:sp>
        <p:nvSpPr>
          <p:cNvPr id="24" name="A5_77"/>
          <p:cNvSpPr txBox="1"/>
          <p:nvPr/>
        </p:nvSpPr>
        <p:spPr>
          <a:xfrm>
            <a:off x="9281160" y="4297680"/>
            <a:ext cx="219456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40+</a:t>
            </a:r>
            <a:endParaRPr lang="en-US" sz="4000" dirty="0"/>
          </a:p>
        </p:txBody>
      </p:sp>
      <p:sp>
        <p:nvSpPr>
          <p:cNvPr id="25" name="A5_78"/>
          <p:cNvSpPr txBox="1"/>
          <p:nvPr/>
        </p:nvSpPr>
        <p:spPr>
          <a:xfrm>
            <a:off x="9281160" y="5166360"/>
            <a:ext cx="2194560" cy="365760"/>
          </a:xfrm>
          <a:prstGeom prst="rect">
            <a:avLst/>
          </a:prstGeom>
          <a:noFill/>
          <a:ln/>
        </p:spPr>
        <p:txBody>
          <a:bodyPr wrap="square" lIns="0" tIns="0" rIns="0" bIns="0" rtlCol="0" anchor="t"/>
          <a:lstStyle/>
          <a:p>
            <a:pPr marL="0" indent="0">
              <a:buNone/>
            </a:pPr>
            <a:r>
              <a:rPr lang="en-US" sz="1400" dirty="0">
                <a:solidFill>
                  <a:srgbClr val="5B6B7F"/>
                </a:solidFill>
              </a:rPr>
              <a:t>pays clients</a:t>
            </a:r>
            <a:endParaRPr lang="en-US" sz="1400" dirty="0"/>
          </a:p>
        </p:txBody>
      </p:sp>
      <p:sp>
        <p:nvSpPr>
          <p:cNvPr id="26"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5</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36" fill="hold">
                            <p:stCondLst>
                              <p:cond delay="16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childTnLst>
                          </p:cTn>
                        </p:par>
                        <p:par>
                          <p:cTn id="49" fill="hold">
                            <p:stCondLst>
                              <p:cond delay="2300"/>
                            </p:stCondLst>
                            <p:childTnLst>
                              <p:par>
                                <p:cTn id="50" presetID="10" presetClass="entr" presetSubtype="0"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childTnLst>
                          </p:cTn>
                        </p:par>
                        <p:par>
                          <p:cTn id="62" fill="hold">
                            <p:stCondLst>
                              <p:cond delay="3000"/>
                            </p:stCondLst>
                            <p:childTnLst>
                              <p:par>
                                <p:cTn id="63" presetID="10" presetClass="entr" presetSubtype="0"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Aujourd'hui, chaque incident devient une enquête</a:t>
            </a:r>
            <a:endParaRPr lang="en-US" sz="3000" dirty="0"/>
          </a:p>
        </p:txBody>
      </p:sp>
      <p:sp>
        <p:nvSpPr>
          <p:cNvPr id="3" name="o_79"/>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ÉTUDE DE L'EXISTANT</a:t>
            </a:r>
            <a:endParaRPr lang="en-US" sz="1100" dirty="0"/>
          </a:p>
        </p:txBody>
      </p:sp>
      <p:sp>
        <p:nvSpPr>
          <p:cNvPr id="4" name="A1_80"/>
          <p:cNvSpPr/>
          <p:nvPr/>
        </p:nvSpPr>
        <p:spPr>
          <a:xfrm>
            <a:off x="548640" y="1463040"/>
            <a:ext cx="2514600" cy="2743200"/>
          </a:xfrm>
          <a:prstGeom prst="roundRect">
            <a:avLst>
              <a:gd name="adj" fmla="val 4364"/>
            </a:avLst>
          </a:prstGeom>
          <a:solidFill>
            <a:srgbClr val="EEF4FB"/>
          </a:solidFill>
          <a:ln w="12700">
            <a:solidFill>
              <a:srgbClr val="FFFFFF"/>
            </a:solidFill>
            <a:prstDash val="solid"/>
          </a:ln>
        </p:spPr>
      </p:sp>
      <p:sp>
        <p:nvSpPr>
          <p:cNvPr id="5" name="A1_81"/>
          <p:cNvSpPr/>
          <p:nvPr/>
        </p:nvSpPr>
        <p:spPr>
          <a:xfrm>
            <a:off x="1353312" y="1691640"/>
            <a:ext cx="914400" cy="914400"/>
          </a:xfrm>
          <a:prstGeom prst="ellipse">
            <a:avLst/>
          </a:prstGeom>
          <a:solidFill>
            <a:srgbClr val="0E5CA8"/>
          </a:solidFill>
          <a:ln w="12700">
            <a:solidFill>
              <a:srgbClr val="0E5CA8"/>
            </a:solidFill>
            <a:prstDash val="solid"/>
          </a:ln>
        </p:spPr>
      </p:sp>
      <p:pic>
        <p:nvPicPr>
          <p:cNvPr id="6" name="A1_82" descr="FaBell"/>
          <p:cNvPicPr>
            <a:picLocks noChangeAspect="1"/>
          </p:cNvPicPr>
          <p:nvPr/>
        </p:nvPicPr>
        <p:blipFill>
          <a:blip r:embed="rId3"/>
          <a:stretch>
            <a:fillRect/>
          </a:stretch>
        </p:blipFill>
        <p:spPr>
          <a:xfrm>
            <a:off x="1581912" y="1920240"/>
            <a:ext cx="457200" cy="457200"/>
          </a:xfrm>
          <a:prstGeom prst="rect">
            <a:avLst/>
          </a:prstGeom>
        </p:spPr>
      </p:pic>
      <p:sp>
        <p:nvSpPr>
          <p:cNvPr id="7" name="A1_83"/>
          <p:cNvSpPr txBox="1"/>
          <p:nvPr/>
        </p:nvSpPr>
        <p:spPr>
          <a:xfrm>
            <a:off x="685800" y="1554480"/>
            <a:ext cx="457200" cy="457200"/>
          </a:xfrm>
          <a:prstGeom prst="rect">
            <a:avLst/>
          </a:prstGeom>
          <a:noFill/>
          <a:ln/>
        </p:spPr>
        <p:txBody>
          <a:bodyPr wrap="square" lIns="0" tIns="0" rIns="0" bIns="0" rtlCol="0" anchor="t"/>
          <a:lstStyle/>
          <a:p>
            <a:pPr marL="0" indent="0">
              <a:buNone/>
            </a:pPr>
            <a:r>
              <a:rPr lang="en-US" sz="2200" b="1" dirty="0">
                <a:solidFill>
                  <a:schemeClr val="accent6"/>
                </a:solidFill>
              </a:rPr>
              <a:t>1</a:t>
            </a:r>
            <a:endParaRPr lang="en-US" sz="2200" dirty="0"/>
          </a:p>
        </p:txBody>
      </p:sp>
      <p:sp>
        <p:nvSpPr>
          <p:cNvPr id="8" name="A1_84"/>
          <p:cNvSpPr txBox="1"/>
          <p:nvPr/>
        </p:nvSpPr>
        <p:spPr>
          <a:xfrm>
            <a:off x="685800" y="2788920"/>
            <a:ext cx="2240280" cy="685800"/>
          </a:xfrm>
          <a:prstGeom prst="rect">
            <a:avLst/>
          </a:prstGeom>
          <a:noFill/>
          <a:ln/>
        </p:spPr>
        <p:txBody>
          <a:bodyPr wrap="square" lIns="0" tIns="0" rIns="0" bIns="0" rtlCol="0" anchor="ctr"/>
          <a:lstStyle/>
          <a:p>
            <a:pPr marL="0" indent="0" algn="ctr">
              <a:buNone/>
            </a:pPr>
            <a:r>
              <a:rPr lang="en-US" sz="1600" b="1" dirty="0">
                <a:solidFill>
                  <a:schemeClr val="tx2"/>
                </a:solidFill>
              </a:rPr>
              <a:t>Un problème apparaît</a:t>
            </a:r>
            <a:endParaRPr lang="en-US" sz="1600" dirty="0"/>
          </a:p>
        </p:txBody>
      </p:sp>
      <p:sp>
        <p:nvSpPr>
          <p:cNvPr id="9" name="A1_85"/>
          <p:cNvSpPr txBox="1"/>
          <p:nvPr/>
        </p:nvSpPr>
        <p:spPr>
          <a:xfrm>
            <a:off x="685800" y="3474720"/>
            <a:ext cx="2240280" cy="594360"/>
          </a:xfrm>
          <a:prstGeom prst="rect">
            <a:avLst/>
          </a:prstGeom>
          <a:noFill/>
          <a:ln/>
        </p:spPr>
        <p:txBody>
          <a:bodyPr wrap="square" lIns="0" tIns="0" rIns="0" bIns="0" rtlCol="0" anchor="t"/>
          <a:lstStyle/>
          <a:p>
            <a:pPr marL="0" indent="0" algn="ctr">
              <a:buNone/>
            </a:pPr>
            <a:r>
              <a:rPr lang="en-US" sz="1300" dirty="0">
                <a:solidFill>
                  <a:srgbClr val="5B6B7F"/>
                </a:solidFill>
              </a:rPr>
              <a:t>un test échoue ou une erreur surgit</a:t>
            </a:r>
            <a:endParaRPr lang="en-US" sz="1300" dirty="0"/>
          </a:p>
        </p:txBody>
      </p:sp>
      <p:pic>
        <p:nvPicPr>
          <p:cNvPr id="10" name="A2_86" descr="preencoded.png"/>
          <p:cNvPicPr>
            <a:picLocks noChangeAspect="1"/>
          </p:cNvPicPr>
          <p:nvPr/>
        </p:nvPicPr>
        <p:blipFill>
          <a:blip r:embed="rId4"/>
          <a:stretch>
            <a:fillRect/>
          </a:stretch>
        </p:blipFill>
        <p:spPr>
          <a:xfrm>
            <a:off x="3145536" y="2697480"/>
            <a:ext cx="237744" cy="237744"/>
          </a:xfrm>
          <a:prstGeom prst="rect">
            <a:avLst/>
          </a:prstGeom>
        </p:spPr>
      </p:pic>
      <p:sp>
        <p:nvSpPr>
          <p:cNvPr id="11" name="A2_87"/>
          <p:cNvSpPr/>
          <p:nvPr/>
        </p:nvSpPr>
        <p:spPr>
          <a:xfrm>
            <a:off x="3401568" y="1463040"/>
            <a:ext cx="2514600" cy="2743200"/>
          </a:xfrm>
          <a:prstGeom prst="roundRect">
            <a:avLst>
              <a:gd name="adj" fmla="val 4364"/>
            </a:avLst>
          </a:prstGeom>
          <a:solidFill>
            <a:srgbClr val="EEF4FB"/>
          </a:solidFill>
          <a:ln w="12700">
            <a:solidFill>
              <a:srgbClr val="FFFFFF"/>
            </a:solidFill>
            <a:prstDash val="solid"/>
          </a:ln>
        </p:spPr>
      </p:sp>
      <p:sp>
        <p:nvSpPr>
          <p:cNvPr id="12" name="A2_88"/>
          <p:cNvSpPr/>
          <p:nvPr/>
        </p:nvSpPr>
        <p:spPr>
          <a:xfrm>
            <a:off x="4206240" y="1691640"/>
            <a:ext cx="914400" cy="914400"/>
          </a:xfrm>
          <a:prstGeom prst="ellipse">
            <a:avLst/>
          </a:prstGeom>
          <a:solidFill>
            <a:srgbClr val="0E5CA8"/>
          </a:solidFill>
          <a:ln w="12700">
            <a:solidFill>
              <a:srgbClr val="0E5CA8"/>
            </a:solidFill>
            <a:prstDash val="solid"/>
          </a:ln>
        </p:spPr>
      </p:sp>
      <p:pic>
        <p:nvPicPr>
          <p:cNvPr id="13" name="A2_89" descr="FaWindowRestore"/>
          <p:cNvPicPr>
            <a:picLocks noChangeAspect="1"/>
          </p:cNvPicPr>
          <p:nvPr/>
        </p:nvPicPr>
        <p:blipFill>
          <a:blip r:embed="rId5"/>
          <a:stretch>
            <a:fillRect/>
          </a:stretch>
        </p:blipFill>
        <p:spPr>
          <a:xfrm>
            <a:off x="4434840" y="1920240"/>
            <a:ext cx="457200" cy="457200"/>
          </a:xfrm>
          <a:prstGeom prst="rect">
            <a:avLst/>
          </a:prstGeom>
        </p:spPr>
      </p:pic>
      <p:sp>
        <p:nvSpPr>
          <p:cNvPr id="14" name="A2_90"/>
          <p:cNvSpPr txBox="1"/>
          <p:nvPr/>
        </p:nvSpPr>
        <p:spPr>
          <a:xfrm>
            <a:off x="3538728" y="1554480"/>
            <a:ext cx="457200" cy="457200"/>
          </a:xfrm>
          <a:prstGeom prst="rect">
            <a:avLst/>
          </a:prstGeom>
          <a:noFill/>
          <a:ln/>
        </p:spPr>
        <p:txBody>
          <a:bodyPr wrap="square" lIns="0" tIns="0" rIns="0" bIns="0" rtlCol="0" anchor="t"/>
          <a:lstStyle/>
          <a:p>
            <a:pPr marL="0" indent="0">
              <a:buNone/>
            </a:pPr>
            <a:r>
              <a:rPr lang="en-US" sz="2200" b="1" dirty="0">
                <a:solidFill>
                  <a:schemeClr val="accent6"/>
                </a:solidFill>
              </a:rPr>
              <a:t>2</a:t>
            </a:r>
            <a:endParaRPr lang="en-US" sz="2200" dirty="0"/>
          </a:p>
        </p:txBody>
      </p:sp>
      <p:sp>
        <p:nvSpPr>
          <p:cNvPr id="15" name="A2_91"/>
          <p:cNvSpPr txBox="1"/>
          <p:nvPr/>
        </p:nvSpPr>
        <p:spPr>
          <a:xfrm>
            <a:off x="3538728" y="2788920"/>
            <a:ext cx="2240280" cy="685800"/>
          </a:xfrm>
          <a:prstGeom prst="rect">
            <a:avLst/>
          </a:prstGeom>
          <a:noFill/>
          <a:ln/>
        </p:spPr>
        <p:txBody>
          <a:bodyPr wrap="square" lIns="0" tIns="0" rIns="0" bIns="0" rtlCol="0" anchor="ctr"/>
          <a:lstStyle/>
          <a:p>
            <a:pPr marL="0" indent="0" algn="ctr">
              <a:buNone/>
            </a:pPr>
            <a:r>
              <a:rPr lang="en-US" sz="1600" b="1" dirty="0">
                <a:solidFill>
                  <a:schemeClr val="tx2"/>
                </a:solidFill>
              </a:rPr>
              <a:t>On ouvre chaque outil</a:t>
            </a:r>
            <a:endParaRPr lang="en-US" sz="1600" dirty="0"/>
          </a:p>
        </p:txBody>
      </p:sp>
      <p:sp>
        <p:nvSpPr>
          <p:cNvPr id="16" name="A2_92"/>
          <p:cNvSpPr txBox="1"/>
          <p:nvPr/>
        </p:nvSpPr>
        <p:spPr>
          <a:xfrm>
            <a:off x="3538728" y="3474720"/>
            <a:ext cx="2240280" cy="594360"/>
          </a:xfrm>
          <a:prstGeom prst="rect">
            <a:avLst/>
          </a:prstGeom>
          <a:noFill/>
          <a:ln/>
        </p:spPr>
        <p:txBody>
          <a:bodyPr wrap="square" lIns="0" tIns="0" rIns="0" bIns="0" rtlCol="0" anchor="t"/>
          <a:lstStyle/>
          <a:p>
            <a:pPr marL="0" indent="0" algn="ctr">
              <a:buNone/>
            </a:pPr>
            <a:r>
              <a:rPr lang="en-US" sz="1300" dirty="0">
                <a:solidFill>
                  <a:srgbClr val="5B6B7F"/>
                </a:solidFill>
              </a:rPr>
              <a:t>un par un, séparément</a:t>
            </a:r>
            <a:endParaRPr lang="en-US" sz="1300" dirty="0"/>
          </a:p>
        </p:txBody>
      </p:sp>
      <p:pic>
        <p:nvPicPr>
          <p:cNvPr id="17" name="A3_93" descr="preencoded.png"/>
          <p:cNvPicPr>
            <a:picLocks noChangeAspect="1"/>
          </p:cNvPicPr>
          <p:nvPr/>
        </p:nvPicPr>
        <p:blipFill>
          <a:blip r:embed="rId4"/>
          <a:stretch>
            <a:fillRect/>
          </a:stretch>
        </p:blipFill>
        <p:spPr>
          <a:xfrm>
            <a:off x="5998464" y="2697480"/>
            <a:ext cx="237744" cy="237744"/>
          </a:xfrm>
          <a:prstGeom prst="rect">
            <a:avLst/>
          </a:prstGeom>
        </p:spPr>
      </p:pic>
      <p:sp>
        <p:nvSpPr>
          <p:cNvPr id="18" name="A3_94"/>
          <p:cNvSpPr/>
          <p:nvPr/>
        </p:nvSpPr>
        <p:spPr>
          <a:xfrm>
            <a:off x="6254496" y="1463040"/>
            <a:ext cx="2514600" cy="2743200"/>
          </a:xfrm>
          <a:prstGeom prst="roundRect">
            <a:avLst>
              <a:gd name="adj" fmla="val 4364"/>
            </a:avLst>
          </a:prstGeom>
          <a:solidFill>
            <a:srgbClr val="EEF4FB"/>
          </a:solidFill>
          <a:ln w="12700">
            <a:solidFill>
              <a:srgbClr val="FFFFFF"/>
            </a:solidFill>
            <a:prstDash val="solid"/>
          </a:ln>
        </p:spPr>
      </p:sp>
      <p:sp>
        <p:nvSpPr>
          <p:cNvPr id="19" name="A3_95"/>
          <p:cNvSpPr/>
          <p:nvPr/>
        </p:nvSpPr>
        <p:spPr>
          <a:xfrm>
            <a:off x="7059168" y="1691640"/>
            <a:ext cx="914400" cy="914400"/>
          </a:xfrm>
          <a:prstGeom prst="ellipse">
            <a:avLst/>
          </a:prstGeom>
          <a:solidFill>
            <a:srgbClr val="0E5CA8"/>
          </a:solidFill>
          <a:ln w="12700">
            <a:solidFill>
              <a:srgbClr val="0E5CA8"/>
            </a:solidFill>
            <a:prstDash val="solid"/>
          </a:ln>
        </p:spPr>
      </p:sp>
      <p:pic>
        <p:nvPicPr>
          <p:cNvPr id="20" name="A3_96" descr="FaSearch"/>
          <p:cNvPicPr>
            <a:picLocks noChangeAspect="1"/>
          </p:cNvPicPr>
          <p:nvPr/>
        </p:nvPicPr>
        <p:blipFill>
          <a:blip r:embed="rId6"/>
          <a:stretch>
            <a:fillRect/>
          </a:stretch>
        </p:blipFill>
        <p:spPr>
          <a:xfrm>
            <a:off x="7287768" y="1920240"/>
            <a:ext cx="457200" cy="457200"/>
          </a:xfrm>
          <a:prstGeom prst="rect">
            <a:avLst/>
          </a:prstGeom>
        </p:spPr>
      </p:pic>
      <p:sp>
        <p:nvSpPr>
          <p:cNvPr id="21" name="A3_97"/>
          <p:cNvSpPr txBox="1"/>
          <p:nvPr/>
        </p:nvSpPr>
        <p:spPr>
          <a:xfrm>
            <a:off x="6391656" y="1554480"/>
            <a:ext cx="457200" cy="457200"/>
          </a:xfrm>
          <a:prstGeom prst="rect">
            <a:avLst/>
          </a:prstGeom>
          <a:noFill/>
          <a:ln/>
        </p:spPr>
        <p:txBody>
          <a:bodyPr wrap="square" lIns="0" tIns="0" rIns="0" bIns="0" rtlCol="0" anchor="t"/>
          <a:lstStyle/>
          <a:p>
            <a:pPr marL="0" indent="0">
              <a:buNone/>
            </a:pPr>
            <a:r>
              <a:rPr lang="en-US" sz="2200" b="1" dirty="0">
                <a:solidFill>
                  <a:schemeClr val="accent6"/>
                </a:solidFill>
              </a:rPr>
              <a:t>3</a:t>
            </a:r>
            <a:endParaRPr lang="en-US" sz="2200" dirty="0"/>
          </a:p>
        </p:txBody>
      </p:sp>
      <p:sp>
        <p:nvSpPr>
          <p:cNvPr id="22" name="A3_98"/>
          <p:cNvSpPr txBox="1"/>
          <p:nvPr/>
        </p:nvSpPr>
        <p:spPr>
          <a:xfrm>
            <a:off x="6391656" y="2788920"/>
            <a:ext cx="2240280" cy="685800"/>
          </a:xfrm>
          <a:prstGeom prst="rect">
            <a:avLst/>
          </a:prstGeom>
          <a:noFill/>
          <a:ln/>
        </p:spPr>
        <p:txBody>
          <a:bodyPr wrap="square" lIns="0" tIns="0" rIns="0" bIns="0" rtlCol="0" anchor="ctr"/>
          <a:lstStyle/>
          <a:p>
            <a:pPr marL="0" indent="0" algn="ctr">
              <a:buNone/>
            </a:pPr>
            <a:r>
              <a:rPr lang="en-US" sz="1600" b="1" dirty="0">
                <a:solidFill>
                  <a:schemeClr val="tx2"/>
                </a:solidFill>
              </a:rPr>
              <a:t>On cherche à la main</a:t>
            </a:r>
            <a:endParaRPr lang="en-US" sz="1600" dirty="0"/>
          </a:p>
        </p:txBody>
      </p:sp>
      <p:sp>
        <p:nvSpPr>
          <p:cNvPr id="23" name="A3_99"/>
          <p:cNvSpPr txBox="1"/>
          <p:nvPr/>
        </p:nvSpPr>
        <p:spPr>
          <a:xfrm>
            <a:off x="6391656" y="3474720"/>
            <a:ext cx="2240280" cy="594360"/>
          </a:xfrm>
          <a:prstGeom prst="rect">
            <a:avLst/>
          </a:prstGeom>
          <a:noFill/>
          <a:ln/>
        </p:spPr>
        <p:txBody>
          <a:bodyPr wrap="square" lIns="0" tIns="0" rIns="0" bIns="0" rtlCol="0" anchor="t"/>
          <a:lstStyle/>
          <a:p>
            <a:pPr marL="0" indent="0" algn="ctr">
              <a:buNone/>
            </a:pPr>
            <a:r>
              <a:rPr lang="en-US" sz="1300" dirty="0">
                <a:solidFill>
                  <a:srgbClr val="5B6B7F"/>
                </a:solidFill>
              </a:rPr>
              <a:t>des milliers de lignes lues à l'œil</a:t>
            </a:r>
            <a:endParaRPr lang="en-US" sz="1300" dirty="0"/>
          </a:p>
        </p:txBody>
      </p:sp>
      <p:pic>
        <p:nvPicPr>
          <p:cNvPr id="24" name="A4_100" descr="preencoded.png"/>
          <p:cNvPicPr>
            <a:picLocks noChangeAspect="1"/>
          </p:cNvPicPr>
          <p:nvPr/>
        </p:nvPicPr>
        <p:blipFill>
          <a:blip r:embed="rId4"/>
          <a:stretch>
            <a:fillRect/>
          </a:stretch>
        </p:blipFill>
        <p:spPr>
          <a:xfrm>
            <a:off x="8851392" y="2697480"/>
            <a:ext cx="237744" cy="237744"/>
          </a:xfrm>
          <a:prstGeom prst="rect">
            <a:avLst/>
          </a:prstGeom>
        </p:spPr>
      </p:pic>
      <p:sp>
        <p:nvSpPr>
          <p:cNvPr id="25" name="A4_101"/>
          <p:cNvSpPr/>
          <p:nvPr/>
        </p:nvSpPr>
        <p:spPr>
          <a:xfrm>
            <a:off x="9107424" y="1463040"/>
            <a:ext cx="2514600" cy="2743200"/>
          </a:xfrm>
          <a:prstGeom prst="roundRect">
            <a:avLst>
              <a:gd name="adj" fmla="val 4364"/>
            </a:avLst>
          </a:prstGeom>
          <a:solidFill>
            <a:srgbClr val="EEF4FB"/>
          </a:solidFill>
          <a:ln w="12700">
            <a:solidFill>
              <a:srgbClr val="FFFFFF"/>
            </a:solidFill>
            <a:prstDash val="solid"/>
          </a:ln>
        </p:spPr>
      </p:sp>
      <p:sp>
        <p:nvSpPr>
          <p:cNvPr id="26" name="A4_102"/>
          <p:cNvSpPr/>
          <p:nvPr/>
        </p:nvSpPr>
        <p:spPr>
          <a:xfrm>
            <a:off x="9912096" y="1691640"/>
            <a:ext cx="914400" cy="914400"/>
          </a:xfrm>
          <a:prstGeom prst="ellipse">
            <a:avLst/>
          </a:prstGeom>
          <a:solidFill>
            <a:srgbClr val="0E5CA8"/>
          </a:solidFill>
          <a:ln w="12700">
            <a:solidFill>
              <a:srgbClr val="0E5CA8"/>
            </a:solidFill>
            <a:prstDash val="solid"/>
          </a:ln>
        </p:spPr>
      </p:sp>
      <p:pic>
        <p:nvPicPr>
          <p:cNvPr id="27" name="A4_103" descr="FaUserTie"/>
          <p:cNvPicPr>
            <a:picLocks noChangeAspect="1"/>
          </p:cNvPicPr>
          <p:nvPr/>
        </p:nvPicPr>
        <p:blipFill>
          <a:blip r:embed="rId7"/>
          <a:stretch>
            <a:fillRect/>
          </a:stretch>
        </p:blipFill>
        <p:spPr>
          <a:xfrm>
            <a:off x="10140696" y="1920240"/>
            <a:ext cx="457200" cy="457200"/>
          </a:xfrm>
          <a:prstGeom prst="rect">
            <a:avLst/>
          </a:prstGeom>
        </p:spPr>
      </p:pic>
      <p:sp>
        <p:nvSpPr>
          <p:cNvPr id="28" name="A4_104"/>
          <p:cNvSpPr txBox="1"/>
          <p:nvPr/>
        </p:nvSpPr>
        <p:spPr>
          <a:xfrm>
            <a:off x="9244584" y="1554480"/>
            <a:ext cx="457200" cy="457200"/>
          </a:xfrm>
          <a:prstGeom prst="rect">
            <a:avLst/>
          </a:prstGeom>
          <a:noFill/>
          <a:ln/>
        </p:spPr>
        <p:txBody>
          <a:bodyPr wrap="square" lIns="0" tIns="0" rIns="0" bIns="0" rtlCol="0" anchor="t"/>
          <a:lstStyle/>
          <a:p>
            <a:pPr marL="0" indent="0">
              <a:buNone/>
            </a:pPr>
            <a:r>
              <a:rPr lang="en-US" sz="2200" b="1" dirty="0">
                <a:solidFill>
                  <a:schemeClr val="accent6"/>
                </a:solidFill>
              </a:rPr>
              <a:t>4</a:t>
            </a:r>
            <a:endParaRPr lang="en-US" sz="2200" dirty="0"/>
          </a:p>
        </p:txBody>
      </p:sp>
      <p:sp>
        <p:nvSpPr>
          <p:cNvPr id="29" name="A4_105"/>
          <p:cNvSpPr txBox="1"/>
          <p:nvPr/>
        </p:nvSpPr>
        <p:spPr>
          <a:xfrm>
            <a:off x="9244584" y="2788920"/>
            <a:ext cx="2240280" cy="685800"/>
          </a:xfrm>
          <a:prstGeom prst="rect">
            <a:avLst/>
          </a:prstGeom>
          <a:noFill/>
          <a:ln/>
        </p:spPr>
        <p:txBody>
          <a:bodyPr wrap="square" lIns="0" tIns="0" rIns="0" bIns="0" rtlCol="0" anchor="ctr"/>
          <a:lstStyle/>
          <a:p>
            <a:pPr marL="0" indent="0" algn="ctr">
              <a:buNone/>
            </a:pPr>
            <a:r>
              <a:rPr lang="en-US" sz="1600" b="1" dirty="0">
                <a:solidFill>
                  <a:schemeClr val="tx2"/>
                </a:solidFill>
              </a:rPr>
              <a:t>On corrige « au feeling »</a:t>
            </a:r>
            <a:endParaRPr lang="en-US" sz="1600" dirty="0"/>
          </a:p>
        </p:txBody>
      </p:sp>
      <p:sp>
        <p:nvSpPr>
          <p:cNvPr id="30" name="A4_106"/>
          <p:cNvSpPr txBox="1"/>
          <p:nvPr/>
        </p:nvSpPr>
        <p:spPr>
          <a:xfrm>
            <a:off x="9244584" y="3474720"/>
            <a:ext cx="2240280" cy="594360"/>
          </a:xfrm>
          <a:prstGeom prst="rect">
            <a:avLst/>
          </a:prstGeom>
          <a:noFill/>
          <a:ln/>
        </p:spPr>
        <p:txBody>
          <a:bodyPr wrap="square" lIns="0" tIns="0" rIns="0" bIns="0" rtlCol="0" anchor="t"/>
          <a:lstStyle/>
          <a:p>
            <a:pPr marL="0" indent="0" algn="ctr">
              <a:buNone/>
            </a:pPr>
            <a:r>
              <a:rPr lang="en-US" sz="1300" dirty="0">
                <a:solidFill>
                  <a:srgbClr val="5B6B7F"/>
                </a:solidFill>
              </a:rPr>
              <a:t>selon l'expérience de chacun</a:t>
            </a:r>
            <a:endParaRPr lang="en-US" sz="1300" dirty="0"/>
          </a:p>
        </p:txBody>
      </p:sp>
      <p:sp>
        <p:nvSpPr>
          <p:cNvPr id="31" name="A5_107"/>
          <p:cNvSpPr/>
          <p:nvPr/>
        </p:nvSpPr>
        <p:spPr>
          <a:xfrm>
            <a:off x="548640" y="4617720"/>
            <a:ext cx="11091672" cy="1234440"/>
          </a:xfrm>
          <a:prstGeom prst="roundRect">
            <a:avLst>
              <a:gd name="adj" fmla="val 8889"/>
            </a:avLst>
          </a:prstGeom>
          <a:solidFill>
            <a:srgbClr val="0B1F3A"/>
          </a:solidFill>
          <a:ln w="12700">
            <a:solidFill>
              <a:srgbClr val="FFFFFF"/>
            </a:solidFill>
            <a:prstDash val="solid"/>
          </a:ln>
        </p:spPr>
      </p:sp>
      <p:pic>
        <p:nvPicPr>
          <p:cNvPr id="32" name="A5_108" descr="preencoded.png"/>
          <p:cNvPicPr>
            <a:picLocks noChangeAspect="1"/>
          </p:cNvPicPr>
          <p:nvPr/>
        </p:nvPicPr>
        <p:blipFill>
          <a:blip r:embed="rId8"/>
          <a:stretch>
            <a:fillRect/>
          </a:stretch>
        </p:blipFill>
        <p:spPr>
          <a:xfrm>
            <a:off x="914400" y="4910328"/>
            <a:ext cx="640080" cy="640080"/>
          </a:xfrm>
          <a:prstGeom prst="rect">
            <a:avLst/>
          </a:prstGeom>
        </p:spPr>
      </p:pic>
      <p:sp>
        <p:nvSpPr>
          <p:cNvPr id="33" name="A5_109"/>
          <p:cNvSpPr txBox="1"/>
          <p:nvPr/>
        </p:nvSpPr>
        <p:spPr>
          <a:xfrm>
            <a:off x="1828800" y="4617720"/>
            <a:ext cx="9509760" cy="1234440"/>
          </a:xfrm>
          <a:prstGeom prst="rect">
            <a:avLst/>
          </a:prstGeom>
          <a:noFill/>
          <a:ln/>
        </p:spPr>
        <p:txBody>
          <a:bodyPr wrap="square" lIns="0" tIns="0" rIns="0" bIns="0" rtlCol="0" anchor="ctr"/>
          <a:lstStyle/>
          <a:p>
            <a:pPr marL="0" indent="0">
              <a:buNone/>
            </a:pPr>
            <a:r>
              <a:rPr lang="en-US" sz="2000" b="1" dirty="0">
                <a:solidFill>
                  <a:srgbClr val="FFFFFF"/>
                </a:solidFill>
              </a:rPr>
              <a:t>Résultat : </a:t>
            </a:r>
            <a:r>
              <a:rPr lang="en-US" sz="2000" dirty="0">
                <a:solidFill>
                  <a:srgbClr val="FFFFFF"/>
                </a:solidFill>
              </a:rPr>
              <a:t>des heures perdues… et un savoir concentré chez quelques experts.</a:t>
            </a:r>
            <a:endParaRPr lang="en-US" sz="2000" dirty="0"/>
          </a:p>
        </p:txBody>
      </p:sp>
      <p:sp>
        <p:nvSpPr>
          <p:cNvPr id="34"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6</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23" fill="hold">
                            <p:stCondLst>
                              <p:cond delay="900"/>
                            </p:stCondLst>
                            <p:childTnLst>
                              <p:par>
                                <p:cTn id="24" presetID="10"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childTnLst>
                          </p:cTn>
                        </p:par>
                        <p:par>
                          <p:cTn id="45" fill="hold">
                            <p:stCondLst>
                              <p:cond delay="1600"/>
                            </p:stCondLst>
                            <p:childTnLst>
                              <p:par>
                                <p:cTn id="46" presetID="10" presetClass="entr" presetSubtype="0" fill="hold"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childTnLst>
                          </p:cTn>
                        </p:par>
                        <p:par>
                          <p:cTn id="67" fill="hold">
                            <p:stCondLst>
                              <p:cond delay="2300"/>
                            </p:stCondLst>
                            <p:childTnLst>
                              <p:par>
                                <p:cTn id="68" presetID="10" presetClass="entr" presetSubtype="0" fill="hold"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childTnLst>
                          </p:cTn>
                        </p:par>
                        <p:par>
                          <p:cTn id="89" fill="hold">
                            <p:stCondLst>
                              <p:cond delay="3000"/>
                            </p:stCondLst>
                            <p:childTnLst>
                              <p:par>
                                <p:cTn id="90" presetID="10" presetClass="entr" presetSubtype="0" fill="hold" grpId="0" nodeType="after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50"/>
                                        <p:tgtEl>
                                          <p:spTgt spid="31"/>
                                        </p:tgtEl>
                                      </p:cBhvr>
                                    </p:animEffect>
                                  </p:childTnLst>
                                </p:cTn>
                              </p:par>
                              <p:par>
                                <p:cTn id="93" presetID="10" presetClass="entr" presetSubtype="0"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4" grpId="0" animBg="1"/>
      <p:bldP spid="15" grpId="0" animBg="1"/>
      <p:bldP spid="16" grpId="0" animBg="1"/>
      <p:bldP spid="18" grpId="0" animBg="1"/>
      <p:bldP spid="19" grpId="0" animBg="1"/>
      <p:bldP spid="21" grpId="0" animBg="1"/>
      <p:bldP spid="22" grpId="0" animBg="1"/>
      <p:bldP spid="23" grpId="0" animBg="1"/>
      <p:bldP spid="25" grpId="0" animBg="1"/>
      <p:bldP spid="26" grpId="0" animBg="1"/>
      <p:bldP spid="28" grpId="0" animBg="1"/>
      <p:bldP spid="29" grpId="0" animBg="1"/>
      <p:bldP spid="30" grpId="0" animBg="1"/>
      <p:bldP spid="31"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Ce que cela coûte à l'équipe</a:t>
            </a:r>
            <a:endParaRPr lang="en-US" sz="3000" dirty="0"/>
          </a:p>
        </p:txBody>
      </p:sp>
      <p:sp>
        <p:nvSpPr>
          <p:cNvPr id="3" name="o_110"/>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CRITIQUE DE L'EXISTANT</a:t>
            </a:r>
            <a:endParaRPr lang="en-US" sz="1100" dirty="0"/>
          </a:p>
        </p:txBody>
      </p:sp>
      <p:sp>
        <p:nvSpPr>
          <p:cNvPr id="4" name="A1_111"/>
          <p:cNvSpPr/>
          <p:nvPr/>
        </p:nvSpPr>
        <p:spPr>
          <a:xfrm>
            <a:off x="548640" y="1417320"/>
            <a:ext cx="2560320" cy="2240280"/>
          </a:xfrm>
          <a:prstGeom prst="roundRect">
            <a:avLst>
              <a:gd name="adj" fmla="val 4898"/>
            </a:avLst>
          </a:prstGeom>
          <a:solidFill>
            <a:srgbClr val="FFFFFF"/>
          </a:solidFill>
          <a:ln w="12700">
            <a:solidFill>
              <a:srgbClr val="F3C9C7"/>
            </a:solidFill>
            <a:prstDash val="solid"/>
          </a:ln>
          <a:effectLst>
            <a:outerShdw blurRad="101600" dist="25400" dir="5400000" algn="bl" rotWithShape="0">
              <a:srgbClr val="0B1F3A">
                <a:alpha val="12000"/>
              </a:srgbClr>
            </a:outerShdw>
          </a:effectLst>
        </p:spPr>
      </p:sp>
      <p:sp>
        <p:nvSpPr>
          <p:cNvPr id="5" name="A1_112"/>
          <p:cNvSpPr/>
          <p:nvPr/>
        </p:nvSpPr>
        <p:spPr>
          <a:xfrm>
            <a:off x="1417320" y="1645920"/>
            <a:ext cx="822960" cy="822960"/>
          </a:xfrm>
          <a:prstGeom prst="ellipse">
            <a:avLst/>
          </a:prstGeom>
          <a:solidFill>
            <a:srgbClr val="FDECEC"/>
          </a:solidFill>
          <a:ln w="12700">
            <a:solidFill>
              <a:srgbClr val="FDECEC"/>
            </a:solidFill>
            <a:prstDash val="solid"/>
          </a:ln>
        </p:spPr>
      </p:sp>
      <p:pic>
        <p:nvPicPr>
          <p:cNvPr id="6" name="A1_113" descr="FaLayerGroup"/>
          <p:cNvPicPr>
            <a:picLocks noChangeAspect="1"/>
          </p:cNvPicPr>
          <p:nvPr/>
        </p:nvPicPr>
        <p:blipFill>
          <a:blip r:embed="rId3"/>
          <a:stretch>
            <a:fillRect/>
          </a:stretch>
        </p:blipFill>
        <p:spPr>
          <a:xfrm>
            <a:off x="1623060" y="1851660"/>
            <a:ext cx="411480" cy="411480"/>
          </a:xfrm>
          <a:prstGeom prst="rect">
            <a:avLst/>
          </a:prstGeom>
        </p:spPr>
      </p:pic>
      <p:sp>
        <p:nvSpPr>
          <p:cNvPr id="7" name="A1_114"/>
          <p:cNvSpPr txBox="1"/>
          <p:nvPr/>
        </p:nvSpPr>
        <p:spPr>
          <a:xfrm>
            <a:off x="685800" y="2606040"/>
            <a:ext cx="2286000" cy="411480"/>
          </a:xfrm>
          <a:prstGeom prst="rect">
            <a:avLst/>
          </a:prstGeom>
          <a:noFill/>
          <a:ln/>
        </p:spPr>
        <p:txBody>
          <a:bodyPr wrap="square" lIns="0" tIns="0" rIns="0" bIns="0" rtlCol="0" anchor="t"/>
          <a:lstStyle/>
          <a:p>
            <a:pPr marL="0" indent="0" algn="ctr">
              <a:buNone/>
            </a:pPr>
            <a:r>
              <a:rPr lang="en-US" sz="1600" b="1" dirty="0">
                <a:solidFill>
                  <a:schemeClr val="tx2"/>
                </a:solidFill>
              </a:rPr>
              <a:t>Informations éparpillées</a:t>
            </a:r>
            <a:endParaRPr lang="en-US" sz="1600" dirty="0"/>
          </a:p>
        </p:txBody>
      </p:sp>
      <p:sp>
        <p:nvSpPr>
          <p:cNvPr id="8" name="A1_115"/>
          <p:cNvSpPr txBox="1"/>
          <p:nvPr/>
        </p:nvSpPr>
        <p:spPr>
          <a:xfrm>
            <a:off x="685800" y="3017520"/>
            <a:ext cx="2286000" cy="411480"/>
          </a:xfrm>
          <a:prstGeom prst="rect">
            <a:avLst/>
          </a:prstGeom>
          <a:noFill/>
          <a:ln/>
        </p:spPr>
        <p:txBody>
          <a:bodyPr wrap="square" lIns="0" tIns="0" rIns="0" bIns="0" rtlCol="0" anchor="t"/>
          <a:lstStyle/>
          <a:p>
            <a:pPr marL="0" indent="0" algn="ctr">
              <a:buNone/>
            </a:pPr>
            <a:r>
              <a:rPr lang="en-US" sz="1300" dirty="0">
                <a:solidFill>
                  <a:srgbClr val="5B6B7F"/>
                </a:solidFill>
              </a:rPr>
              <a:t>aucune vue d'ensemble</a:t>
            </a:r>
            <a:endParaRPr lang="en-US" sz="1300" dirty="0"/>
          </a:p>
        </p:txBody>
      </p:sp>
      <p:sp>
        <p:nvSpPr>
          <p:cNvPr id="9" name="A2_116"/>
          <p:cNvSpPr/>
          <p:nvPr/>
        </p:nvSpPr>
        <p:spPr>
          <a:xfrm>
            <a:off x="3392424" y="1417320"/>
            <a:ext cx="2560320" cy="2240280"/>
          </a:xfrm>
          <a:prstGeom prst="roundRect">
            <a:avLst>
              <a:gd name="adj" fmla="val 4898"/>
            </a:avLst>
          </a:prstGeom>
          <a:solidFill>
            <a:srgbClr val="FFFFFF"/>
          </a:solidFill>
          <a:ln w="12700">
            <a:solidFill>
              <a:srgbClr val="F3C9C7"/>
            </a:solidFill>
            <a:prstDash val="solid"/>
          </a:ln>
          <a:effectLst>
            <a:outerShdw blurRad="101600" dist="25400" dir="5400000" algn="bl" rotWithShape="0">
              <a:srgbClr val="0B1F3A">
                <a:alpha val="12000"/>
              </a:srgbClr>
            </a:outerShdw>
          </a:effectLst>
        </p:spPr>
      </p:sp>
      <p:sp>
        <p:nvSpPr>
          <p:cNvPr id="10" name="A2_117"/>
          <p:cNvSpPr/>
          <p:nvPr/>
        </p:nvSpPr>
        <p:spPr>
          <a:xfrm>
            <a:off x="4261104" y="1645920"/>
            <a:ext cx="822960" cy="822960"/>
          </a:xfrm>
          <a:prstGeom prst="ellipse">
            <a:avLst/>
          </a:prstGeom>
          <a:solidFill>
            <a:srgbClr val="FDECEC"/>
          </a:solidFill>
          <a:ln w="12700">
            <a:solidFill>
              <a:srgbClr val="FDECEC"/>
            </a:solidFill>
            <a:prstDash val="solid"/>
          </a:ln>
        </p:spPr>
      </p:sp>
      <p:pic>
        <p:nvPicPr>
          <p:cNvPr id="11" name="A2_118" descr="FaClock"/>
          <p:cNvPicPr>
            <a:picLocks noChangeAspect="1"/>
          </p:cNvPicPr>
          <p:nvPr/>
        </p:nvPicPr>
        <p:blipFill>
          <a:blip r:embed="rId4"/>
          <a:stretch>
            <a:fillRect/>
          </a:stretch>
        </p:blipFill>
        <p:spPr>
          <a:xfrm>
            <a:off x="4466844" y="1851660"/>
            <a:ext cx="411480" cy="411480"/>
          </a:xfrm>
          <a:prstGeom prst="rect">
            <a:avLst/>
          </a:prstGeom>
        </p:spPr>
      </p:pic>
      <p:sp>
        <p:nvSpPr>
          <p:cNvPr id="12" name="A2_119"/>
          <p:cNvSpPr txBox="1"/>
          <p:nvPr/>
        </p:nvSpPr>
        <p:spPr>
          <a:xfrm>
            <a:off x="3529584" y="2606040"/>
            <a:ext cx="2286000" cy="411480"/>
          </a:xfrm>
          <a:prstGeom prst="rect">
            <a:avLst/>
          </a:prstGeom>
          <a:noFill/>
          <a:ln/>
        </p:spPr>
        <p:txBody>
          <a:bodyPr wrap="square" lIns="0" tIns="0" rIns="0" bIns="0" rtlCol="0" anchor="t"/>
          <a:lstStyle/>
          <a:p>
            <a:pPr marL="0" indent="0" algn="ctr">
              <a:buNone/>
            </a:pPr>
            <a:r>
              <a:rPr lang="en-US" sz="1600" b="1" dirty="0">
                <a:solidFill>
                  <a:schemeClr val="tx2"/>
                </a:solidFill>
              </a:rPr>
              <a:t>Diagnostic lent</a:t>
            </a:r>
            <a:endParaRPr lang="en-US" sz="1600" dirty="0"/>
          </a:p>
        </p:txBody>
      </p:sp>
      <p:sp>
        <p:nvSpPr>
          <p:cNvPr id="13" name="A2_120"/>
          <p:cNvSpPr txBox="1"/>
          <p:nvPr/>
        </p:nvSpPr>
        <p:spPr>
          <a:xfrm>
            <a:off x="3529584" y="3017520"/>
            <a:ext cx="2286000" cy="411480"/>
          </a:xfrm>
          <a:prstGeom prst="rect">
            <a:avLst/>
          </a:prstGeom>
          <a:noFill/>
          <a:ln/>
        </p:spPr>
        <p:txBody>
          <a:bodyPr wrap="square" lIns="0" tIns="0" rIns="0" bIns="0" rtlCol="0" anchor="t"/>
          <a:lstStyle/>
          <a:p>
            <a:pPr marL="0" indent="0" algn="ctr">
              <a:buNone/>
            </a:pPr>
            <a:r>
              <a:rPr lang="en-US" sz="1300" dirty="0">
                <a:solidFill>
                  <a:srgbClr val="5B6B7F"/>
                </a:solidFill>
              </a:rPr>
              <a:t>tout se fait à la main</a:t>
            </a:r>
            <a:endParaRPr lang="en-US" sz="1300" dirty="0"/>
          </a:p>
        </p:txBody>
      </p:sp>
      <p:sp>
        <p:nvSpPr>
          <p:cNvPr id="14" name="A3_121"/>
          <p:cNvSpPr/>
          <p:nvPr/>
        </p:nvSpPr>
        <p:spPr>
          <a:xfrm>
            <a:off x="6236208" y="1417320"/>
            <a:ext cx="2560320" cy="2240280"/>
          </a:xfrm>
          <a:prstGeom prst="roundRect">
            <a:avLst>
              <a:gd name="adj" fmla="val 4898"/>
            </a:avLst>
          </a:prstGeom>
          <a:solidFill>
            <a:srgbClr val="FFFFFF"/>
          </a:solidFill>
          <a:ln w="12700">
            <a:solidFill>
              <a:srgbClr val="F3C9C7"/>
            </a:solidFill>
            <a:prstDash val="solid"/>
          </a:ln>
          <a:effectLst>
            <a:outerShdw blurRad="101600" dist="25400" dir="5400000" algn="bl" rotWithShape="0">
              <a:srgbClr val="0B1F3A">
                <a:alpha val="12000"/>
              </a:srgbClr>
            </a:outerShdw>
          </a:effectLst>
        </p:spPr>
      </p:sp>
      <p:sp>
        <p:nvSpPr>
          <p:cNvPr id="15" name="A3_122"/>
          <p:cNvSpPr/>
          <p:nvPr/>
        </p:nvSpPr>
        <p:spPr>
          <a:xfrm>
            <a:off x="7104888" y="1645920"/>
            <a:ext cx="822960" cy="822960"/>
          </a:xfrm>
          <a:prstGeom prst="ellipse">
            <a:avLst/>
          </a:prstGeom>
          <a:solidFill>
            <a:srgbClr val="FDECEC"/>
          </a:solidFill>
          <a:ln w="12700">
            <a:solidFill>
              <a:srgbClr val="FDECEC"/>
            </a:solidFill>
            <a:prstDash val="solid"/>
          </a:ln>
        </p:spPr>
      </p:sp>
      <p:pic>
        <p:nvPicPr>
          <p:cNvPr id="16" name="A3_123" descr="FaListOl"/>
          <p:cNvPicPr>
            <a:picLocks noChangeAspect="1"/>
          </p:cNvPicPr>
          <p:nvPr/>
        </p:nvPicPr>
        <p:blipFill>
          <a:blip r:embed="rId5"/>
          <a:stretch>
            <a:fillRect/>
          </a:stretch>
        </p:blipFill>
        <p:spPr>
          <a:xfrm>
            <a:off x="7310628" y="1851660"/>
            <a:ext cx="411480" cy="411480"/>
          </a:xfrm>
          <a:prstGeom prst="rect">
            <a:avLst/>
          </a:prstGeom>
        </p:spPr>
      </p:pic>
      <p:sp>
        <p:nvSpPr>
          <p:cNvPr id="17" name="A3_124"/>
          <p:cNvSpPr txBox="1"/>
          <p:nvPr/>
        </p:nvSpPr>
        <p:spPr>
          <a:xfrm>
            <a:off x="6373368" y="2606040"/>
            <a:ext cx="2286000" cy="411480"/>
          </a:xfrm>
          <a:prstGeom prst="rect">
            <a:avLst/>
          </a:prstGeom>
          <a:noFill/>
          <a:ln/>
        </p:spPr>
        <p:txBody>
          <a:bodyPr wrap="square" lIns="0" tIns="0" rIns="0" bIns="0" rtlCol="0" anchor="t"/>
          <a:lstStyle/>
          <a:p>
            <a:pPr marL="0" indent="0" algn="ctr">
              <a:buNone/>
            </a:pPr>
            <a:r>
              <a:rPr lang="en-US" sz="1600" b="1" dirty="0">
                <a:solidFill>
                  <a:schemeClr val="tx2"/>
                </a:solidFill>
              </a:rPr>
              <a:t>Alertes sans priorité</a:t>
            </a:r>
            <a:endParaRPr lang="en-US" sz="1600" dirty="0"/>
          </a:p>
        </p:txBody>
      </p:sp>
      <p:sp>
        <p:nvSpPr>
          <p:cNvPr id="18" name="A3_125"/>
          <p:cNvSpPr txBox="1"/>
          <p:nvPr/>
        </p:nvSpPr>
        <p:spPr>
          <a:xfrm>
            <a:off x="6373368" y="3017520"/>
            <a:ext cx="2286000" cy="411480"/>
          </a:xfrm>
          <a:prstGeom prst="rect">
            <a:avLst/>
          </a:prstGeom>
          <a:noFill/>
          <a:ln/>
        </p:spPr>
        <p:txBody>
          <a:bodyPr wrap="square" lIns="0" tIns="0" rIns="0" bIns="0" rtlCol="0" anchor="t"/>
          <a:lstStyle/>
          <a:p>
            <a:pPr marL="0" indent="0" algn="ctr">
              <a:buNone/>
            </a:pPr>
            <a:r>
              <a:rPr lang="en-US" sz="1300" dirty="0">
                <a:solidFill>
                  <a:srgbClr val="5B6B7F"/>
                </a:solidFill>
              </a:rPr>
              <a:t>par où commencer ?</a:t>
            </a:r>
            <a:endParaRPr lang="en-US" sz="1300" dirty="0"/>
          </a:p>
        </p:txBody>
      </p:sp>
      <p:sp>
        <p:nvSpPr>
          <p:cNvPr id="19" name="A4_126"/>
          <p:cNvSpPr/>
          <p:nvPr/>
        </p:nvSpPr>
        <p:spPr>
          <a:xfrm>
            <a:off x="9079992" y="1417320"/>
            <a:ext cx="2560320" cy="2240280"/>
          </a:xfrm>
          <a:prstGeom prst="roundRect">
            <a:avLst>
              <a:gd name="adj" fmla="val 4898"/>
            </a:avLst>
          </a:prstGeom>
          <a:solidFill>
            <a:srgbClr val="FFFFFF"/>
          </a:solidFill>
          <a:ln w="12700">
            <a:solidFill>
              <a:srgbClr val="F3C9C7"/>
            </a:solidFill>
            <a:prstDash val="solid"/>
          </a:ln>
          <a:effectLst>
            <a:outerShdw blurRad="101600" dist="25400" dir="5400000" algn="bl" rotWithShape="0">
              <a:srgbClr val="0B1F3A">
                <a:alpha val="12000"/>
              </a:srgbClr>
            </a:outerShdw>
          </a:effectLst>
        </p:spPr>
      </p:sp>
      <p:sp>
        <p:nvSpPr>
          <p:cNvPr id="20" name="A4_127"/>
          <p:cNvSpPr/>
          <p:nvPr/>
        </p:nvSpPr>
        <p:spPr>
          <a:xfrm>
            <a:off x="9948672" y="1645920"/>
            <a:ext cx="822960" cy="822960"/>
          </a:xfrm>
          <a:prstGeom prst="ellipse">
            <a:avLst/>
          </a:prstGeom>
          <a:solidFill>
            <a:srgbClr val="FDECEC"/>
          </a:solidFill>
          <a:ln w="12700">
            <a:solidFill>
              <a:srgbClr val="FDECEC"/>
            </a:solidFill>
            <a:prstDash val="solid"/>
          </a:ln>
        </p:spPr>
      </p:sp>
      <p:pic>
        <p:nvPicPr>
          <p:cNvPr id="21" name="A4_128" descr="FaUserTie"/>
          <p:cNvPicPr>
            <a:picLocks noChangeAspect="1"/>
          </p:cNvPicPr>
          <p:nvPr/>
        </p:nvPicPr>
        <p:blipFill>
          <a:blip r:embed="rId6"/>
          <a:stretch>
            <a:fillRect/>
          </a:stretch>
        </p:blipFill>
        <p:spPr>
          <a:xfrm>
            <a:off x="10154412" y="1851660"/>
            <a:ext cx="411480" cy="411480"/>
          </a:xfrm>
          <a:prstGeom prst="rect">
            <a:avLst/>
          </a:prstGeom>
        </p:spPr>
      </p:pic>
      <p:sp>
        <p:nvSpPr>
          <p:cNvPr id="22" name="A4_129"/>
          <p:cNvSpPr txBox="1"/>
          <p:nvPr/>
        </p:nvSpPr>
        <p:spPr>
          <a:xfrm>
            <a:off x="9217152" y="2606040"/>
            <a:ext cx="2286000" cy="411480"/>
          </a:xfrm>
          <a:prstGeom prst="rect">
            <a:avLst/>
          </a:prstGeom>
          <a:noFill/>
          <a:ln/>
        </p:spPr>
        <p:txBody>
          <a:bodyPr wrap="square" lIns="0" tIns="0" rIns="0" bIns="0" rtlCol="0" anchor="t"/>
          <a:lstStyle/>
          <a:p>
            <a:pPr marL="0" indent="0" algn="ctr">
              <a:buNone/>
            </a:pPr>
            <a:r>
              <a:rPr lang="en-US" sz="1600" b="1" dirty="0">
                <a:solidFill>
                  <a:schemeClr val="tx2"/>
                </a:solidFill>
              </a:rPr>
              <a:t>Dépendance aux experts</a:t>
            </a:r>
            <a:endParaRPr lang="en-US" sz="1600" dirty="0"/>
          </a:p>
        </p:txBody>
      </p:sp>
      <p:sp>
        <p:nvSpPr>
          <p:cNvPr id="23" name="A4_130"/>
          <p:cNvSpPr txBox="1"/>
          <p:nvPr/>
        </p:nvSpPr>
        <p:spPr>
          <a:xfrm>
            <a:off x="9217152" y="3017520"/>
            <a:ext cx="2286000" cy="411480"/>
          </a:xfrm>
          <a:prstGeom prst="rect">
            <a:avLst/>
          </a:prstGeom>
          <a:noFill/>
          <a:ln/>
        </p:spPr>
        <p:txBody>
          <a:bodyPr wrap="square" lIns="0" tIns="0" rIns="0" bIns="0" rtlCol="0" anchor="t"/>
          <a:lstStyle/>
          <a:p>
            <a:pPr marL="0" indent="0" algn="ctr">
              <a:buNone/>
            </a:pPr>
            <a:r>
              <a:rPr lang="en-US" sz="1300" dirty="0">
                <a:solidFill>
                  <a:srgbClr val="5B6B7F"/>
                </a:solidFill>
              </a:rPr>
              <a:t>le savoir n'est pas partagé</a:t>
            </a:r>
            <a:endParaRPr lang="en-US" sz="1300" dirty="0"/>
          </a:p>
        </p:txBody>
      </p:sp>
      <p:sp>
        <p:nvSpPr>
          <p:cNvPr id="24" name="A5_131"/>
          <p:cNvSpPr txBox="1"/>
          <p:nvPr/>
        </p:nvSpPr>
        <p:spPr>
          <a:xfrm>
            <a:off x="548640" y="4206240"/>
            <a:ext cx="4572000" cy="365760"/>
          </a:xfrm>
          <a:prstGeom prst="rect">
            <a:avLst/>
          </a:prstGeom>
          <a:noFill/>
          <a:ln/>
        </p:spPr>
        <p:txBody>
          <a:bodyPr wrap="square" lIns="0" tIns="0" rIns="0" bIns="0" rtlCol="0" anchor="t"/>
          <a:lstStyle/>
          <a:p>
            <a:pPr marL="0" indent="0">
              <a:buNone/>
            </a:pPr>
            <a:r>
              <a:rPr lang="en-US" sz="1500" b="1" dirty="0">
                <a:solidFill>
                  <a:schemeClr val="accent2"/>
                </a:solidFill>
              </a:rPr>
              <a:t>L'effet domino</a:t>
            </a:r>
            <a:endParaRPr lang="en-US" sz="1500" dirty="0"/>
          </a:p>
        </p:txBody>
      </p:sp>
      <p:sp>
        <p:nvSpPr>
          <p:cNvPr id="25" name="A5_132"/>
          <p:cNvSpPr/>
          <p:nvPr/>
        </p:nvSpPr>
        <p:spPr>
          <a:xfrm>
            <a:off x="548640" y="4663440"/>
            <a:ext cx="3291840" cy="1097280"/>
          </a:xfrm>
          <a:prstGeom prst="roundRect">
            <a:avLst>
              <a:gd name="adj" fmla="val 10000"/>
            </a:avLst>
          </a:prstGeom>
          <a:solidFill>
            <a:srgbClr val="FDECEC"/>
          </a:solidFill>
          <a:ln w="12700">
            <a:solidFill>
              <a:srgbClr val="FFFFFF"/>
            </a:solidFill>
            <a:prstDash val="solid"/>
          </a:ln>
        </p:spPr>
      </p:sp>
      <p:pic>
        <p:nvPicPr>
          <p:cNvPr id="26" name="A5_133" descr="preencoded.png"/>
          <p:cNvPicPr>
            <a:picLocks noChangeAspect="1"/>
          </p:cNvPicPr>
          <p:nvPr/>
        </p:nvPicPr>
        <p:blipFill>
          <a:blip r:embed="rId7"/>
          <a:stretch>
            <a:fillRect/>
          </a:stretch>
        </p:blipFill>
        <p:spPr>
          <a:xfrm>
            <a:off x="777240" y="4892040"/>
            <a:ext cx="640080" cy="640080"/>
          </a:xfrm>
          <a:prstGeom prst="rect">
            <a:avLst/>
          </a:prstGeom>
        </p:spPr>
      </p:pic>
      <p:sp>
        <p:nvSpPr>
          <p:cNvPr id="27" name="A5_134"/>
          <p:cNvSpPr txBox="1"/>
          <p:nvPr/>
        </p:nvSpPr>
        <p:spPr>
          <a:xfrm>
            <a:off x="1508760" y="4663440"/>
            <a:ext cx="2240280" cy="1097280"/>
          </a:xfrm>
          <a:prstGeom prst="rect">
            <a:avLst/>
          </a:prstGeom>
          <a:noFill/>
          <a:ln/>
        </p:spPr>
        <p:txBody>
          <a:bodyPr wrap="square" lIns="0" tIns="0" rIns="0" bIns="0" rtlCol="0" anchor="ctr"/>
          <a:lstStyle/>
          <a:p>
            <a:pPr marL="0" indent="0">
              <a:buNone/>
            </a:pPr>
            <a:r>
              <a:rPr lang="en-US" sz="1600" b="1" dirty="0">
                <a:solidFill>
                  <a:schemeClr val="tx2"/>
                </a:solidFill>
              </a:rPr>
              <a:t>Temps de diagnostic</a:t>
            </a:r>
            <a:endParaRPr lang="en-US" sz="1600" dirty="0"/>
          </a:p>
        </p:txBody>
      </p:sp>
      <p:pic>
        <p:nvPicPr>
          <p:cNvPr id="28" name="A6_135" descr="preencoded.png"/>
          <p:cNvPicPr>
            <a:picLocks noChangeAspect="1"/>
          </p:cNvPicPr>
          <p:nvPr/>
        </p:nvPicPr>
        <p:blipFill>
          <a:blip r:embed="rId8"/>
          <a:stretch>
            <a:fillRect/>
          </a:stretch>
        </p:blipFill>
        <p:spPr>
          <a:xfrm>
            <a:off x="3959352" y="5047488"/>
            <a:ext cx="329184" cy="329184"/>
          </a:xfrm>
          <a:prstGeom prst="rect">
            <a:avLst/>
          </a:prstGeom>
        </p:spPr>
      </p:pic>
      <p:sp>
        <p:nvSpPr>
          <p:cNvPr id="29" name="A6_136"/>
          <p:cNvSpPr/>
          <p:nvPr/>
        </p:nvSpPr>
        <p:spPr>
          <a:xfrm>
            <a:off x="4389120" y="4663440"/>
            <a:ext cx="3291840" cy="1097280"/>
          </a:xfrm>
          <a:prstGeom prst="roundRect">
            <a:avLst>
              <a:gd name="adj" fmla="val 10000"/>
            </a:avLst>
          </a:prstGeom>
          <a:solidFill>
            <a:srgbClr val="FDECEC"/>
          </a:solidFill>
          <a:ln w="12700">
            <a:solidFill>
              <a:srgbClr val="FFFFFF"/>
            </a:solidFill>
            <a:prstDash val="solid"/>
          </a:ln>
        </p:spPr>
      </p:sp>
      <p:pic>
        <p:nvPicPr>
          <p:cNvPr id="30" name="A6_137" descr="preencoded.png"/>
          <p:cNvPicPr>
            <a:picLocks noChangeAspect="1"/>
          </p:cNvPicPr>
          <p:nvPr/>
        </p:nvPicPr>
        <p:blipFill>
          <a:blip r:embed="rId7"/>
          <a:stretch>
            <a:fillRect/>
          </a:stretch>
        </p:blipFill>
        <p:spPr>
          <a:xfrm>
            <a:off x="4617720" y="4892040"/>
            <a:ext cx="640080" cy="640080"/>
          </a:xfrm>
          <a:prstGeom prst="rect">
            <a:avLst/>
          </a:prstGeom>
        </p:spPr>
      </p:pic>
      <p:sp>
        <p:nvSpPr>
          <p:cNvPr id="31" name="A6_138"/>
          <p:cNvSpPr txBox="1"/>
          <p:nvPr/>
        </p:nvSpPr>
        <p:spPr>
          <a:xfrm>
            <a:off x="5349240" y="4663440"/>
            <a:ext cx="2240280" cy="1097280"/>
          </a:xfrm>
          <a:prstGeom prst="rect">
            <a:avLst/>
          </a:prstGeom>
          <a:noFill/>
          <a:ln/>
        </p:spPr>
        <p:txBody>
          <a:bodyPr wrap="square" lIns="0" tIns="0" rIns="0" bIns="0" rtlCol="0" anchor="ctr"/>
          <a:lstStyle/>
          <a:p>
            <a:pPr marL="0" indent="0">
              <a:buNone/>
            </a:pPr>
            <a:r>
              <a:rPr lang="en-US" sz="1600" b="1" dirty="0">
                <a:solidFill>
                  <a:schemeClr val="tx2"/>
                </a:solidFill>
              </a:rPr>
              <a:t>Risque d'erreurs en production</a:t>
            </a:r>
            <a:endParaRPr lang="en-US" sz="1600" dirty="0"/>
          </a:p>
        </p:txBody>
      </p:sp>
      <p:pic>
        <p:nvPicPr>
          <p:cNvPr id="32" name="A7_139" descr="preencoded.png"/>
          <p:cNvPicPr>
            <a:picLocks noChangeAspect="1"/>
          </p:cNvPicPr>
          <p:nvPr/>
        </p:nvPicPr>
        <p:blipFill>
          <a:blip r:embed="rId8"/>
          <a:stretch>
            <a:fillRect/>
          </a:stretch>
        </p:blipFill>
        <p:spPr>
          <a:xfrm>
            <a:off x="7799832" y="5047488"/>
            <a:ext cx="329184" cy="329184"/>
          </a:xfrm>
          <a:prstGeom prst="rect">
            <a:avLst/>
          </a:prstGeom>
        </p:spPr>
      </p:pic>
      <p:sp>
        <p:nvSpPr>
          <p:cNvPr id="33" name="A7_140"/>
          <p:cNvSpPr/>
          <p:nvPr/>
        </p:nvSpPr>
        <p:spPr>
          <a:xfrm>
            <a:off x="8229600" y="4663440"/>
            <a:ext cx="3291840" cy="1097280"/>
          </a:xfrm>
          <a:prstGeom prst="roundRect">
            <a:avLst>
              <a:gd name="adj" fmla="val 10000"/>
            </a:avLst>
          </a:prstGeom>
          <a:solidFill>
            <a:srgbClr val="FDECEC"/>
          </a:solidFill>
          <a:ln w="12700">
            <a:solidFill>
              <a:srgbClr val="FFFFFF"/>
            </a:solidFill>
            <a:prstDash val="solid"/>
          </a:ln>
        </p:spPr>
      </p:sp>
      <p:pic>
        <p:nvPicPr>
          <p:cNvPr id="34" name="A7_141" descr="preencoded.png"/>
          <p:cNvPicPr>
            <a:picLocks noChangeAspect="1"/>
          </p:cNvPicPr>
          <p:nvPr/>
        </p:nvPicPr>
        <p:blipFill>
          <a:blip r:embed="rId9"/>
          <a:stretch>
            <a:fillRect/>
          </a:stretch>
        </p:blipFill>
        <p:spPr>
          <a:xfrm>
            <a:off x="8458200" y="4892040"/>
            <a:ext cx="640080" cy="640080"/>
          </a:xfrm>
          <a:prstGeom prst="rect">
            <a:avLst/>
          </a:prstGeom>
        </p:spPr>
      </p:pic>
      <p:sp>
        <p:nvSpPr>
          <p:cNvPr id="35" name="A7_142"/>
          <p:cNvSpPr txBox="1"/>
          <p:nvPr/>
        </p:nvSpPr>
        <p:spPr>
          <a:xfrm>
            <a:off x="9189720" y="4663440"/>
            <a:ext cx="2240280" cy="1097280"/>
          </a:xfrm>
          <a:prstGeom prst="rect">
            <a:avLst/>
          </a:prstGeom>
          <a:noFill/>
          <a:ln/>
        </p:spPr>
        <p:txBody>
          <a:bodyPr wrap="square" lIns="0" tIns="0" rIns="0" bIns="0" rtlCol="0" anchor="ctr"/>
          <a:lstStyle/>
          <a:p>
            <a:pPr marL="0" indent="0">
              <a:buNone/>
            </a:pPr>
            <a:r>
              <a:rPr lang="en-US" sz="1600" b="1" dirty="0">
                <a:solidFill>
                  <a:schemeClr val="tx2"/>
                </a:solidFill>
              </a:rPr>
              <a:t>Qualité des livraisons</a:t>
            </a:r>
            <a:endParaRPr lang="en-US" sz="1600" dirty="0"/>
          </a:p>
        </p:txBody>
      </p:sp>
      <p:sp>
        <p:nvSpPr>
          <p:cNvPr id="36"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7</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36" fill="hold">
                            <p:stCondLst>
                              <p:cond delay="16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52" fill="hold">
                            <p:stCondLst>
                              <p:cond delay="23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childTnLst>
                          </p:cTn>
                        </p:par>
                        <p:par>
                          <p:cTn id="68" fill="hold">
                            <p:stCondLst>
                              <p:cond delay="30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5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450"/>
                                        <p:tgtEl>
                                          <p:spTgt spid="27"/>
                                        </p:tgtEl>
                                      </p:cBhvr>
                                    </p:animEffect>
                                  </p:childTnLst>
                                </p:cTn>
                              </p:par>
                            </p:childTnLst>
                          </p:cTn>
                        </p:par>
                        <p:par>
                          <p:cTn id="81" fill="hold">
                            <p:stCondLst>
                              <p:cond delay="3700"/>
                            </p:stCondLst>
                            <p:childTnLst>
                              <p:par>
                                <p:cTn id="82" presetID="10" presetClass="entr" presetSubtype="0" fill="hold" nodeType="after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5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5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50"/>
                                        <p:tgtEl>
                                          <p:spTgt spid="31"/>
                                        </p:tgtEl>
                                      </p:cBhvr>
                                    </p:animEffect>
                                  </p:childTnLst>
                                </p:cTn>
                              </p:par>
                            </p:childTnLst>
                          </p:cTn>
                        </p:par>
                        <p:par>
                          <p:cTn id="94" fill="hold">
                            <p:stCondLst>
                              <p:cond delay="4400"/>
                            </p:stCondLst>
                            <p:childTnLst>
                              <p:par>
                                <p:cTn id="95" presetID="10" presetClass="entr" presetSubtype="0" fill="hold" nodeType="after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9" grpId="0" animBg="1"/>
      <p:bldP spid="31" grpId="0" animBg="1"/>
      <p:bldP spid="33"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La question de départ</a:t>
            </a:r>
            <a:endParaRPr lang="en-US" sz="3000" dirty="0"/>
          </a:p>
        </p:txBody>
      </p:sp>
      <p:sp>
        <p:nvSpPr>
          <p:cNvPr id="3" name="o_143"/>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PROBLÉMATIQUE</a:t>
            </a:r>
            <a:endParaRPr lang="en-US" sz="1100" dirty="0"/>
          </a:p>
        </p:txBody>
      </p:sp>
      <p:sp>
        <p:nvSpPr>
          <p:cNvPr id="4" name="A1_144"/>
          <p:cNvSpPr/>
          <p:nvPr/>
        </p:nvSpPr>
        <p:spPr>
          <a:xfrm>
            <a:off x="1097280" y="1417320"/>
            <a:ext cx="9994392" cy="2194560"/>
          </a:xfrm>
          <a:prstGeom prst="roundRect">
            <a:avLst>
              <a:gd name="adj" fmla="val 5000"/>
            </a:avLst>
          </a:prstGeom>
          <a:solidFill>
            <a:srgbClr val="0E5CA8"/>
          </a:solidFill>
          <a:ln w="12700">
            <a:solidFill>
              <a:srgbClr val="FFFFFF"/>
            </a:solidFill>
            <a:prstDash val="solid"/>
          </a:ln>
          <a:effectLst>
            <a:outerShdw blurRad="101600" dist="25400" dir="5400000" algn="bl" rotWithShape="0">
              <a:srgbClr val="0B1F3A">
                <a:alpha val="12000"/>
              </a:srgbClr>
            </a:outerShdw>
          </a:effectLst>
        </p:spPr>
      </p:sp>
      <p:sp>
        <p:nvSpPr>
          <p:cNvPr id="5" name="A1_145"/>
          <p:cNvSpPr txBox="1"/>
          <p:nvPr/>
        </p:nvSpPr>
        <p:spPr>
          <a:xfrm>
            <a:off x="1371600" y="1417320"/>
            <a:ext cx="822960" cy="1005840"/>
          </a:xfrm>
          <a:prstGeom prst="rect">
            <a:avLst/>
          </a:prstGeom>
          <a:noFill/>
          <a:ln/>
        </p:spPr>
        <p:txBody>
          <a:bodyPr wrap="square" lIns="0" tIns="0" rIns="0" bIns="0" rtlCol="0" anchor="t"/>
          <a:lstStyle/>
          <a:p>
            <a:pPr marL="0" indent="0">
              <a:buNone/>
            </a:pPr>
            <a:r>
              <a:rPr lang="en-US" sz="7200" b="1" dirty="0">
                <a:solidFill>
                  <a:srgbClr val="7FB3E6"/>
                </a:solidFill>
                <a:latin typeface="Arial" pitchFamily="34" charset="0"/>
                <a:ea typeface="Arial" pitchFamily="34" charset="-122"/>
                <a:cs typeface="Arial" pitchFamily="34" charset="-120"/>
              </a:rPr>
              <a:t>“</a:t>
            </a:r>
            <a:endParaRPr lang="en-US" sz="7200" dirty="0"/>
          </a:p>
        </p:txBody>
      </p:sp>
      <p:sp>
        <p:nvSpPr>
          <p:cNvPr id="6" name="A1_146"/>
          <p:cNvSpPr txBox="1"/>
          <p:nvPr/>
        </p:nvSpPr>
        <p:spPr>
          <a:xfrm>
            <a:off x="2194560" y="1417320"/>
            <a:ext cx="8503920" cy="2194560"/>
          </a:xfrm>
          <a:prstGeom prst="rect">
            <a:avLst/>
          </a:prstGeom>
          <a:noFill/>
          <a:ln/>
        </p:spPr>
        <p:txBody>
          <a:bodyPr wrap="square" lIns="0" tIns="0" rIns="0" bIns="0" rtlCol="0" anchor="ctr"/>
          <a:lstStyle/>
          <a:p>
            <a:pPr marL="0" indent="0">
              <a:buNone/>
            </a:pPr>
            <a:r>
              <a:rPr lang="en-US" sz="2400" b="1" dirty="0">
                <a:solidFill>
                  <a:srgbClr val="FFFFFF"/>
                </a:solidFill>
              </a:rPr>
              <a:t>Comment aider les équipes à trouver, comprendre et corriger plus vite les incidents de leurs applications, grâce à l'intelligence artificielle ?</a:t>
            </a:r>
            <a:endParaRPr lang="en-US" sz="2400" dirty="0"/>
          </a:p>
        </p:txBody>
      </p:sp>
      <p:sp>
        <p:nvSpPr>
          <p:cNvPr id="7" name="A2_147"/>
          <p:cNvSpPr/>
          <p:nvPr/>
        </p:nvSpPr>
        <p:spPr>
          <a:xfrm>
            <a:off x="1097280" y="4114800"/>
            <a:ext cx="3108960" cy="1554480"/>
          </a:xfrm>
          <a:prstGeom prst="roundRect">
            <a:avLst>
              <a:gd name="adj" fmla="val 7059"/>
            </a:avLst>
          </a:prstGeom>
          <a:solidFill>
            <a:srgbClr val="EEF4FB"/>
          </a:solidFill>
          <a:ln w="12700">
            <a:solidFill>
              <a:srgbClr val="FFFFFF"/>
            </a:solidFill>
            <a:prstDash val="solid"/>
          </a:ln>
        </p:spPr>
      </p:sp>
      <p:sp>
        <p:nvSpPr>
          <p:cNvPr id="8" name="A2_148"/>
          <p:cNvSpPr/>
          <p:nvPr/>
        </p:nvSpPr>
        <p:spPr>
          <a:xfrm>
            <a:off x="2286000" y="4279392"/>
            <a:ext cx="731520" cy="731520"/>
          </a:xfrm>
          <a:prstGeom prst="ellipse">
            <a:avLst/>
          </a:prstGeom>
          <a:solidFill>
            <a:srgbClr val="0E5CA8"/>
          </a:solidFill>
          <a:ln w="12700">
            <a:solidFill>
              <a:srgbClr val="0E5CA8"/>
            </a:solidFill>
            <a:prstDash val="solid"/>
          </a:ln>
        </p:spPr>
      </p:sp>
      <p:pic>
        <p:nvPicPr>
          <p:cNvPr id="9" name="A2_149" descr="FaMapMarkerAlt"/>
          <p:cNvPicPr>
            <a:picLocks noChangeAspect="1"/>
          </p:cNvPicPr>
          <p:nvPr/>
        </p:nvPicPr>
        <p:blipFill>
          <a:blip r:embed="rId3"/>
          <a:stretch>
            <a:fillRect/>
          </a:stretch>
        </p:blipFill>
        <p:spPr>
          <a:xfrm>
            <a:off x="2468880" y="4462272"/>
            <a:ext cx="365760" cy="365760"/>
          </a:xfrm>
          <a:prstGeom prst="rect">
            <a:avLst/>
          </a:prstGeom>
        </p:spPr>
      </p:pic>
      <p:sp>
        <p:nvSpPr>
          <p:cNvPr id="10" name="A2_150"/>
          <p:cNvSpPr txBox="1"/>
          <p:nvPr/>
        </p:nvSpPr>
        <p:spPr>
          <a:xfrm>
            <a:off x="1188720" y="5102352"/>
            <a:ext cx="2926080" cy="411480"/>
          </a:xfrm>
          <a:prstGeom prst="rect">
            <a:avLst/>
          </a:prstGeom>
          <a:noFill/>
          <a:ln/>
        </p:spPr>
        <p:txBody>
          <a:bodyPr wrap="square" lIns="0" tIns="0" rIns="0" bIns="0" rtlCol="0" anchor="t"/>
          <a:lstStyle/>
          <a:p>
            <a:pPr marL="0" indent="0" algn="ctr">
              <a:buNone/>
            </a:pPr>
            <a:r>
              <a:rPr lang="en-US" sz="1700" b="1" dirty="0">
                <a:solidFill>
                  <a:schemeClr val="tx2"/>
                </a:solidFill>
              </a:rPr>
              <a:t>Où est le problème ?</a:t>
            </a:r>
            <a:endParaRPr lang="en-US" sz="1700" dirty="0"/>
          </a:p>
        </p:txBody>
      </p:sp>
      <p:sp>
        <p:nvSpPr>
          <p:cNvPr id="11" name="A3_151"/>
          <p:cNvSpPr/>
          <p:nvPr/>
        </p:nvSpPr>
        <p:spPr>
          <a:xfrm>
            <a:off x="4535424" y="4114800"/>
            <a:ext cx="3108960" cy="1554480"/>
          </a:xfrm>
          <a:prstGeom prst="roundRect">
            <a:avLst>
              <a:gd name="adj" fmla="val 7059"/>
            </a:avLst>
          </a:prstGeom>
          <a:solidFill>
            <a:srgbClr val="EEF4FB"/>
          </a:solidFill>
          <a:ln w="12700">
            <a:solidFill>
              <a:srgbClr val="FFFFFF"/>
            </a:solidFill>
            <a:prstDash val="solid"/>
          </a:ln>
        </p:spPr>
      </p:sp>
      <p:sp>
        <p:nvSpPr>
          <p:cNvPr id="12" name="A3_152"/>
          <p:cNvSpPr/>
          <p:nvPr/>
        </p:nvSpPr>
        <p:spPr>
          <a:xfrm>
            <a:off x="5724144" y="4279392"/>
            <a:ext cx="731520" cy="731520"/>
          </a:xfrm>
          <a:prstGeom prst="ellipse">
            <a:avLst/>
          </a:prstGeom>
          <a:solidFill>
            <a:srgbClr val="0E5CA8"/>
          </a:solidFill>
          <a:ln w="12700">
            <a:solidFill>
              <a:srgbClr val="0E5CA8"/>
            </a:solidFill>
            <a:prstDash val="solid"/>
          </a:ln>
        </p:spPr>
      </p:sp>
      <p:pic>
        <p:nvPicPr>
          <p:cNvPr id="13" name="A3_153" descr="FaQuestion"/>
          <p:cNvPicPr>
            <a:picLocks noChangeAspect="1"/>
          </p:cNvPicPr>
          <p:nvPr/>
        </p:nvPicPr>
        <p:blipFill>
          <a:blip r:embed="rId4"/>
          <a:stretch>
            <a:fillRect/>
          </a:stretch>
        </p:blipFill>
        <p:spPr>
          <a:xfrm>
            <a:off x="5907024" y="4462272"/>
            <a:ext cx="365760" cy="365760"/>
          </a:xfrm>
          <a:prstGeom prst="rect">
            <a:avLst/>
          </a:prstGeom>
        </p:spPr>
      </p:pic>
      <p:sp>
        <p:nvSpPr>
          <p:cNvPr id="14" name="A3_154"/>
          <p:cNvSpPr txBox="1"/>
          <p:nvPr/>
        </p:nvSpPr>
        <p:spPr>
          <a:xfrm>
            <a:off x="4626864" y="5102352"/>
            <a:ext cx="2926080" cy="411480"/>
          </a:xfrm>
          <a:prstGeom prst="rect">
            <a:avLst/>
          </a:prstGeom>
          <a:noFill/>
          <a:ln/>
        </p:spPr>
        <p:txBody>
          <a:bodyPr wrap="square" lIns="0" tIns="0" rIns="0" bIns="0" rtlCol="0" anchor="t"/>
          <a:lstStyle/>
          <a:p>
            <a:pPr marL="0" indent="0" algn="ctr">
              <a:buNone/>
            </a:pPr>
            <a:r>
              <a:rPr lang="en-US" sz="1700" b="1" dirty="0">
                <a:solidFill>
                  <a:schemeClr val="tx2"/>
                </a:solidFill>
              </a:rPr>
              <a:t>Pourquoi est-il arrivé ?</a:t>
            </a:r>
            <a:endParaRPr lang="en-US" sz="1700" dirty="0"/>
          </a:p>
        </p:txBody>
      </p:sp>
      <p:sp>
        <p:nvSpPr>
          <p:cNvPr id="15" name="A4_155"/>
          <p:cNvSpPr/>
          <p:nvPr/>
        </p:nvSpPr>
        <p:spPr>
          <a:xfrm>
            <a:off x="7973568" y="4114800"/>
            <a:ext cx="3108960" cy="1554480"/>
          </a:xfrm>
          <a:prstGeom prst="roundRect">
            <a:avLst>
              <a:gd name="adj" fmla="val 7059"/>
            </a:avLst>
          </a:prstGeom>
          <a:solidFill>
            <a:srgbClr val="EEF4FB"/>
          </a:solidFill>
          <a:ln w="12700">
            <a:solidFill>
              <a:srgbClr val="FFFFFF"/>
            </a:solidFill>
            <a:prstDash val="solid"/>
          </a:ln>
        </p:spPr>
      </p:sp>
      <p:sp>
        <p:nvSpPr>
          <p:cNvPr id="16" name="A4_156"/>
          <p:cNvSpPr/>
          <p:nvPr/>
        </p:nvSpPr>
        <p:spPr>
          <a:xfrm>
            <a:off x="9162288" y="4279392"/>
            <a:ext cx="731520" cy="731520"/>
          </a:xfrm>
          <a:prstGeom prst="ellipse">
            <a:avLst/>
          </a:prstGeom>
          <a:solidFill>
            <a:srgbClr val="0E5CA8"/>
          </a:solidFill>
          <a:ln w="12700">
            <a:solidFill>
              <a:srgbClr val="0E5CA8"/>
            </a:solidFill>
            <a:prstDash val="solid"/>
          </a:ln>
        </p:spPr>
      </p:sp>
      <p:pic>
        <p:nvPicPr>
          <p:cNvPr id="17" name="A4_157" descr="FaWrench"/>
          <p:cNvPicPr>
            <a:picLocks noChangeAspect="1"/>
          </p:cNvPicPr>
          <p:nvPr/>
        </p:nvPicPr>
        <p:blipFill>
          <a:blip r:embed="rId5"/>
          <a:stretch>
            <a:fillRect/>
          </a:stretch>
        </p:blipFill>
        <p:spPr>
          <a:xfrm>
            <a:off x="9345168" y="4462272"/>
            <a:ext cx="365760" cy="365760"/>
          </a:xfrm>
          <a:prstGeom prst="rect">
            <a:avLst/>
          </a:prstGeom>
        </p:spPr>
      </p:pic>
      <p:sp>
        <p:nvSpPr>
          <p:cNvPr id="18" name="A4_158"/>
          <p:cNvSpPr txBox="1"/>
          <p:nvPr/>
        </p:nvSpPr>
        <p:spPr>
          <a:xfrm>
            <a:off x="8065008" y="5102352"/>
            <a:ext cx="2926080" cy="411480"/>
          </a:xfrm>
          <a:prstGeom prst="rect">
            <a:avLst/>
          </a:prstGeom>
          <a:noFill/>
          <a:ln/>
        </p:spPr>
        <p:txBody>
          <a:bodyPr wrap="square" lIns="0" tIns="0" rIns="0" bIns="0" rtlCol="0" anchor="t"/>
          <a:lstStyle/>
          <a:p>
            <a:pPr marL="0" indent="0" algn="ctr">
              <a:buNone/>
            </a:pPr>
            <a:r>
              <a:rPr lang="en-US" sz="1700" b="1" dirty="0">
                <a:solidFill>
                  <a:schemeClr val="tx2"/>
                </a:solidFill>
              </a:rPr>
              <a:t>Comment le corriger ?</a:t>
            </a:r>
            <a:endParaRPr lang="en-US" sz="17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8</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childTnLst>
                          </p:cTn>
                        </p:par>
                        <p:par>
                          <p:cTn id="27" fill="hold">
                            <p:stCondLst>
                              <p:cond delay="16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childTnLst>
                          </p:cTn>
                        </p:par>
                        <p:par>
                          <p:cTn id="40" fill="hold">
                            <p:stCondLst>
                              <p:cond delay="23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159"/>
          <p:cNvSpPr txBox="1"/>
          <p:nvPr/>
        </p:nvSpPr>
        <p:spPr>
          <a:xfrm>
            <a:off x="548640" y="1234440"/>
            <a:ext cx="6583680" cy="320040"/>
          </a:xfrm>
          <a:prstGeom prst="rect">
            <a:avLst/>
          </a:prstGeom>
          <a:noFill/>
          <a:ln/>
        </p:spPr>
        <p:txBody>
          <a:bodyPr wrap="square" lIns="0" tIns="0" rIns="0" bIns="0" rtlCol="0" anchor="t"/>
          <a:lstStyle/>
          <a:p>
            <a:pPr marL="0" indent="0">
              <a:buNone/>
            </a:pPr>
            <a:r>
              <a:rPr lang="en-US" sz="1400" dirty="0">
                <a:solidFill>
                  <a:srgbClr val="DCE8F6"/>
                </a:solidFill>
              </a:rPr>
              <a:t>Partie 02</a:t>
            </a:r>
            <a:endParaRPr lang="en-US" sz="1400" dirty="0"/>
          </a:p>
        </p:txBody>
      </p:sp>
      <p:sp>
        <p:nvSpPr>
          <p:cNvPr id="3" name="A1_160"/>
          <p:cNvSpPr txBox="1"/>
          <p:nvPr/>
        </p:nvSpPr>
        <p:spPr>
          <a:xfrm>
            <a:off x="548640" y="1581912"/>
            <a:ext cx="6583680" cy="91440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Notre solution et les besoins</a:t>
            </a:r>
            <a:endParaRPr lang="en-US" sz="3200" dirty="0"/>
          </a:p>
        </p:txBody>
      </p:sp>
    </p:spTree>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Un seul assistant, quatre missions</a:t>
            </a:r>
            <a:endParaRPr lang="en-US" sz="3000" dirty="0"/>
          </a:p>
        </p:txBody>
      </p:sp>
      <p:sp>
        <p:nvSpPr>
          <p:cNvPr id="3" name="o_161"/>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SOLUTION PROPOSÉE</a:t>
            </a:r>
            <a:endParaRPr lang="en-US" sz="1100" dirty="0"/>
          </a:p>
        </p:txBody>
      </p:sp>
      <p:sp>
        <p:nvSpPr>
          <p:cNvPr id="4" name="A1_162"/>
          <p:cNvSpPr/>
          <p:nvPr/>
        </p:nvSpPr>
        <p:spPr>
          <a:xfrm>
            <a:off x="4956048" y="2011680"/>
            <a:ext cx="2286000" cy="2286000"/>
          </a:xfrm>
          <a:prstGeom prst="ellipse">
            <a:avLst/>
          </a:prstGeom>
          <a:solidFill>
            <a:srgbClr val="0E5CA8"/>
          </a:solidFill>
          <a:ln w="76200">
            <a:solidFill>
              <a:srgbClr val="D5E6F7"/>
            </a:solidFill>
            <a:prstDash val="solid"/>
          </a:ln>
          <a:effectLst>
            <a:outerShdw blurRad="101600" dist="25400" dir="5400000" algn="bl" rotWithShape="0">
              <a:srgbClr val="0B1F3A">
                <a:alpha val="12000"/>
              </a:srgbClr>
            </a:outerShdw>
          </a:effectLst>
        </p:spPr>
      </p:sp>
      <p:pic>
        <p:nvPicPr>
          <p:cNvPr id="5" name="A1_163" descr="preencoded.png"/>
          <p:cNvPicPr>
            <a:picLocks noChangeAspect="1"/>
          </p:cNvPicPr>
          <p:nvPr/>
        </p:nvPicPr>
        <p:blipFill>
          <a:blip r:embed="rId3"/>
          <a:stretch>
            <a:fillRect/>
          </a:stretch>
        </p:blipFill>
        <p:spPr>
          <a:xfrm>
            <a:off x="5733288" y="2331720"/>
            <a:ext cx="731520" cy="731520"/>
          </a:xfrm>
          <a:prstGeom prst="rect">
            <a:avLst/>
          </a:prstGeom>
        </p:spPr>
      </p:pic>
      <p:sp>
        <p:nvSpPr>
          <p:cNvPr id="6" name="A1_164"/>
          <p:cNvSpPr txBox="1"/>
          <p:nvPr/>
        </p:nvSpPr>
        <p:spPr>
          <a:xfrm>
            <a:off x="5029200" y="3127248"/>
            <a:ext cx="2139696" cy="731520"/>
          </a:xfrm>
          <a:prstGeom prst="rect">
            <a:avLst/>
          </a:prstGeom>
          <a:noFill/>
          <a:ln/>
        </p:spPr>
        <p:txBody>
          <a:bodyPr wrap="square" lIns="0" tIns="0" rIns="0" bIns="0" rtlCol="0" anchor="t"/>
          <a:lstStyle/>
          <a:p>
            <a:pPr marL="0" indent="0" algn="ctr">
              <a:buNone/>
            </a:pPr>
            <a:r>
              <a:rPr lang="en-US" sz="1600" b="1" dirty="0">
                <a:solidFill>
                  <a:srgbClr val="FFFFFF"/>
                </a:solidFill>
              </a:rPr>
              <a:t>Assistant</a:t>
            </a:r>
            <a:endParaRPr lang="en-US" sz="1600" dirty="0"/>
          </a:p>
          <a:p>
            <a:pPr marL="0" indent="0" algn="ctr">
              <a:buNone/>
            </a:pPr>
            <a:r>
              <a:rPr lang="en-US" sz="1600" b="1" dirty="0">
                <a:solidFill>
                  <a:srgbClr val="FFFFFF"/>
                </a:solidFill>
              </a:rPr>
              <a:t>DevSecOps</a:t>
            </a:r>
            <a:endParaRPr lang="en-US" sz="1600" dirty="0"/>
          </a:p>
        </p:txBody>
      </p:sp>
      <p:sp>
        <p:nvSpPr>
          <p:cNvPr id="7" name="A2_165"/>
          <p:cNvSpPr/>
          <p:nvPr/>
        </p:nvSpPr>
        <p:spPr>
          <a:xfrm>
            <a:off x="548640" y="1371600"/>
            <a:ext cx="3840480" cy="1783080"/>
          </a:xfrm>
          <a:prstGeom prst="roundRect">
            <a:avLst>
              <a:gd name="adj" fmla="val 6154"/>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8" name="A2_166"/>
          <p:cNvSpPr/>
          <p:nvPr/>
        </p:nvSpPr>
        <p:spPr>
          <a:xfrm>
            <a:off x="777240" y="1645920"/>
            <a:ext cx="777240" cy="777240"/>
          </a:xfrm>
          <a:prstGeom prst="ellipse">
            <a:avLst/>
          </a:prstGeom>
          <a:solidFill>
            <a:srgbClr val="EEF4FB"/>
          </a:solidFill>
          <a:ln w="12700">
            <a:solidFill>
              <a:srgbClr val="EEF4FB"/>
            </a:solidFill>
            <a:prstDash val="solid"/>
          </a:ln>
        </p:spPr>
      </p:sp>
      <p:pic>
        <p:nvPicPr>
          <p:cNvPr id="9" name="A2_167" descr="FaFileAlt"/>
          <p:cNvPicPr>
            <a:picLocks noChangeAspect="1"/>
          </p:cNvPicPr>
          <p:nvPr/>
        </p:nvPicPr>
        <p:blipFill>
          <a:blip r:embed="rId4"/>
          <a:stretch>
            <a:fillRect/>
          </a:stretch>
        </p:blipFill>
        <p:spPr>
          <a:xfrm>
            <a:off x="971550" y="1840230"/>
            <a:ext cx="388620" cy="388620"/>
          </a:xfrm>
          <a:prstGeom prst="rect">
            <a:avLst/>
          </a:prstGeom>
        </p:spPr>
      </p:pic>
      <p:sp>
        <p:nvSpPr>
          <p:cNvPr id="10" name="A2_168"/>
          <p:cNvSpPr txBox="1"/>
          <p:nvPr/>
        </p:nvSpPr>
        <p:spPr>
          <a:xfrm>
            <a:off x="1737360" y="1645920"/>
            <a:ext cx="2514600" cy="411480"/>
          </a:xfrm>
          <a:prstGeom prst="rect">
            <a:avLst/>
          </a:prstGeom>
          <a:noFill/>
          <a:ln/>
        </p:spPr>
        <p:txBody>
          <a:bodyPr wrap="square" lIns="0" tIns="0" rIns="0" bIns="0" rtlCol="0" anchor="t"/>
          <a:lstStyle/>
          <a:p>
            <a:pPr marL="0" indent="0">
              <a:buNone/>
            </a:pPr>
            <a:r>
              <a:rPr lang="en-US" sz="2000" b="1" dirty="0">
                <a:solidFill>
                  <a:schemeClr val="accent1"/>
                </a:solidFill>
              </a:rPr>
              <a:t>Surveille</a:t>
            </a:r>
            <a:endParaRPr lang="en-US" sz="2000" dirty="0"/>
          </a:p>
        </p:txBody>
      </p:sp>
      <p:sp>
        <p:nvSpPr>
          <p:cNvPr id="11" name="A2_169"/>
          <p:cNvSpPr txBox="1"/>
          <p:nvPr/>
        </p:nvSpPr>
        <p:spPr>
          <a:xfrm>
            <a:off x="1737360" y="2084832"/>
            <a:ext cx="2514600" cy="960120"/>
          </a:xfrm>
          <a:prstGeom prst="rect">
            <a:avLst/>
          </a:prstGeom>
          <a:noFill/>
          <a:ln/>
        </p:spPr>
        <p:txBody>
          <a:bodyPr wrap="square" lIns="0" tIns="0" rIns="0" bIns="0" rtlCol="0" anchor="t"/>
          <a:lstStyle/>
          <a:p>
            <a:pPr marL="0" indent="0">
              <a:buNone/>
            </a:pPr>
            <a:r>
              <a:rPr lang="en-US" sz="1350" dirty="0">
                <a:solidFill>
                  <a:schemeClr val="tx1"/>
                </a:solidFill>
              </a:rPr>
              <a:t>les journaux d'activité et regroupe les erreurs qui se ressemblent</a:t>
            </a:r>
            <a:endParaRPr lang="en-US" sz="1350" dirty="0"/>
          </a:p>
        </p:txBody>
      </p:sp>
      <p:sp>
        <p:nvSpPr>
          <p:cNvPr id="12" name="A3_170"/>
          <p:cNvSpPr/>
          <p:nvPr/>
        </p:nvSpPr>
        <p:spPr>
          <a:xfrm>
            <a:off x="7799832" y="1371600"/>
            <a:ext cx="3840480" cy="1783080"/>
          </a:xfrm>
          <a:prstGeom prst="roundRect">
            <a:avLst>
              <a:gd name="adj" fmla="val 6154"/>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3" name="A3_171"/>
          <p:cNvSpPr/>
          <p:nvPr/>
        </p:nvSpPr>
        <p:spPr>
          <a:xfrm>
            <a:off x="8028432" y="1645920"/>
            <a:ext cx="777240" cy="777240"/>
          </a:xfrm>
          <a:prstGeom prst="ellipse">
            <a:avLst/>
          </a:prstGeom>
          <a:solidFill>
            <a:srgbClr val="EEF4FB"/>
          </a:solidFill>
          <a:ln w="12700">
            <a:solidFill>
              <a:srgbClr val="EEF4FB"/>
            </a:solidFill>
            <a:prstDash val="solid"/>
          </a:ln>
        </p:spPr>
      </p:sp>
      <p:pic>
        <p:nvPicPr>
          <p:cNvPr id="14" name="A3_172" descr="FaFlask"/>
          <p:cNvPicPr>
            <a:picLocks noChangeAspect="1"/>
          </p:cNvPicPr>
          <p:nvPr/>
        </p:nvPicPr>
        <p:blipFill>
          <a:blip r:embed="rId5"/>
          <a:stretch>
            <a:fillRect/>
          </a:stretch>
        </p:blipFill>
        <p:spPr>
          <a:xfrm>
            <a:off x="8222742" y="1840230"/>
            <a:ext cx="388620" cy="388620"/>
          </a:xfrm>
          <a:prstGeom prst="rect">
            <a:avLst/>
          </a:prstGeom>
        </p:spPr>
      </p:pic>
      <p:sp>
        <p:nvSpPr>
          <p:cNvPr id="15" name="A3_173"/>
          <p:cNvSpPr txBox="1"/>
          <p:nvPr/>
        </p:nvSpPr>
        <p:spPr>
          <a:xfrm>
            <a:off x="8988552" y="1645920"/>
            <a:ext cx="2514600" cy="411480"/>
          </a:xfrm>
          <a:prstGeom prst="rect">
            <a:avLst/>
          </a:prstGeom>
          <a:noFill/>
          <a:ln/>
        </p:spPr>
        <p:txBody>
          <a:bodyPr wrap="square" lIns="0" tIns="0" rIns="0" bIns="0" rtlCol="0" anchor="t"/>
          <a:lstStyle/>
          <a:p>
            <a:pPr marL="0" indent="0">
              <a:buNone/>
            </a:pPr>
            <a:r>
              <a:rPr lang="en-US" sz="2000" b="1" dirty="0">
                <a:solidFill>
                  <a:schemeClr val="accent1"/>
                </a:solidFill>
              </a:rPr>
              <a:t>Vérifie</a:t>
            </a:r>
            <a:endParaRPr lang="en-US" sz="2000" dirty="0"/>
          </a:p>
        </p:txBody>
      </p:sp>
      <p:sp>
        <p:nvSpPr>
          <p:cNvPr id="16" name="A3_174"/>
          <p:cNvSpPr txBox="1"/>
          <p:nvPr/>
        </p:nvSpPr>
        <p:spPr>
          <a:xfrm>
            <a:off x="8988552" y="2084832"/>
            <a:ext cx="2514600" cy="960120"/>
          </a:xfrm>
          <a:prstGeom prst="rect">
            <a:avLst/>
          </a:prstGeom>
          <a:noFill/>
          <a:ln/>
        </p:spPr>
        <p:txBody>
          <a:bodyPr wrap="square" lIns="0" tIns="0" rIns="0" bIns="0" rtlCol="0" anchor="t"/>
          <a:lstStyle/>
          <a:p>
            <a:pPr marL="0" indent="0">
              <a:buNone/>
            </a:pPr>
            <a:r>
              <a:rPr lang="en-US" sz="1350" dirty="0">
                <a:solidFill>
                  <a:schemeClr val="tx1"/>
                </a:solidFill>
              </a:rPr>
              <a:t>les tests et relie chaque échec à sa cause</a:t>
            </a:r>
            <a:endParaRPr lang="en-US" sz="1350" dirty="0"/>
          </a:p>
        </p:txBody>
      </p:sp>
      <p:sp>
        <p:nvSpPr>
          <p:cNvPr id="17" name="A4_175"/>
          <p:cNvSpPr/>
          <p:nvPr/>
        </p:nvSpPr>
        <p:spPr>
          <a:xfrm>
            <a:off x="548640" y="3520440"/>
            <a:ext cx="3840480" cy="1783080"/>
          </a:xfrm>
          <a:prstGeom prst="roundRect">
            <a:avLst>
              <a:gd name="adj" fmla="val 6154"/>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8" name="A4_176"/>
          <p:cNvSpPr/>
          <p:nvPr/>
        </p:nvSpPr>
        <p:spPr>
          <a:xfrm>
            <a:off x="777240" y="3794760"/>
            <a:ext cx="777240" cy="777240"/>
          </a:xfrm>
          <a:prstGeom prst="ellipse">
            <a:avLst/>
          </a:prstGeom>
          <a:solidFill>
            <a:srgbClr val="EEF4FB"/>
          </a:solidFill>
          <a:ln w="12700">
            <a:solidFill>
              <a:srgbClr val="EEF4FB"/>
            </a:solidFill>
            <a:prstDash val="solid"/>
          </a:ln>
        </p:spPr>
      </p:sp>
      <p:pic>
        <p:nvPicPr>
          <p:cNvPr id="19" name="A4_177" descr="FaShieldAlt"/>
          <p:cNvPicPr>
            <a:picLocks noChangeAspect="1"/>
          </p:cNvPicPr>
          <p:nvPr/>
        </p:nvPicPr>
        <p:blipFill>
          <a:blip r:embed="rId6"/>
          <a:stretch>
            <a:fillRect/>
          </a:stretch>
        </p:blipFill>
        <p:spPr>
          <a:xfrm>
            <a:off x="971550" y="3989070"/>
            <a:ext cx="388620" cy="388620"/>
          </a:xfrm>
          <a:prstGeom prst="rect">
            <a:avLst/>
          </a:prstGeom>
        </p:spPr>
      </p:pic>
      <p:sp>
        <p:nvSpPr>
          <p:cNvPr id="20" name="A4_178"/>
          <p:cNvSpPr txBox="1"/>
          <p:nvPr/>
        </p:nvSpPr>
        <p:spPr>
          <a:xfrm>
            <a:off x="1737360" y="3794760"/>
            <a:ext cx="2514600" cy="411480"/>
          </a:xfrm>
          <a:prstGeom prst="rect">
            <a:avLst/>
          </a:prstGeom>
          <a:noFill/>
          <a:ln/>
        </p:spPr>
        <p:txBody>
          <a:bodyPr wrap="square" lIns="0" tIns="0" rIns="0" bIns="0" rtlCol="0" anchor="t"/>
          <a:lstStyle/>
          <a:p>
            <a:pPr marL="0" indent="0">
              <a:buNone/>
            </a:pPr>
            <a:r>
              <a:rPr lang="en-US" sz="2000" b="1" dirty="0">
                <a:solidFill>
                  <a:schemeClr val="accent1"/>
                </a:solidFill>
              </a:rPr>
              <a:t>Protège</a:t>
            </a:r>
            <a:endParaRPr lang="en-US" sz="2000" dirty="0"/>
          </a:p>
        </p:txBody>
      </p:sp>
      <p:sp>
        <p:nvSpPr>
          <p:cNvPr id="21" name="A4_179"/>
          <p:cNvSpPr txBox="1"/>
          <p:nvPr/>
        </p:nvSpPr>
        <p:spPr>
          <a:xfrm>
            <a:off x="1737360" y="4233672"/>
            <a:ext cx="2514600" cy="960120"/>
          </a:xfrm>
          <a:prstGeom prst="rect">
            <a:avLst/>
          </a:prstGeom>
          <a:noFill/>
          <a:ln/>
        </p:spPr>
        <p:txBody>
          <a:bodyPr wrap="square" lIns="0" tIns="0" rIns="0" bIns="0" rtlCol="0" anchor="t"/>
          <a:lstStyle/>
          <a:p>
            <a:pPr marL="0" indent="0">
              <a:buNone/>
            </a:pPr>
            <a:r>
              <a:rPr lang="en-US" sz="1350" dirty="0">
                <a:solidFill>
                  <a:schemeClr val="tx1"/>
                </a:solidFill>
              </a:rPr>
              <a:t>en classant les failles de sécurité par urgence</a:t>
            </a:r>
            <a:endParaRPr lang="en-US" sz="1350" dirty="0"/>
          </a:p>
        </p:txBody>
      </p:sp>
      <p:sp>
        <p:nvSpPr>
          <p:cNvPr id="22" name="A5_180"/>
          <p:cNvSpPr/>
          <p:nvPr/>
        </p:nvSpPr>
        <p:spPr>
          <a:xfrm>
            <a:off x="7799832" y="3520440"/>
            <a:ext cx="3840480" cy="1783080"/>
          </a:xfrm>
          <a:prstGeom prst="roundRect">
            <a:avLst>
              <a:gd name="adj" fmla="val 6154"/>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23" name="A5_181"/>
          <p:cNvSpPr/>
          <p:nvPr/>
        </p:nvSpPr>
        <p:spPr>
          <a:xfrm>
            <a:off x="8028432" y="3794760"/>
            <a:ext cx="777240" cy="777240"/>
          </a:xfrm>
          <a:prstGeom prst="ellipse">
            <a:avLst/>
          </a:prstGeom>
          <a:solidFill>
            <a:srgbClr val="EEF4FB"/>
          </a:solidFill>
          <a:ln w="12700">
            <a:solidFill>
              <a:srgbClr val="EEF4FB"/>
            </a:solidFill>
            <a:prstDash val="solid"/>
          </a:ln>
        </p:spPr>
      </p:sp>
      <p:pic>
        <p:nvPicPr>
          <p:cNvPr id="24" name="A5_182" descr="FaBrain"/>
          <p:cNvPicPr>
            <a:picLocks noChangeAspect="1"/>
          </p:cNvPicPr>
          <p:nvPr/>
        </p:nvPicPr>
        <p:blipFill>
          <a:blip r:embed="rId7"/>
          <a:stretch>
            <a:fillRect/>
          </a:stretch>
        </p:blipFill>
        <p:spPr>
          <a:xfrm>
            <a:off x="8222742" y="3989070"/>
            <a:ext cx="388620" cy="388620"/>
          </a:xfrm>
          <a:prstGeom prst="rect">
            <a:avLst/>
          </a:prstGeom>
        </p:spPr>
      </p:pic>
      <p:sp>
        <p:nvSpPr>
          <p:cNvPr id="25" name="A5_183"/>
          <p:cNvSpPr txBox="1"/>
          <p:nvPr/>
        </p:nvSpPr>
        <p:spPr>
          <a:xfrm>
            <a:off x="8988552" y="3794760"/>
            <a:ext cx="2514600" cy="411480"/>
          </a:xfrm>
          <a:prstGeom prst="rect">
            <a:avLst/>
          </a:prstGeom>
          <a:noFill/>
          <a:ln/>
        </p:spPr>
        <p:txBody>
          <a:bodyPr wrap="square" lIns="0" tIns="0" rIns="0" bIns="0" rtlCol="0" anchor="t"/>
          <a:lstStyle/>
          <a:p>
            <a:pPr marL="0" indent="0">
              <a:buNone/>
            </a:pPr>
            <a:r>
              <a:rPr lang="en-US" sz="2000" b="1" dirty="0">
                <a:solidFill>
                  <a:schemeClr val="accent1"/>
                </a:solidFill>
              </a:rPr>
              <a:t>Explique</a:t>
            </a:r>
            <a:endParaRPr lang="en-US" sz="2000" dirty="0"/>
          </a:p>
        </p:txBody>
      </p:sp>
      <p:sp>
        <p:nvSpPr>
          <p:cNvPr id="26" name="A5_184"/>
          <p:cNvSpPr txBox="1"/>
          <p:nvPr/>
        </p:nvSpPr>
        <p:spPr>
          <a:xfrm>
            <a:off x="8988552" y="4233672"/>
            <a:ext cx="2514600" cy="960120"/>
          </a:xfrm>
          <a:prstGeom prst="rect">
            <a:avLst/>
          </a:prstGeom>
          <a:noFill/>
          <a:ln/>
        </p:spPr>
        <p:txBody>
          <a:bodyPr wrap="square" lIns="0" tIns="0" rIns="0" bIns="0" rtlCol="0" anchor="t"/>
          <a:lstStyle/>
          <a:p>
            <a:pPr marL="0" indent="0">
              <a:buNone/>
            </a:pPr>
            <a:r>
              <a:rPr lang="en-US" sz="1350" dirty="0">
                <a:solidFill>
                  <a:schemeClr val="tx1"/>
                </a:solidFill>
              </a:rPr>
              <a:t>grâce à l'IA : la cause et une solution en langage clair</a:t>
            </a:r>
            <a:endParaRPr lang="en-US" sz="1350" dirty="0"/>
          </a:p>
        </p:txBody>
      </p:sp>
      <p:sp>
        <p:nvSpPr>
          <p:cNvPr id="27" name="A2_185"/>
          <p:cNvSpPr/>
          <p:nvPr/>
        </p:nvSpPr>
        <p:spPr>
          <a:xfrm>
            <a:off x="4389120" y="2258568"/>
            <a:ext cx="868680" cy="365760"/>
          </a:xfrm>
          <a:prstGeom prst="line">
            <a:avLst/>
          </a:prstGeom>
          <a:noFill/>
          <a:ln w="25400">
            <a:solidFill>
              <a:srgbClr val="D5E2F0"/>
            </a:solidFill>
            <a:prstDash val="solid"/>
            <a:tailEnd type="none"/>
          </a:ln>
        </p:spPr>
      </p:sp>
      <p:sp>
        <p:nvSpPr>
          <p:cNvPr id="28" name="A3_186"/>
          <p:cNvSpPr/>
          <p:nvPr/>
        </p:nvSpPr>
        <p:spPr>
          <a:xfrm flipH="1">
            <a:off x="6949440" y="2258568"/>
            <a:ext cx="850392" cy="365760"/>
          </a:xfrm>
          <a:prstGeom prst="line">
            <a:avLst/>
          </a:prstGeom>
          <a:noFill/>
          <a:ln w="25400">
            <a:solidFill>
              <a:srgbClr val="D5E2F0"/>
            </a:solidFill>
            <a:prstDash val="solid"/>
            <a:tailEnd type="none"/>
          </a:ln>
        </p:spPr>
      </p:sp>
      <p:sp>
        <p:nvSpPr>
          <p:cNvPr id="29" name="A4_187"/>
          <p:cNvSpPr/>
          <p:nvPr/>
        </p:nvSpPr>
        <p:spPr>
          <a:xfrm flipV="1">
            <a:off x="4389120" y="3703320"/>
            <a:ext cx="868680" cy="685800"/>
          </a:xfrm>
          <a:prstGeom prst="line">
            <a:avLst/>
          </a:prstGeom>
          <a:noFill/>
          <a:ln w="25400">
            <a:solidFill>
              <a:srgbClr val="D5E2F0"/>
            </a:solidFill>
            <a:prstDash val="solid"/>
            <a:tailEnd type="none"/>
          </a:ln>
        </p:spPr>
      </p:sp>
      <p:sp>
        <p:nvSpPr>
          <p:cNvPr id="30" name="A5_188"/>
          <p:cNvSpPr/>
          <p:nvPr/>
        </p:nvSpPr>
        <p:spPr>
          <a:xfrm>
            <a:off x="6949440" y="3703320"/>
            <a:ext cx="850392" cy="685800"/>
          </a:xfrm>
          <a:prstGeom prst="line">
            <a:avLst/>
          </a:prstGeom>
          <a:noFill/>
          <a:ln w="25400">
            <a:solidFill>
              <a:srgbClr val="D5E2F0"/>
            </a:solidFill>
            <a:prstDash val="solid"/>
            <a:tailEnd type="none"/>
          </a:ln>
        </p:spPr>
      </p:sp>
      <p:sp>
        <p:nvSpPr>
          <p:cNvPr id="31" name="A6_189"/>
          <p:cNvSpPr/>
          <p:nvPr/>
        </p:nvSpPr>
        <p:spPr>
          <a:xfrm>
            <a:off x="2194560" y="5559552"/>
            <a:ext cx="7799832" cy="658368"/>
          </a:xfrm>
          <a:prstGeom prst="roundRect">
            <a:avLst>
              <a:gd name="adj" fmla="val 16667"/>
            </a:avLst>
          </a:prstGeom>
          <a:solidFill>
            <a:srgbClr val="EEF4FB"/>
          </a:solidFill>
          <a:ln w="12700">
            <a:solidFill>
              <a:srgbClr val="FFFFFF"/>
            </a:solidFill>
            <a:prstDash val="solid"/>
          </a:ln>
        </p:spPr>
      </p:sp>
      <p:pic>
        <p:nvPicPr>
          <p:cNvPr id="32" name="A6_190" descr="preencoded.png"/>
          <p:cNvPicPr>
            <a:picLocks noChangeAspect="1"/>
          </p:cNvPicPr>
          <p:nvPr/>
        </p:nvPicPr>
        <p:blipFill>
          <a:blip r:embed="rId8"/>
          <a:stretch>
            <a:fillRect/>
          </a:stretch>
        </p:blipFill>
        <p:spPr>
          <a:xfrm>
            <a:off x="2468880" y="5687568"/>
            <a:ext cx="402336" cy="402336"/>
          </a:xfrm>
          <a:prstGeom prst="rect">
            <a:avLst/>
          </a:prstGeom>
        </p:spPr>
      </p:pic>
      <p:sp>
        <p:nvSpPr>
          <p:cNvPr id="33" name="A6_191"/>
          <p:cNvSpPr txBox="1"/>
          <p:nvPr/>
        </p:nvSpPr>
        <p:spPr>
          <a:xfrm>
            <a:off x="3017520" y="5559552"/>
            <a:ext cx="6858000" cy="658368"/>
          </a:xfrm>
          <a:prstGeom prst="rect">
            <a:avLst/>
          </a:prstGeom>
          <a:noFill/>
          <a:ln/>
        </p:spPr>
        <p:txBody>
          <a:bodyPr wrap="square" lIns="0" tIns="0" rIns="0" bIns="0" rtlCol="0" anchor="ctr"/>
          <a:lstStyle/>
          <a:p>
            <a:pPr marL="0" indent="0">
              <a:buNone/>
            </a:pPr>
            <a:r>
              <a:rPr lang="en-US" sz="1600" b="1" dirty="0">
                <a:solidFill>
                  <a:schemeClr val="tx2"/>
                </a:solidFill>
              </a:rPr>
              <a:t>Un tableau de bord unique : </a:t>
            </a:r>
            <a:r>
              <a:rPr lang="en-US" sz="1600" dirty="0">
                <a:solidFill>
                  <a:schemeClr val="tx2"/>
                </a:solidFill>
              </a:rPr>
              <a:t>la santé du projet en un coup d'œil</a:t>
            </a:r>
            <a:endParaRPr lang="en-US" sz="1600" dirty="0"/>
          </a:p>
        </p:txBody>
      </p:sp>
      <p:sp>
        <p:nvSpPr>
          <p:cNvPr id="34"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10</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50"/>
                                        <p:tgtEl>
                                          <p:spTgt spid="27"/>
                                        </p:tgtEl>
                                      </p:cBhvr>
                                    </p:animEffect>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450"/>
                                        <p:tgtEl>
                                          <p:spTgt spid="28"/>
                                        </p:tgtEl>
                                      </p:cBhvr>
                                    </p:animEffect>
                                  </p:childTnLst>
                                </p:cTn>
                              </p:par>
                            </p:childTnLst>
                          </p:cTn>
                        </p:par>
                        <p:par>
                          <p:cTn id="52" fill="hold">
                            <p:stCondLst>
                              <p:cond delay="2300"/>
                            </p:stCondLst>
                            <p:childTnLst>
                              <p:par>
                                <p:cTn id="53" presetID="10"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5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5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50"/>
                                        <p:tgtEl>
                                          <p:spTgt spid="29"/>
                                        </p:tgtEl>
                                      </p:cBhvr>
                                    </p:animEffect>
                                  </p:childTnLst>
                                </p:cTn>
                              </p:par>
                            </p:childTnLst>
                          </p:cTn>
                        </p:par>
                        <p:par>
                          <p:cTn id="71" fill="hold">
                            <p:stCondLst>
                              <p:cond delay="3000"/>
                            </p:stCondLst>
                            <p:childTnLst>
                              <p:par>
                                <p:cTn id="72" presetID="10" presetClass="entr" presetSubtype="0"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5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450"/>
                                        <p:tgtEl>
                                          <p:spTgt spid="23"/>
                                        </p:tgtEl>
                                      </p:cBhvr>
                                    </p:animEffect>
                                  </p:childTnLst>
                                </p:cTn>
                              </p:par>
                              <p:par>
                                <p:cTn id="78" presetID="10" presetClass="entr" presetSubtype="0" fill="hold"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45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450"/>
                                        <p:tgtEl>
                                          <p:spTgt spid="2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450"/>
                                        <p:tgtEl>
                                          <p:spTgt spid="2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450"/>
                                        <p:tgtEl>
                                          <p:spTgt spid="30"/>
                                        </p:tgtEl>
                                      </p:cBhvr>
                                    </p:animEffect>
                                  </p:childTnLst>
                                </p:cTn>
                              </p:par>
                            </p:childTnLst>
                          </p:cTn>
                        </p:par>
                        <p:par>
                          <p:cTn id="90" fill="hold">
                            <p:stCondLst>
                              <p:cond delay="3700"/>
                            </p:stCondLst>
                            <p:childTnLst>
                              <p:par>
                                <p:cTn id="91" presetID="10" presetClass="entr" presetSubtype="0"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50"/>
                                        <p:tgtEl>
                                          <p:spTgt spid="31"/>
                                        </p:tgtEl>
                                      </p:cBhvr>
                                    </p:animEffect>
                                  </p:childTnLst>
                                </p:cTn>
                              </p:par>
                              <p:par>
                                <p:cTn id="94" presetID="10" presetClass="entr" presetSubtype="0" fill="hold"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5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Ce que l'assistant fait pour vous</a:t>
            </a:r>
            <a:endParaRPr lang="en-US" sz="3000" dirty="0"/>
          </a:p>
        </p:txBody>
      </p:sp>
      <p:sp>
        <p:nvSpPr>
          <p:cNvPr id="3" name="o_192"/>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BESOINS FONCTIONNELS</a:t>
            </a:r>
            <a:endParaRPr lang="en-US" sz="1100" dirty="0"/>
          </a:p>
        </p:txBody>
      </p:sp>
      <p:sp>
        <p:nvSpPr>
          <p:cNvPr id="4" name="A1_193"/>
          <p:cNvSpPr/>
          <p:nvPr/>
        </p:nvSpPr>
        <p:spPr>
          <a:xfrm>
            <a:off x="548640" y="141732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5" name="A1_194"/>
          <p:cNvSpPr/>
          <p:nvPr/>
        </p:nvSpPr>
        <p:spPr>
          <a:xfrm>
            <a:off x="822960" y="1691640"/>
            <a:ext cx="731520" cy="731520"/>
          </a:xfrm>
          <a:prstGeom prst="ellipse">
            <a:avLst/>
          </a:prstGeom>
          <a:solidFill>
            <a:srgbClr val="0E5CA8"/>
          </a:solidFill>
          <a:ln w="12700">
            <a:solidFill>
              <a:srgbClr val="0E5CA8"/>
            </a:solidFill>
            <a:prstDash val="solid"/>
          </a:ln>
        </p:spPr>
      </p:sp>
      <p:pic>
        <p:nvPicPr>
          <p:cNvPr id="6" name="A1_195" descr="FaFileAlt"/>
          <p:cNvPicPr>
            <a:picLocks noChangeAspect="1"/>
          </p:cNvPicPr>
          <p:nvPr/>
        </p:nvPicPr>
        <p:blipFill>
          <a:blip r:embed="rId3"/>
          <a:stretch>
            <a:fillRect/>
          </a:stretch>
        </p:blipFill>
        <p:spPr>
          <a:xfrm>
            <a:off x="1005840" y="1874520"/>
            <a:ext cx="365760" cy="365760"/>
          </a:xfrm>
          <a:prstGeom prst="rect">
            <a:avLst/>
          </a:prstGeom>
        </p:spPr>
      </p:pic>
      <p:sp>
        <p:nvSpPr>
          <p:cNvPr id="7" name="A1_196"/>
          <p:cNvSpPr txBox="1"/>
          <p:nvPr/>
        </p:nvSpPr>
        <p:spPr>
          <a:xfrm>
            <a:off x="822960" y="2514600"/>
            <a:ext cx="3063240" cy="365760"/>
          </a:xfrm>
          <a:prstGeom prst="rect">
            <a:avLst/>
          </a:prstGeom>
          <a:noFill/>
          <a:ln/>
        </p:spPr>
        <p:txBody>
          <a:bodyPr wrap="square" lIns="0" tIns="0" rIns="0" bIns="0" rtlCol="0" anchor="t"/>
          <a:lstStyle/>
          <a:p>
            <a:pPr marL="0" indent="0">
              <a:buNone/>
            </a:pPr>
            <a:r>
              <a:rPr lang="en-US" sz="1700" b="1" dirty="0">
                <a:solidFill>
                  <a:schemeClr val="tx2"/>
                </a:solidFill>
              </a:rPr>
              <a:t>Rassembler les journaux</a:t>
            </a:r>
            <a:endParaRPr lang="en-US" sz="1700" dirty="0"/>
          </a:p>
        </p:txBody>
      </p:sp>
      <p:sp>
        <p:nvSpPr>
          <p:cNvPr id="8" name="A1_197"/>
          <p:cNvSpPr txBox="1"/>
          <p:nvPr/>
        </p:nvSpPr>
        <p:spPr>
          <a:xfrm>
            <a:off x="822960" y="2880360"/>
            <a:ext cx="3063240" cy="502920"/>
          </a:xfrm>
          <a:prstGeom prst="rect">
            <a:avLst/>
          </a:prstGeom>
          <a:noFill/>
          <a:ln/>
        </p:spPr>
        <p:txBody>
          <a:bodyPr wrap="square" lIns="0" tIns="0" rIns="0" bIns="0" rtlCol="0" anchor="t"/>
          <a:lstStyle/>
          <a:p>
            <a:pPr marL="0" indent="0">
              <a:buNone/>
            </a:pPr>
            <a:r>
              <a:rPr lang="en-US" sz="1300" dirty="0">
                <a:solidFill>
                  <a:srgbClr val="5B6B7F"/>
                </a:solidFill>
              </a:rPr>
              <a:t>tous les messages de l'application au même endroit</a:t>
            </a:r>
            <a:endParaRPr lang="en-US" sz="1300" dirty="0"/>
          </a:p>
        </p:txBody>
      </p:sp>
      <p:sp>
        <p:nvSpPr>
          <p:cNvPr id="9" name="A2_198"/>
          <p:cNvSpPr/>
          <p:nvPr/>
        </p:nvSpPr>
        <p:spPr>
          <a:xfrm>
            <a:off x="4306824" y="141732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0" name="A2_199"/>
          <p:cNvSpPr/>
          <p:nvPr/>
        </p:nvSpPr>
        <p:spPr>
          <a:xfrm>
            <a:off x="4581144" y="1691640"/>
            <a:ext cx="731520" cy="731520"/>
          </a:xfrm>
          <a:prstGeom prst="ellipse">
            <a:avLst/>
          </a:prstGeom>
          <a:solidFill>
            <a:srgbClr val="0E5CA8"/>
          </a:solidFill>
          <a:ln w="12700">
            <a:solidFill>
              <a:srgbClr val="0E5CA8"/>
            </a:solidFill>
            <a:prstDash val="solid"/>
          </a:ln>
        </p:spPr>
      </p:sp>
      <p:pic>
        <p:nvPicPr>
          <p:cNvPr id="11" name="A2_200" descr="FaBell"/>
          <p:cNvPicPr>
            <a:picLocks noChangeAspect="1"/>
          </p:cNvPicPr>
          <p:nvPr/>
        </p:nvPicPr>
        <p:blipFill>
          <a:blip r:embed="rId4"/>
          <a:stretch>
            <a:fillRect/>
          </a:stretch>
        </p:blipFill>
        <p:spPr>
          <a:xfrm>
            <a:off x="4764024" y="1874520"/>
            <a:ext cx="365760" cy="365760"/>
          </a:xfrm>
          <a:prstGeom prst="rect">
            <a:avLst/>
          </a:prstGeom>
        </p:spPr>
      </p:pic>
      <p:sp>
        <p:nvSpPr>
          <p:cNvPr id="12" name="A2_201"/>
          <p:cNvSpPr txBox="1"/>
          <p:nvPr/>
        </p:nvSpPr>
        <p:spPr>
          <a:xfrm>
            <a:off x="4581144" y="2514600"/>
            <a:ext cx="3063240" cy="365760"/>
          </a:xfrm>
          <a:prstGeom prst="rect">
            <a:avLst/>
          </a:prstGeom>
          <a:noFill/>
          <a:ln/>
        </p:spPr>
        <p:txBody>
          <a:bodyPr wrap="square" lIns="0" tIns="0" rIns="0" bIns="0" rtlCol="0" anchor="t"/>
          <a:lstStyle/>
          <a:p>
            <a:pPr marL="0" indent="0">
              <a:buNone/>
            </a:pPr>
            <a:r>
              <a:rPr lang="en-US" sz="1700" b="1" dirty="0">
                <a:solidFill>
                  <a:schemeClr val="tx2"/>
                </a:solidFill>
              </a:rPr>
              <a:t>Repérer les anomalies</a:t>
            </a:r>
            <a:endParaRPr lang="en-US" sz="1700" dirty="0"/>
          </a:p>
        </p:txBody>
      </p:sp>
      <p:sp>
        <p:nvSpPr>
          <p:cNvPr id="13" name="A2_202"/>
          <p:cNvSpPr txBox="1"/>
          <p:nvPr/>
        </p:nvSpPr>
        <p:spPr>
          <a:xfrm>
            <a:off x="4581144" y="2880360"/>
            <a:ext cx="3063240" cy="502920"/>
          </a:xfrm>
          <a:prstGeom prst="rect">
            <a:avLst/>
          </a:prstGeom>
          <a:noFill/>
          <a:ln/>
        </p:spPr>
        <p:txBody>
          <a:bodyPr wrap="square" lIns="0" tIns="0" rIns="0" bIns="0" rtlCol="0" anchor="t"/>
          <a:lstStyle/>
          <a:p>
            <a:pPr marL="0" indent="0">
              <a:buNone/>
            </a:pPr>
            <a:r>
              <a:rPr lang="en-US" sz="1300" dirty="0">
                <a:solidFill>
                  <a:srgbClr val="5B6B7F"/>
                </a:solidFill>
              </a:rPr>
              <a:t>une alerte dès qu'un pic d'erreurs apparaît</a:t>
            </a:r>
            <a:endParaRPr lang="en-US" sz="1300" dirty="0"/>
          </a:p>
        </p:txBody>
      </p:sp>
      <p:sp>
        <p:nvSpPr>
          <p:cNvPr id="14" name="A3_203"/>
          <p:cNvSpPr/>
          <p:nvPr/>
        </p:nvSpPr>
        <p:spPr>
          <a:xfrm>
            <a:off x="8065008" y="141732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5" name="A3_204"/>
          <p:cNvSpPr/>
          <p:nvPr/>
        </p:nvSpPr>
        <p:spPr>
          <a:xfrm>
            <a:off x="8339328" y="1691640"/>
            <a:ext cx="731520" cy="731520"/>
          </a:xfrm>
          <a:prstGeom prst="ellipse">
            <a:avLst/>
          </a:prstGeom>
          <a:solidFill>
            <a:srgbClr val="0E5CA8"/>
          </a:solidFill>
          <a:ln w="12700">
            <a:solidFill>
              <a:srgbClr val="0E5CA8"/>
            </a:solidFill>
            <a:prstDash val="solid"/>
          </a:ln>
        </p:spPr>
      </p:sp>
      <p:pic>
        <p:nvPicPr>
          <p:cNvPr id="16" name="A3_205" descr="FaFlask"/>
          <p:cNvPicPr>
            <a:picLocks noChangeAspect="1"/>
          </p:cNvPicPr>
          <p:nvPr/>
        </p:nvPicPr>
        <p:blipFill>
          <a:blip r:embed="rId5"/>
          <a:stretch>
            <a:fillRect/>
          </a:stretch>
        </p:blipFill>
        <p:spPr>
          <a:xfrm>
            <a:off x="8522208" y="1874520"/>
            <a:ext cx="365760" cy="365760"/>
          </a:xfrm>
          <a:prstGeom prst="rect">
            <a:avLst/>
          </a:prstGeom>
        </p:spPr>
      </p:pic>
      <p:sp>
        <p:nvSpPr>
          <p:cNvPr id="17" name="A3_206"/>
          <p:cNvSpPr txBox="1"/>
          <p:nvPr/>
        </p:nvSpPr>
        <p:spPr>
          <a:xfrm>
            <a:off x="8339328" y="2514600"/>
            <a:ext cx="3063240" cy="365760"/>
          </a:xfrm>
          <a:prstGeom prst="rect">
            <a:avLst/>
          </a:prstGeom>
          <a:noFill/>
          <a:ln/>
        </p:spPr>
        <p:txBody>
          <a:bodyPr wrap="square" lIns="0" tIns="0" rIns="0" bIns="0" rtlCol="0" anchor="t"/>
          <a:lstStyle/>
          <a:p>
            <a:pPr marL="0" indent="0">
              <a:buNone/>
            </a:pPr>
            <a:r>
              <a:rPr lang="en-US" sz="1700" b="1" dirty="0">
                <a:solidFill>
                  <a:schemeClr val="tx2"/>
                </a:solidFill>
              </a:rPr>
              <a:t>Suivre les tests</a:t>
            </a:r>
            <a:endParaRPr lang="en-US" sz="1700" dirty="0"/>
          </a:p>
        </p:txBody>
      </p:sp>
      <p:sp>
        <p:nvSpPr>
          <p:cNvPr id="18" name="A3_207"/>
          <p:cNvSpPr txBox="1"/>
          <p:nvPr/>
        </p:nvSpPr>
        <p:spPr>
          <a:xfrm>
            <a:off x="8339328" y="2880360"/>
            <a:ext cx="3063240" cy="502920"/>
          </a:xfrm>
          <a:prstGeom prst="rect">
            <a:avLst/>
          </a:prstGeom>
          <a:noFill/>
          <a:ln/>
        </p:spPr>
        <p:txBody>
          <a:bodyPr wrap="square" lIns="0" tIns="0" rIns="0" bIns="0" rtlCol="0" anchor="t"/>
          <a:lstStyle/>
          <a:p>
            <a:pPr marL="0" indent="0">
              <a:buNone/>
            </a:pPr>
            <a:r>
              <a:rPr lang="en-US" sz="1300" dirty="0">
                <a:solidFill>
                  <a:srgbClr val="5B6B7F"/>
                </a:solidFill>
              </a:rPr>
              <a:t>historique complet et tests instables repérés</a:t>
            </a:r>
            <a:endParaRPr lang="en-US" sz="1300" dirty="0"/>
          </a:p>
        </p:txBody>
      </p:sp>
      <p:sp>
        <p:nvSpPr>
          <p:cNvPr id="19" name="A4_208"/>
          <p:cNvSpPr/>
          <p:nvPr/>
        </p:nvSpPr>
        <p:spPr>
          <a:xfrm>
            <a:off x="548640" y="374904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20" name="A4_209"/>
          <p:cNvSpPr/>
          <p:nvPr/>
        </p:nvSpPr>
        <p:spPr>
          <a:xfrm>
            <a:off x="822960" y="4023360"/>
            <a:ext cx="731520" cy="731520"/>
          </a:xfrm>
          <a:prstGeom prst="ellipse">
            <a:avLst/>
          </a:prstGeom>
          <a:solidFill>
            <a:srgbClr val="0E5CA8"/>
          </a:solidFill>
          <a:ln w="12700">
            <a:solidFill>
              <a:srgbClr val="0E5CA8"/>
            </a:solidFill>
            <a:prstDash val="solid"/>
          </a:ln>
        </p:spPr>
      </p:sp>
      <p:pic>
        <p:nvPicPr>
          <p:cNvPr id="21" name="A4_210" descr="FaShieldAlt"/>
          <p:cNvPicPr>
            <a:picLocks noChangeAspect="1"/>
          </p:cNvPicPr>
          <p:nvPr/>
        </p:nvPicPr>
        <p:blipFill>
          <a:blip r:embed="rId6"/>
          <a:stretch>
            <a:fillRect/>
          </a:stretch>
        </p:blipFill>
        <p:spPr>
          <a:xfrm>
            <a:off x="1005840" y="4206240"/>
            <a:ext cx="365760" cy="365760"/>
          </a:xfrm>
          <a:prstGeom prst="rect">
            <a:avLst/>
          </a:prstGeom>
        </p:spPr>
      </p:pic>
      <p:sp>
        <p:nvSpPr>
          <p:cNvPr id="22" name="A4_211"/>
          <p:cNvSpPr txBox="1"/>
          <p:nvPr/>
        </p:nvSpPr>
        <p:spPr>
          <a:xfrm>
            <a:off x="822960" y="4846320"/>
            <a:ext cx="3063240" cy="365760"/>
          </a:xfrm>
          <a:prstGeom prst="rect">
            <a:avLst/>
          </a:prstGeom>
          <a:noFill/>
          <a:ln/>
        </p:spPr>
        <p:txBody>
          <a:bodyPr wrap="square" lIns="0" tIns="0" rIns="0" bIns="0" rtlCol="0" anchor="t"/>
          <a:lstStyle/>
          <a:p>
            <a:pPr marL="0" indent="0">
              <a:buNone/>
            </a:pPr>
            <a:r>
              <a:rPr lang="en-US" sz="1700" b="1" dirty="0">
                <a:solidFill>
                  <a:schemeClr val="tx2"/>
                </a:solidFill>
              </a:rPr>
              <a:t>Prioriser les failles</a:t>
            </a:r>
            <a:endParaRPr lang="en-US" sz="1700" dirty="0"/>
          </a:p>
        </p:txBody>
      </p:sp>
      <p:sp>
        <p:nvSpPr>
          <p:cNvPr id="23" name="A4_212"/>
          <p:cNvSpPr txBox="1"/>
          <p:nvPr/>
        </p:nvSpPr>
        <p:spPr>
          <a:xfrm>
            <a:off x="822960" y="5212080"/>
            <a:ext cx="3063240" cy="502920"/>
          </a:xfrm>
          <a:prstGeom prst="rect">
            <a:avLst/>
          </a:prstGeom>
          <a:noFill/>
          <a:ln/>
        </p:spPr>
        <p:txBody>
          <a:bodyPr wrap="square" lIns="0" tIns="0" rIns="0" bIns="0" rtlCol="0" anchor="t"/>
          <a:lstStyle/>
          <a:p>
            <a:pPr marL="0" indent="0">
              <a:buNone/>
            </a:pPr>
            <a:r>
              <a:rPr lang="en-US" sz="1300" dirty="0">
                <a:solidFill>
                  <a:srgbClr val="5B6B7F"/>
                </a:solidFill>
              </a:rPr>
              <a:t>une note d'urgence de 0 à 100 pour chacune</a:t>
            </a:r>
            <a:endParaRPr lang="en-US" sz="1300" dirty="0"/>
          </a:p>
        </p:txBody>
      </p:sp>
      <p:sp>
        <p:nvSpPr>
          <p:cNvPr id="24" name="A5_213"/>
          <p:cNvSpPr/>
          <p:nvPr/>
        </p:nvSpPr>
        <p:spPr>
          <a:xfrm>
            <a:off x="4306824" y="374904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25" name="A5_214"/>
          <p:cNvSpPr/>
          <p:nvPr/>
        </p:nvSpPr>
        <p:spPr>
          <a:xfrm>
            <a:off x="4581144" y="4023360"/>
            <a:ext cx="731520" cy="731520"/>
          </a:xfrm>
          <a:prstGeom prst="ellipse">
            <a:avLst/>
          </a:prstGeom>
          <a:solidFill>
            <a:srgbClr val="0E5CA8"/>
          </a:solidFill>
          <a:ln w="12700">
            <a:solidFill>
              <a:srgbClr val="0E5CA8"/>
            </a:solidFill>
            <a:prstDash val="solid"/>
          </a:ln>
        </p:spPr>
      </p:sp>
      <p:pic>
        <p:nvPicPr>
          <p:cNvPr id="26" name="A5_215" descr="FaComments"/>
          <p:cNvPicPr>
            <a:picLocks noChangeAspect="1"/>
          </p:cNvPicPr>
          <p:nvPr/>
        </p:nvPicPr>
        <p:blipFill>
          <a:blip r:embed="rId7"/>
          <a:stretch>
            <a:fillRect/>
          </a:stretch>
        </p:blipFill>
        <p:spPr>
          <a:xfrm>
            <a:off x="4764024" y="4206240"/>
            <a:ext cx="365760" cy="365760"/>
          </a:xfrm>
          <a:prstGeom prst="rect">
            <a:avLst/>
          </a:prstGeom>
        </p:spPr>
      </p:pic>
      <p:sp>
        <p:nvSpPr>
          <p:cNvPr id="27" name="A5_216"/>
          <p:cNvSpPr txBox="1"/>
          <p:nvPr/>
        </p:nvSpPr>
        <p:spPr>
          <a:xfrm>
            <a:off x="4581144" y="4846320"/>
            <a:ext cx="3063240" cy="365760"/>
          </a:xfrm>
          <a:prstGeom prst="rect">
            <a:avLst/>
          </a:prstGeom>
          <a:noFill/>
          <a:ln/>
        </p:spPr>
        <p:txBody>
          <a:bodyPr wrap="square" lIns="0" tIns="0" rIns="0" bIns="0" rtlCol="0" anchor="t"/>
          <a:lstStyle/>
          <a:p>
            <a:pPr marL="0" indent="0">
              <a:buNone/>
            </a:pPr>
            <a:r>
              <a:rPr lang="en-US" sz="1700" b="1" dirty="0">
                <a:solidFill>
                  <a:schemeClr val="tx2"/>
                </a:solidFill>
              </a:rPr>
              <a:t>Expliquer avec l'IA</a:t>
            </a:r>
            <a:endParaRPr lang="en-US" sz="1700" dirty="0"/>
          </a:p>
        </p:txBody>
      </p:sp>
      <p:sp>
        <p:nvSpPr>
          <p:cNvPr id="28" name="A5_217"/>
          <p:cNvSpPr txBox="1"/>
          <p:nvPr/>
        </p:nvSpPr>
        <p:spPr>
          <a:xfrm>
            <a:off x="4581144" y="5212080"/>
            <a:ext cx="3063240" cy="502920"/>
          </a:xfrm>
          <a:prstGeom prst="rect">
            <a:avLst/>
          </a:prstGeom>
          <a:noFill/>
          <a:ln/>
        </p:spPr>
        <p:txBody>
          <a:bodyPr wrap="square" lIns="0" tIns="0" rIns="0" bIns="0" rtlCol="0" anchor="t"/>
          <a:lstStyle/>
          <a:p>
            <a:pPr marL="0" indent="0">
              <a:buNone/>
            </a:pPr>
            <a:r>
              <a:rPr lang="en-US" sz="1300" dirty="0">
                <a:solidFill>
                  <a:srgbClr val="5B6B7F"/>
                </a:solidFill>
              </a:rPr>
              <a:t>cause, solution proposée et copilote qui répond</a:t>
            </a:r>
            <a:endParaRPr lang="en-US" sz="1300" dirty="0"/>
          </a:p>
        </p:txBody>
      </p:sp>
      <p:sp>
        <p:nvSpPr>
          <p:cNvPr id="29" name="A6_218"/>
          <p:cNvSpPr/>
          <p:nvPr/>
        </p:nvSpPr>
        <p:spPr>
          <a:xfrm>
            <a:off x="8065008" y="3749040"/>
            <a:ext cx="3566160" cy="2057400"/>
          </a:xfrm>
          <a:prstGeom prst="roundRect">
            <a:avLst>
              <a:gd name="adj" fmla="val 5333"/>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30" name="A6_219"/>
          <p:cNvSpPr/>
          <p:nvPr/>
        </p:nvSpPr>
        <p:spPr>
          <a:xfrm>
            <a:off x="8339328" y="4023360"/>
            <a:ext cx="731520" cy="731520"/>
          </a:xfrm>
          <a:prstGeom prst="ellipse">
            <a:avLst/>
          </a:prstGeom>
          <a:solidFill>
            <a:srgbClr val="0E5CA8"/>
          </a:solidFill>
          <a:ln w="12700">
            <a:solidFill>
              <a:srgbClr val="0E5CA8"/>
            </a:solidFill>
            <a:prstDash val="solid"/>
          </a:ln>
        </p:spPr>
      </p:sp>
      <p:pic>
        <p:nvPicPr>
          <p:cNvPr id="31" name="A6_220" descr="FaTachometerAlt"/>
          <p:cNvPicPr>
            <a:picLocks noChangeAspect="1"/>
          </p:cNvPicPr>
          <p:nvPr/>
        </p:nvPicPr>
        <p:blipFill>
          <a:blip r:embed="rId8"/>
          <a:stretch>
            <a:fillRect/>
          </a:stretch>
        </p:blipFill>
        <p:spPr>
          <a:xfrm>
            <a:off x="8522208" y="4206240"/>
            <a:ext cx="365760" cy="365760"/>
          </a:xfrm>
          <a:prstGeom prst="rect">
            <a:avLst/>
          </a:prstGeom>
        </p:spPr>
      </p:pic>
      <p:sp>
        <p:nvSpPr>
          <p:cNvPr id="32" name="A6_221"/>
          <p:cNvSpPr txBox="1"/>
          <p:nvPr/>
        </p:nvSpPr>
        <p:spPr>
          <a:xfrm>
            <a:off x="8339328" y="4846320"/>
            <a:ext cx="3063240" cy="365760"/>
          </a:xfrm>
          <a:prstGeom prst="rect">
            <a:avLst/>
          </a:prstGeom>
          <a:noFill/>
          <a:ln/>
        </p:spPr>
        <p:txBody>
          <a:bodyPr wrap="square" lIns="0" tIns="0" rIns="0" bIns="0" rtlCol="0" anchor="t"/>
          <a:lstStyle/>
          <a:p>
            <a:pPr marL="0" indent="0">
              <a:buNone/>
            </a:pPr>
            <a:r>
              <a:rPr lang="en-US" sz="1700" b="1" dirty="0">
                <a:solidFill>
                  <a:schemeClr val="tx2"/>
                </a:solidFill>
              </a:rPr>
              <a:t>Piloter</a:t>
            </a:r>
            <a:endParaRPr lang="en-US" sz="1700" dirty="0"/>
          </a:p>
        </p:txBody>
      </p:sp>
      <p:sp>
        <p:nvSpPr>
          <p:cNvPr id="33" name="A6_222"/>
          <p:cNvSpPr txBox="1"/>
          <p:nvPr/>
        </p:nvSpPr>
        <p:spPr>
          <a:xfrm>
            <a:off x="8339328" y="5212080"/>
            <a:ext cx="3063240" cy="502920"/>
          </a:xfrm>
          <a:prstGeom prst="rect">
            <a:avLst/>
          </a:prstGeom>
          <a:noFill/>
          <a:ln/>
        </p:spPr>
        <p:txBody>
          <a:bodyPr wrap="square" lIns="0" tIns="0" rIns="0" bIns="0" rtlCol="0" anchor="t"/>
          <a:lstStyle/>
          <a:p>
            <a:pPr marL="0" indent="0">
              <a:buNone/>
            </a:pPr>
            <a:r>
              <a:rPr lang="en-US" sz="1300" dirty="0">
                <a:solidFill>
                  <a:srgbClr val="5B6B7F"/>
                </a:solidFill>
              </a:rPr>
              <a:t>tableau de bord, feu vert de livraison, comptes</a:t>
            </a:r>
            <a:endParaRPr lang="en-US" sz="1300" dirty="0"/>
          </a:p>
        </p:txBody>
      </p:sp>
      <p:sp>
        <p:nvSpPr>
          <p:cNvPr id="34"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11</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36" fill="hold">
                            <p:stCondLst>
                              <p:cond delay="16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52" fill="hold">
                            <p:stCondLst>
                              <p:cond delay="23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childTnLst>
                          </p:cTn>
                        </p:par>
                        <p:par>
                          <p:cTn id="68" fill="hold">
                            <p:stCondLst>
                              <p:cond delay="30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5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45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450"/>
                                        <p:tgtEl>
                                          <p:spTgt spid="28"/>
                                        </p:tgtEl>
                                      </p:cBhvr>
                                    </p:animEffect>
                                  </p:childTnLst>
                                </p:cTn>
                              </p:par>
                            </p:childTnLst>
                          </p:cTn>
                        </p:par>
                        <p:par>
                          <p:cTn id="84" fill="hold">
                            <p:stCondLst>
                              <p:cond delay="370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5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5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5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5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Nos engagements qualité</a:t>
            </a:r>
            <a:endParaRPr lang="en-US" sz="3000" dirty="0"/>
          </a:p>
        </p:txBody>
      </p:sp>
      <p:sp>
        <p:nvSpPr>
          <p:cNvPr id="3" name="o_223"/>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BESOINS NON FONCTIONNELS</a:t>
            </a:r>
            <a:endParaRPr lang="en-US" sz="1100" dirty="0"/>
          </a:p>
        </p:txBody>
      </p:sp>
      <p:sp>
        <p:nvSpPr>
          <p:cNvPr id="4" name="A1_224"/>
          <p:cNvSpPr/>
          <p:nvPr/>
        </p:nvSpPr>
        <p:spPr>
          <a:xfrm>
            <a:off x="548640" y="1463040"/>
            <a:ext cx="777240" cy="777240"/>
          </a:xfrm>
          <a:prstGeom prst="ellipse">
            <a:avLst/>
          </a:prstGeom>
          <a:solidFill>
            <a:srgbClr val="EEF4FB"/>
          </a:solidFill>
          <a:ln w="12700">
            <a:solidFill>
              <a:srgbClr val="EEF4FB"/>
            </a:solidFill>
            <a:prstDash val="solid"/>
          </a:ln>
        </p:spPr>
      </p:sp>
      <p:pic>
        <p:nvPicPr>
          <p:cNvPr id="5" name="A1_225" descr="FaLock"/>
          <p:cNvPicPr>
            <a:picLocks noChangeAspect="1"/>
          </p:cNvPicPr>
          <p:nvPr/>
        </p:nvPicPr>
        <p:blipFill>
          <a:blip r:embed="rId3"/>
          <a:stretch>
            <a:fillRect/>
          </a:stretch>
        </p:blipFill>
        <p:spPr>
          <a:xfrm>
            <a:off x="742950" y="1657350"/>
            <a:ext cx="388620" cy="388620"/>
          </a:xfrm>
          <a:prstGeom prst="rect">
            <a:avLst/>
          </a:prstGeom>
        </p:spPr>
      </p:pic>
      <p:sp>
        <p:nvSpPr>
          <p:cNvPr id="6" name="A1_226"/>
          <p:cNvSpPr txBox="1"/>
          <p:nvPr/>
        </p:nvSpPr>
        <p:spPr>
          <a:xfrm>
            <a:off x="1508760" y="1481328"/>
            <a:ext cx="2743200" cy="365760"/>
          </a:xfrm>
          <a:prstGeom prst="rect">
            <a:avLst/>
          </a:prstGeom>
          <a:noFill/>
          <a:ln/>
        </p:spPr>
        <p:txBody>
          <a:bodyPr wrap="square" lIns="0" tIns="0" rIns="0" bIns="0" rtlCol="0" anchor="t"/>
          <a:lstStyle/>
          <a:p>
            <a:pPr marL="0" indent="0">
              <a:buNone/>
            </a:pPr>
            <a:r>
              <a:rPr lang="en-US" sz="1700" b="1" dirty="0">
                <a:solidFill>
                  <a:schemeClr val="tx2"/>
                </a:solidFill>
              </a:rPr>
              <a:t>Sécurisé</a:t>
            </a:r>
            <a:endParaRPr lang="en-US" sz="1700" dirty="0"/>
          </a:p>
        </p:txBody>
      </p:sp>
      <p:sp>
        <p:nvSpPr>
          <p:cNvPr id="7" name="A1_227"/>
          <p:cNvSpPr txBox="1"/>
          <p:nvPr/>
        </p:nvSpPr>
        <p:spPr>
          <a:xfrm>
            <a:off x="1508760" y="1865376"/>
            <a:ext cx="2743200" cy="640080"/>
          </a:xfrm>
          <a:prstGeom prst="rect">
            <a:avLst/>
          </a:prstGeom>
          <a:noFill/>
          <a:ln/>
        </p:spPr>
        <p:txBody>
          <a:bodyPr wrap="square" lIns="0" tIns="0" rIns="0" bIns="0" rtlCol="0" anchor="t"/>
          <a:lstStyle/>
          <a:p>
            <a:pPr marL="0" indent="0">
              <a:buNone/>
            </a:pPr>
            <a:r>
              <a:rPr lang="en-US" sz="1300" dirty="0">
                <a:solidFill>
                  <a:srgbClr val="5B6B7F"/>
                </a:solidFill>
              </a:rPr>
              <a:t>accès selon le rôle, mots de passe protégés</a:t>
            </a:r>
            <a:endParaRPr lang="en-US" sz="1300" dirty="0"/>
          </a:p>
        </p:txBody>
      </p:sp>
      <p:sp>
        <p:nvSpPr>
          <p:cNvPr id="8" name="A2_228"/>
          <p:cNvSpPr/>
          <p:nvPr/>
        </p:nvSpPr>
        <p:spPr>
          <a:xfrm>
            <a:off x="4389120" y="1463040"/>
            <a:ext cx="777240" cy="777240"/>
          </a:xfrm>
          <a:prstGeom prst="ellipse">
            <a:avLst/>
          </a:prstGeom>
          <a:solidFill>
            <a:srgbClr val="EEF4FB"/>
          </a:solidFill>
          <a:ln w="12700">
            <a:solidFill>
              <a:srgbClr val="EEF4FB"/>
            </a:solidFill>
            <a:prstDash val="solid"/>
          </a:ln>
        </p:spPr>
      </p:sp>
      <p:pic>
        <p:nvPicPr>
          <p:cNvPr id="9" name="A2_229" descr="FaHeartbeat"/>
          <p:cNvPicPr>
            <a:picLocks noChangeAspect="1"/>
          </p:cNvPicPr>
          <p:nvPr/>
        </p:nvPicPr>
        <p:blipFill>
          <a:blip r:embed="rId4"/>
          <a:stretch>
            <a:fillRect/>
          </a:stretch>
        </p:blipFill>
        <p:spPr>
          <a:xfrm>
            <a:off x="4583430" y="1657350"/>
            <a:ext cx="388620" cy="388620"/>
          </a:xfrm>
          <a:prstGeom prst="rect">
            <a:avLst/>
          </a:prstGeom>
        </p:spPr>
      </p:pic>
      <p:sp>
        <p:nvSpPr>
          <p:cNvPr id="10" name="A2_230"/>
          <p:cNvSpPr txBox="1"/>
          <p:nvPr/>
        </p:nvSpPr>
        <p:spPr>
          <a:xfrm>
            <a:off x="5349240" y="1481328"/>
            <a:ext cx="2743200" cy="365760"/>
          </a:xfrm>
          <a:prstGeom prst="rect">
            <a:avLst/>
          </a:prstGeom>
          <a:noFill/>
          <a:ln/>
        </p:spPr>
        <p:txBody>
          <a:bodyPr wrap="square" lIns="0" tIns="0" rIns="0" bIns="0" rtlCol="0" anchor="t"/>
          <a:lstStyle/>
          <a:p>
            <a:pPr marL="0" indent="0">
              <a:buNone/>
            </a:pPr>
            <a:r>
              <a:rPr lang="en-US" sz="1700" b="1" dirty="0">
                <a:solidFill>
                  <a:schemeClr val="tx2"/>
                </a:solidFill>
              </a:rPr>
              <a:t>Toujours disponible</a:t>
            </a:r>
            <a:endParaRPr lang="en-US" sz="1700" dirty="0"/>
          </a:p>
        </p:txBody>
      </p:sp>
      <p:sp>
        <p:nvSpPr>
          <p:cNvPr id="11" name="A2_231"/>
          <p:cNvSpPr txBox="1"/>
          <p:nvPr/>
        </p:nvSpPr>
        <p:spPr>
          <a:xfrm>
            <a:off x="5349240" y="1865376"/>
            <a:ext cx="2743200" cy="640080"/>
          </a:xfrm>
          <a:prstGeom prst="rect">
            <a:avLst/>
          </a:prstGeom>
          <a:noFill/>
          <a:ln/>
        </p:spPr>
        <p:txBody>
          <a:bodyPr wrap="square" lIns="0" tIns="0" rIns="0" bIns="0" rtlCol="0" anchor="t"/>
          <a:lstStyle/>
          <a:p>
            <a:pPr marL="0" indent="0">
              <a:buNone/>
            </a:pPr>
            <a:r>
              <a:rPr lang="en-US" sz="1300" dirty="0">
                <a:solidFill>
                  <a:srgbClr val="5B6B7F"/>
                </a:solidFill>
              </a:rPr>
              <a:t>un plan B prend le relais si l'IA en ligne tombe</a:t>
            </a:r>
            <a:endParaRPr lang="en-US" sz="1300" dirty="0"/>
          </a:p>
        </p:txBody>
      </p:sp>
      <p:sp>
        <p:nvSpPr>
          <p:cNvPr id="12" name="A3_232"/>
          <p:cNvSpPr/>
          <p:nvPr/>
        </p:nvSpPr>
        <p:spPr>
          <a:xfrm>
            <a:off x="548640" y="2926080"/>
            <a:ext cx="777240" cy="777240"/>
          </a:xfrm>
          <a:prstGeom prst="ellipse">
            <a:avLst/>
          </a:prstGeom>
          <a:solidFill>
            <a:srgbClr val="EEF4FB"/>
          </a:solidFill>
          <a:ln w="12700">
            <a:solidFill>
              <a:srgbClr val="EEF4FB"/>
            </a:solidFill>
            <a:prstDash val="solid"/>
          </a:ln>
        </p:spPr>
      </p:sp>
      <p:pic>
        <p:nvPicPr>
          <p:cNvPr id="13" name="A3_233" descr="FaBolt"/>
          <p:cNvPicPr>
            <a:picLocks noChangeAspect="1"/>
          </p:cNvPicPr>
          <p:nvPr/>
        </p:nvPicPr>
        <p:blipFill>
          <a:blip r:embed="rId5"/>
          <a:stretch>
            <a:fillRect/>
          </a:stretch>
        </p:blipFill>
        <p:spPr>
          <a:xfrm>
            <a:off x="742950" y="3120390"/>
            <a:ext cx="388620" cy="388620"/>
          </a:xfrm>
          <a:prstGeom prst="rect">
            <a:avLst/>
          </a:prstGeom>
        </p:spPr>
      </p:pic>
      <p:sp>
        <p:nvSpPr>
          <p:cNvPr id="14" name="A3_234"/>
          <p:cNvSpPr txBox="1"/>
          <p:nvPr/>
        </p:nvSpPr>
        <p:spPr>
          <a:xfrm>
            <a:off x="1508760" y="2944368"/>
            <a:ext cx="2743200" cy="365760"/>
          </a:xfrm>
          <a:prstGeom prst="rect">
            <a:avLst/>
          </a:prstGeom>
          <a:noFill/>
          <a:ln/>
        </p:spPr>
        <p:txBody>
          <a:bodyPr wrap="square" lIns="0" tIns="0" rIns="0" bIns="0" rtlCol="0" anchor="t"/>
          <a:lstStyle/>
          <a:p>
            <a:pPr marL="0" indent="0">
              <a:buNone/>
            </a:pPr>
            <a:r>
              <a:rPr lang="en-US" sz="1700" b="1" dirty="0">
                <a:solidFill>
                  <a:schemeClr val="tx2"/>
                </a:solidFill>
              </a:rPr>
              <a:t>Rapide</a:t>
            </a:r>
            <a:endParaRPr lang="en-US" sz="1700" dirty="0"/>
          </a:p>
        </p:txBody>
      </p:sp>
      <p:sp>
        <p:nvSpPr>
          <p:cNvPr id="15" name="A3_235"/>
          <p:cNvSpPr txBox="1"/>
          <p:nvPr/>
        </p:nvSpPr>
        <p:spPr>
          <a:xfrm>
            <a:off x="1508760" y="3328416"/>
            <a:ext cx="2743200" cy="640080"/>
          </a:xfrm>
          <a:prstGeom prst="rect">
            <a:avLst/>
          </a:prstGeom>
          <a:noFill/>
          <a:ln/>
        </p:spPr>
        <p:txBody>
          <a:bodyPr wrap="square" lIns="0" tIns="0" rIns="0" bIns="0" rtlCol="0" anchor="t"/>
          <a:lstStyle/>
          <a:p>
            <a:pPr marL="0" indent="0">
              <a:buNone/>
            </a:pPr>
            <a:r>
              <a:rPr lang="en-US" sz="1300" dirty="0">
                <a:solidFill>
                  <a:srgbClr val="5B6B7F"/>
                </a:solidFill>
              </a:rPr>
              <a:t>les tâches lourdes tournent en arrière-plan</a:t>
            </a:r>
            <a:endParaRPr lang="en-US" sz="1300" dirty="0"/>
          </a:p>
        </p:txBody>
      </p:sp>
      <p:sp>
        <p:nvSpPr>
          <p:cNvPr id="16" name="A4_236"/>
          <p:cNvSpPr/>
          <p:nvPr/>
        </p:nvSpPr>
        <p:spPr>
          <a:xfrm>
            <a:off x="4389120" y="2926080"/>
            <a:ext cx="777240" cy="777240"/>
          </a:xfrm>
          <a:prstGeom prst="ellipse">
            <a:avLst/>
          </a:prstGeom>
          <a:solidFill>
            <a:srgbClr val="EEF4FB"/>
          </a:solidFill>
          <a:ln w="12700">
            <a:solidFill>
              <a:srgbClr val="EEF4FB"/>
            </a:solidFill>
            <a:prstDash val="solid"/>
          </a:ln>
        </p:spPr>
      </p:sp>
      <p:pic>
        <p:nvPicPr>
          <p:cNvPr id="17" name="A4_237" descr="FaMousePointer"/>
          <p:cNvPicPr>
            <a:picLocks noChangeAspect="1"/>
          </p:cNvPicPr>
          <p:nvPr/>
        </p:nvPicPr>
        <p:blipFill>
          <a:blip r:embed="rId6"/>
          <a:stretch>
            <a:fillRect/>
          </a:stretch>
        </p:blipFill>
        <p:spPr>
          <a:xfrm>
            <a:off x="4583430" y="3120390"/>
            <a:ext cx="388620" cy="388620"/>
          </a:xfrm>
          <a:prstGeom prst="rect">
            <a:avLst/>
          </a:prstGeom>
        </p:spPr>
      </p:pic>
      <p:sp>
        <p:nvSpPr>
          <p:cNvPr id="18" name="A4_238"/>
          <p:cNvSpPr txBox="1"/>
          <p:nvPr/>
        </p:nvSpPr>
        <p:spPr>
          <a:xfrm>
            <a:off x="5349240" y="2944368"/>
            <a:ext cx="2743200" cy="365760"/>
          </a:xfrm>
          <a:prstGeom prst="rect">
            <a:avLst/>
          </a:prstGeom>
          <a:noFill/>
          <a:ln/>
        </p:spPr>
        <p:txBody>
          <a:bodyPr wrap="square" lIns="0" tIns="0" rIns="0" bIns="0" rtlCol="0" anchor="t"/>
          <a:lstStyle/>
          <a:p>
            <a:pPr marL="0" indent="0">
              <a:buNone/>
            </a:pPr>
            <a:r>
              <a:rPr lang="en-US" sz="1700" b="1" dirty="0">
                <a:solidFill>
                  <a:schemeClr val="tx2"/>
                </a:solidFill>
              </a:rPr>
              <a:t>Simple</a:t>
            </a:r>
            <a:endParaRPr lang="en-US" sz="1700" dirty="0"/>
          </a:p>
        </p:txBody>
      </p:sp>
      <p:sp>
        <p:nvSpPr>
          <p:cNvPr id="19" name="A4_239"/>
          <p:cNvSpPr txBox="1"/>
          <p:nvPr/>
        </p:nvSpPr>
        <p:spPr>
          <a:xfrm>
            <a:off x="5349240" y="3328416"/>
            <a:ext cx="2743200" cy="640080"/>
          </a:xfrm>
          <a:prstGeom prst="rect">
            <a:avLst/>
          </a:prstGeom>
          <a:noFill/>
          <a:ln/>
        </p:spPr>
        <p:txBody>
          <a:bodyPr wrap="square" lIns="0" tIns="0" rIns="0" bIns="0" rtlCol="0" anchor="t"/>
          <a:lstStyle/>
          <a:p>
            <a:pPr marL="0" indent="0">
              <a:buNone/>
            </a:pPr>
            <a:r>
              <a:rPr lang="en-US" sz="1300" dirty="0">
                <a:solidFill>
                  <a:srgbClr val="5B6B7F"/>
                </a:solidFill>
              </a:rPr>
              <a:t>interface claire, alertes en direct</a:t>
            </a:r>
            <a:endParaRPr lang="en-US" sz="1300" dirty="0"/>
          </a:p>
        </p:txBody>
      </p:sp>
      <p:sp>
        <p:nvSpPr>
          <p:cNvPr id="20" name="A5_240"/>
          <p:cNvSpPr/>
          <p:nvPr/>
        </p:nvSpPr>
        <p:spPr>
          <a:xfrm>
            <a:off x="548640" y="4389120"/>
            <a:ext cx="777240" cy="777240"/>
          </a:xfrm>
          <a:prstGeom prst="ellipse">
            <a:avLst/>
          </a:prstGeom>
          <a:solidFill>
            <a:srgbClr val="EEF4FB"/>
          </a:solidFill>
          <a:ln w="12700">
            <a:solidFill>
              <a:srgbClr val="EEF4FB"/>
            </a:solidFill>
            <a:prstDash val="solid"/>
          </a:ln>
        </p:spPr>
      </p:sp>
      <p:pic>
        <p:nvPicPr>
          <p:cNvPr id="21" name="A5_241" descr="FaPuzzlePiece"/>
          <p:cNvPicPr>
            <a:picLocks noChangeAspect="1"/>
          </p:cNvPicPr>
          <p:nvPr/>
        </p:nvPicPr>
        <p:blipFill>
          <a:blip r:embed="rId7"/>
          <a:stretch>
            <a:fillRect/>
          </a:stretch>
        </p:blipFill>
        <p:spPr>
          <a:xfrm>
            <a:off x="742950" y="4583430"/>
            <a:ext cx="388620" cy="388620"/>
          </a:xfrm>
          <a:prstGeom prst="rect">
            <a:avLst/>
          </a:prstGeom>
        </p:spPr>
      </p:pic>
      <p:sp>
        <p:nvSpPr>
          <p:cNvPr id="22" name="A5_242"/>
          <p:cNvSpPr txBox="1"/>
          <p:nvPr/>
        </p:nvSpPr>
        <p:spPr>
          <a:xfrm>
            <a:off x="1508760" y="4407408"/>
            <a:ext cx="2743200" cy="365760"/>
          </a:xfrm>
          <a:prstGeom prst="rect">
            <a:avLst/>
          </a:prstGeom>
          <a:noFill/>
          <a:ln/>
        </p:spPr>
        <p:txBody>
          <a:bodyPr wrap="square" lIns="0" tIns="0" rIns="0" bIns="0" rtlCol="0" anchor="t"/>
          <a:lstStyle/>
          <a:p>
            <a:pPr marL="0" indent="0">
              <a:buNone/>
            </a:pPr>
            <a:r>
              <a:rPr lang="en-US" sz="1700" b="1" dirty="0">
                <a:solidFill>
                  <a:schemeClr val="tx2"/>
                </a:solidFill>
              </a:rPr>
              <a:t>Évolutif</a:t>
            </a:r>
            <a:endParaRPr lang="en-US" sz="1700" dirty="0"/>
          </a:p>
        </p:txBody>
      </p:sp>
      <p:sp>
        <p:nvSpPr>
          <p:cNvPr id="23" name="A5_243"/>
          <p:cNvSpPr txBox="1"/>
          <p:nvPr/>
        </p:nvSpPr>
        <p:spPr>
          <a:xfrm>
            <a:off x="1508760" y="4791456"/>
            <a:ext cx="2743200" cy="640080"/>
          </a:xfrm>
          <a:prstGeom prst="rect">
            <a:avLst/>
          </a:prstGeom>
          <a:noFill/>
          <a:ln/>
        </p:spPr>
        <p:txBody>
          <a:bodyPr wrap="square" lIns="0" tIns="0" rIns="0" bIns="0" rtlCol="0" anchor="t"/>
          <a:lstStyle/>
          <a:p>
            <a:pPr marL="0" indent="0">
              <a:buNone/>
            </a:pPr>
            <a:r>
              <a:rPr lang="en-US" sz="1300" dirty="0">
                <a:solidFill>
                  <a:srgbClr val="5B6B7F"/>
                </a:solidFill>
              </a:rPr>
              <a:t>3 blocs indépendants et testés</a:t>
            </a:r>
            <a:endParaRPr lang="en-US" sz="1300" dirty="0"/>
          </a:p>
        </p:txBody>
      </p:sp>
      <p:sp>
        <p:nvSpPr>
          <p:cNvPr id="24" name="A6_244"/>
          <p:cNvSpPr/>
          <p:nvPr/>
        </p:nvSpPr>
        <p:spPr>
          <a:xfrm>
            <a:off x="4389120" y="4389120"/>
            <a:ext cx="777240" cy="777240"/>
          </a:xfrm>
          <a:prstGeom prst="ellipse">
            <a:avLst/>
          </a:prstGeom>
          <a:solidFill>
            <a:srgbClr val="EEF4FB"/>
          </a:solidFill>
          <a:ln w="12700">
            <a:solidFill>
              <a:srgbClr val="EEF4FB"/>
            </a:solidFill>
            <a:prstDash val="solid"/>
          </a:ln>
        </p:spPr>
      </p:sp>
      <p:pic>
        <p:nvPicPr>
          <p:cNvPr id="25" name="A6_245" descr="FaRocket"/>
          <p:cNvPicPr>
            <a:picLocks noChangeAspect="1"/>
          </p:cNvPicPr>
          <p:nvPr/>
        </p:nvPicPr>
        <p:blipFill>
          <a:blip r:embed="rId8"/>
          <a:stretch>
            <a:fillRect/>
          </a:stretch>
        </p:blipFill>
        <p:spPr>
          <a:xfrm>
            <a:off x="4583430" y="4583430"/>
            <a:ext cx="388620" cy="388620"/>
          </a:xfrm>
          <a:prstGeom prst="rect">
            <a:avLst/>
          </a:prstGeom>
        </p:spPr>
      </p:pic>
      <p:sp>
        <p:nvSpPr>
          <p:cNvPr id="26" name="A6_246"/>
          <p:cNvSpPr txBox="1"/>
          <p:nvPr/>
        </p:nvSpPr>
        <p:spPr>
          <a:xfrm>
            <a:off x="5349240" y="4407408"/>
            <a:ext cx="2743200" cy="365760"/>
          </a:xfrm>
          <a:prstGeom prst="rect">
            <a:avLst/>
          </a:prstGeom>
          <a:noFill/>
          <a:ln/>
        </p:spPr>
        <p:txBody>
          <a:bodyPr wrap="square" lIns="0" tIns="0" rIns="0" bIns="0" rtlCol="0" anchor="t"/>
          <a:lstStyle/>
          <a:p>
            <a:pPr marL="0" indent="0">
              <a:buNone/>
            </a:pPr>
            <a:r>
              <a:rPr lang="en-US" sz="1700" b="1" dirty="0">
                <a:solidFill>
                  <a:schemeClr val="tx2"/>
                </a:solidFill>
              </a:rPr>
              <a:t>Facile à installer</a:t>
            </a:r>
            <a:endParaRPr lang="en-US" sz="1700" dirty="0"/>
          </a:p>
        </p:txBody>
      </p:sp>
      <p:sp>
        <p:nvSpPr>
          <p:cNvPr id="27" name="A6_247"/>
          <p:cNvSpPr txBox="1"/>
          <p:nvPr/>
        </p:nvSpPr>
        <p:spPr>
          <a:xfrm>
            <a:off x="5349240" y="4791456"/>
            <a:ext cx="2743200" cy="640080"/>
          </a:xfrm>
          <a:prstGeom prst="rect">
            <a:avLst/>
          </a:prstGeom>
          <a:noFill/>
          <a:ln/>
        </p:spPr>
        <p:txBody>
          <a:bodyPr wrap="square" lIns="0" tIns="0" rIns="0" bIns="0" rtlCol="0" anchor="t"/>
          <a:lstStyle/>
          <a:p>
            <a:pPr marL="0" indent="0">
              <a:buNone/>
            </a:pPr>
            <a:r>
              <a:rPr lang="en-US" sz="1300" dirty="0">
                <a:solidFill>
                  <a:srgbClr val="5B6B7F"/>
                </a:solidFill>
              </a:rPr>
              <a:t>tout démarre en une seule commande</a:t>
            </a:r>
            <a:endParaRPr lang="en-US" sz="1300" dirty="0"/>
          </a:p>
        </p:txBody>
      </p:sp>
      <p:sp>
        <p:nvSpPr>
          <p:cNvPr id="28" name="A7_248"/>
          <p:cNvSpPr/>
          <p:nvPr/>
        </p:nvSpPr>
        <p:spPr>
          <a:xfrm>
            <a:off x="8412480" y="1417320"/>
            <a:ext cx="3227832" cy="4343400"/>
          </a:xfrm>
          <a:prstGeom prst="roundRect">
            <a:avLst>
              <a:gd name="adj" fmla="val 3399"/>
            </a:avLst>
          </a:prstGeom>
          <a:solidFill>
            <a:srgbClr val="0B1F3A"/>
          </a:solidFill>
          <a:ln w="12700">
            <a:solidFill>
              <a:srgbClr val="FFFFFF"/>
            </a:solidFill>
            <a:prstDash val="solid"/>
          </a:ln>
          <a:effectLst>
            <a:outerShdw blurRad="101600" dist="25400" dir="5400000" algn="bl" rotWithShape="0">
              <a:srgbClr val="0B1F3A">
                <a:alpha val="12000"/>
              </a:srgbClr>
            </a:outerShdw>
          </a:effectLst>
        </p:spPr>
      </p:sp>
      <p:sp>
        <p:nvSpPr>
          <p:cNvPr id="29" name="A7_249"/>
          <p:cNvSpPr/>
          <p:nvPr/>
        </p:nvSpPr>
        <p:spPr>
          <a:xfrm>
            <a:off x="9473184" y="1828800"/>
            <a:ext cx="1097280" cy="1097280"/>
          </a:xfrm>
          <a:prstGeom prst="ellipse">
            <a:avLst/>
          </a:prstGeom>
          <a:solidFill>
            <a:srgbClr val="0E5CA8"/>
          </a:solidFill>
          <a:ln w="12700">
            <a:solidFill>
              <a:srgbClr val="0E5CA8"/>
            </a:solidFill>
            <a:prstDash val="solid"/>
          </a:ln>
        </p:spPr>
      </p:sp>
      <p:pic>
        <p:nvPicPr>
          <p:cNvPr id="30" name="A7_250" descr="FaUserShield"/>
          <p:cNvPicPr>
            <a:picLocks noChangeAspect="1"/>
          </p:cNvPicPr>
          <p:nvPr/>
        </p:nvPicPr>
        <p:blipFill>
          <a:blip r:embed="rId9"/>
          <a:stretch>
            <a:fillRect/>
          </a:stretch>
        </p:blipFill>
        <p:spPr>
          <a:xfrm>
            <a:off x="9747504" y="2103120"/>
            <a:ext cx="548640" cy="548640"/>
          </a:xfrm>
          <a:prstGeom prst="rect">
            <a:avLst/>
          </a:prstGeom>
        </p:spPr>
      </p:pic>
      <p:sp>
        <p:nvSpPr>
          <p:cNvPr id="31" name="A7_251"/>
          <p:cNvSpPr txBox="1"/>
          <p:nvPr/>
        </p:nvSpPr>
        <p:spPr>
          <a:xfrm>
            <a:off x="8686800" y="3200400"/>
            <a:ext cx="2679192" cy="2194560"/>
          </a:xfrm>
          <a:prstGeom prst="rect">
            <a:avLst/>
          </a:prstGeom>
          <a:noFill/>
          <a:ln/>
        </p:spPr>
        <p:txBody>
          <a:bodyPr wrap="square" lIns="0" tIns="0" rIns="0" bIns="0" rtlCol="0" anchor="t"/>
          <a:lstStyle/>
          <a:p>
            <a:pPr marL="0" indent="0" algn="ctr">
              <a:buNone/>
            </a:pPr>
            <a:r>
              <a:rPr lang="en-US" sz="2100" b="1" i="1" dirty="0">
                <a:solidFill>
                  <a:srgbClr val="FFFFFF"/>
                </a:solidFill>
              </a:rPr>
              <a:t>Un outil de sécurité doit lui-même être exemplaire.</a:t>
            </a:r>
            <a:endParaRPr lang="en-US" sz="2100" dirty="0"/>
          </a:p>
        </p:txBody>
      </p:sp>
      <p:sp>
        <p:nvSpPr>
          <p:cNvPr id="32"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12</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par>
                          <p:cTn id="17" fill="hold">
                            <p:stCondLst>
                              <p:cond delay="9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childTnLst>
                          </p:cTn>
                        </p:par>
                        <p:par>
                          <p:cTn id="30" fill="hold">
                            <p:stCondLst>
                              <p:cond delay="16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childTnLst>
                          </p:cTn>
                        </p:par>
                        <p:par>
                          <p:cTn id="43" fill="hold">
                            <p:stCondLst>
                              <p:cond delay="230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childTnLst>
                          </p:cTn>
                        </p:par>
                        <p:par>
                          <p:cTn id="56" fill="hold">
                            <p:stCondLst>
                              <p:cond delay="300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5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childTnLst>
                          </p:cTn>
                        </p:par>
                        <p:par>
                          <p:cTn id="69" fill="hold">
                            <p:stCondLst>
                              <p:cond delay="3700"/>
                            </p:stCondLst>
                            <p:childTnLst>
                              <p:par>
                                <p:cTn id="70" presetID="10" presetClass="entr" presetSubtype="0"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5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childTnLst>
                          </p:cTn>
                        </p:par>
                        <p:par>
                          <p:cTn id="82" fill="hold">
                            <p:stCondLst>
                              <p:cond delay="4400"/>
                            </p:stCondLst>
                            <p:childTnLst>
                              <p:par>
                                <p:cTn id="83" presetID="10" presetClass="entr" presetSubtype="0" fill="hold" grpId="0" nodeType="after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45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29"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252"/>
          <p:cNvSpPr txBox="1"/>
          <p:nvPr/>
        </p:nvSpPr>
        <p:spPr>
          <a:xfrm>
            <a:off x="548640" y="3657600"/>
            <a:ext cx="3657600" cy="320040"/>
          </a:xfrm>
          <a:prstGeom prst="rect">
            <a:avLst/>
          </a:prstGeom>
          <a:noFill/>
          <a:ln/>
        </p:spPr>
        <p:txBody>
          <a:bodyPr wrap="square" lIns="0" tIns="0" rIns="0" bIns="0" rtlCol="0" anchor="t"/>
          <a:lstStyle/>
          <a:p>
            <a:pPr marL="0" indent="0">
              <a:buNone/>
            </a:pPr>
            <a:r>
              <a:rPr lang="en-US" sz="1400" dirty="0">
                <a:solidFill>
                  <a:srgbClr val="DCE8F6"/>
                </a:solidFill>
              </a:rPr>
              <a:t>Partie 03</a:t>
            </a:r>
            <a:endParaRPr lang="en-US" sz="1400" dirty="0"/>
          </a:p>
        </p:txBody>
      </p:sp>
      <p:sp>
        <p:nvSpPr>
          <p:cNvPr id="3" name="A1_253"/>
          <p:cNvSpPr txBox="1"/>
          <p:nvPr/>
        </p:nvSpPr>
        <p:spPr>
          <a:xfrm>
            <a:off x="548640" y="4005072"/>
            <a:ext cx="36576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La conception</a:t>
            </a:r>
            <a:endParaRPr lang="en-US" sz="3200" dirty="0"/>
          </a:p>
        </p:txBody>
      </p:sp>
    </p:spTree>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Qui utilise l'assistant ?</a:t>
            </a:r>
            <a:endParaRPr lang="en-US" sz="3000" dirty="0"/>
          </a:p>
        </p:txBody>
      </p:sp>
      <p:sp>
        <p:nvSpPr>
          <p:cNvPr id="3" name="o_254"/>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CAS D'UTILISATION</a:t>
            </a:r>
            <a:endParaRPr lang="en-US" sz="1100" dirty="0"/>
          </a:p>
        </p:txBody>
      </p:sp>
      <p:sp>
        <p:nvSpPr>
          <p:cNvPr id="4" name="A1_255"/>
          <p:cNvSpPr/>
          <p:nvPr/>
        </p:nvSpPr>
        <p:spPr>
          <a:xfrm>
            <a:off x="548640" y="1371600"/>
            <a:ext cx="2606040" cy="4160520"/>
          </a:xfrm>
          <a:prstGeom prst="roundRect">
            <a:avLst>
              <a:gd name="adj" fmla="val 4211"/>
            </a:avLst>
          </a:prstGeom>
          <a:solidFill>
            <a:srgbClr val="EEF4FB"/>
          </a:solidFill>
          <a:ln w="12700">
            <a:solidFill>
              <a:srgbClr val="FFFFFF"/>
            </a:solidFill>
            <a:prstDash val="solid"/>
          </a:ln>
        </p:spPr>
      </p:sp>
      <p:sp>
        <p:nvSpPr>
          <p:cNvPr id="5" name="A1_256"/>
          <p:cNvSpPr/>
          <p:nvPr/>
        </p:nvSpPr>
        <p:spPr>
          <a:xfrm>
            <a:off x="1389888" y="1600200"/>
            <a:ext cx="914400" cy="914400"/>
          </a:xfrm>
          <a:prstGeom prst="ellipse">
            <a:avLst/>
          </a:prstGeom>
          <a:solidFill>
            <a:srgbClr val="0E5CA8"/>
          </a:solidFill>
          <a:ln w="12700">
            <a:solidFill>
              <a:srgbClr val="0E5CA8"/>
            </a:solidFill>
            <a:prstDash val="solid"/>
          </a:ln>
        </p:spPr>
      </p:sp>
      <p:pic>
        <p:nvPicPr>
          <p:cNvPr id="6" name="A1_257" descr="FaCode"/>
          <p:cNvPicPr>
            <a:picLocks noChangeAspect="1"/>
          </p:cNvPicPr>
          <p:nvPr/>
        </p:nvPicPr>
        <p:blipFill>
          <a:blip r:embed="rId3"/>
          <a:stretch>
            <a:fillRect/>
          </a:stretch>
        </p:blipFill>
        <p:spPr>
          <a:xfrm>
            <a:off x="1618488" y="1828800"/>
            <a:ext cx="457200" cy="457200"/>
          </a:xfrm>
          <a:prstGeom prst="rect">
            <a:avLst/>
          </a:prstGeom>
        </p:spPr>
      </p:pic>
      <p:sp>
        <p:nvSpPr>
          <p:cNvPr id="7" name="A1_258"/>
          <p:cNvSpPr txBox="1"/>
          <p:nvPr/>
        </p:nvSpPr>
        <p:spPr>
          <a:xfrm>
            <a:off x="685800" y="2651760"/>
            <a:ext cx="2331720" cy="384048"/>
          </a:xfrm>
          <a:prstGeom prst="rect">
            <a:avLst/>
          </a:prstGeom>
          <a:noFill/>
          <a:ln/>
        </p:spPr>
        <p:txBody>
          <a:bodyPr wrap="square" lIns="0" tIns="0" rIns="0" bIns="0" rtlCol="0" anchor="t"/>
          <a:lstStyle/>
          <a:p>
            <a:pPr marL="0" indent="0" algn="ctr">
              <a:buNone/>
            </a:pPr>
            <a:r>
              <a:rPr lang="en-US" sz="1700" b="1" dirty="0">
                <a:solidFill>
                  <a:schemeClr val="tx2"/>
                </a:solidFill>
              </a:rPr>
              <a:t>Développeur</a:t>
            </a:r>
            <a:endParaRPr lang="en-US" sz="1700" dirty="0"/>
          </a:p>
        </p:txBody>
      </p:sp>
      <p:sp>
        <p:nvSpPr>
          <p:cNvPr id="8" name="A1_259"/>
          <p:cNvSpPr txBox="1"/>
          <p:nvPr/>
        </p:nvSpPr>
        <p:spPr>
          <a:xfrm>
            <a:off x="731520" y="3108960"/>
            <a:ext cx="228600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Consulte le tableau de bord</a:t>
            </a:r>
            <a:endParaRPr lang="en-US" sz="1300" dirty="0"/>
          </a:p>
          <a:p>
            <a:pPr marL="177800" indent="-177800">
              <a:spcAft>
                <a:spcPts val="600"/>
              </a:spcAft>
              <a:buSzPct val="100000"/>
              <a:buChar char="•"/>
            </a:pPr>
            <a:r>
              <a:rPr lang="en-US" sz="1300" dirty="0">
                <a:solidFill>
                  <a:schemeClr val="tx1"/>
                </a:solidFill>
              </a:rPr>
              <a:t>Analyse journaux et tests</a:t>
            </a:r>
            <a:endParaRPr lang="en-US" sz="1300" dirty="0"/>
          </a:p>
          <a:p>
            <a:pPr marL="177800" indent="-177800">
              <a:spcAft>
                <a:spcPts val="600"/>
              </a:spcAft>
              <a:buSzPct val="100000"/>
              <a:buChar char="•"/>
            </a:pPr>
            <a:r>
              <a:rPr lang="en-US" sz="1300" dirty="0">
                <a:solidFill>
                  <a:schemeClr val="tx1"/>
                </a:solidFill>
              </a:rPr>
              <a:t>Discute avec le copilote IA</a:t>
            </a:r>
            <a:endParaRPr lang="en-US" sz="1300" dirty="0"/>
          </a:p>
        </p:txBody>
      </p:sp>
      <p:sp>
        <p:nvSpPr>
          <p:cNvPr id="9" name="A2_260"/>
          <p:cNvSpPr/>
          <p:nvPr/>
        </p:nvSpPr>
        <p:spPr>
          <a:xfrm>
            <a:off x="3374136" y="1371600"/>
            <a:ext cx="2606040" cy="4160520"/>
          </a:xfrm>
          <a:prstGeom prst="roundRect">
            <a:avLst>
              <a:gd name="adj" fmla="val 4211"/>
            </a:avLst>
          </a:prstGeom>
          <a:solidFill>
            <a:srgbClr val="EEF4FB"/>
          </a:solidFill>
          <a:ln w="12700">
            <a:solidFill>
              <a:srgbClr val="FFFFFF"/>
            </a:solidFill>
            <a:prstDash val="solid"/>
          </a:ln>
        </p:spPr>
      </p:sp>
      <p:sp>
        <p:nvSpPr>
          <p:cNvPr id="10" name="A2_261"/>
          <p:cNvSpPr/>
          <p:nvPr/>
        </p:nvSpPr>
        <p:spPr>
          <a:xfrm>
            <a:off x="4215384" y="1600200"/>
            <a:ext cx="914400" cy="914400"/>
          </a:xfrm>
          <a:prstGeom prst="ellipse">
            <a:avLst/>
          </a:prstGeom>
          <a:solidFill>
            <a:srgbClr val="0E5CA8"/>
          </a:solidFill>
          <a:ln w="12700">
            <a:solidFill>
              <a:srgbClr val="0E5CA8"/>
            </a:solidFill>
            <a:prstDash val="solid"/>
          </a:ln>
        </p:spPr>
      </p:sp>
      <p:pic>
        <p:nvPicPr>
          <p:cNvPr id="11" name="A2_262" descr="FaUserCheck"/>
          <p:cNvPicPr>
            <a:picLocks noChangeAspect="1"/>
          </p:cNvPicPr>
          <p:nvPr/>
        </p:nvPicPr>
        <p:blipFill>
          <a:blip r:embed="rId4"/>
          <a:stretch>
            <a:fillRect/>
          </a:stretch>
        </p:blipFill>
        <p:spPr>
          <a:xfrm>
            <a:off x="4443984" y="1828800"/>
            <a:ext cx="457200" cy="457200"/>
          </a:xfrm>
          <a:prstGeom prst="rect">
            <a:avLst/>
          </a:prstGeom>
        </p:spPr>
      </p:pic>
      <p:sp>
        <p:nvSpPr>
          <p:cNvPr id="12" name="A2_263"/>
          <p:cNvSpPr txBox="1"/>
          <p:nvPr/>
        </p:nvSpPr>
        <p:spPr>
          <a:xfrm>
            <a:off x="3511296" y="2651760"/>
            <a:ext cx="2331720" cy="384048"/>
          </a:xfrm>
          <a:prstGeom prst="rect">
            <a:avLst/>
          </a:prstGeom>
          <a:noFill/>
          <a:ln/>
        </p:spPr>
        <p:txBody>
          <a:bodyPr wrap="square" lIns="0" tIns="0" rIns="0" bIns="0" rtlCol="0" anchor="t"/>
          <a:lstStyle/>
          <a:p>
            <a:pPr marL="0" indent="0" algn="ctr">
              <a:buNone/>
            </a:pPr>
            <a:r>
              <a:rPr lang="en-US" sz="1700" b="1" dirty="0">
                <a:solidFill>
                  <a:schemeClr val="tx2"/>
                </a:solidFill>
              </a:rPr>
              <a:t>Responsable qualité</a:t>
            </a:r>
            <a:endParaRPr lang="en-US" sz="1700" dirty="0"/>
          </a:p>
        </p:txBody>
      </p:sp>
      <p:sp>
        <p:nvSpPr>
          <p:cNvPr id="13" name="A2_264"/>
          <p:cNvSpPr txBox="1"/>
          <p:nvPr/>
        </p:nvSpPr>
        <p:spPr>
          <a:xfrm>
            <a:off x="3557016" y="3108960"/>
            <a:ext cx="2240280" cy="457200"/>
          </a:xfrm>
          <a:prstGeom prst="rect">
            <a:avLst/>
          </a:prstGeom>
          <a:noFill/>
          <a:ln/>
        </p:spPr>
        <p:txBody>
          <a:bodyPr wrap="square" lIns="0" tIns="0" rIns="0" bIns="0" rtlCol="0" anchor="t"/>
          <a:lstStyle/>
          <a:p>
            <a:pPr marL="0" indent="0">
              <a:buNone/>
            </a:pPr>
            <a:r>
              <a:rPr lang="en-US" sz="1200" i="1" dirty="0">
                <a:solidFill>
                  <a:srgbClr val="5B6B7F"/>
                </a:solidFill>
              </a:rPr>
              <a:t>Tout ce que fait le développeur, plus :</a:t>
            </a:r>
            <a:endParaRPr lang="en-US" sz="1200" dirty="0"/>
          </a:p>
        </p:txBody>
      </p:sp>
      <p:sp>
        <p:nvSpPr>
          <p:cNvPr id="14" name="A2_265"/>
          <p:cNvSpPr txBox="1"/>
          <p:nvPr/>
        </p:nvSpPr>
        <p:spPr>
          <a:xfrm>
            <a:off x="3557016" y="3611880"/>
            <a:ext cx="228600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Gère les failles de sécurité</a:t>
            </a:r>
            <a:endParaRPr lang="en-US" sz="1300" dirty="0"/>
          </a:p>
          <a:p>
            <a:pPr marL="177800" indent="-177800">
              <a:spcAft>
                <a:spcPts val="600"/>
              </a:spcAft>
              <a:buSzPct val="100000"/>
              <a:buChar char="•"/>
            </a:pPr>
            <a:r>
              <a:rPr lang="en-US" sz="1300" dirty="0">
                <a:solidFill>
                  <a:schemeClr val="tx1"/>
                </a:solidFill>
              </a:rPr>
              <a:t>Valide les propositions de l'IA</a:t>
            </a:r>
            <a:endParaRPr lang="en-US" sz="1300" dirty="0"/>
          </a:p>
          <a:p>
            <a:pPr marL="177800" indent="-177800">
              <a:spcAft>
                <a:spcPts val="600"/>
              </a:spcAft>
              <a:buSzPct val="100000"/>
              <a:buChar char="•"/>
            </a:pPr>
            <a:r>
              <a:rPr lang="en-US" sz="1300" dirty="0">
                <a:solidFill>
                  <a:schemeClr val="tx1"/>
                </a:solidFill>
              </a:rPr>
              <a:t>Consulte l'historique des actions</a:t>
            </a:r>
            <a:endParaRPr lang="en-US" sz="1300" dirty="0"/>
          </a:p>
        </p:txBody>
      </p:sp>
      <p:sp>
        <p:nvSpPr>
          <p:cNvPr id="15" name="A2_266"/>
          <p:cNvSpPr/>
          <p:nvPr/>
        </p:nvSpPr>
        <p:spPr>
          <a:xfrm>
            <a:off x="3044952" y="1874520"/>
            <a:ext cx="438912" cy="438912"/>
          </a:xfrm>
          <a:prstGeom prst="ellipse">
            <a:avLst/>
          </a:prstGeom>
          <a:solidFill>
            <a:srgbClr val="F2A900"/>
          </a:solidFill>
          <a:ln w="25400">
            <a:solidFill>
              <a:srgbClr val="FFFFFF"/>
            </a:solidFill>
            <a:prstDash val="solid"/>
          </a:ln>
        </p:spPr>
      </p:sp>
      <p:sp>
        <p:nvSpPr>
          <p:cNvPr id="16" name="A2_267"/>
          <p:cNvSpPr txBox="1"/>
          <p:nvPr/>
        </p:nvSpPr>
        <p:spPr>
          <a:xfrm>
            <a:off x="3044952" y="187452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rPr>
              <a:t>+</a:t>
            </a:r>
            <a:endParaRPr lang="en-US" sz="2000" dirty="0"/>
          </a:p>
        </p:txBody>
      </p:sp>
      <p:sp>
        <p:nvSpPr>
          <p:cNvPr id="17" name="A3_268"/>
          <p:cNvSpPr/>
          <p:nvPr/>
        </p:nvSpPr>
        <p:spPr>
          <a:xfrm>
            <a:off x="6199632" y="1371600"/>
            <a:ext cx="2606040" cy="4160520"/>
          </a:xfrm>
          <a:prstGeom prst="roundRect">
            <a:avLst>
              <a:gd name="adj" fmla="val 4211"/>
            </a:avLst>
          </a:prstGeom>
          <a:solidFill>
            <a:srgbClr val="EEF4FB"/>
          </a:solidFill>
          <a:ln w="12700">
            <a:solidFill>
              <a:srgbClr val="FFFFFF"/>
            </a:solidFill>
            <a:prstDash val="solid"/>
          </a:ln>
        </p:spPr>
      </p:sp>
      <p:sp>
        <p:nvSpPr>
          <p:cNvPr id="18" name="A3_269"/>
          <p:cNvSpPr/>
          <p:nvPr/>
        </p:nvSpPr>
        <p:spPr>
          <a:xfrm>
            <a:off x="7040880" y="1600200"/>
            <a:ext cx="914400" cy="914400"/>
          </a:xfrm>
          <a:prstGeom prst="ellipse">
            <a:avLst/>
          </a:prstGeom>
          <a:solidFill>
            <a:srgbClr val="0E5CA8"/>
          </a:solidFill>
          <a:ln w="12700">
            <a:solidFill>
              <a:srgbClr val="0E5CA8"/>
            </a:solidFill>
            <a:prstDash val="solid"/>
          </a:ln>
        </p:spPr>
      </p:sp>
      <p:pic>
        <p:nvPicPr>
          <p:cNvPr id="19" name="A3_270" descr="FaUserCog"/>
          <p:cNvPicPr>
            <a:picLocks noChangeAspect="1"/>
          </p:cNvPicPr>
          <p:nvPr/>
        </p:nvPicPr>
        <p:blipFill>
          <a:blip r:embed="rId5"/>
          <a:stretch>
            <a:fillRect/>
          </a:stretch>
        </p:blipFill>
        <p:spPr>
          <a:xfrm>
            <a:off x="7269480" y="1828800"/>
            <a:ext cx="457200" cy="457200"/>
          </a:xfrm>
          <a:prstGeom prst="rect">
            <a:avLst/>
          </a:prstGeom>
        </p:spPr>
      </p:pic>
      <p:sp>
        <p:nvSpPr>
          <p:cNvPr id="20" name="A3_271"/>
          <p:cNvSpPr txBox="1"/>
          <p:nvPr/>
        </p:nvSpPr>
        <p:spPr>
          <a:xfrm>
            <a:off x="6336792" y="2651760"/>
            <a:ext cx="2331720" cy="384048"/>
          </a:xfrm>
          <a:prstGeom prst="rect">
            <a:avLst/>
          </a:prstGeom>
          <a:noFill/>
          <a:ln/>
        </p:spPr>
        <p:txBody>
          <a:bodyPr wrap="square" lIns="0" tIns="0" rIns="0" bIns="0" rtlCol="0" anchor="t"/>
          <a:lstStyle/>
          <a:p>
            <a:pPr marL="0" indent="0" algn="ctr">
              <a:buNone/>
            </a:pPr>
            <a:r>
              <a:rPr lang="en-US" sz="1700" b="1" dirty="0">
                <a:solidFill>
                  <a:schemeClr val="tx2"/>
                </a:solidFill>
              </a:rPr>
              <a:t>Administrateur</a:t>
            </a:r>
            <a:endParaRPr lang="en-US" sz="1700" dirty="0"/>
          </a:p>
        </p:txBody>
      </p:sp>
      <p:sp>
        <p:nvSpPr>
          <p:cNvPr id="21" name="A3_272"/>
          <p:cNvSpPr txBox="1"/>
          <p:nvPr/>
        </p:nvSpPr>
        <p:spPr>
          <a:xfrm>
            <a:off x="6382512" y="3108960"/>
            <a:ext cx="2240280" cy="457200"/>
          </a:xfrm>
          <a:prstGeom prst="rect">
            <a:avLst/>
          </a:prstGeom>
          <a:noFill/>
          <a:ln/>
        </p:spPr>
        <p:txBody>
          <a:bodyPr wrap="square" lIns="0" tIns="0" rIns="0" bIns="0" rtlCol="0" anchor="t"/>
          <a:lstStyle/>
          <a:p>
            <a:pPr marL="0" indent="0">
              <a:buNone/>
            </a:pPr>
            <a:r>
              <a:rPr lang="en-US" sz="1200" i="1" dirty="0">
                <a:solidFill>
                  <a:srgbClr val="5B6B7F"/>
                </a:solidFill>
              </a:rPr>
              <a:t>Tout ce que fait le responsable, plus :</a:t>
            </a:r>
            <a:endParaRPr lang="en-US" sz="1200" dirty="0"/>
          </a:p>
        </p:txBody>
      </p:sp>
      <p:sp>
        <p:nvSpPr>
          <p:cNvPr id="22" name="A3_273"/>
          <p:cNvSpPr txBox="1"/>
          <p:nvPr/>
        </p:nvSpPr>
        <p:spPr>
          <a:xfrm>
            <a:off x="6382512" y="3611880"/>
            <a:ext cx="228600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Gère les comptes des utilisateurs</a:t>
            </a:r>
            <a:endParaRPr lang="en-US" sz="1300" dirty="0"/>
          </a:p>
        </p:txBody>
      </p:sp>
      <p:sp>
        <p:nvSpPr>
          <p:cNvPr id="23" name="A3_274"/>
          <p:cNvSpPr/>
          <p:nvPr/>
        </p:nvSpPr>
        <p:spPr>
          <a:xfrm>
            <a:off x="5870448" y="1874520"/>
            <a:ext cx="438912" cy="438912"/>
          </a:xfrm>
          <a:prstGeom prst="ellipse">
            <a:avLst/>
          </a:prstGeom>
          <a:solidFill>
            <a:srgbClr val="F2A900"/>
          </a:solidFill>
          <a:ln w="25400">
            <a:solidFill>
              <a:srgbClr val="FFFFFF"/>
            </a:solidFill>
            <a:prstDash val="solid"/>
          </a:ln>
        </p:spPr>
      </p:sp>
      <p:sp>
        <p:nvSpPr>
          <p:cNvPr id="24" name="A3_275"/>
          <p:cNvSpPr txBox="1"/>
          <p:nvPr/>
        </p:nvSpPr>
        <p:spPr>
          <a:xfrm>
            <a:off x="5870448" y="187452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rPr>
              <a:t>+</a:t>
            </a:r>
            <a:endParaRPr lang="en-US" sz="2000" dirty="0"/>
          </a:p>
        </p:txBody>
      </p:sp>
      <p:sp>
        <p:nvSpPr>
          <p:cNvPr id="25" name="A4_276"/>
          <p:cNvSpPr/>
          <p:nvPr/>
        </p:nvSpPr>
        <p:spPr>
          <a:xfrm>
            <a:off x="9025128" y="1371600"/>
            <a:ext cx="2606040" cy="4160520"/>
          </a:xfrm>
          <a:prstGeom prst="roundRect">
            <a:avLst>
              <a:gd name="adj" fmla="val 4211"/>
            </a:avLst>
          </a:prstGeom>
          <a:solidFill>
            <a:srgbClr val="F3F5F8"/>
          </a:solidFill>
          <a:ln w="12700">
            <a:solidFill>
              <a:srgbClr val="FFFFFF"/>
            </a:solidFill>
            <a:prstDash val="solid"/>
          </a:ln>
        </p:spPr>
      </p:sp>
      <p:sp>
        <p:nvSpPr>
          <p:cNvPr id="26" name="A4_277"/>
          <p:cNvSpPr/>
          <p:nvPr/>
        </p:nvSpPr>
        <p:spPr>
          <a:xfrm>
            <a:off x="9866376" y="1600200"/>
            <a:ext cx="914400" cy="914400"/>
          </a:xfrm>
          <a:prstGeom prst="ellipse">
            <a:avLst/>
          </a:prstGeom>
          <a:solidFill>
            <a:srgbClr val="5B6B7F"/>
          </a:solidFill>
          <a:ln w="12700">
            <a:solidFill>
              <a:srgbClr val="5B6B7F"/>
            </a:solidFill>
            <a:prstDash val="solid"/>
          </a:ln>
        </p:spPr>
      </p:sp>
      <p:pic>
        <p:nvPicPr>
          <p:cNvPr id="27" name="A4_278" descr="FaRobot"/>
          <p:cNvPicPr>
            <a:picLocks noChangeAspect="1"/>
          </p:cNvPicPr>
          <p:nvPr/>
        </p:nvPicPr>
        <p:blipFill>
          <a:blip r:embed="rId6"/>
          <a:stretch>
            <a:fillRect/>
          </a:stretch>
        </p:blipFill>
        <p:spPr>
          <a:xfrm>
            <a:off x="10094976" y="1828800"/>
            <a:ext cx="457200" cy="457200"/>
          </a:xfrm>
          <a:prstGeom prst="rect">
            <a:avLst/>
          </a:prstGeom>
        </p:spPr>
      </p:pic>
      <p:sp>
        <p:nvSpPr>
          <p:cNvPr id="28" name="A4_279"/>
          <p:cNvSpPr txBox="1"/>
          <p:nvPr/>
        </p:nvSpPr>
        <p:spPr>
          <a:xfrm>
            <a:off x="9162288" y="2651760"/>
            <a:ext cx="2331720" cy="384048"/>
          </a:xfrm>
          <a:prstGeom prst="rect">
            <a:avLst/>
          </a:prstGeom>
          <a:noFill/>
          <a:ln/>
        </p:spPr>
        <p:txBody>
          <a:bodyPr wrap="square" lIns="0" tIns="0" rIns="0" bIns="0" rtlCol="0" anchor="t"/>
          <a:lstStyle/>
          <a:p>
            <a:pPr marL="0" indent="0" algn="ctr">
              <a:buNone/>
            </a:pPr>
            <a:r>
              <a:rPr lang="en-US" sz="1700" b="1" dirty="0">
                <a:solidFill>
                  <a:schemeClr val="tx2"/>
                </a:solidFill>
              </a:rPr>
              <a:t>Chaîne de livraison</a:t>
            </a:r>
            <a:endParaRPr lang="en-US" sz="1700" dirty="0"/>
          </a:p>
        </p:txBody>
      </p:sp>
      <p:sp>
        <p:nvSpPr>
          <p:cNvPr id="29" name="A4_280"/>
          <p:cNvSpPr txBox="1"/>
          <p:nvPr/>
        </p:nvSpPr>
        <p:spPr>
          <a:xfrm>
            <a:off x="9208008" y="3108960"/>
            <a:ext cx="2240280" cy="457200"/>
          </a:xfrm>
          <a:prstGeom prst="rect">
            <a:avLst/>
          </a:prstGeom>
          <a:noFill/>
          <a:ln/>
        </p:spPr>
        <p:txBody>
          <a:bodyPr wrap="square" lIns="0" tIns="0" rIns="0" bIns="0" rtlCol="0" anchor="t"/>
          <a:lstStyle/>
          <a:p>
            <a:pPr marL="0" indent="0">
              <a:buNone/>
            </a:pPr>
            <a:r>
              <a:rPr lang="en-US" sz="1200" i="1" dirty="0">
                <a:solidFill>
                  <a:srgbClr val="5B6B7F"/>
                </a:solidFill>
              </a:rPr>
              <a:t>Acteur automatique :</a:t>
            </a:r>
            <a:endParaRPr lang="en-US" sz="1200" dirty="0"/>
          </a:p>
        </p:txBody>
      </p:sp>
      <p:sp>
        <p:nvSpPr>
          <p:cNvPr id="30" name="A4_281"/>
          <p:cNvSpPr txBox="1"/>
          <p:nvPr/>
        </p:nvSpPr>
        <p:spPr>
          <a:xfrm>
            <a:off x="9208008" y="3611880"/>
            <a:ext cx="228600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Envoie ses résultats (journaux, tests, scans)</a:t>
            </a:r>
            <a:endParaRPr lang="en-US" sz="1300" dirty="0"/>
          </a:p>
          <a:p>
            <a:pPr marL="177800" indent="-177800">
              <a:spcAft>
                <a:spcPts val="600"/>
              </a:spcAft>
              <a:buSzPct val="100000"/>
              <a:buChar char="•"/>
            </a:pPr>
            <a:r>
              <a:rPr lang="en-US" sz="1300" dirty="0">
                <a:solidFill>
                  <a:schemeClr val="tx1"/>
                </a:solidFill>
              </a:rPr>
              <a:t>Vérifie le feu vert avant chaque livraison</a:t>
            </a:r>
            <a:endParaRPr lang="en-US" sz="1300" dirty="0"/>
          </a:p>
        </p:txBody>
      </p:sp>
      <p:pic>
        <p:nvPicPr>
          <p:cNvPr id="31" name="A5_282" descr="preencoded.png"/>
          <p:cNvPicPr>
            <a:picLocks noChangeAspect="1"/>
          </p:cNvPicPr>
          <p:nvPr/>
        </p:nvPicPr>
        <p:blipFill>
          <a:blip r:embed="rId7"/>
          <a:stretch>
            <a:fillRect/>
          </a:stretch>
        </p:blipFill>
        <p:spPr>
          <a:xfrm>
            <a:off x="548640" y="5806440"/>
            <a:ext cx="292608" cy="292608"/>
          </a:xfrm>
          <a:prstGeom prst="rect">
            <a:avLst/>
          </a:prstGeom>
        </p:spPr>
      </p:pic>
      <p:sp>
        <p:nvSpPr>
          <p:cNvPr id="32" name="A5_283"/>
          <p:cNvSpPr txBox="1"/>
          <p:nvPr/>
        </p:nvSpPr>
        <p:spPr>
          <a:xfrm>
            <a:off x="960120" y="5760720"/>
            <a:ext cx="10058400" cy="384048"/>
          </a:xfrm>
          <a:prstGeom prst="rect">
            <a:avLst/>
          </a:prstGeom>
          <a:noFill/>
          <a:ln/>
        </p:spPr>
        <p:txBody>
          <a:bodyPr wrap="square" lIns="0" tIns="0" rIns="0" bIns="0" rtlCol="0" anchor="ctr"/>
          <a:lstStyle/>
          <a:p>
            <a:pPr marL="0" indent="0">
              <a:buNone/>
            </a:pPr>
            <a:r>
              <a:rPr lang="en-US" sz="1300" dirty="0">
                <a:solidFill>
                  <a:srgbClr val="5B6B7F"/>
                </a:solidFill>
              </a:rPr>
              <a:t>Chaque personne se connecte de façon sécurisée avant toute action. (Diagramme UML détaillé en annexe.)</a:t>
            </a:r>
            <a:endParaRPr lang="en-US" sz="1300" dirty="0"/>
          </a:p>
        </p:txBody>
      </p:sp>
      <p:sp>
        <p:nvSpPr>
          <p:cNvPr id="33"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14</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childTnLst>
                          </p:cTn>
                        </p:par>
                        <p:par>
                          <p:cTn id="45" fill="hold">
                            <p:stCondLst>
                              <p:cond delay="1600"/>
                            </p:stCondLst>
                            <p:childTnLst>
                              <p:par>
                                <p:cTn id="46" presetID="10" presetClass="entr" presetSubtype="0"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par>
                          <p:cTn id="70" fill="hold">
                            <p:stCondLst>
                              <p:cond delay="2300"/>
                            </p:stCondLst>
                            <p:childTnLst>
                              <p:par>
                                <p:cTn id="71" presetID="10" presetClass="entr" presetSubtype="0"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childTnLst>
                          </p:cTn>
                        </p:par>
                        <p:par>
                          <p:cTn id="89" fill="hold">
                            <p:stCondLst>
                              <p:cond delay="3000"/>
                            </p:stCondLst>
                            <p:childTnLst>
                              <p:par>
                                <p:cTn id="90" presetID="10" presetClass="entr" presetSubtype="0" fill="hold" nodeType="after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5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284"/>
          <p:cNvSpPr txBox="1"/>
          <p:nvPr/>
        </p:nvSpPr>
        <p:spPr>
          <a:xfrm>
            <a:off x="8138160" y="4160520"/>
            <a:ext cx="3840480" cy="320040"/>
          </a:xfrm>
          <a:prstGeom prst="rect">
            <a:avLst/>
          </a:prstGeom>
          <a:noFill/>
          <a:ln/>
        </p:spPr>
        <p:txBody>
          <a:bodyPr wrap="square" lIns="0" tIns="0" rIns="0" bIns="0" rtlCol="0" anchor="t"/>
          <a:lstStyle/>
          <a:p>
            <a:pPr marL="0" indent="0">
              <a:buNone/>
            </a:pPr>
            <a:r>
              <a:rPr lang="en-US" sz="1400" dirty="0">
                <a:solidFill>
                  <a:srgbClr val="DCE8F6"/>
                </a:solidFill>
              </a:rPr>
              <a:t>Partie 04</a:t>
            </a:r>
            <a:endParaRPr lang="en-US" sz="1400" dirty="0"/>
          </a:p>
        </p:txBody>
      </p:sp>
      <p:sp>
        <p:nvSpPr>
          <p:cNvPr id="3" name="A1_285"/>
          <p:cNvSpPr txBox="1"/>
          <p:nvPr/>
        </p:nvSpPr>
        <p:spPr>
          <a:xfrm>
            <a:off x="8138160" y="4507992"/>
            <a:ext cx="384048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La réalisation</a:t>
            </a:r>
            <a:endParaRPr lang="en-US" sz="3200" dirty="0"/>
          </a:p>
        </p:txBody>
      </p:sp>
    </p:spTree>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Avancer pas à pas avec Scrum</a:t>
            </a:r>
            <a:endParaRPr lang="en-US" sz="3000" dirty="0"/>
          </a:p>
        </p:txBody>
      </p:sp>
      <p:sp>
        <p:nvSpPr>
          <p:cNvPr id="3" name="o_286"/>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MÉTHODOLOGIE</a:t>
            </a:r>
            <a:endParaRPr lang="en-US" sz="1100" dirty="0"/>
          </a:p>
        </p:txBody>
      </p:sp>
      <p:sp>
        <p:nvSpPr>
          <p:cNvPr id="4" name="A1_287"/>
          <p:cNvSpPr/>
          <p:nvPr/>
        </p:nvSpPr>
        <p:spPr>
          <a:xfrm>
            <a:off x="1657807" y="1760220"/>
            <a:ext cx="8873338" cy="0"/>
          </a:xfrm>
          <a:prstGeom prst="line">
            <a:avLst/>
          </a:prstGeom>
          <a:noFill/>
          <a:ln w="31750">
            <a:solidFill>
              <a:srgbClr val="D5E2F0"/>
            </a:solidFill>
            <a:prstDash val="solid"/>
          </a:ln>
        </p:spPr>
      </p:sp>
      <p:sp>
        <p:nvSpPr>
          <p:cNvPr id="5" name="A1_288"/>
          <p:cNvSpPr/>
          <p:nvPr/>
        </p:nvSpPr>
        <p:spPr>
          <a:xfrm>
            <a:off x="1223467" y="1325880"/>
            <a:ext cx="868680" cy="868680"/>
          </a:xfrm>
          <a:prstGeom prst="ellipse">
            <a:avLst/>
          </a:prstGeom>
          <a:solidFill>
            <a:srgbClr val="0E5CA8"/>
          </a:solidFill>
          <a:ln w="12700">
            <a:solidFill>
              <a:srgbClr val="0E5CA8"/>
            </a:solidFill>
            <a:prstDash val="solid"/>
          </a:ln>
        </p:spPr>
      </p:sp>
      <p:pic>
        <p:nvPicPr>
          <p:cNvPr id="6" name="A1_289" descr="FaListOl"/>
          <p:cNvPicPr>
            <a:picLocks noChangeAspect="1"/>
          </p:cNvPicPr>
          <p:nvPr/>
        </p:nvPicPr>
        <p:blipFill>
          <a:blip r:embed="rId3"/>
          <a:stretch>
            <a:fillRect/>
          </a:stretch>
        </p:blipFill>
        <p:spPr>
          <a:xfrm>
            <a:off x="1440637" y="1543050"/>
            <a:ext cx="434340" cy="434340"/>
          </a:xfrm>
          <a:prstGeom prst="rect">
            <a:avLst/>
          </a:prstGeom>
        </p:spPr>
      </p:pic>
      <p:sp>
        <p:nvSpPr>
          <p:cNvPr id="7" name="A1_290"/>
          <p:cNvSpPr txBox="1"/>
          <p:nvPr/>
        </p:nvSpPr>
        <p:spPr>
          <a:xfrm>
            <a:off x="594360" y="233172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Lister</a:t>
            </a:r>
            <a:endParaRPr lang="en-US" sz="1600" dirty="0"/>
          </a:p>
        </p:txBody>
      </p:sp>
      <p:sp>
        <p:nvSpPr>
          <p:cNvPr id="8" name="A1_291"/>
          <p:cNvSpPr txBox="1"/>
          <p:nvPr/>
        </p:nvSpPr>
        <p:spPr>
          <a:xfrm>
            <a:off x="658368" y="269748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les besoins par priorité</a:t>
            </a:r>
            <a:endParaRPr lang="en-US" sz="1250" dirty="0"/>
          </a:p>
        </p:txBody>
      </p:sp>
      <p:sp>
        <p:nvSpPr>
          <p:cNvPr id="9" name="A2_292"/>
          <p:cNvSpPr/>
          <p:nvPr/>
        </p:nvSpPr>
        <p:spPr>
          <a:xfrm>
            <a:off x="3441802" y="1325880"/>
            <a:ext cx="868680" cy="868680"/>
          </a:xfrm>
          <a:prstGeom prst="ellipse">
            <a:avLst/>
          </a:prstGeom>
          <a:solidFill>
            <a:srgbClr val="0E5CA8"/>
          </a:solidFill>
          <a:ln w="12700">
            <a:solidFill>
              <a:srgbClr val="0E5CA8"/>
            </a:solidFill>
            <a:prstDash val="solid"/>
          </a:ln>
        </p:spPr>
      </p:sp>
      <p:pic>
        <p:nvPicPr>
          <p:cNvPr id="10" name="A2_293" descr="FaCalendarAlt"/>
          <p:cNvPicPr>
            <a:picLocks noChangeAspect="1"/>
          </p:cNvPicPr>
          <p:nvPr/>
        </p:nvPicPr>
        <p:blipFill>
          <a:blip r:embed="rId4"/>
          <a:stretch>
            <a:fillRect/>
          </a:stretch>
        </p:blipFill>
        <p:spPr>
          <a:xfrm>
            <a:off x="3658972" y="1543050"/>
            <a:ext cx="434340" cy="434340"/>
          </a:xfrm>
          <a:prstGeom prst="rect">
            <a:avLst/>
          </a:prstGeom>
        </p:spPr>
      </p:pic>
      <p:sp>
        <p:nvSpPr>
          <p:cNvPr id="11" name="A2_294"/>
          <p:cNvSpPr txBox="1"/>
          <p:nvPr/>
        </p:nvSpPr>
        <p:spPr>
          <a:xfrm>
            <a:off x="2812694" y="233172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Planifier</a:t>
            </a:r>
            <a:endParaRPr lang="en-US" sz="1600" dirty="0"/>
          </a:p>
        </p:txBody>
      </p:sp>
      <p:sp>
        <p:nvSpPr>
          <p:cNvPr id="12" name="A2_295"/>
          <p:cNvSpPr txBox="1"/>
          <p:nvPr/>
        </p:nvSpPr>
        <p:spPr>
          <a:xfrm>
            <a:off x="2876702" y="269748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les tâches du sprint</a:t>
            </a:r>
            <a:endParaRPr lang="en-US" sz="1250" dirty="0"/>
          </a:p>
        </p:txBody>
      </p:sp>
      <p:sp>
        <p:nvSpPr>
          <p:cNvPr id="13" name="A3_296"/>
          <p:cNvSpPr/>
          <p:nvPr/>
        </p:nvSpPr>
        <p:spPr>
          <a:xfrm>
            <a:off x="5660136" y="1325880"/>
            <a:ext cx="868680" cy="868680"/>
          </a:xfrm>
          <a:prstGeom prst="ellipse">
            <a:avLst/>
          </a:prstGeom>
          <a:solidFill>
            <a:srgbClr val="0E5CA8"/>
          </a:solidFill>
          <a:ln w="12700">
            <a:solidFill>
              <a:srgbClr val="0E5CA8"/>
            </a:solidFill>
            <a:prstDash val="solid"/>
          </a:ln>
        </p:spPr>
      </p:sp>
      <p:pic>
        <p:nvPicPr>
          <p:cNvPr id="14" name="A3_297" descr="FaCogs"/>
          <p:cNvPicPr>
            <a:picLocks noChangeAspect="1"/>
          </p:cNvPicPr>
          <p:nvPr/>
        </p:nvPicPr>
        <p:blipFill>
          <a:blip r:embed="rId5"/>
          <a:stretch>
            <a:fillRect/>
          </a:stretch>
        </p:blipFill>
        <p:spPr>
          <a:xfrm>
            <a:off x="5877306" y="1543050"/>
            <a:ext cx="434340" cy="434340"/>
          </a:xfrm>
          <a:prstGeom prst="rect">
            <a:avLst/>
          </a:prstGeom>
        </p:spPr>
      </p:pic>
      <p:sp>
        <p:nvSpPr>
          <p:cNvPr id="15" name="A3_298"/>
          <p:cNvSpPr txBox="1"/>
          <p:nvPr/>
        </p:nvSpPr>
        <p:spPr>
          <a:xfrm>
            <a:off x="5031029" y="233172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Développer</a:t>
            </a:r>
            <a:endParaRPr lang="en-US" sz="1600" dirty="0"/>
          </a:p>
        </p:txBody>
      </p:sp>
      <p:sp>
        <p:nvSpPr>
          <p:cNvPr id="16" name="A3_299"/>
          <p:cNvSpPr txBox="1"/>
          <p:nvPr/>
        </p:nvSpPr>
        <p:spPr>
          <a:xfrm>
            <a:off x="5095037" y="269748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2 à 3 semaines</a:t>
            </a:r>
            <a:endParaRPr lang="en-US" sz="1250" dirty="0"/>
          </a:p>
        </p:txBody>
      </p:sp>
      <p:sp>
        <p:nvSpPr>
          <p:cNvPr id="17" name="A4_300"/>
          <p:cNvSpPr/>
          <p:nvPr/>
        </p:nvSpPr>
        <p:spPr>
          <a:xfrm>
            <a:off x="7878470" y="1325880"/>
            <a:ext cx="868680" cy="868680"/>
          </a:xfrm>
          <a:prstGeom prst="ellipse">
            <a:avLst/>
          </a:prstGeom>
          <a:solidFill>
            <a:srgbClr val="0E5CA8"/>
          </a:solidFill>
          <a:ln w="12700">
            <a:solidFill>
              <a:srgbClr val="0E5CA8"/>
            </a:solidFill>
            <a:prstDash val="solid"/>
          </a:ln>
        </p:spPr>
      </p:sp>
      <p:pic>
        <p:nvPicPr>
          <p:cNvPr id="18" name="A4_301" descr="FaCheckCircle"/>
          <p:cNvPicPr>
            <a:picLocks noChangeAspect="1"/>
          </p:cNvPicPr>
          <p:nvPr/>
        </p:nvPicPr>
        <p:blipFill>
          <a:blip r:embed="rId6"/>
          <a:stretch>
            <a:fillRect/>
          </a:stretch>
        </p:blipFill>
        <p:spPr>
          <a:xfrm>
            <a:off x="8095640" y="1543050"/>
            <a:ext cx="434340" cy="434340"/>
          </a:xfrm>
          <a:prstGeom prst="rect">
            <a:avLst/>
          </a:prstGeom>
        </p:spPr>
      </p:pic>
      <p:sp>
        <p:nvSpPr>
          <p:cNvPr id="19" name="A4_302"/>
          <p:cNvSpPr txBox="1"/>
          <p:nvPr/>
        </p:nvSpPr>
        <p:spPr>
          <a:xfrm>
            <a:off x="7249363" y="233172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Livrer</a:t>
            </a:r>
            <a:endParaRPr lang="en-US" sz="1600" dirty="0"/>
          </a:p>
        </p:txBody>
      </p:sp>
      <p:sp>
        <p:nvSpPr>
          <p:cNvPr id="20" name="A4_303"/>
          <p:cNvSpPr txBox="1"/>
          <p:nvPr/>
        </p:nvSpPr>
        <p:spPr>
          <a:xfrm>
            <a:off x="7313371" y="269748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une fonctionnalité testée</a:t>
            </a:r>
            <a:endParaRPr lang="en-US" sz="1250" dirty="0"/>
          </a:p>
        </p:txBody>
      </p:sp>
      <p:sp>
        <p:nvSpPr>
          <p:cNvPr id="21" name="A5_304"/>
          <p:cNvSpPr/>
          <p:nvPr/>
        </p:nvSpPr>
        <p:spPr>
          <a:xfrm>
            <a:off x="10096805" y="1325880"/>
            <a:ext cx="868680" cy="868680"/>
          </a:xfrm>
          <a:prstGeom prst="ellipse">
            <a:avLst/>
          </a:prstGeom>
          <a:solidFill>
            <a:srgbClr val="0E5CA8"/>
          </a:solidFill>
          <a:ln w="12700">
            <a:solidFill>
              <a:srgbClr val="0E5CA8"/>
            </a:solidFill>
            <a:prstDash val="solid"/>
          </a:ln>
        </p:spPr>
      </p:sp>
      <p:pic>
        <p:nvPicPr>
          <p:cNvPr id="22" name="A5_305" descr="FaSyncAlt"/>
          <p:cNvPicPr>
            <a:picLocks noChangeAspect="1"/>
          </p:cNvPicPr>
          <p:nvPr/>
        </p:nvPicPr>
        <p:blipFill>
          <a:blip r:embed="rId7"/>
          <a:stretch>
            <a:fillRect/>
          </a:stretch>
        </p:blipFill>
        <p:spPr>
          <a:xfrm>
            <a:off x="10313975" y="1543050"/>
            <a:ext cx="434340" cy="434340"/>
          </a:xfrm>
          <a:prstGeom prst="rect">
            <a:avLst/>
          </a:prstGeom>
        </p:spPr>
      </p:pic>
      <p:sp>
        <p:nvSpPr>
          <p:cNvPr id="23" name="A5_306"/>
          <p:cNvSpPr txBox="1"/>
          <p:nvPr/>
        </p:nvSpPr>
        <p:spPr>
          <a:xfrm>
            <a:off x="9467698" y="233172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S'améliorer</a:t>
            </a:r>
            <a:endParaRPr lang="en-US" sz="1600" dirty="0"/>
          </a:p>
        </p:txBody>
      </p:sp>
      <p:sp>
        <p:nvSpPr>
          <p:cNvPr id="24" name="A5_307"/>
          <p:cNvSpPr txBox="1"/>
          <p:nvPr/>
        </p:nvSpPr>
        <p:spPr>
          <a:xfrm>
            <a:off x="9531706" y="269748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grâce aux retours</a:t>
            </a:r>
            <a:endParaRPr lang="en-US" sz="1250" dirty="0"/>
          </a:p>
        </p:txBody>
      </p:sp>
      <p:sp>
        <p:nvSpPr>
          <p:cNvPr id="25" name="A6_308"/>
          <p:cNvSpPr txBox="1"/>
          <p:nvPr/>
        </p:nvSpPr>
        <p:spPr>
          <a:xfrm>
            <a:off x="548640" y="3520440"/>
            <a:ext cx="3657600" cy="365760"/>
          </a:xfrm>
          <a:prstGeom prst="rect">
            <a:avLst/>
          </a:prstGeom>
          <a:noFill/>
          <a:ln/>
        </p:spPr>
        <p:txBody>
          <a:bodyPr wrap="square" lIns="0" tIns="0" rIns="0" bIns="0" rtlCol="0" anchor="t"/>
          <a:lstStyle/>
          <a:p>
            <a:pPr marL="0" indent="0">
              <a:buNone/>
            </a:pPr>
            <a:r>
              <a:rPr lang="en-US" sz="1600" b="1" dirty="0">
                <a:solidFill>
                  <a:schemeClr val="tx2"/>
                </a:solidFill>
              </a:rPr>
              <a:t>6 sprints</a:t>
            </a:r>
            <a:endParaRPr lang="en-US" sz="1600" dirty="0"/>
          </a:p>
        </p:txBody>
      </p:sp>
      <p:sp>
        <p:nvSpPr>
          <p:cNvPr id="26" name="A6_309"/>
          <p:cNvSpPr/>
          <p:nvPr/>
        </p:nvSpPr>
        <p:spPr>
          <a:xfrm>
            <a:off x="548640" y="3977640"/>
            <a:ext cx="1920240" cy="731520"/>
          </a:xfrm>
          <a:prstGeom prst="homePlate">
            <a:avLst/>
          </a:prstGeom>
          <a:solidFill>
            <a:srgbClr val="7FB3E6"/>
          </a:solidFill>
          <a:ln w="12700">
            <a:solidFill>
              <a:srgbClr val="FFFFFF"/>
            </a:solidFill>
            <a:prstDash val="solid"/>
          </a:ln>
        </p:spPr>
      </p:sp>
      <p:sp>
        <p:nvSpPr>
          <p:cNvPr id="27" name="A6_310"/>
          <p:cNvSpPr txBox="1"/>
          <p:nvPr/>
        </p:nvSpPr>
        <p:spPr>
          <a:xfrm>
            <a:off x="822960"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1</a:t>
            </a:r>
            <a:endParaRPr lang="en-US" sz="1500" dirty="0"/>
          </a:p>
        </p:txBody>
      </p:sp>
      <p:sp>
        <p:nvSpPr>
          <p:cNvPr id="28" name="A6_311"/>
          <p:cNvSpPr txBox="1"/>
          <p:nvPr/>
        </p:nvSpPr>
        <p:spPr>
          <a:xfrm>
            <a:off x="640080" y="4846320"/>
            <a:ext cx="1691640" cy="822960"/>
          </a:xfrm>
          <a:prstGeom prst="rect">
            <a:avLst/>
          </a:prstGeom>
          <a:noFill/>
          <a:ln/>
        </p:spPr>
        <p:txBody>
          <a:bodyPr wrap="square" lIns="0" tIns="0" rIns="0" bIns="0" rtlCol="0" anchor="t"/>
          <a:lstStyle/>
          <a:p>
            <a:pPr marL="0" indent="0" algn="ctr">
              <a:buNone/>
            </a:pPr>
            <a:r>
              <a:rPr lang="en-US" sz="1300" dirty="0" err="1">
                <a:solidFill>
                  <a:schemeClr val="tx1"/>
                </a:solidFill>
              </a:rPr>
              <a:t>Recherhce</a:t>
            </a:r>
            <a:r>
              <a:rPr lang="en-US" sz="1300" dirty="0">
                <a:solidFill>
                  <a:schemeClr val="tx1"/>
                </a:solidFill>
              </a:rPr>
              <a:t> et etude de </a:t>
            </a:r>
            <a:r>
              <a:rPr lang="en-US" sz="1300" dirty="0" err="1">
                <a:solidFill>
                  <a:schemeClr val="tx1"/>
                </a:solidFill>
              </a:rPr>
              <a:t>projet</a:t>
            </a:r>
            <a:r>
              <a:rPr lang="en-US" sz="1300" dirty="0">
                <a:solidFill>
                  <a:schemeClr val="tx1"/>
                </a:solidFill>
              </a:rPr>
              <a:t> </a:t>
            </a:r>
            <a:endParaRPr lang="en-US" sz="1300" dirty="0"/>
          </a:p>
        </p:txBody>
      </p:sp>
      <p:sp>
        <p:nvSpPr>
          <p:cNvPr id="29" name="A7_312"/>
          <p:cNvSpPr/>
          <p:nvPr/>
        </p:nvSpPr>
        <p:spPr>
          <a:xfrm>
            <a:off x="2404872" y="3977640"/>
            <a:ext cx="1920240" cy="731520"/>
          </a:xfrm>
          <a:prstGeom prst="chevron">
            <a:avLst/>
          </a:prstGeom>
          <a:solidFill>
            <a:srgbClr val="5A9BD8"/>
          </a:solidFill>
          <a:ln w="12700">
            <a:solidFill>
              <a:srgbClr val="FFFFFF"/>
            </a:solidFill>
            <a:prstDash val="solid"/>
          </a:ln>
        </p:spPr>
      </p:sp>
      <p:sp>
        <p:nvSpPr>
          <p:cNvPr id="30" name="A7_313"/>
          <p:cNvSpPr txBox="1"/>
          <p:nvPr/>
        </p:nvSpPr>
        <p:spPr>
          <a:xfrm>
            <a:off x="2679192"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2</a:t>
            </a:r>
            <a:endParaRPr lang="en-US" sz="1500" dirty="0"/>
          </a:p>
        </p:txBody>
      </p:sp>
      <p:sp>
        <p:nvSpPr>
          <p:cNvPr id="31" name="A7_314"/>
          <p:cNvSpPr txBox="1"/>
          <p:nvPr/>
        </p:nvSpPr>
        <p:spPr>
          <a:xfrm>
            <a:off x="2496312" y="4846320"/>
            <a:ext cx="1691640" cy="822960"/>
          </a:xfrm>
          <a:prstGeom prst="rect">
            <a:avLst/>
          </a:prstGeom>
          <a:noFill/>
          <a:ln/>
        </p:spPr>
        <p:txBody>
          <a:bodyPr wrap="square" lIns="0" tIns="0" rIns="0" bIns="0" rtlCol="0" anchor="t"/>
          <a:lstStyle/>
          <a:p>
            <a:pPr marL="0" indent="0" algn="ctr">
              <a:buNone/>
            </a:pPr>
            <a:r>
              <a:rPr lang="en-US" sz="1300" dirty="0">
                <a:solidFill>
                  <a:schemeClr val="tx1"/>
                </a:solidFill>
              </a:rPr>
              <a:t>Journaux d'activité</a:t>
            </a:r>
            <a:endParaRPr lang="en-US" sz="1300" dirty="0"/>
          </a:p>
        </p:txBody>
      </p:sp>
      <p:sp>
        <p:nvSpPr>
          <p:cNvPr id="32" name="A8_315"/>
          <p:cNvSpPr/>
          <p:nvPr/>
        </p:nvSpPr>
        <p:spPr>
          <a:xfrm>
            <a:off x="4261104" y="3977640"/>
            <a:ext cx="1920240" cy="731520"/>
          </a:xfrm>
          <a:prstGeom prst="chevron">
            <a:avLst/>
          </a:prstGeom>
          <a:solidFill>
            <a:srgbClr val="3D86CB"/>
          </a:solidFill>
          <a:ln w="12700">
            <a:solidFill>
              <a:srgbClr val="FFFFFF"/>
            </a:solidFill>
            <a:prstDash val="solid"/>
          </a:ln>
        </p:spPr>
      </p:sp>
      <p:sp>
        <p:nvSpPr>
          <p:cNvPr id="33" name="A8_316"/>
          <p:cNvSpPr txBox="1"/>
          <p:nvPr/>
        </p:nvSpPr>
        <p:spPr>
          <a:xfrm>
            <a:off x="4535424"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3</a:t>
            </a:r>
            <a:endParaRPr lang="en-US" sz="1500" dirty="0"/>
          </a:p>
        </p:txBody>
      </p:sp>
      <p:sp>
        <p:nvSpPr>
          <p:cNvPr id="34" name="A8_317"/>
          <p:cNvSpPr txBox="1"/>
          <p:nvPr/>
        </p:nvSpPr>
        <p:spPr>
          <a:xfrm>
            <a:off x="4352544" y="4846320"/>
            <a:ext cx="1691640" cy="822960"/>
          </a:xfrm>
          <a:prstGeom prst="rect">
            <a:avLst/>
          </a:prstGeom>
          <a:noFill/>
          <a:ln/>
        </p:spPr>
        <p:txBody>
          <a:bodyPr wrap="square" lIns="0" tIns="0" rIns="0" bIns="0" rtlCol="0" anchor="t"/>
          <a:lstStyle/>
          <a:p>
            <a:pPr marL="0" indent="0" algn="ctr">
              <a:buNone/>
            </a:pPr>
            <a:r>
              <a:rPr lang="en-US" sz="1300" dirty="0">
                <a:solidFill>
                  <a:schemeClr val="tx1"/>
                </a:solidFill>
              </a:rPr>
              <a:t>Tests</a:t>
            </a:r>
            <a:endParaRPr lang="en-US" sz="1300" dirty="0"/>
          </a:p>
        </p:txBody>
      </p:sp>
      <p:sp>
        <p:nvSpPr>
          <p:cNvPr id="35" name="A9_318"/>
          <p:cNvSpPr/>
          <p:nvPr/>
        </p:nvSpPr>
        <p:spPr>
          <a:xfrm>
            <a:off x="6117336" y="3977640"/>
            <a:ext cx="1920240" cy="731520"/>
          </a:xfrm>
          <a:prstGeom prst="chevron">
            <a:avLst/>
          </a:prstGeom>
          <a:solidFill>
            <a:srgbClr val="2471BA"/>
          </a:solidFill>
          <a:ln w="12700">
            <a:solidFill>
              <a:srgbClr val="FFFFFF"/>
            </a:solidFill>
            <a:prstDash val="solid"/>
          </a:ln>
        </p:spPr>
      </p:sp>
      <p:sp>
        <p:nvSpPr>
          <p:cNvPr id="36" name="A9_319"/>
          <p:cNvSpPr txBox="1"/>
          <p:nvPr/>
        </p:nvSpPr>
        <p:spPr>
          <a:xfrm>
            <a:off x="6391656"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4</a:t>
            </a:r>
            <a:endParaRPr lang="en-US" sz="1500" dirty="0"/>
          </a:p>
        </p:txBody>
      </p:sp>
      <p:sp>
        <p:nvSpPr>
          <p:cNvPr id="37" name="A9_320"/>
          <p:cNvSpPr txBox="1"/>
          <p:nvPr/>
        </p:nvSpPr>
        <p:spPr>
          <a:xfrm>
            <a:off x="6208776" y="4846320"/>
            <a:ext cx="1691640" cy="822960"/>
          </a:xfrm>
          <a:prstGeom prst="rect">
            <a:avLst/>
          </a:prstGeom>
          <a:noFill/>
          <a:ln/>
        </p:spPr>
        <p:txBody>
          <a:bodyPr wrap="square" lIns="0" tIns="0" rIns="0" bIns="0" rtlCol="0" anchor="t"/>
          <a:lstStyle/>
          <a:p>
            <a:pPr marL="0" indent="0" algn="ctr">
              <a:buNone/>
            </a:pPr>
            <a:r>
              <a:rPr lang="en-US" sz="1300" dirty="0">
                <a:solidFill>
                  <a:schemeClr val="tx1"/>
                </a:solidFill>
              </a:rPr>
              <a:t>Sécurité</a:t>
            </a:r>
            <a:endParaRPr lang="en-US" sz="1300" dirty="0"/>
          </a:p>
        </p:txBody>
      </p:sp>
      <p:sp>
        <p:nvSpPr>
          <p:cNvPr id="38" name="A10_321"/>
          <p:cNvSpPr/>
          <p:nvPr/>
        </p:nvSpPr>
        <p:spPr>
          <a:xfrm>
            <a:off x="7973568" y="3977640"/>
            <a:ext cx="1920240" cy="731520"/>
          </a:xfrm>
          <a:prstGeom prst="chevron">
            <a:avLst/>
          </a:prstGeom>
          <a:solidFill>
            <a:srgbClr val="0E5CA8"/>
          </a:solidFill>
          <a:ln w="12700">
            <a:solidFill>
              <a:srgbClr val="FFFFFF"/>
            </a:solidFill>
            <a:prstDash val="solid"/>
          </a:ln>
        </p:spPr>
      </p:sp>
      <p:sp>
        <p:nvSpPr>
          <p:cNvPr id="39" name="A10_322"/>
          <p:cNvSpPr txBox="1"/>
          <p:nvPr/>
        </p:nvSpPr>
        <p:spPr>
          <a:xfrm>
            <a:off x="8247888"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5</a:t>
            </a:r>
            <a:endParaRPr lang="en-US" sz="1500" dirty="0"/>
          </a:p>
        </p:txBody>
      </p:sp>
      <p:sp>
        <p:nvSpPr>
          <p:cNvPr id="40" name="A10_323"/>
          <p:cNvSpPr txBox="1"/>
          <p:nvPr/>
        </p:nvSpPr>
        <p:spPr>
          <a:xfrm>
            <a:off x="8065008" y="4846320"/>
            <a:ext cx="1691640" cy="822960"/>
          </a:xfrm>
          <a:prstGeom prst="rect">
            <a:avLst/>
          </a:prstGeom>
          <a:noFill/>
          <a:ln/>
        </p:spPr>
        <p:txBody>
          <a:bodyPr wrap="square" lIns="0" tIns="0" rIns="0" bIns="0" rtlCol="0" anchor="t"/>
          <a:lstStyle/>
          <a:p>
            <a:pPr marL="0" indent="0" algn="ctr">
              <a:buNone/>
            </a:pPr>
            <a:r>
              <a:rPr lang="en-US" sz="1300" dirty="0">
                <a:solidFill>
                  <a:schemeClr val="tx1"/>
                </a:solidFill>
              </a:rPr>
              <a:t>Intelligence artificielle</a:t>
            </a:r>
            <a:endParaRPr lang="en-US" sz="1300" dirty="0"/>
          </a:p>
        </p:txBody>
      </p:sp>
      <p:sp>
        <p:nvSpPr>
          <p:cNvPr id="41" name="A11_324"/>
          <p:cNvSpPr/>
          <p:nvPr/>
        </p:nvSpPr>
        <p:spPr>
          <a:xfrm>
            <a:off x="9829800" y="3977640"/>
            <a:ext cx="1920240" cy="731520"/>
          </a:xfrm>
          <a:prstGeom prst="chevron">
            <a:avLst/>
          </a:prstGeom>
          <a:solidFill>
            <a:srgbClr val="0B4A88"/>
          </a:solidFill>
          <a:ln w="12700">
            <a:solidFill>
              <a:srgbClr val="FFFFFF"/>
            </a:solidFill>
            <a:prstDash val="solid"/>
          </a:ln>
        </p:spPr>
      </p:sp>
      <p:sp>
        <p:nvSpPr>
          <p:cNvPr id="42" name="A11_325"/>
          <p:cNvSpPr txBox="1"/>
          <p:nvPr/>
        </p:nvSpPr>
        <p:spPr>
          <a:xfrm>
            <a:off x="10104120" y="3977640"/>
            <a:ext cx="1417320" cy="731520"/>
          </a:xfrm>
          <a:prstGeom prst="rect">
            <a:avLst/>
          </a:prstGeom>
          <a:noFill/>
          <a:ln/>
        </p:spPr>
        <p:txBody>
          <a:bodyPr wrap="square" lIns="0" tIns="0" rIns="0" bIns="0" rtlCol="0" anchor="ctr"/>
          <a:lstStyle/>
          <a:p>
            <a:pPr marL="0" indent="0" algn="ctr">
              <a:buNone/>
            </a:pPr>
            <a:r>
              <a:rPr lang="en-US" sz="1500" b="1" dirty="0">
                <a:solidFill>
                  <a:srgbClr val="FFFFFF"/>
                </a:solidFill>
              </a:rPr>
              <a:t>Sprint 6</a:t>
            </a:r>
            <a:endParaRPr lang="en-US" sz="1500" dirty="0"/>
          </a:p>
        </p:txBody>
      </p:sp>
      <p:sp>
        <p:nvSpPr>
          <p:cNvPr id="43" name="A11_326"/>
          <p:cNvSpPr txBox="1"/>
          <p:nvPr/>
        </p:nvSpPr>
        <p:spPr>
          <a:xfrm>
            <a:off x="9921240" y="4846320"/>
            <a:ext cx="1691640" cy="822960"/>
          </a:xfrm>
          <a:prstGeom prst="rect">
            <a:avLst/>
          </a:prstGeom>
          <a:noFill/>
          <a:ln/>
        </p:spPr>
        <p:txBody>
          <a:bodyPr wrap="square" lIns="0" tIns="0" rIns="0" bIns="0" rtlCol="0" anchor="t"/>
          <a:lstStyle/>
          <a:p>
            <a:pPr marL="0" indent="0" algn="ctr">
              <a:buNone/>
            </a:pPr>
            <a:r>
              <a:rPr lang="en-US" sz="1300" dirty="0">
                <a:solidFill>
                  <a:schemeClr val="tx1"/>
                </a:solidFill>
              </a:rPr>
              <a:t>Tableau de bord et mise en ligne</a:t>
            </a:r>
            <a:endParaRPr lang="en-US" sz="1300" dirty="0"/>
          </a:p>
        </p:txBody>
      </p:sp>
      <p:sp>
        <p:nvSpPr>
          <p:cNvPr id="44"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16</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childTnLst>
                          </p:cTn>
                        </p:par>
                        <p:par>
                          <p:cTn id="46" fill="hold">
                            <p:stCondLst>
                              <p:cond delay="23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childTnLst>
                          </p:cTn>
                        </p:par>
                        <p:par>
                          <p:cTn id="59" fill="hold">
                            <p:stCondLst>
                              <p:cond delay="3000"/>
                            </p:stCondLst>
                            <p:childTnLst>
                              <p:par>
                                <p:cTn id="60" presetID="10" presetClass="entr" presetSubtype="0" fill="hold" grpId="0"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72" fill="hold">
                            <p:stCondLst>
                              <p:cond delay="37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par>
                          <p:cTn id="85" fill="hold">
                            <p:stCondLst>
                              <p:cond delay="440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childTnLst>
                          </p:cTn>
                        </p:par>
                        <p:par>
                          <p:cTn id="95" fill="hold">
                            <p:stCondLst>
                              <p:cond delay="5100"/>
                            </p:stCondLst>
                            <p:childTnLst>
                              <p:par>
                                <p:cTn id="96" presetID="10" presetClass="entr" presetSubtype="0"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5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5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50"/>
                                        <p:tgtEl>
                                          <p:spTgt spid="34"/>
                                        </p:tgtEl>
                                      </p:cBhvr>
                                    </p:animEffect>
                                  </p:childTnLst>
                                </p:cTn>
                              </p:par>
                            </p:childTnLst>
                          </p:cTn>
                        </p:par>
                        <p:par>
                          <p:cTn id="105" fill="hold">
                            <p:stCondLst>
                              <p:cond delay="5800"/>
                            </p:stCondLst>
                            <p:childTnLst>
                              <p:par>
                                <p:cTn id="106" presetID="10" presetClass="entr" presetSubtype="0" fill="hold" grpId="0" nodeType="after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45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450"/>
                                        <p:tgtEl>
                                          <p:spTgt spid="3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450"/>
                                        <p:tgtEl>
                                          <p:spTgt spid="37"/>
                                        </p:tgtEl>
                                      </p:cBhvr>
                                    </p:animEffect>
                                  </p:childTnLst>
                                </p:cTn>
                              </p:par>
                            </p:childTnLst>
                          </p:cTn>
                        </p:par>
                        <p:par>
                          <p:cTn id="115" fill="hold">
                            <p:stCondLst>
                              <p:cond delay="6500"/>
                            </p:stCondLst>
                            <p:childTnLst>
                              <p:par>
                                <p:cTn id="116" presetID="10" presetClass="entr" presetSubtype="0" fill="hold" grpId="0" nodeType="after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450"/>
                                        <p:tgtEl>
                                          <p:spTgt spid="3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450"/>
                                        <p:tgtEl>
                                          <p:spTgt spid="39"/>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450"/>
                                        <p:tgtEl>
                                          <p:spTgt spid="40"/>
                                        </p:tgtEl>
                                      </p:cBhvr>
                                    </p:animEffect>
                                  </p:childTnLst>
                                </p:cTn>
                              </p:par>
                            </p:childTnLst>
                          </p:cTn>
                        </p:par>
                        <p:par>
                          <p:cTn id="125" fill="hold">
                            <p:stCondLst>
                              <p:cond delay="7200"/>
                            </p:stCondLst>
                            <p:childTnLst>
                              <p:par>
                                <p:cTn id="126" presetID="10" presetClass="entr" presetSubtype="0" fill="hold" grpId="0" nodeType="after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450"/>
                                        <p:tgtEl>
                                          <p:spTgt spid="4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450"/>
                                        <p:tgtEl>
                                          <p:spTgt spid="4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Comment l'assistant est organisé</a:t>
            </a:r>
            <a:endParaRPr lang="en-US" sz="3000" dirty="0"/>
          </a:p>
        </p:txBody>
      </p:sp>
      <p:sp>
        <p:nvSpPr>
          <p:cNvPr id="3" name="o_327"/>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ARCHITECTURE LOGIQUE</a:t>
            </a:r>
            <a:endParaRPr lang="en-US" sz="1100" dirty="0"/>
          </a:p>
        </p:txBody>
      </p:sp>
      <p:sp>
        <p:nvSpPr>
          <p:cNvPr id="4" name="A1_328"/>
          <p:cNvSpPr/>
          <p:nvPr/>
        </p:nvSpPr>
        <p:spPr>
          <a:xfrm>
            <a:off x="548640" y="1280160"/>
            <a:ext cx="1828800" cy="1097280"/>
          </a:xfrm>
          <a:prstGeom prst="roundRect">
            <a:avLst>
              <a:gd name="adj" fmla="val 10000"/>
            </a:avLst>
          </a:prstGeom>
          <a:solidFill>
            <a:srgbClr val="0B1F3A"/>
          </a:solidFill>
          <a:ln w="12700">
            <a:solidFill>
              <a:srgbClr val="FFFFFF"/>
            </a:solidFill>
            <a:prstDash val="solid"/>
          </a:ln>
        </p:spPr>
      </p:sp>
      <p:sp>
        <p:nvSpPr>
          <p:cNvPr id="5" name="A1_329"/>
          <p:cNvSpPr txBox="1"/>
          <p:nvPr/>
        </p:nvSpPr>
        <p:spPr>
          <a:xfrm>
            <a:off x="640080" y="1280160"/>
            <a:ext cx="1645920" cy="1097280"/>
          </a:xfrm>
          <a:prstGeom prst="rect">
            <a:avLst/>
          </a:prstGeom>
          <a:noFill/>
          <a:ln/>
        </p:spPr>
        <p:txBody>
          <a:bodyPr wrap="square" lIns="0" tIns="0" rIns="0" bIns="0" rtlCol="0" anchor="ctr"/>
          <a:lstStyle/>
          <a:p>
            <a:pPr marL="0" indent="0" algn="ctr">
              <a:buNone/>
            </a:pPr>
            <a:r>
              <a:rPr lang="en-US" sz="1500" b="1" dirty="0">
                <a:solidFill>
                  <a:srgbClr val="FFFFFF"/>
                </a:solidFill>
              </a:rPr>
              <a:t>Ce que l'on voit</a:t>
            </a:r>
            <a:endParaRPr lang="en-US" sz="1400" dirty="0"/>
          </a:p>
          <a:p>
            <a:pPr marL="0" indent="0" algn="ctr">
              <a:buNone/>
            </a:pPr>
            <a:r>
              <a:rPr lang="en-US" sz="1100" dirty="0">
                <a:solidFill>
                  <a:srgbClr val="AFC4DD"/>
                </a:solidFill>
              </a:rPr>
              <a:t>Présentation</a:t>
            </a:r>
            <a:endParaRPr lang="en-US" sz="1400" dirty="0"/>
          </a:p>
        </p:txBody>
      </p:sp>
      <p:sp>
        <p:nvSpPr>
          <p:cNvPr id="6" name="A1_330"/>
          <p:cNvSpPr/>
          <p:nvPr/>
        </p:nvSpPr>
        <p:spPr>
          <a:xfrm>
            <a:off x="2560320" y="1280160"/>
            <a:ext cx="9079992" cy="1097280"/>
          </a:xfrm>
          <a:prstGeom prst="roundRect">
            <a:avLst>
              <a:gd name="adj" fmla="val 10000"/>
            </a:avLst>
          </a:prstGeom>
          <a:solidFill>
            <a:srgbClr val="EEF4FB"/>
          </a:solidFill>
          <a:ln w="15875">
            <a:solidFill>
              <a:srgbClr val="7FB3E6"/>
            </a:solidFill>
            <a:prstDash val="solid"/>
          </a:ln>
        </p:spPr>
      </p:sp>
      <p:pic>
        <p:nvPicPr>
          <p:cNvPr id="7" name="A1_331" descr="preencoded.png"/>
          <p:cNvPicPr>
            <a:picLocks noChangeAspect="1"/>
          </p:cNvPicPr>
          <p:nvPr/>
        </p:nvPicPr>
        <p:blipFill>
          <a:blip r:embed="rId3"/>
          <a:stretch>
            <a:fillRect/>
          </a:stretch>
        </p:blipFill>
        <p:spPr>
          <a:xfrm>
            <a:off x="2788920" y="1481328"/>
            <a:ext cx="457200" cy="457200"/>
          </a:xfrm>
          <a:prstGeom prst="rect">
            <a:avLst/>
          </a:prstGeom>
        </p:spPr>
      </p:pic>
      <p:sp>
        <p:nvSpPr>
          <p:cNvPr id="8" name="A1_332"/>
          <p:cNvSpPr txBox="1"/>
          <p:nvPr/>
        </p:nvSpPr>
        <p:spPr>
          <a:xfrm>
            <a:off x="3383280" y="1417320"/>
            <a:ext cx="3657600" cy="365760"/>
          </a:xfrm>
          <a:prstGeom prst="rect">
            <a:avLst/>
          </a:prstGeom>
          <a:noFill/>
          <a:ln/>
        </p:spPr>
        <p:txBody>
          <a:bodyPr wrap="square" lIns="0" tIns="0" rIns="0" bIns="0" rtlCol="0" anchor="t"/>
          <a:lstStyle/>
          <a:p>
            <a:pPr marL="0" indent="0">
              <a:buNone/>
            </a:pPr>
            <a:r>
              <a:rPr lang="en-US" sz="1600" b="1" dirty="0">
                <a:solidFill>
                  <a:schemeClr val="tx2"/>
                </a:solidFill>
              </a:rPr>
              <a:t>Application web</a:t>
            </a:r>
            <a:endParaRPr lang="en-US" sz="1600" dirty="0"/>
          </a:p>
        </p:txBody>
      </p:sp>
      <p:sp>
        <p:nvSpPr>
          <p:cNvPr id="9" name="A1_333"/>
          <p:cNvSpPr txBox="1"/>
          <p:nvPr/>
        </p:nvSpPr>
        <p:spPr>
          <a:xfrm>
            <a:off x="9966960" y="1417320"/>
            <a:ext cx="1508760" cy="274320"/>
          </a:xfrm>
          <a:prstGeom prst="rect">
            <a:avLst/>
          </a:prstGeom>
          <a:noFill/>
          <a:ln/>
        </p:spPr>
        <p:txBody>
          <a:bodyPr wrap="square" lIns="0" tIns="0" rIns="0" bIns="0" rtlCol="0" anchor="t"/>
          <a:lstStyle/>
          <a:p>
            <a:pPr marL="0" indent="0" algn="r">
              <a:buNone/>
            </a:pPr>
            <a:r>
              <a:rPr lang="en-US" sz="1100" dirty="0">
                <a:solidFill>
                  <a:srgbClr val="5B6B7F"/>
                </a:solidFill>
              </a:rPr>
              <a:t>Angular</a:t>
            </a:r>
            <a:endParaRPr lang="en-US" sz="1100" dirty="0"/>
          </a:p>
        </p:txBody>
      </p:sp>
      <p:sp>
        <p:nvSpPr>
          <p:cNvPr id="10" name="A1_334"/>
          <p:cNvSpPr/>
          <p:nvPr/>
        </p:nvSpPr>
        <p:spPr>
          <a:xfrm>
            <a:off x="3383280" y="1874520"/>
            <a:ext cx="1252728" cy="347472"/>
          </a:xfrm>
          <a:prstGeom prst="roundRect">
            <a:avLst>
              <a:gd name="adj" fmla="val 21053"/>
            </a:avLst>
          </a:prstGeom>
          <a:solidFill>
            <a:srgbClr val="FFFFFF"/>
          </a:solidFill>
          <a:ln w="12700">
            <a:solidFill>
              <a:srgbClr val="D5E2F0"/>
            </a:solidFill>
            <a:prstDash val="solid"/>
          </a:ln>
        </p:spPr>
      </p:sp>
      <p:sp>
        <p:nvSpPr>
          <p:cNvPr id="11" name="A1_335"/>
          <p:cNvSpPr txBox="1"/>
          <p:nvPr/>
        </p:nvSpPr>
        <p:spPr>
          <a:xfrm>
            <a:off x="3383280"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Tableau de bord</a:t>
            </a:r>
            <a:endParaRPr lang="en-US" sz="1100" dirty="0"/>
          </a:p>
        </p:txBody>
      </p:sp>
      <p:sp>
        <p:nvSpPr>
          <p:cNvPr id="12" name="A1_336"/>
          <p:cNvSpPr/>
          <p:nvPr/>
        </p:nvSpPr>
        <p:spPr>
          <a:xfrm>
            <a:off x="4727448" y="1874520"/>
            <a:ext cx="1252728" cy="347472"/>
          </a:xfrm>
          <a:prstGeom prst="roundRect">
            <a:avLst>
              <a:gd name="adj" fmla="val 21053"/>
            </a:avLst>
          </a:prstGeom>
          <a:solidFill>
            <a:srgbClr val="FFFFFF"/>
          </a:solidFill>
          <a:ln w="12700">
            <a:solidFill>
              <a:srgbClr val="D5E2F0"/>
            </a:solidFill>
            <a:prstDash val="solid"/>
          </a:ln>
        </p:spPr>
      </p:sp>
      <p:sp>
        <p:nvSpPr>
          <p:cNvPr id="13" name="A1_337"/>
          <p:cNvSpPr txBox="1"/>
          <p:nvPr/>
        </p:nvSpPr>
        <p:spPr>
          <a:xfrm>
            <a:off x="4727448"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Journaux</a:t>
            </a:r>
            <a:endParaRPr lang="en-US" sz="1100" dirty="0"/>
          </a:p>
        </p:txBody>
      </p:sp>
      <p:sp>
        <p:nvSpPr>
          <p:cNvPr id="14" name="A1_338"/>
          <p:cNvSpPr/>
          <p:nvPr/>
        </p:nvSpPr>
        <p:spPr>
          <a:xfrm>
            <a:off x="6071616" y="1874520"/>
            <a:ext cx="1252728" cy="347472"/>
          </a:xfrm>
          <a:prstGeom prst="roundRect">
            <a:avLst>
              <a:gd name="adj" fmla="val 21053"/>
            </a:avLst>
          </a:prstGeom>
          <a:solidFill>
            <a:srgbClr val="FFFFFF"/>
          </a:solidFill>
          <a:ln w="12700">
            <a:solidFill>
              <a:srgbClr val="D5E2F0"/>
            </a:solidFill>
            <a:prstDash val="solid"/>
          </a:ln>
        </p:spPr>
      </p:sp>
      <p:sp>
        <p:nvSpPr>
          <p:cNvPr id="15" name="A1_339"/>
          <p:cNvSpPr txBox="1"/>
          <p:nvPr/>
        </p:nvSpPr>
        <p:spPr>
          <a:xfrm>
            <a:off x="6071616"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Tests</a:t>
            </a:r>
            <a:endParaRPr lang="en-US" sz="1100" dirty="0"/>
          </a:p>
        </p:txBody>
      </p:sp>
      <p:sp>
        <p:nvSpPr>
          <p:cNvPr id="16" name="A1_340"/>
          <p:cNvSpPr/>
          <p:nvPr/>
        </p:nvSpPr>
        <p:spPr>
          <a:xfrm>
            <a:off x="7415784" y="1874520"/>
            <a:ext cx="1252728" cy="347472"/>
          </a:xfrm>
          <a:prstGeom prst="roundRect">
            <a:avLst>
              <a:gd name="adj" fmla="val 21053"/>
            </a:avLst>
          </a:prstGeom>
          <a:solidFill>
            <a:srgbClr val="FFFFFF"/>
          </a:solidFill>
          <a:ln w="12700">
            <a:solidFill>
              <a:srgbClr val="D5E2F0"/>
            </a:solidFill>
            <a:prstDash val="solid"/>
          </a:ln>
        </p:spPr>
      </p:sp>
      <p:sp>
        <p:nvSpPr>
          <p:cNvPr id="17" name="A1_341"/>
          <p:cNvSpPr txBox="1"/>
          <p:nvPr/>
        </p:nvSpPr>
        <p:spPr>
          <a:xfrm>
            <a:off x="7415784"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Sécurité</a:t>
            </a:r>
            <a:endParaRPr lang="en-US" sz="1100" dirty="0"/>
          </a:p>
        </p:txBody>
      </p:sp>
      <p:sp>
        <p:nvSpPr>
          <p:cNvPr id="18" name="A1_342"/>
          <p:cNvSpPr/>
          <p:nvPr/>
        </p:nvSpPr>
        <p:spPr>
          <a:xfrm>
            <a:off x="8759952" y="1874520"/>
            <a:ext cx="1252728" cy="347472"/>
          </a:xfrm>
          <a:prstGeom prst="roundRect">
            <a:avLst>
              <a:gd name="adj" fmla="val 21053"/>
            </a:avLst>
          </a:prstGeom>
          <a:solidFill>
            <a:srgbClr val="FFFFFF"/>
          </a:solidFill>
          <a:ln w="12700">
            <a:solidFill>
              <a:srgbClr val="D5E2F0"/>
            </a:solidFill>
            <a:prstDash val="solid"/>
          </a:ln>
        </p:spPr>
      </p:sp>
      <p:sp>
        <p:nvSpPr>
          <p:cNvPr id="19" name="A1_343"/>
          <p:cNvSpPr txBox="1"/>
          <p:nvPr/>
        </p:nvSpPr>
        <p:spPr>
          <a:xfrm>
            <a:off x="8759952"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Assistant IA</a:t>
            </a:r>
            <a:endParaRPr lang="en-US" sz="1100" dirty="0"/>
          </a:p>
        </p:txBody>
      </p:sp>
      <p:sp>
        <p:nvSpPr>
          <p:cNvPr id="20" name="A1_344"/>
          <p:cNvSpPr/>
          <p:nvPr/>
        </p:nvSpPr>
        <p:spPr>
          <a:xfrm>
            <a:off x="10104120" y="1874520"/>
            <a:ext cx="1252728" cy="347472"/>
          </a:xfrm>
          <a:prstGeom prst="roundRect">
            <a:avLst>
              <a:gd name="adj" fmla="val 21053"/>
            </a:avLst>
          </a:prstGeom>
          <a:solidFill>
            <a:srgbClr val="FFFFFF"/>
          </a:solidFill>
          <a:ln w="12700">
            <a:solidFill>
              <a:srgbClr val="D5E2F0"/>
            </a:solidFill>
            <a:prstDash val="solid"/>
          </a:ln>
        </p:spPr>
      </p:sp>
      <p:sp>
        <p:nvSpPr>
          <p:cNvPr id="21" name="A1_345"/>
          <p:cNvSpPr txBox="1"/>
          <p:nvPr/>
        </p:nvSpPr>
        <p:spPr>
          <a:xfrm>
            <a:off x="10104120" y="1874520"/>
            <a:ext cx="1252728" cy="347472"/>
          </a:xfrm>
          <a:prstGeom prst="rect">
            <a:avLst/>
          </a:prstGeom>
          <a:noFill/>
          <a:ln/>
        </p:spPr>
        <p:txBody>
          <a:bodyPr wrap="square" lIns="0" tIns="0" rIns="0" bIns="0" rtlCol="0" anchor="ctr"/>
          <a:lstStyle/>
          <a:p>
            <a:pPr marL="0" indent="0" algn="ctr">
              <a:buNone/>
            </a:pPr>
            <a:r>
              <a:rPr lang="en-US" sz="1100" dirty="0">
                <a:solidFill>
                  <a:schemeClr val="tx2"/>
                </a:solidFill>
              </a:rPr>
              <a:t>Administration</a:t>
            </a:r>
            <a:endParaRPr lang="en-US" sz="1100" dirty="0"/>
          </a:p>
        </p:txBody>
      </p:sp>
      <p:sp>
        <p:nvSpPr>
          <p:cNvPr id="22" name="A2_346"/>
          <p:cNvSpPr/>
          <p:nvPr/>
        </p:nvSpPr>
        <p:spPr>
          <a:xfrm>
            <a:off x="7086600" y="2395728"/>
            <a:ext cx="0" cy="384048"/>
          </a:xfrm>
          <a:prstGeom prst="line">
            <a:avLst/>
          </a:prstGeom>
          <a:noFill/>
          <a:ln w="25400">
            <a:solidFill>
              <a:srgbClr val="0E5CA8"/>
            </a:solidFill>
            <a:prstDash val="solid"/>
            <a:headEnd type="triangle"/>
            <a:tailEnd type="triangle"/>
          </a:ln>
        </p:spPr>
      </p:sp>
      <p:sp>
        <p:nvSpPr>
          <p:cNvPr id="23" name="A2_347"/>
          <p:cNvSpPr txBox="1"/>
          <p:nvPr/>
        </p:nvSpPr>
        <p:spPr>
          <a:xfrm>
            <a:off x="7269480" y="2432304"/>
            <a:ext cx="4389120" cy="310896"/>
          </a:xfrm>
          <a:prstGeom prst="rect">
            <a:avLst/>
          </a:prstGeom>
          <a:noFill/>
          <a:ln/>
        </p:spPr>
        <p:txBody>
          <a:bodyPr wrap="square" lIns="0" tIns="0" rIns="0" bIns="0" rtlCol="0" anchor="ctr"/>
          <a:lstStyle/>
          <a:p>
            <a:pPr marL="0" indent="0">
              <a:buNone/>
            </a:pPr>
            <a:r>
              <a:rPr lang="en-US" sz="1100" i="1" dirty="0">
                <a:solidFill>
                  <a:srgbClr val="5B6B7F"/>
                </a:solidFill>
              </a:rPr>
              <a:t>échanges sécurisés + alertes en direct (API REST)</a:t>
            </a:r>
            <a:endParaRPr lang="en-US" sz="1100" dirty="0"/>
          </a:p>
        </p:txBody>
      </p:sp>
      <p:sp>
        <p:nvSpPr>
          <p:cNvPr id="24" name="A3_348"/>
          <p:cNvSpPr/>
          <p:nvPr/>
        </p:nvSpPr>
        <p:spPr>
          <a:xfrm>
            <a:off x="548640" y="2798064"/>
            <a:ext cx="1828800" cy="1783080"/>
          </a:xfrm>
          <a:prstGeom prst="roundRect">
            <a:avLst>
              <a:gd name="adj" fmla="val 6154"/>
            </a:avLst>
          </a:prstGeom>
          <a:solidFill>
            <a:srgbClr val="0B1F3A"/>
          </a:solidFill>
          <a:ln w="12700">
            <a:solidFill>
              <a:srgbClr val="FFFFFF"/>
            </a:solidFill>
            <a:prstDash val="solid"/>
          </a:ln>
        </p:spPr>
      </p:sp>
      <p:sp>
        <p:nvSpPr>
          <p:cNvPr id="25" name="A3_349"/>
          <p:cNvSpPr txBox="1"/>
          <p:nvPr/>
        </p:nvSpPr>
        <p:spPr>
          <a:xfrm>
            <a:off x="640080" y="2798064"/>
            <a:ext cx="1645920" cy="1783080"/>
          </a:xfrm>
          <a:prstGeom prst="rect">
            <a:avLst/>
          </a:prstGeom>
          <a:noFill/>
          <a:ln/>
        </p:spPr>
        <p:txBody>
          <a:bodyPr wrap="square" lIns="0" tIns="0" rIns="0" bIns="0" rtlCol="0" anchor="ctr"/>
          <a:lstStyle/>
          <a:p>
            <a:pPr marL="0" indent="0" algn="ctr">
              <a:buNone/>
            </a:pPr>
            <a:r>
              <a:rPr lang="en-US" sz="1500" b="1" dirty="0">
                <a:solidFill>
                  <a:srgbClr val="FFFFFF"/>
                </a:solidFill>
              </a:rPr>
              <a:t>Le moteur</a:t>
            </a:r>
            <a:endParaRPr lang="en-US" sz="1400" dirty="0"/>
          </a:p>
          <a:p>
            <a:pPr marL="0" indent="0" algn="ctr">
              <a:buNone/>
            </a:pPr>
            <a:r>
              <a:rPr lang="en-US" sz="1100" dirty="0">
                <a:solidFill>
                  <a:srgbClr val="AFC4DD"/>
                </a:solidFill>
              </a:rPr>
              <a:t>Métier · Spring Boot</a:t>
            </a:r>
            <a:endParaRPr lang="en-US" sz="1400" dirty="0"/>
          </a:p>
        </p:txBody>
      </p:sp>
      <p:sp>
        <p:nvSpPr>
          <p:cNvPr id="26" name="A3_350"/>
          <p:cNvSpPr/>
          <p:nvPr/>
        </p:nvSpPr>
        <p:spPr>
          <a:xfrm>
            <a:off x="2560320" y="2798064"/>
            <a:ext cx="9079992" cy="457200"/>
          </a:xfrm>
          <a:prstGeom prst="roundRect">
            <a:avLst>
              <a:gd name="adj" fmla="val 16000"/>
            </a:avLst>
          </a:prstGeom>
          <a:solidFill>
            <a:srgbClr val="FDECEC"/>
          </a:solidFill>
          <a:ln w="12700">
            <a:solidFill>
              <a:srgbClr val="FFFFFF"/>
            </a:solidFill>
            <a:prstDash val="solid"/>
          </a:ln>
        </p:spPr>
      </p:sp>
      <p:pic>
        <p:nvPicPr>
          <p:cNvPr id="27" name="A3_351" descr="preencoded.png"/>
          <p:cNvPicPr>
            <a:picLocks noChangeAspect="1"/>
          </p:cNvPicPr>
          <p:nvPr/>
        </p:nvPicPr>
        <p:blipFill>
          <a:blip r:embed="rId4"/>
          <a:stretch>
            <a:fillRect/>
          </a:stretch>
        </p:blipFill>
        <p:spPr>
          <a:xfrm>
            <a:off x="2788920" y="2880360"/>
            <a:ext cx="274320" cy="274320"/>
          </a:xfrm>
          <a:prstGeom prst="rect">
            <a:avLst/>
          </a:prstGeom>
        </p:spPr>
      </p:pic>
      <p:sp>
        <p:nvSpPr>
          <p:cNvPr id="28" name="A3_352"/>
          <p:cNvSpPr txBox="1"/>
          <p:nvPr/>
        </p:nvSpPr>
        <p:spPr>
          <a:xfrm>
            <a:off x="3200400" y="2798064"/>
            <a:ext cx="8229600" cy="457200"/>
          </a:xfrm>
          <a:prstGeom prst="rect">
            <a:avLst/>
          </a:prstGeom>
          <a:noFill/>
          <a:ln/>
        </p:spPr>
        <p:txBody>
          <a:bodyPr wrap="square" lIns="0" tIns="0" rIns="0" bIns="0" rtlCol="0" anchor="ctr"/>
          <a:lstStyle/>
          <a:p>
            <a:pPr marL="0" indent="0">
              <a:buNone/>
            </a:pPr>
            <a:r>
              <a:rPr lang="en-US" sz="1300" b="1" dirty="0">
                <a:solidFill>
                  <a:schemeClr val="tx2"/>
                </a:solidFill>
              </a:rPr>
              <a:t>Contrôle d'accès : </a:t>
            </a:r>
            <a:r>
              <a:rPr lang="en-US" sz="1300" dirty="0">
                <a:solidFill>
                  <a:schemeClr val="tx2"/>
                </a:solidFill>
              </a:rPr>
              <a:t>qui est connecté et quels sont ses droits ?</a:t>
            </a:r>
            <a:endParaRPr lang="en-US" sz="1300" dirty="0"/>
          </a:p>
        </p:txBody>
      </p:sp>
      <p:sp>
        <p:nvSpPr>
          <p:cNvPr id="29" name="A4_353"/>
          <p:cNvSpPr/>
          <p:nvPr/>
        </p:nvSpPr>
        <p:spPr>
          <a:xfrm>
            <a:off x="2560320" y="3383280"/>
            <a:ext cx="1709928" cy="1197864"/>
          </a:xfrm>
          <a:prstGeom prst="roundRect">
            <a:avLst>
              <a:gd name="adj" fmla="val 9160"/>
            </a:avLst>
          </a:prstGeom>
          <a:solidFill>
            <a:srgbClr val="FFFFFF"/>
          </a:solidFill>
          <a:ln w="15875">
            <a:solidFill>
              <a:srgbClr val="7FB3E6"/>
            </a:solidFill>
            <a:prstDash val="solid"/>
          </a:ln>
        </p:spPr>
      </p:sp>
      <p:pic>
        <p:nvPicPr>
          <p:cNvPr id="30" name="A4_354" descr="preencoded.png"/>
          <p:cNvPicPr>
            <a:picLocks noChangeAspect="1"/>
          </p:cNvPicPr>
          <p:nvPr/>
        </p:nvPicPr>
        <p:blipFill>
          <a:blip r:embed="rId5"/>
          <a:stretch>
            <a:fillRect/>
          </a:stretch>
        </p:blipFill>
        <p:spPr>
          <a:xfrm>
            <a:off x="3182112" y="3520440"/>
            <a:ext cx="457200" cy="457200"/>
          </a:xfrm>
          <a:prstGeom prst="rect">
            <a:avLst/>
          </a:prstGeom>
        </p:spPr>
      </p:pic>
      <p:sp>
        <p:nvSpPr>
          <p:cNvPr id="31" name="A4_355"/>
          <p:cNvSpPr txBox="1"/>
          <p:nvPr/>
        </p:nvSpPr>
        <p:spPr>
          <a:xfrm>
            <a:off x="2606040" y="4069080"/>
            <a:ext cx="1618488" cy="365760"/>
          </a:xfrm>
          <a:prstGeom prst="rect">
            <a:avLst/>
          </a:prstGeom>
          <a:noFill/>
          <a:ln/>
        </p:spPr>
        <p:txBody>
          <a:bodyPr wrap="square" lIns="0" tIns="0" rIns="0" bIns="0" rtlCol="0" anchor="t"/>
          <a:lstStyle/>
          <a:p>
            <a:pPr marL="0" indent="0" algn="ctr">
              <a:buNone/>
            </a:pPr>
            <a:r>
              <a:rPr lang="en-US" sz="1300" b="1" dirty="0">
                <a:solidFill>
                  <a:schemeClr val="tx2"/>
                </a:solidFill>
              </a:rPr>
              <a:t>Module Journaux</a:t>
            </a:r>
            <a:endParaRPr lang="en-US" sz="1300" dirty="0"/>
          </a:p>
        </p:txBody>
      </p:sp>
      <p:sp>
        <p:nvSpPr>
          <p:cNvPr id="32" name="A4_356"/>
          <p:cNvSpPr/>
          <p:nvPr/>
        </p:nvSpPr>
        <p:spPr>
          <a:xfrm>
            <a:off x="4407408" y="3383280"/>
            <a:ext cx="1709928" cy="1197864"/>
          </a:xfrm>
          <a:prstGeom prst="roundRect">
            <a:avLst>
              <a:gd name="adj" fmla="val 9160"/>
            </a:avLst>
          </a:prstGeom>
          <a:solidFill>
            <a:srgbClr val="FFFFFF"/>
          </a:solidFill>
          <a:ln w="15875">
            <a:solidFill>
              <a:srgbClr val="7FB3E6"/>
            </a:solidFill>
            <a:prstDash val="solid"/>
          </a:ln>
        </p:spPr>
      </p:sp>
      <p:pic>
        <p:nvPicPr>
          <p:cNvPr id="33" name="A4_357" descr="preencoded.png"/>
          <p:cNvPicPr>
            <a:picLocks noChangeAspect="1"/>
          </p:cNvPicPr>
          <p:nvPr/>
        </p:nvPicPr>
        <p:blipFill>
          <a:blip r:embed="rId6"/>
          <a:stretch>
            <a:fillRect/>
          </a:stretch>
        </p:blipFill>
        <p:spPr>
          <a:xfrm>
            <a:off x="5029200" y="3520440"/>
            <a:ext cx="457200" cy="457200"/>
          </a:xfrm>
          <a:prstGeom prst="rect">
            <a:avLst/>
          </a:prstGeom>
        </p:spPr>
      </p:pic>
      <p:sp>
        <p:nvSpPr>
          <p:cNvPr id="34" name="A4_358"/>
          <p:cNvSpPr txBox="1"/>
          <p:nvPr/>
        </p:nvSpPr>
        <p:spPr>
          <a:xfrm>
            <a:off x="4453128" y="4069080"/>
            <a:ext cx="1618488" cy="365760"/>
          </a:xfrm>
          <a:prstGeom prst="rect">
            <a:avLst/>
          </a:prstGeom>
          <a:noFill/>
          <a:ln/>
        </p:spPr>
        <p:txBody>
          <a:bodyPr wrap="square" lIns="0" tIns="0" rIns="0" bIns="0" rtlCol="0" anchor="t"/>
          <a:lstStyle/>
          <a:p>
            <a:pPr marL="0" indent="0" algn="ctr">
              <a:buNone/>
            </a:pPr>
            <a:r>
              <a:rPr lang="en-US" sz="1300" b="1" dirty="0">
                <a:solidFill>
                  <a:schemeClr val="tx2"/>
                </a:solidFill>
              </a:rPr>
              <a:t>Module Tests</a:t>
            </a:r>
            <a:endParaRPr lang="en-US" sz="1300" dirty="0"/>
          </a:p>
        </p:txBody>
      </p:sp>
      <p:sp>
        <p:nvSpPr>
          <p:cNvPr id="35" name="A4_359"/>
          <p:cNvSpPr/>
          <p:nvPr/>
        </p:nvSpPr>
        <p:spPr>
          <a:xfrm>
            <a:off x="6254496" y="3383280"/>
            <a:ext cx="1709928" cy="1197864"/>
          </a:xfrm>
          <a:prstGeom prst="roundRect">
            <a:avLst>
              <a:gd name="adj" fmla="val 9160"/>
            </a:avLst>
          </a:prstGeom>
          <a:solidFill>
            <a:srgbClr val="FFFFFF"/>
          </a:solidFill>
          <a:ln w="15875">
            <a:solidFill>
              <a:srgbClr val="7FB3E6"/>
            </a:solidFill>
            <a:prstDash val="solid"/>
          </a:ln>
        </p:spPr>
      </p:sp>
      <p:pic>
        <p:nvPicPr>
          <p:cNvPr id="36" name="A4_360" descr="preencoded.png"/>
          <p:cNvPicPr>
            <a:picLocks noChangeAspect="1"/>
          </p:cNvPicPr>
          <p:nvPr/>
        </p:nvPicPr>
        <p:blipFill>
          <a:blip r:embed="rId7"/>
          <a:stretch>
            <a:fillRect/>
          </a:stretch>
        </p:blipFill>
        <p:spPr>
          <a:xfrm>
            <a:off x="6876288" y="3520440"/>
            <a:ext cx="457200" cy="457200"/>
          </a:xfrm>
          <a:prstGeom prst="rect">
            <a:avLst/>
          </a:prstGeom>
        </p:spPr>
      </p:pic>
      <p:sp>
        <p:nvSpPr>
          <p:cNvPr id="37" name="A4_361"/>
          <p:cNvSpPr txBox="1"/>
          <p:nvPr/>
        </p:nvSpPr>
        <p:spPr>
          <a:xfrm>
            <a:off x="6300216" y="4069080"/>
            <a:ext cx="1618488" cy="365760"/>
          </a:xfrm>
          <a:prstGeom prst="rect">
            <a:avLst/>
          </a:prstGeom>
          <a:noFill/>
          <a:ln/>
        </p:spPr>
        <p:txBody>
          <a:bodyPr wrap="square" lIns="0" tIns="0" rIns="0" bIns="0" rtlCol="0" anchor="t"/>
          <a:lstStyle/>
          <a:p>
            <a:pPr marL="0" indent="0" algn="ctr">
              <a:buNone/>
            </a:pPr>
            <a:r>
              <a:rPr lang="en-US" sz="1300" b="1" dirty="0">
                <a:solidFill>
                  <a:schemeClr val="tx2"/>
                </a:solidFill>
              </a:rPr>
              <a:t>Module Sécurité</a:t>
            </a:r>
            <a:endParaRPr lang="en-US" sz="1300" dirty="0"/>
          </a:p>
        </p:txBody>
      </p:sp>
      <p:sp>
        <p:nvSpPr>
          <p:cNvPr id="38" name="A4_362"/>
          <p:cNvSpPr/>
          <p:nvPr/>
        </p:nvSpPr>
        <p:spPr>
          <a:xfrm>
            <a:off x="8101584" y="3383280"/>
            <a:ext cx="1709928" cy="1197864"/>
          </a:xfrm>
          <a:prstGeom prst="roundRect">
            <a:avLst>
              <a:gd name="adj" fmla="val 9160"/>
            </a:avLst>
          </a:prstGeom>
          <a:solidFill>
            <a:srgbClr val="FFFFFF"/>
          </a:solidFill>
          <a:ln w="15875">
            <a:solidFill>
              <a:srgbClr val="7FB3E6"/>
            </a:solidFill>
            <a:prstDash val="solid"/>
          </a:ln>
        </p:spPr>
      </p:sp>
      <p:pic>
        <p:nvPicPr>
          <p:cNvPr id="39" name="A4_363" descr="preencoded.png"/>
          <p:cNvPicPr>
            <a:picLocks noChangeAspect="1"/>
          </p:cNvPicPr>
          <p:nvPr/>
        </p:nvPicPr>
        <p:blipFill>
          <a:blip r:embed="rId8"/>
          <a:stretch>
            <a:fillRect/>
          </a:stretch>
        </p:blipFill>
        <p:spPr>
          <a:xfrm>
            <a:off x="8723376" y="3520440"/>
            <a:ext cx="457200" cy="457200"/>
          </a:xfrm>
          <a:prstGeom prst="rect">
            <a:avLst/>
          </a:prstGeom>
        </p:spPr>
      </p:pic>
      <p:sp>
        <p:nvSpPr>
          <p:cNvPr id="40" name="A4_364"/>
          <p:cNvSpPr txBox="1"/>
          <p:nvPr/>
        </p:nvSpPr>
        <p:spPr>
          <a:xfrm>
            <a:off x="8147304" y="4069080"/>
            <a:ext cx="1618488" cy="365760"/>
          </a:xfrm>
          <a:prstGeom prst="rect">
            <a:avLst/>
          </a:prstGeom>
          <a:noFill/>
          <a:ln/>
        </p:spPr>
        <p:txBody>
          <a:bodyPr wrap="square" lIns="0" tIns="0" rIns="0" bIns="0" rtlCol="0" anchor="t"/>
          <a:lstStyle/>
          <a:p>
            <a:pPr marL="0" indent="0" algn="ctr">
              <a:buNone/>
            </a:pPr>
            <a:r>
              <a:rPr lang="en-US" sz="1300" b="1" dirty="0">
                <a:solidFill>
                  <a:schemeClr val="tx2"/>
                </a:solidFill>
              </a:rPr>
              <a:t>Module IA</a:t>
            </a:r>
            <a:endParaRPr lang="en-US" sz="1300" dirty="0"/>
          </a:p>
        </p:txBody>
      </p:sp>
      <p:sp>
        <p:nvSpPr>
          <p:cNvPr id="41" name="A4_365"/>
          <p:cNvSpPr/>
          <p:nvPr/>
        </p:nvSpPr>
        <p:spPr>
          <a:xfrm>
            <a:off x="9948672" y="3383280"/>
            <a:ext cx="1709928" cy="1197864"/>
          </a:xfrm>
          <a:prstGeom prst="roundRect">
            <a:avLst>
              <a:gd name="adj" fmla="val 9160"/>
            </a:avLst>
          </a:prstGeom>
          <a:solidFill>
            <a:srgbClr val="FFFFFF"/>
          </a:solidFill>
          <a:ln w="15875">
            <a:solidFill>
              <a:srgbClr val="7FB3E6"/>
            </a:solidFill>
            <a:prstDash val="solid"/>
          </a:ln>
        </p:spPr>
      </p:sp>
      <p:pic>
        <p:nvPicPr>
          <p:cNvPr id="42" name="A4_366" descr="preencoded.png"/>
          <p:cNvPicPr>
            <a:picLocks noChangeAspect="1"/>
          </p:cNvPicPr>
          <p:nvPr/>
        </p:nvPicPr>
        <p:blipFill>
          <a:blip r:embed="rId9"/>
          <a:stretch>
            <a:fillRect/>
          </a:stretch>
        </p:blipFill>
        <p:spPr>
          <a:xfrm>
            <a:off x="10570464" y="3520440"/>
            <a:ext cx="457200" cy="457200"/>
          </a:xfrm>
          <a:prstGeom prst="rect">
            <a:avLst/>
          </a:prstGeom>
        </p:spPr>
      </p:pic>
      <p:sp>
        <p:nvSpPr>
          <p:cNvPr id="43" name="A4_367"/>
          <p:cNvSpPr txBox="1"/>
          <p:nvPr/>
        </p:nvSpPr>
        <p:spPr>
          <a:xfrm>
            <a:off x="9994392" y="4069080"/>
            <a:ext cx="1618488" cy="365760"/>
          </a:xfrm>
          <a:prstGeom prst="rect">
            <a:avLst/>
          </a:prstGeom>
          <a:noFill/>
          <a:ln/>
        </p:spPr>
        <p:txBody>
          <a:bodyPr wrap="square" lIns="0" tIns="0" rIns="0" bIns="0" rtlCol="0" anchor="t"/>
          <a:lstStyle/>
          <a:p>
            <a:pPr marL="0" indent="0" algn="ctr">
              <a:buNone/>
            </a:pPr>
            <a:r>
              <a:rPr lang="en-US" sz="1300" b="1" dirty="0">
                <a:solidFill>
                  <a:schemeClr val="tx2"/>
                </a:solidFill>
              </a:rPr>
              <a:t>Module Pilotage</a:t>
            </a:r>
            <a:endParaRPr lang="en-US" sz="1300" dirty="0"/>
          </a:p>
        </p:txBody>
      </p:sp>
      <p:sp>
        <p:nvSpPr>
          <p:cNvPr id="44" name="A5_368"/>
          <p:cNvSpPr/>
          <p:nvPr/>
        </p:nvSpPr>
        <p:spPr>
          <a:xfrm>
            <a:off x="7086600" y="4599432"/>
            <a:ext cx="0" cy="384048"/>
          </a:xfrm>
          <a:prstGeom prst="line">
            <a:avLst/>
          </a:prstGeom>
          <a:noFill/>
          <a:ln w="25400">
            <a:solidFill>
              <a:srgbClr val="0E5CA8"/>
            </a:solidFill>
            <a:prstDash val="solid"/>
            <a:headEnd type="triangle"/>
            <a:tailEnd type="triangle"/>
          </a:ln>
        </p:spPr>
      </p:sp>
      <p:sp>
        <p:nvSpPr>
          <p:cNvPr id="45" name="A6_369"/>
          <p:cNvSpPr/>
          <p:nvPr/>
        </p:nvSpPr>
        <p:spPr>
          <a:xfrm>
            <a:off x="548640" y="5001768"/>
            <a:ext cx="1828800" cy="1234440"/>
          </a:xfrm>
          <a:prstGeom prst="roundRect">
            <a:avLst>
              <a:gd name="adj" fmla="val 8889"/>
            </a:avLst>
          </a:prstGeom>
          <a:solidFill>
            <a:srgbClr val="0B1F3A"/>
          </a:solidFill>
          <a:ln w="12700">
            <a:solidFill>
              <a:srgbClr val="FFFFFF"/>
            </a:solidFill>
            <a:prstDash val="solid"/>
          </a:ln>
        </p:spPr>
      </p:sp>
      <p:sp>
        <p:nvSpPr>
          <p:cNvPr id="46" name="A6_370"/>
          <p:cNvSpPr txBox="1"/>
          <p:nvPr/>
        </p:nvSpPr>
        <p:spPr>
          <a:xfrm>
            <a:off x="640080" y="5001768"/>
            <a:ext cx="1645920" cy="1234440"/>
          </a:xfrm>
          <a:prstGeom prst="rect">
            <a:avLst/>
          </a:prstGeom>
          <a:noFill/>
          <a:ln/>
        </p:spPr>
        <p:txBody>
          <a:bodyPr wrap="square" lIns="0" tIns="0" rIns="0" bIns="0" rtlCol="0" anchor="ctr"/>
          <a:lstStyle/>
          <a:p>
            <a:pPr marL="0" indent="0" algn="ctr">
              <a:buNone/>
            </a:pPr>
            <a:r>
              <a:rPr lang="en-US" sz="1500" b="1" dirty="0">
                <a:solidFill>
                  <a:srgbClr val="FFFFFF"/>
                </a:solidFill>
              </a:rPr>
              <a:t>Les fondations</a:t>
            </a:r>
            <a:endParaRPr lang="en-US" sz="1400" dirty="0"/>
          </a:p>
          <a:p>
            <a:pPr marL="0" indent="0" algn="ctr">
              <a:buNone/>
            </a:pPr>
            <a:r>
              <a:rPr lang="en-US" sz="1100" dirty="0">
                <a:solidFill>
                  <a:srgbClr val="AFC4DD"/>
                </a:solidFill>
              </a:rPr>
              <a:t>Données et services</a:t>
            </a:r>
            <a:endParaRPr lang="en-US" sz="1400" dirty="0"/>
          </a:p>
        </p:txBody>
      </p:sp>
      <p:sp>
        <p:nvSpPr>
          <p:cNvPr id="47" name="A6_371"/>
          <p:cNvSpPr/>
          <p:nvPr/>
        </p:nvSpPr>
        <p:spPr>
          <a:xfrm>
            <a:off x="2560320" y="5001768"/>
            <a:ext cx="2926080" cy="1234440"/>
          </a:xfrm>
          <a:prstGeom prst="roundRect">
            <a:avLst>
              <a:gd name="adj" fmla="val 8889"/>
            </a:avLst>
          </a:prstGeom>
          <a:solidFill>
            <a:srgbClr val="EEF4FB"/>
          </a:solidFill>
          <a:ln w="15875">
            <a:solidFill>
              <a:srgbClr val="7FB3E6"/>
            </a:solidFill>
            <a:prstDash val="solid"/>
          </a:ln>
        </p:spPr>
      </p:sp>
      <p:pic>
        <p:nvPicPr>
          <p:cNvPr id="48" name="A6_372" descr="preencoded.png"/>
          <p:cNvPicPr>
            <a:picLocks noChangeAspect="1"/>
          </p:cNvPicPr>
          <p:nvPr/>
        </p:nvPicPr>
        <p:blipFill>
          <a:blip r:embed="rId10"/>
          <a:stretch>
            <a:fillRect/>
          </a:stretch>
        </p:blipFill>
        <p:spPr>
          <a:xfrm>
            <a:off x="2788920" y="5349240"/>
            <a:ext cx="502920" cy="502920"/>
          </a:xfrm>
          <a:prstGeom prst="rect">
            <a:avLst/>
          </a:prstGeom>
        </p:spPr>
      </p:pic>
      <p:sp>
        <p:nvSpPr>
          <p:cNvPr id="49" name="A6_373"/>
          <p:cNvSpPr txBox="1"/>
          <p:nvPr/>
        </p:nvSpPr>
        <p:spPr>
          <a:xfrm>
            <a:off x="3474720" y="5193792"/>
            <a:ext cx="1920240" cy="365760"/>
          </a:xfrm>
          <a:prstGeom prst="rect">
            <a:avLst/>
          </a:prstGeom>
          <a:noFill/>
          <a:ln/>
        </p:spPr>
        <p:txBody>
          <a:bodyPr wrap="square" lIns="0" tIns="0" rIns="0" bIns="0" rtlCol="0" anchor="t"/>
          <a:lstStyle/>
          <a:p>
            <a:pPr marL="0" indent="0">
              <a:buNone/>
            </a:pPr>
            <a:r>
              <a:rPr lang="en-US" sz="1500" b="1" dirty="0">
                <a:solidFill>
                  <a:schemeClr val="tx2"/>
                </a:solidFill>
              </a:rPr>
              <a:t>Base de données</a:t>
            </a:r>
            <a:endParaRPr lang="en-US" sz="1500" dirty="0"/>
          </a:p>
        </p:txBody>
      </p:sp>
      <p:sp>
        <p:nvSpPr>
          <p:cNvPr id="50" name="A6_374"/>
          <p:cNvSpPr txBox="1"/>
          <p:nvPr/>
        </p:nvSpPr>
        <p:spPr>
          <a:xfrm>
            <a:off x="3474720" y="5577840"/>
            <a:ext cx="1920240" cy="502920"/>
          </a:xfrm>
          <a:prstGeom prst="rect">
            <a:avLst/>
          </a:prstGeom>
          <a:noFill/>
          <a:ln/>
        </p:spPr>
        <p:txBody>
          <a:bodyPr wrap="square" lIns="0" tIns="0" rIns="0" bIns="0" rtlCol="0" anchor="t"/>
          <a:lstStyle/>
          <a:p>
            <a:pPr marL="0" indent="0">
              <a:buNone/>
            </a:pPr>
            <a:r>
              <a:rPr lang="en-US" sz="1100" dirty="0">
                <a:solidFill>
                  <a:srgbClr val="5B6B7F"/>
                </a:solidFill>
              </a:rPr>
              <a:t>PostgreSQL</a:t>
            </a:r>
            <a:endParaRPr lang="en-US" sz="1100" dirty="0"/>
          </a:p>
        </p:txBody>
      </p:sp>
      <p:sp>
        <p:nvSpPr>
          <p:cNvPr id="51" name="A6_375"/>
          <p:cNvSpPr/>
          <p:nvPr/>
        </p:nvSpPr>
        <p:spPr>
          <a:xfrm>
            <a:off x="5637276" y="5001768"/>
            <a:ext cx="2926080" cy="1234440"/>
          </a:xfrm>
          <a:prstGeom prst="roundRect">
            <a:avLst>
              <a:gd name="adj" fmla="val 8889"/>
            </a:avLst>
          </a:prstGeom>
          <a:solidFill>
            <a:srgbClr val="EEF4FB"/>
          </a:solidFill>
          <a:ln w="15875">
            <a:solidFill>
              <a:srgbClr val="7FB3E6"/>
            </a:solidFill>
            <a:prstDash val="solid"/>
          </a:ln>
        </p:spPr>
      </p:sp>
      <p:pic>
        <p:nvPicPr>
          <p:cNvPr id="52" name="A6_376" descr="preencoded.png"/>
          <p:cNvPicPr>
            <a:picLocks noChangeAspect="1"/>
          </p:cNvPicPr>
          <p:nvPr/>
        </p:nvPicPr>
        <p:blipFill>
          <a:blip r:embed="rId8"/>
          <a:stretch>
            <a:fillRect/>
          </a:stretch>
        </p:blipFill>
        <p:spPr>
          <a:xfrm>
            <a:off x="5865876" y="5349240"/>
            <a:ext cx="502920" cy="502920"/>
          </a:xfrm>
          <a:prstGeom prst="rect">
            <a:avLst/>
          </a:prstGeom>
        </p:spPr>
      </p:pic>
      <p:sp>
        <p:nvSpPr>
          <p:cNvPr id="53" name="A6_377"/>
          <p:cNvSpPr txBox="1"/>
          <p:nvPr/>
        </p:nvSpPr>
        <p:spPr>
          <a:xfrm>
            <a:off x="6551676" y="5193792"/>
            <a:ext cx="1920240" cy="365760"/>
          </a:xfrm>
          <a:prstGeom prst="rect">
            <a:avLst/>
          </a:prstGeom>
          <a:noFill/>
          <a:ln/>
        </p:spPr>
        <p:txBody>
          <a:bodyPr wrap="square" lIns="0" tIns="0" rIns="0" bIns="0" rtlCol="0" anchor="t"/>
          <a:lstStyle/>
          <a:p>
            <a:pPr marL="0" indent="0">
              <a:buNone/>
            </a:pPr>
            <a:r>
              <a:rPr lang="en-US" sz="1500" b="1" dirty="0">
                <a:solidFill>
                  <a:schemeClr val="tx2"/>
                </a:solidFill>
              </a:rPr>
              <a:t>Service IA</a:t>
            </a:r>
            <a:endParaRPr lang="en-US" sz="1500" dirty="0"/>
          </a:p>
        </p:txBody>
      </p:sp>
      <p:sp>
        <p:nvSpPr>
          <p:cNvPr id="54" name="A6_378"/>
          <p:cNvSpPr txBox="1"/>
          <p:nvPr/>
        </p:nvSpPr>
        <p:spPr>
          <a:xfrm>
            <a:off x="6551676" y="5577840"/>
            <a:ext cx="1920240" cy="502920"/>
          </a:xfrm>
          <a:prstGeom prst="rect">
            <a:avLst/>
          </a:prstGeom>
          <a:noFill/>
          <a:ln/>
        </p:spPr>
        <p:txBody>
          <a:bodyPr wrap="square" lIns="0" tIns="0" rIns="0" bIns="0" rtlCol="0" anchor="t"/>
          <a:lstStyle/>
          <a:p>
            <a:pPr marL="0" indent="0">
              <a:buNone/>
            </a:pPr>
            <a:r>
              <a:rPr lang="en-US" sz="1100" dirty="0">
                <a:solidFill>
                  <a:srgbClr val="5B6B7F"/>
                </a:solidFill>
              </a:rPr>
              <a:t>Python · FastAPI · LLM</a:t>
            </a:r>
            <a:endParaRPr lang="en-US" sz="1100" dirty="0"/>
          </a:p>
        </p:txBody>
      </p:sp>
      <p:sp>
        <p:nvSpPr>
          <p:cNvPr id="55" name="A6_379"/>
          <p:cNvSpPr/>
          <p:nvPr/>
        </p:nvSpPr>
        <p:spPr>
          <a:xfrm>
            <a:off x="8714232" y="5001768"/>
            <a:ext cx="2926080" cy="1234440"/>
          </a:xfrm>
          <a:prstGeom prst="roundRect">
            <a:avLst>
              <a:gd name="adj" fmla="val 8889"/>
            </a:avLst>
          </a:prstGeom>
          <a:solidFill>
            <a:srgbClr val="EEF4FB"/>
          </a:solidFill>
          <a:ln w="15875">
            <a:solidFill>
              <a:srgbClr val="7FB3E6"/>
            </a:solidFill>
            <a:prstDash val="solid"/>
          </a:ln>
        </p:spPr>
      </p:sp>
      <p:pic>
        <p:nvPicPr>
          <p:cNvPr id="56" name="A6_380" descr="preencoded.png"/>
          <p:cNvPicPr>
            <a:picLocks noChangeAspect="1"/>
          </p:cNvPicPr>
          <p:nvPr/>
        </p:nvPicPr>
        <p:blipFill>
          <a:blip r:embed="rId11"/>
          <a:stretch>
            <a:fillRect/>
          </a:stretch>
        </p:blipFill>
        <p:spPr>
          <a:xfrm>
            <a:off x="8942832" y="5349240"/>
            <a:ext cx="502920" cy="502920"/>
          </a:xfrm>
          <a:prstGeom prst="rect">
            <a:avLst/>
          </a:prstGeom>
        </p:spPr>
      </p:pic>
      <p:sp>
        <p:nvSpPr>
          <p:cNvPr id="57" name="A6_381"/>
          <p:cNvSpPr txBox="1"/>
          <p:nvPr/>
        </p:nvSpPr>
        <p:spPr>
          <a:xfrm>
            <a:off x="9628632" y="5193792"/>
            <a:ext cx="1920240" cy="365760"/>
          </a:xfrm>
          <a:prstGeom prst="rect">
            <a:avLst/>
          </a:prstGeom>
          <a:noFill/>
          <a:ln/>
        </p:spPr>
        <p:txBody>
          <a:bodyPr wrap="square" lIns="0" tIns="0" rIns="0" bIns="0" rtlCol="0" anchor="t"/>
          <a:lstStyle/>
          <a:p>
            <a:pPr marL="0" indent="0">
              <a:buNone/>
            </a:pPr>
            <a:r>
              <a:rPr lang="en-US" sz="1500" b="1" dirty="0">
                <a:solidFill>
                  <a:schemeClr val="tx2"/>
                </a:solidFill>
              </a:rPr>
              <a:t>Outils d'analyse</a:t>
            </a:r>
            <a:endParaRPr lang="en-US" sz="1500" dirty="0"/>
          </a:p>
        </p:txBody>
      </p:sp>
      <p:sp>
        <p:nvSpPr>
          <p:cNvPr id="58" name="A6_382"/>
          <p:cNvSpPr txBox="1"/>
          <p:nvPr/>
        </p:nvSpPr>
        <p:spPr>
          <a:xfrm>
            <a:off x="9628632" y="5577840"/>
            <a:ext cx="1920240" cy="502920"/>
          </a:xfrm>
          <a:prstGeom prst="rect">
            <a:avLst/>
          </a:prstGeom>
          <a:noFill/>
          <a:ln/>
        </p:spPr>
        <p:txBody>
          <a:bodyPr wrap="square" lIns="0" tIns="0" rIns="0" bIns="0" rtlCol="0" anchor="t"/>
          <a:lstStyle/>
          <a:p>
            <a:pPr marL="0" indent="0">
              <a:buNone/>
            </a:pPr>
            <a:r>
              <a:rPr lang="en-US" sz="1100" dirty="0">
                <a:solidFill>
                  <a:srgbClr val="5B6B7F"/>
                </a:solidFill>
              </a:rPr>
              <a:t>SonarQube · Trivy · OWASP · Loki</a:t>
            </a:r>
            <a:endParaRPr lang="en-US" sz="1100" dirty="0"/>
          </a:p>
        </p:txBody>
      </p:sp>
      <p:sp>
        <p:nvSpPr>
          <p:cNvPr id="59"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17</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childTnLst>
                          </p:cTn>
                        </p:par>
                        <p:par>
                          <p:cTn id="59" fill="hold">
                            <p:stCondLst>
                              <p:cond delay="900"/>
                            </p:stCondLst>
                            <p:childTnLst>
                              <p:par>
                                <p:cTn id="60" presetID="10" presetClass="entr" presetSubtype="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par>
                          <p:cTn id="66" fill="hold">
                            <p:stCondLst>
                              <p:cond delay="1600"/>
                            </p:stCondLst>
                            <p:childTnLst>
                              <p:par>
                                <p:cTn id="67" presetID="10" presetClass="entr" presetSubtype="0" fill="hold" grpId="0"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childTnLst>
                          </p:cTn>
                        </p:par>
                        <p:par>
                          <p:cTn id="82" fill="hold">
                            <p:stCondLst>
                              <p:cond delay="2300"/>
                            </p:stCondLst>
                            <p:childTnLst>
                              <p:par>
                                <p:cTn id="83" presetID="10" presetClass="entr" presetSubtype="0" fill="hold" grpId="0"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5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50"/>
                                        <p:tgtEl>
                                          <p:spTgt spid="35"/>
                                        </p:tgtEl>
                                      </p:cBhvr>
                                    </p:animEffect>
                                  </p:childTnLst>
                                </p:cTn>
                              </p:par>
                              <p:par>
                                <p:cTn id="104" presetID="10" presetClass="entr" presetSubtype="0" fill="hold"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50"/>
                                        <p:tgtEl>
                                          <p:spTgt spid="38"/>
                                        </p:tgtEl>
                                      </p:cBhvr>
                                    </p:animEffect>
                                  </p:childTnLst>
                                </p:cTn>
                              </p:par>
                              <p:par>
                                <p:cTn id="113" presetID="10" presetClass="entr" presetSubtype="0" fill="hold"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450"/>
                                        <p:tgtEl>
                                          <p:spTgt spid="4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450"/>
                                        <p:tgtEl>
                                          <p:spTgt spid="41"/>
                                        </p:tgtEl>
                                      </p:cBhvr>
                                    </p:animEffect>
                                  </p:childTnLst>
                                </p:cTn>
                              </p:par>
                              <p:par>
                                <p:cTn id="122" presetID="10" presetClass="entr" presetSubtype="0" fill="hold"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450"/>
                                        <p:tgtEl>
                                          <p:spTgt spid="4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450"/>
                                        <p:tgtEl>
                                          <p:spTgt spid="43"/>
                                        </p:tgtEl>
                                      </p:cBhvr>
                                    </p:animEffect>
                                  </p:childTnLst>
                                </p:cTn>
                              </p:par>
                            </p:childTnLst>
                          </p:cTn>
                        </p:par>
                        <p:par>
                          <p:cTn id="128" fill="hold">
                            <p:stCondLst>
                              <p:cond delay="3000"/>
                            </p:stCondLst>
                            <p:childTnLst>
                              <p:par>
                                <p:cTn id="129" presetID="10" presetClass="entr" presetSubtype="0" fill="hold" grpId="0" nodeType="after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50"/>
                                        <p:tgtEl>
                                          <p:spTgt spid="44"/>
                                        </p:tgtEl>
                                      </p:cBhvr>
                                    </p:animEffect>
                                  </p:childTnLst>
                                </p:cTn>
                              </p:par>
                            </p:childTnLst>
                          </p:cTn>
                        </p:par>
                        <p:par>
                          <p:cTn id="132" fill="hold">
                            <p:stCondLst>
                              <p:cond delay="3700"/>
                            </p:stCondLst>
                            <p:childTnLst>
                              <p:par>
                                <p:cTn id="133" presetID="10" presetClass="entr" presetSubtype="0" fill="hold" grpId="0" nodeType="after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50"/>
                                        <p:tgtEl>
                                          <p:spTgt spid="4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450"/>
                                        <p:tgtEl>
                                          <p:spTgt spid="4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Effect transition="in" filter="fade">
                                      <p:cBhvr>
                                        <p:cTn id="141" dur="450"/>
                                        <p:tgtEl>
                                          <p:spTgt spid="47"/>
                                        </p:tgtEl>
                                      </p:cBhvr>
                                    </p:animEffect>
                                  </p:childTnLst>
                                </p:cTn>
                              </p:par>
                              <p:par>
                                <p:cTn id="142" presetID="10" presetClass="entr" presetSubtype="0" fill="hold" nodeType="withEffect">
                                  <p:stCondLst>
                                    <p:cond delay="0"/>
                                  </p:stCondLst>
                                  <p:childTnLst>
                                    <p:set>
                                      <p:cBhvr>
                                        <p:cTn id="143" dur="1" fill="hold">
                                          <p:stCondLst>
                                            <p:cond delay="0"/>
                                          </p:stCondLst>
                                        </p:cTn>
                                        <p:tgtEl>
                                          <p:spTgt spid="48"/>
                                        </p:tgtEl>
                                        <p:attrNameLst>
                                          <p:attrName>style.visibility</p:attrName>
                                        </p:attrNameLst>
                                      </p:cBhvr>
                                      <p:to>
                                        <p:strVal val="visible"/>
                                      </p:to>
                                    </p:set>
                                    <p:animEffect transition="in" filter="fade">
                                      <p:cBhvr>
                                        <p:cTn id="144" dur="450"/>
                                        <p:tgtEl>
                                          <p:spTgt spid="48"/>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49"/>
                                        </p:tgtEl>
                                        <p:attrNameLst>
                                          <p:attrName>style.visibility</p:attrName>
                                        </p:attrNameLst>
                                      </p:cBhvr>
                                      <p:to>
                                        <p:strVal val="visible"/>
                                      </p:to>
                                    </p:set>
                                    <p:animEffect transition="in" filter="fade">
                                      <p:cBhvr>
                                        <p:cTn id="147" dur="450"/>
                                        <p:tgtEl>
                                          <p:spTgt spid="49"/>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0"/>
                                        </p:tgtEl>
                                        <p:attrNameLst>
                                          <p:attrName>style.visibility</p:attrName>
                                        </p:attrNameLst>
                                      </p:cBhvr>
                                      <p:to>
                                        <p:strVal val="visible"/>
                                      </p:to>
                                    </p:set>
                                    <p:animEffect transition="in" filter="fade">
                                      <p:cBhvr>
                                        <p:cTn id="150" dur="450"/>
                                        <p:tgtEl>
                                          <p:spTgt spid="5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1"/>
                                        </p:tgtEl>
                                        <p:attrNameLst>
                                          <p:attrName>style.visibility</p:attrName>
                                        </p:attrNameLst>
                                      </p:cBhvr>
                                      <p:to>
                                        <p:strVal val="visible"/>
                                      </p:to>
                                    </p:set>
                                    <p:animEffect transition="in" filter="fade">
                                      <p:cBhvr>
                                        <p:cTn id="153" dur="450"/>
                                        <p:tgtEl>
                                          <p:spTgt spid="51"/>
                                        </p:tgtEl>
                                      </p:cBhvr>
                                    </p:animEffect>
                                  </p:childTnLst>
                                </p:cTn>
                              </p:par>
                              <p:par>
                                <p:cTn id="154" presetID="10" presetClass="entr" presetSubtype="0" fill="hold" nodeType="withEffect">
                                  <p:stCondLst>
                                    <p:cond delay="0"/>
                                  </p:stCondLst>
                                  <p:childTnLst>
                                    <p:set>
                                      <p:cBhvr>
                                        <p:cTn id="155" dur="1" fill="hold">
                                          <p:stCondLst>
                                            <p:cond delay="0"/>
                                          </p:stCondLst>
                                        </p:cTn>
                                        <p:tgtEl>
                                          <p:spTgt spid="52"/>
                                        </p:tgtEl>
                                        <p:attrNameLst>
                                          <p:attrName>style.visibility</p:attrName>
                                        </p:attrNameLst>
                                      </p:cBhvr>
                                      <p:to>
                                        <p:strVal val="visible"/>
                                      </p:to>
                                    </p:set>
                                    <p:animEffect transition="in" filter="fade">
                                      <p:cBhvr>
                                        <p:cTn id="156" dur="450"/>
                                        <p:tgtEl>
                                          <p:spTgt spid="52"/>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3"/>
                                        </p:tgtEl>
                                        <p:attrNameLst>
                                          <p:attrName>style.visibility</p:attrName>
                                        </p:attrNameLst>
                                      </p:cBhvr>
                                      <p:to>
                                        <p:strVal val="visible"/>
                                      </p:to>
                                    </p:set>
                                    <p:animEffect transition="in" filter="fade">
                                      <p:cBhvr>
                                        <p:cTn id="159" dur="450"/>
                                        <p:tgtEl>
                                          <p:spTgt spid="53"/>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4"/>
                                        </p:tgtEl>
                                        <p:attrNameLst>
                                          <p:attrName>style.visibility</p:attrName>
                                        </p:attrNameLst>
                                      </p:cBhvr>
                                      <p:to>
                                        <p:strVal val="visible"/>
                                      </p:to>
                                    </p:set>
                                    <p:animEffect transition="in" filter="fade">
                                      <p:cBhvr>
                                        <p:cTn id="162" dur="450"/>
                                        <p:tgtEl>
                                          <p:spTgt spid="54"/>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5"/>
                                        </p:tgtEl>
                                        <p:attrNameLst>
                                          <p:attrName>style.visibility</p:attrName>
                                        </p:attrNameLst>
                                      </p:cBhvr>
                                      <p:to>
                                        <p:strVal val="visible"/>
                                      </p:to>
                                    </p:set>
                                    <p:animEffect transition="in" filter="fade">
                                      <p:cBhvr>
                                        <p:cTn id="165" dur="450"/>
                                        <p:tgtEl>
                                          <p:spTgt spid="55"/>
                                        </p:tgtEl>
                                      </p:cBhvr>
                                    </p:animEffect>
                                  </p:childTnLst>
                                </p:cTn>
                              </p:par>
                              <p:par>
                                <p:cTn id="166" presetID="10" presetClass="entr" presetSubtype="0" fill="hold" nodeType="withEffect">
                                  <p:stCondLst>
                                    <p:cond delay="0"/>
                                  </p:stCondLst>
                                  <p:childTnLst>
                                    <p:set>
                                      <p:cBhvr>
                                        <p:cTn id="167" dur="1" fill="hold">
                                          <p:stCondLst>
                                            <p:cond delay="0"/>
                                          </p:stCondLst>
                                        </p:cTn>
                                        <p:tgtEl>
                                          <p:spTgt spid="56"/>
                                        </p:tgtEl>
                                        <p:attrNameLst>
                                          <p:attrName>style.visibility</p:attrName>
                                        </p:attrNameLst>
                                      </p:cBhvr>
                                      <p:to>
                                        <p:strVal val="visible"/>
                                      </p:to>
                                    </p:set>
                                    <p:animEffect transition="in" filter="fade">
                                      <p:cBhvr>
                                        <p:cTn id="168" dur="450"/>
                                        <p:tgtEl>
                                          <p:spTgt spid="56"/>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7"/>
                                        </p:tgtEl>
                                        <p:attrNameLst>
                                          <p:attrName>style.visibility</p:attrName>
                                        </p:attrNameLst>
                                      </p:cBhvr>
                                      <p:to>
                                        <p:strVal val="visible"/>
                                      </p:to>
                                    </p:set>
                                    <p:animEffect transition="in" filter="fade">
                                      <p:cBhvr>
                                        <p:cTn id="171" dur="450"/>
                                        <p:tgtEl>
                                          <p:spTgt spid="57"/>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8"/>
                                        </p:tgtEl>
                                        <p:attrNameLst>
                                          <p:attrName>style.visibility</p:attrName>
                                        </p:attrNameLst>
                                      </p:cBhvr>
                                      <p:to>
                                        <p:strVal val="visible"/>
                                      </p:to>
                                    </p:set>
                                    <p:animEffect transition="in" filter="fade">
                                      <p:cBhvr>
                                        <p:cTn id="174"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P spid="45" grpId="0" animBg="1"/>
      <p:bldP spid="46" grpId="0" animBg="1"/>
      <p:bldP spid="47" grpId="0" animBg="1"/>
      <p:bldP spid="49" grpId="0" animBg="1"/>
      <p:bldP spid="50" grpId="0" animBg="1"/>
      <p:bldP spid="51" grpId="0" animBg="1"/>
      <p:bldP spid="53" grpId="0" animBg="1"/>
      <p:bldP spid="54" grpId="0" animBg="1"/>
      <p:bldP spid="55" grpId="0" animBg="1"/>
      <p:bldP spid="57" grpId="0" animBg="1"/>
      <p:bldP spid="5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Où tourne l'assistant ?</a:t>
            </a:r>
            <a:endParaRPr lang="en-US" sz="3000" dirty="0"/>
          </a:p>
        </p:txBody>
      </p:sp>
      <p:sp>
        <p:nvSpPr>
          <p:cNvPr id="3" name="o_383"/>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ARCHITECTURE PHYSIQUE</a:t>
            </a:r>
            <a:endParaRPr lang="en-US" sz="1100" dirty="0"/>
          </a:p>
        </p:txBody>
      </p:sp>
      <p:sp>
        <p:nvSpPr>
          <p:cNvPr id="4" name="A1_384"/>
          <p:cNvSpPr/>
          <p:nvPr/>
        </p:nvSpPr>
        <p:spPr>
          <a:xfrm>
            <a:off x="3154680" y="1280160"/>
            <a:ext cx="6172200" cy="4572000"/>
          </a:xfrm>
          <a:prstGeom prst="roundRect">
            <a:avLst>
              <a:gd name="adj" fmla="val 2400"/>
            </a:avLst>
          </a:prstGeom>
          <a:solidFill>
            <a:srgbClr val="F7FAFE"/>
          </a:solidFill>
          <a:ln w="19050">
            <a:solidFill>
              <a:srgbClr val="0E5CA8"/>
            </a:solidFill>
            <a:prstDash val="dash"/>
          </a:ln>
        </p:spPr>
      </p:sp>
      <p:pic>
        <p:nvPicPr>
          <p:cNvPr id="5" name="A1_385" descr="preencoded.png"/>
          <p:cNvPicPr>
            <a:picLocks noChangeAspect="1"/>
          </p:cNvPicPr>
          <p:nvPr/>
        </p:nvPicPr>
        <p:blipFill>
          <a:blip r:embed="rId3"/>
          <a:stretch>
            <a:fillRect/>
          </a:stretch>
        </p:blipFill>
        <p:spPr>
          <a:xfrm>
            <a:off x="3383280" y="1417320"/>
            <a:ext cx="329184" cy="329184"/>
          </a:xfrm>
          <a:prstGeom prst="rect">
            <a:avLst/>
          </a:prstGeom>
        </p:spPr>
      </p:pic>
      <p:sp>
        <p:nvSpPr>
          <p:cNvPr id="6" name="A1_386"/>
          <p:cNvSpPr txBox="1"/>
          <p:nvPr/>
        </p:nvSpPr>
        <p:spPr>
          <a:xfrm>
            <a:off x="3794760" y="1399032"/>
            <a:ext cx="5029200" cy="365760"/>
          </a:xfrm>
          <a:prstGeom prst="rect">
            <a:avLst/>
          </a:prstGeom>
          <a:noFill/>
          <a:ln/>
        </p:spPr>
        <p:txBody>
          <a:bodyPr wrap="square" lIns="0" tIns="0" rIns="0" bIns="0" rtlCol="0" anchor="ctr"/>
          <a:lstStyle/>
          <a:p>
            <a:pPr marL="0" indent="0">
              <a:buNone/>
            </a:pPr>
            <a:r>
              <a:rPr lang="en-US" sz="1400" b="1" dirty="0">
                <a:solidFill>
                  <a:schemeClr val="accent1"/>
                </a:solidFill>
              </a:rPr>
              <a:t>Serveur unique · conteneurs Docker</a:t>
            </a:r>
            <a:endParaRPr lang="en-US" sz="1400" dirty="0"/>
          </a:p>
        </p:txBody>
      </p:sp>
      <p:sp>
        <p:nvSpPr>
          <p:cNvPr id="7" name="A2_387"/>
          <p:cNvSpPr/>
          <p:nvPr/>
        </p:nvSpPr>
        <p:spPr>
          <a:xfrm>
            <a:off x="3429000" y="1920240"/>
            <a:ext cx="2651760" cy="1005840"/>
          </a:xfrm>
          <a:prstGeom prst="roundRect">
            <a:avLst>
              <a:gd name="adj" fmla="val 10909"/>
            </a:avLst>
          </a:prstGeom>
          <a:solidFill>
            <a:srgbClr val="FFFFFF"/>
          </a:solidFill>
          <a:ln w="15875">
            <a:solidFill>
              <a:srgbClr val="0E5CA8"/>
            </a:solidFill>
            <a:prstDash val="solid"/>
          </a:ln>
          <a:effectLst>
            <a:outerShdw blurRad="101600" dist="25400" dir="5400000" algn="bl" rotWithShape="0">
              <a:srgbClr val="0B1F3A">
                <a:alpha val="12000"/>
              </a:srgbClr>
            </a:outerShdw>
          </a:effectLst>
        </p:spPr>
      </p:sp>
      <p:pic>
        <p:nvPicPr>
          <p:cNvPr id="8" name="A2_388" descr="preencoded.png"/>
          <p:cNvPicPr>
            <a:picLocks noChangeAspect="1"/>
          </p:cNvPicPr>
          <p:nvPr/>
        </p:nvPicPr>
        <p:blipFill>
          <a:blip r:embed="rId4"/>
          <a:stretch>
            <a:fillRect/>
          </a:stretch>
        </p:blipFill>
        <p:spPr>
          <a:xfrm>
            <a:off x="3611880" y="2194560"/>
            <a:ext cx="457200" cy="457200"/>
          </a:xfrm>
          <a:prstGeom prst="rect">
            <a:avLst/>
          </a:prstGeom>
        </p:spPr>
      </p:pic>
      <p:sp>
        <p:nvSpPr>
          <p:cNvPr id="9" name="A2_389"/>
          <p:cNvSpPr txBox="1"/>
          <p:nvPr/>
        </p:nvSpPr>
        <p:spPr>
          <a:xfrm>
            <a:off x="4206240" y="2075688"/>
            <a:ext cx="1783080" cy="384048"/>
          </a:xfrm>
          <a:prstGeom prst="rect">
            <a:avLst/>
          </a:prstGeom>
          <a:noFill/>
          <a:ln/>
        </p:spPr>
        <p:txBody>
          <a:bodyPr wrap="square" lIns="0" tIns="0" rIns="0" bIns="0" rtlCol="0" anchor="t"/>
          <a:lstStyle/>
          <a:p>
            <a:pPr marL="0" indent="0">
              <a:buNone/>
            </a:pPr>
            <a:r>
              <a:rPr lang="en-US" sz="1400" b="1" dirty="0">
                <a:solidFill>
                  <a:schemeClr val="tx2"/>
                </a:solidFill>
              </a:rPr>
              <a:t>Site web</a:t>
            </a:r>
            <a:endParaRPr lang="en-US" sz="1400" dirty="0"/>
          </a:p>
        </p:txBody>
      </p:sp>
      <p:sp>
        <p:nvSpPr>
          <p:cNvPr id="10" name="A2_390"/>
          <p:cNvSpPr txBox="1"/>
          <p:nvPr/>
        </p:nvSpPr>
        <p:spPr>
          <a:xfrm>
            <a:off x="4206240" y="2468880"/>
            <a:ext cx="1783080" cy="320040"/>
          </a:xfrm>
          <a:prstGeom prst="rect">
            <a:avLst/>
          </a:prstGeom>
          <a:noFill/>
          <a:ln/>
        </p:spPr>
        <p:txBody>
          <a:bodyPr wrap="square" lIns="0" tIns="0" rIns="0" bIns="0" rtlCol="0" anchor="t"/>
          <a:lstStyle/>
          <a:p>
            <a:pPr marL="0" indent="0">
              <a:buNone/>
            </a:pPr>
            <a:r>
              <a:rPr lang="en-US" sz="1100" dirty="0">
                <a:solidFill>
                  <a:srgbClr val="5B6B7F"/>
                </a:solidFill>
              </a:rPr>
              <a:t>nginx · port 4200</a:t>
            </a:r>
            <a:endParaRPr lang="en-US" sz="1100" dirty="0"/>
          </a:p>
        </p:txBody>
      </p:sp>
      <p:sp>
        <p:nvSpPr>
          <p:cNvPr id="11" name="A2_391"/>
          <p:cNvSpPr/>
          <p:nvPr/>
        </p:nvSpPr>
        <p:spPr>
          <a:xfrm>
            <a:off x="6446520" y="1920240"/>
            <a:ext cx="2651760" cy="1005840"/>
          </a:xfrm>
          <a:prstGeom prst="roundRect">
            <a:avLst>
              <a:gd name="adj" fmla="val 10909"/>
            </a:avLst>
          </a:prstGeom>
          <a:solidFill>
            <a:srgbClr val="FFFFFF"/>
          </a:solidFill>
          <a:ln w="15875">
            <a:solidFill>
              <a:srgbClr val="0E5CA8"/>
            </a:solidFill>
            <a:prstDash val="solid"/>
          </a:ln>
          <a:effectLst>
            <a:outerShdw blurRad="101600" dist="25400" dir="5400000" algn="bl" rotWithShape="0">
              <a:srgbClr val="0B1F3A">
                <a:alpha val="12000"/>
              </a:srgbClr>
            </a:outerShdw>
          </a:effectLst>
        </p:spPr>
      </p:sp>
      <p:pic>
        <p:nvPicPr>
          <p:cNvPr id="12" name="A2_392" descr="preencoded.png"/>
          <p:cNvPicPr>
            <a:picLocks noChangeAspect="1"/>
          </p:cNvPicPr>
          <p:nvPr/>
        </p:nvPicPr>
        <p:blipFill>
          <a:blip r:embed="rId5"/>
          <a:stretch>
            <a:fillRect/>
          </a:stretch>
        </p:blipFill>
        <p:spPr>
          <a:xfrm>
            <a:off x="6629400" y="2194560"/>
            <a:ext cx="457200" cy="457200"/>
          </a:xfrm>
          <a:prstGeom prst="rect">
            <a:avLst/>
          </a:prstGeom>
        </p:spPr>
      </p:pic>
      <p:sp>
        <p:nvSpPr>
          <p:cNvPr id="13" name="A2_393"/>
          <p:cNvSpPr txBox="1"/>
          <p:nvPr/>
        </p:nvSpPr>
        <p:spPr>
          <a:xfrm>
            <a:off x="7223760" y="2075688"/>
            <a:ext cx="1783080" cy="384048"/>
          </a:xfrm>
          <a:prstGeom prst="rect">
            <a:avLst/>
          </a:prstGeom>
          <a:noFill/>
          <a:ln/>
        </p:spPr>
        <p:txBody>
          <a:bodyPr wrap="square" lIns="0" tIns="0" rIns="0" bIns="0" rtlCol="0" anchor="t"/>
          <a:lstStyle/>
          <a:p>
            <a:pPr marL="0" indent="0">
              <a:buNone/>
            </a:pPr>
            <a:r>
              <a:rPr lang="en-US" sz="1400" b="1" dirty="0">
                <a:solidFill>
                  <a:schemeClr val="tx2"/>
                </a:solidFill>
              </a:rPr>
              <a:t>Moteur central</a:t>
            </a:r>
            <a:endParaRPr lang="en-US" sz="1400" dirty="0"/>
          </a:p>
        </p:txBody>
      </p:sp>
      <p:sp>
        <p:nvSpPr>
          <p:cNvPr id="14" name="A2_394"/>
          <p:cNvSpPr txBox="1"/>
          <p:nvPr/>
        </p:nvSpPr>
        <p:spPr>
          <a:xfrm>
            <a:off x="7223760" y="2468880"/>
            <a:ext cx="1783080" cy="320040"/>
          </a:xfrm>
          <a:prstGeom prst="rect">
            <a:avLst/>
          </a:prstGeom>
          <a:noFill/>
          <a:ln/>
        </p:spPr>
        <p:txBody>
          <a:bodyPr wrap="square" lIns="0" tIns="0" rIns="0" bIns="0" rtlCol="0" anchor="t"/>
          <a:lstStyle/>
          <a:p>
            <a:pPr marL="0" indent="0">
              <a:buNone/>
            </a:pPr>
            <a:r>
              <a:rPr lang="en-US" sz="1100" dirty="0">
                <a:solidFill>
                  <a:srgbClr val="5B6B7F"/>
                </a:solidFill>
              </a:rPr>
              <a:t>Spring Boot · port 8080</a:t>
            </a:r>
            <a:endParaRPr lang="en-US" sz="1100" dirty="0"/>
          </a:p>
        </p:txBody>
      </p:sp>
      <p:sp>
        <p:nvSpPr>
          <p:cNvPr id="15" name="A2_395"/>
          <p:cNvSpPr/>
          <p:nvPr/>
        </p:nvSpPr>
        <p:spPr>
          <a:xfrm>
            <a:off x="6080760" y="2423160"/>
            <a:ext cx="365760" cy="0"/>
          </a:xfrm>
          <a:prstGeom prst="line">
            <a:avLst/>
          </a:prstGeom>
          <a:noFill/>
          <a:ln w="22225">
            <a:solidFill>
              <a:srgbClr val="0E5CA8"/>
            </a:solidFill>
            <a:prstDash val="solid"/>
            <a:headEnd type="triangle"/>
            <a:tailEnd type="triangle"/>
          </a:ln>
        </p:spPr>
      </p:sp>
      <p:sp>
        <p:nvSpPr>
          <p:cNvPr id="16" name="A3_396"/>
          <p:cNvSpPr/>
          <p:nvPr/>
        </p:nvSpPr>
        <p:spPr>
          <a:xfrm>
            <a:off x="3429000" y="3291840"/>
            <a:ext cx="2651760" cy="1005840"/>
          </a:xfrm>
          <a:prstGeom prst="roundRect">
            <a:avLst>
              <a:gd name="adj" fmla="val 10909"/>
            </a:avLst>
          </a:prstGeom>
          <a:solidFill>
            <a:srgbClr val="FFFFFF"/>
          </a:solidFill>
          <a:ln w="15875">
            <a:solidFill>
              <a:srgbClr val="0E5CA8"/>
            </a:solidFill>
            <a:prstDash val="solid"/>
          </a:ln>
          <a:effectLst>
            <a:outerShdw blurRad="101600" dist="25400" dir="5400000" algn="bl" rotWithShape="0">
              <a:srgbClr val="0B1F3A">
                <a:alpha val="12000"/>
              </a:srgbClr>
            </a:outerShdw>
          </a:effectLst>
        </p:spPr>
      </p:sp>
      <p:pic>
        <p:nvPicPr>
          <p:cNvPr id="17" name="A3_397" descr="preencoded.png"/>
          <p:cNvPicPr>
            <a:picLocks noChangeAspect="1"/>
          </p:cNvPicPr>
          <p:nvPr/>
        </p:nvPicPr>
        <p:blipFill>
          <a:blip r:embed="rId6"/>
          <a:stretch>
            <a:fillRect/>
          </a:stretch>
        </p:blipFill>
        <p:spPr>
          <a:xfrm>
            <a:off x="3611880" y="3566160"/>
            <a:ext cx="457200" cy="457200"/>
          </a:xfrm>
          <a:prstGeom prst="rect">
            <a:avLst/>
          </a:prstGeom>
        </p:spPr>
      </p:pic>
      <p:sp>
        <p:nvSpPr>
          <p:cNvPr id="18" name="A3_398"/>
          <p:cNvSpPr txBox="1"/>
          <p:nvPr/>
        </p:nvSpPr>
        <p:spPr>
          <a:xfrm>
            <a:off x="4206240" y="3447288"/>
            <a:ext cx="1783080" cy="384048"/>
          </a:xfrm>
          <a:prstGeom prst="rect">
            <a:avLst/>
          </a:prstGeom>
          <a:noFill/>
          <a:ln/>
        </p:spPr>
        <p:txBody>
          <a:bodyPr wrap="square" lIns="0" tIns="0" rIns="0" bIns="0" rtlCol="0" anchor="t"/>
          <a:lstStyle/>
          <a:p>
            <a:pPr marL="0" indent="0">
              <a:buNone/>
            </a:pPr>
            <a:r>
              <a:rPr lang="en-US" sz="1400" b="1" dirty="0">
                <a:solidFill>
                  <a:schemeClr val="tx2"/>
                </a:solidFill>
              </a:rPr>
              <a:t>Base de données</a:t>
            </a:r>
            <a:endParaRPr lang="en-US" sz="1400" dirty="0"/>
          </a:p>
        </p:txBody>
      </p:sp>
      <p:sp>
        <p:nvSpPr>
          <p:cNvPr id="19" name="A3_399"/>
          <p:cNvSpPr txBox="1"/>
          <p:nvPr/>
        </p:nvSpPr>
        <p:spPr>
          <a:xfrm>
            <a:off x="4206240" y="3840480"/>
            <a:ext cx="1783080" cy="320040"/>
          </a:xfrm>
          <a:prstGeom prst="rect">
            <a:avLst/>
          </a:prstGeom>
          <a:noFill/>
          <a:ln/>
        </p:spPr>
        <p:txBody>
          <a:bodyPr wrap="square" lIns="0" tIns="0" rIns="0" bIns="0" rtlCol="0" anchor="t"/>
          <a:lstStyle/>
          <a:p>
            <a:pPr marL="0" indent="0">
              <a:buNone/>
            </a:pPr>
            <a:r>
              <a:rPr lang="en-US" sz="1100" dirty="0">
                <a:solidFill>
                  <a:srgbClr val="5B6B7F"/>
                </a:solidFill>
              </a:rPr>
              <a:t>PostgreSQL · port 5432</a:t>
            </a:r>
            <a:endParaRPr lang="en-US" sz="1100" dirty="0"/>
          </a:p>
        </p:txBody>
      </p:sp>
      <p:sp>
        <p:nvSpPr>
          <p:cNvPr id="20" name="A3_400"/>
          <p:cNvSpPr/>
          <p:nvPr/>
        </p:nvSpPr>
        <p:spPr>
          <a:xfrm>
            <a:off x="6446520" y="3291840"/>
            <a:ext cx="2651760" cy="1005840"/>
          </a:xfrm>
          <a:prstGeom prst="roundRect">
            <a:avLst>
              <a:gd name="adj" fmla="val 10909"/>
            </a:avLst>
          </a:prstGeom>
          <a:solidFill>
            <a:srgbClr val="FFFFFF"/>
          </a:solidFill>
          <a:ln w="15875">
            <a:solidFill>
              <a:srgbClr val="0E5CA8"/>
            </a:solidFill>
            <a:prstDash val="solid"/>
          </a:ln>
          <a:effectLst>
            <a:outerShdw blurRad="101600" dist="25400" dir="5400000" algn="bl" rotWithShape="0">
              <a:srgbClr val="0B1F3A">
                <a:alpha val="12000"/>
              </a:srgbClr>
            </a:outerShdw>
          </a:effectLst>
        </p:spPr>
      </p:sp>
      <p:pic>
        <p:nvPicPr>
          <p:cNvPr id="21" name="A3_401" descr="preencoded.png"/>
          <p:cNvPicPr>
            <a:picLocks noChangeAspect="1"/>
          </p:cNvPicPr>
          <p:nvPr/>
        </p:nvPicPr>
        <p:blipFill>
          <a:blip r:embed="rId7"/>
          <a:stretch>
            <a:fillRect/>
          </a:stretch>
        </p:blipFill>
        <p:spPr>
          <a:xfrm>
            <a:off x="6629400" y="3566160"/>
            <a:ext cx="457200" cy="457200"/>
          </a:xfrm>
          <a:prstGeom prst="rect">
            <a:avLst/>
          </a:prstGeom>
        </p:spPr>
      </p:pic>
      <p:sp>
        <p:nvSpPr>
          <p:cNvPr id="22" name="A3_402"/>
          <p:cNvSpPr txBox="1"/>
          <p:nvPr/>
        </p:nvSpPr>
        <p:spPr>
          <a:xfrm>
            <a:off x="7223760" y="3447288"/>
            <a:ext cx="1783080" cy="384048"/>
          </a:xfrm>
          <a:prstGeom prst="rect">
            <a:avLst/>
          </a:prstGeom>
          <a:noFill/>
          <a:ln/>
        </p:spPr>
        <p:txBody>
          <a:bodyPr wrap="square" lIns="0" tIns="0" rIns="0" bIns="0" rtlCol="0" anchor="t"/>
          <a:lstStyle/>
          <a:p>
            <a:pPr marL="0" indent="0">
              <a:buNone/>
            </a:pPr>
            <a:r>
              <a:rPr lang="en-US" sz="1400" b="1" dirty="0">
                <a:solidFill>
                  <a:schemeClr val="tx2"/>
                </a:solidFill>
              </a:rPr>
              <a:t>Service IA</a:t>
            </a:r>
            <a:endParaRPr lang="en-US" sz="1400" dirty="0"/>
          </a:p>
        </p:txBody>
      </p:sp>
      <p:sp>
        <p:nvSpPr>
          <p:cNvPr id="23" name="A3_403"/>
          <p:cNvSpPr txBox="1"/>
          <p:nvPr/>
        </p:nvSpPr>
        <p:spPr>
          <a:xfrm>
            <a:off x="7223760" y="3840480"/>
            <a:ext cx="1783080" cy="320040"/>
          </a:xfrm>
          <a:prstGeom prst="rect">
            <a:avLst/>
          </a:prstGeom>
          <a:noFill/>
          <a:ln/>
        </p:spPr>
        <p:txBody>
          <a:bodyPr wrap="square" lIns="0" tIns="0" rIns="0" bIns="0" rtlCol="0" anchor="t"/>
          <a:lstStyle/>
          <a:p>
            <a:pPr marL="0" indent="0">
              <a:buNone/>
            </a:pPr>
            <a:r>
              <a:rPr lang="en-US" sz="1100" dirty="0">
                <a:solidFill>
                  <a:srgbClr val="5B6B7F"/>
                </a:solidFill>
              </a:rPr>
              <a:t>FastAPI · port 8000</a:t>
            </a:r>
            <a:endParaRPr lang="en-US" sz="1100" dirty="0"/>
          </a:p>
        </p:txBody>
      </p:sp>
      <p:sp>
        <p:nvSpPr>
          <p:cNvPr id="24" name="A3_404"/>
          <p:cNvSpPr/>
          <p:nvPr/>
        </p:nvSpPr>
        <p:spPr>
          <a:xfrm>
            <a:off x="7772400" y="2926080"/>
            <a:ext cx="0" cy="365760"/>
          </a:xfrm>
          <a:prstGeom prst="line">
            <a:avLst/>
          </a:prstGeom>
          <a:noFill/>
          <a:ln w="22225">
            <a:solidFill>
              <a:srgbClr val="0E5CA8"/>
            </a:solidFill>
            <a:prstDash val="solid"/>
            <a:headEnd type="triangle"/>
            <a:tailEnd type="triangle"/>
          </a:ln>
        </p:spPr>
      </p:sp>
      <p:sp>
        <p:nvSpPr>
          <p:cNvPr id="25" name="A3_405"/>
          <p:cNvSpPr/>
          <p:nvPr/>
        </p:nvSpPr>
        <p:spPr>
          <a:xfrm flipH="1">
            <a:off x="6080760" y="2926080"/>
            <a:ext cx="548640" cy="365760"/>
          </a:xfrm>
          <a:prstGeom prst="line">
            <a:avLst/>
          </a:prstGeom>
          <a:noFill/>
          <a:ln w="22225">
            <a:solidFill>
              <a:srgbClr val="0E5CA8"/>
            </a:solidFill>
            <a:prstDash val="solid"/>
            <a:headEnd type="triangle"/>
            <a:tailEnd type="triangle"/>
          </a:ln>
        </p:spPr>
      </p:sp>
      <p:sp>
        <p:nvSpPr>
          <p:cNvPr id="26" name="A4_406"/>
          <p:cNvSpPr/>
          <p:nvPr/>
        </p:nvSpPr>
        <p:spPr>
          <a:xfrm>
            <a:off x="3429000" y="4617720"/>
            <a:ext cx="2651760" cy="1005840"/>
          </a:xfrm>
          <a:prstGeom prst="roundRect">
            <a:avLst>
              <a:gd name="adj" fmla="val 10909"/>
            </a:avLst>
          </a:prstGeom>
          <a:solidFill>
            <a:srgbClr val="FFFFFF"/>
          </a:solidFill>
          <a:ln w="15875">
            <a:solidFill>
              <a:srgbClr val="9DB4CC"/>
            </a:solidFill>
            <a:prstDash val="dash"/>
          </a:ln>
        </p:spPr>
      </p:sp>
      <p:pic>
        <p:nvPicPr>
          <p:cNvPr id="27" name="A4_407" descr="preencoded.png"/>
          <p:cNvPicPr>
            <a:picLocks noChangeAspect="1"/>
          </p:cNvPicPr>
          <p:nvPr/>
        </p:nvPicPr>
        <p:blipFill>
          <a:blip r:embed="rId8"/>
          <a:stretch>
            <a:fillRect/>
          </a:stretch>
        </p:blipFill>
        <p:spPr>
          <a:xfrm>
            <a:off x="3611880" y="4892040"/>
            <a:ext cx="457200" cy="457200"/>
          </a:xfrm>
          <a:prstGeom prst="rect">
            <a:avLst/>
          </a:prstGeom>
        </p:spPr>
      </p:pic>
      <p:sp>
        <p:nvSpPr>
          <p:cNvPr id="28" name="A4_408"/>
          <p:cNvSpPr txBox="1"/>
          <p:nvPr/>
        </p:nvSpPr>
        <p:spPr>
          <a:xfrm>
            <a:off x="4206240" y="4773168"/>
            <a:ext cx="1783080" cy="384048"/>
          </a:xfrm>
          <a:prstGeom prst="rect">
            <a:avLst/>
          </a:prstGeom>
          <a:noFill/>
          <a:ln/>
        </p:spPr>
        <p:txBody>
          <a:bodyPr wrap="square" lIns="0" tIns="0" rIns="0" bIns="0" rtlCol="0" anchor="t"/>
          <a:lstStyle/>
          <a:p>
            <a:pPr marL="0" indent="0">
              <a:buNone/>
            </a:pPr>
            <a:r>
              <a:rPr lang="en-US" sz="1400" b="1" dirty="0">
                <a:solidFill>
                  <a:srgbClr val="5B6B7F"/>
                </a:solidFill>
              </a:rPr>
              <a:t>Analyse du code</a:t>
            </a:r>
            <a:endParaRPr lang="en-US" sz="1400" dirty="0"/>
          </a:p>
        </p:txBody>
      </p:sp>
      <p:sp>
        <p:nvSpPr>
          <p:cNvPr id="29" name="A4_409"/>
          <p:cNvSpPr txBox="1"/>
          <p:nvPr/>
        </p:nvSpPr>
        <p:spPr>
          <a:xfrm>
            <a:off x="4206240" y="5166360"/>
            <a:ext cx="1783080" cy="320040"/>
          </a:xfrm>
          <a:prstGeom prst="rect">
            <a:avLst/>
          </a:prstGeom>
          <a:noFill/>
          <a:ln/>
        </p:spPr>
        <p:txBody>
          <a:bodyPr wrap="square" lIns="0" tIns="0" rIns="0" bIns="0" rtlCol="0" anchor="t"/>
          <a:lstStyle/>
          <a:p>
            <a:pPr marL="0" indent="0">
              <a:buNone/>
            </a:pPr>
            <a:r>
              <a:rPr lang="en-US" sz="1100" dirty="0">
                <a:solidFill>
                  <a:srgbClr val="5B6B7F"/>
                </a:solidFill>
              </a:rPr>
              <a:t>SonarQube · port 9000</a:t>
            </a:r>
            <a:endParaRPr lang="en-US" sz="1100" dirty="0"/>
          </a:p>
        </p:txBody>
      </p:sp>
      <p:sp>
        <p:nvSpPr>
          <p:cNvPr id="30" name="A4_410"/>
          <p:cNvSpPr/>
          <p:nvPr/>
        </p:nvSpPr>
        <p:spPr>
          <a:xfrm>
            <a:off x="6446520" y="4617720"/>
            <a:ext cx="2651760" cy="1005840"/>
          </a:xfrm>
          <a:prstGeom prst="roundRect">
            <a:avLst>
              <a:gd name="adj" fmla="val 10909"/>
            </a:avLst>
          </a:prstGeom>
          <a:solidFill>
            <a:srgbClr val="FFFFFF"/>
          </a:solidFill>
          <a:ln w="15875">
            <a:solidFill>
              <a:srgbClr val="9DB4CC"/>
            </a:solidFill>
            <a:prstDash val="dash"/>
          </a:ln>
        </p:spPr>
      </p:sp>
      <p:pic>
        <p:nvPicPr>
          <p:cNvPr id="31" name="A4_411" descr="preencoded.png"/>
          <p:cNvPicPr>
            <a:picLocks noChangeAspect="1"/>
          </p:cNvPicPr>
          <p:nvPr/>
        </p:nvPicPr>
        <p:blipFill>
          <a:blip r:embed="rId9"/>
          <a:stretch>
            <a:fillRect/>
          </a:stretch>
        </p:blipFill>
        <p:spPr>
          <a:xfrm>
            <a:off x="6629400" y="4892040"/>
            <a:ext cx="457200" cy="457200"/>
          </a:xfrm>
          <a:prstGeom prst="rect">
            <a:avLst/>
          </a:prstGeom>
        </p:spPr>
      </p:pic>
      <p:sp>
        <p:nvSpPr>
          <p:cNvPr id="32" name="A4_412"/>
          <p:cNvSpPr txBox="1"/>
          <p:nvPr/>
        </p:nvSpPr>
        <p:spPr>
          <a:xfrm>
            <a:off x="7223760" y="4773168"/>
            <a:ext cx="1783080" cy="384048"/>
          </a:xfrm>
          <a:prstGeom prst="rect">
            <a:avLst/>
          </a:prstGeom>
          <a:noFill/>
          <a:ln/>
        </p:spPr>
        <p:txBody>
          <a:bodyPr wrap="square" lIns="0" tIns="0" rIns="0" bIns="0" rtlCol="0" anchor="t"/>
          <a:lstStyle/>
          <a:p>
            <a:pPr marL="0" indent="0">
              <a:buNone/>
            </a:pPr>
            <a:r>
              <a:rPr lang="en-US" sz="1400" b="1" dirty="0">
                <a:solidFill>
                  <a:srgbClr val="5B6B7F"/>
                </a:solidFill>
              </a:rPr>
              <a:t>Suivi des journaux</a:t>
            </a:r>
            <a:endParaRPr lang="en-US" sz="1400" dirty="0"/>
          </a:p>
        </p:txBody>
      </p:sp>
      <p:sp>
        <p:nvSpPr>
          <p:cNvPr id="33" name="A4_413"/>
          <p:cNvSpPr txBox="1"/>
          <p:nvPr/>
        </p:nvSpPr>
        <p:spPr>
          <a:xfrm>
            <a:off x="7223760" y="5166360"/>
            <a:ext cx="1783080" cy="320040"/>
          </a:xfrm>
          <a:prstGeom prst="rect">
            <a:avLst/>
          </a:prstGeom>
          <a:noFill/>
          <a:ln/>
        </p:spPr>
        <p:txBody>
          <a:bodyPr wrap="square" lIns="0" tIns="0" rIns="0" bIns="0" rtlCol="0" anchor="t"/>
          <a:lstStyle/>
          <a:p>
            <a:pPr marL="0" indent="0">
              <a:buNone/>
            </a:pPr>
            <a:r>
              <a:rPr lang="en-US" sz="1100" dirty="0">
                <a:solidFill>
                  <a:srgbClr val="5B6B7F"/>
                </a:solidFill>
              </a:rPr>
              <a:t>Loki + Grafana · port 3000</a:t>
            </a:r>
            <a:endParaRPr lang="en-US" sz="1100" dirty="0"/>
          </a:p>
        </p:txBody>
      </p:sp>
      <p:sp>
        <p:nvSpPr>
          <p:cNvPr id="34" name="A5_414"/>
          <p:cNvSpPr/>
          <p:nvPr/>
        </p:nvSpPr>
        <p:spPr>
          <a:xfrm>
            <a:off x="548640" y="1783080"/>
            <a:ext cx="1828800" cy="1280160"/>
          </a:xfrm>
          <a:prstGeom prst="roundRect">
            <a:avLst>
              <a:gd name="adj" fmla="val 8571"/>
            </a:avLst>
          </a:prstGeom>
          <a:solidFill>
            <a:srgbClr val="EEF4FB"/>
          </a:solidFill>
          <a:ln w="12700">
            <a:solidFill>
              <a:srgbClr val="FFFFFF"/>
            </a:solidFill>
            <a:prstDash val="solid"/>
          </a:ln>
        </p:spPr>
      </p:sp>
      <p:pic>
        <p:nvPicPr>
          <p:cNvPr id="35" name="A5_415" descr="preencoded.png"/>
          <p:cNvPicPr>
            <a:picLocks noChangeAspect="1"/>
          </p:cNvPicPr>
          <p:nvPr/>
        </p:nvPicPr>
        <p:blipFill>
          <a:blip r:embed="rId10"/>
          <a:stretch>
            <a:fillRect/>
          </a:stretch>
        </p:blipFill>
        <p:spPr>
          <a:xfrm>
            <a:off x="1188720" y="1874520"/>
            <a:ext cx="548640" cy="548640"/>
          </a:xfrm>
          <a:prstGeom prst="rect">
            <a:avLst/>
          </a:prstGeom>
        </p:spPr>
      </p:pic>
      <p:sp>
        <p:nvSpPr>
          <p:cNvPr id="36" name="A5_416"/>
          <p:cNvSpPr txBox="1"/>
          <p:nvPr/>
        </p:nvSpPr>
        <p:spPr>
          <a:xfrm>
            <a:off x="594360" y="2468880"/>
            <a:ext cx="1737360" cy="548640"/>
          </a:xfrm>
          <a:prstGeom prst="rect">
            <a:avLst/>
          </a:prstGeom>
          <a:noFill/>
          <a:ln/>
        </p:spPr>
        <p:txBody>
          <a:bodyPr wrap="square" lIns="0" tIns="0" rIns="0" bIns="0" rtlCol="0" anchor="t"/>
          <a:lstStyle/>
          <a:p>
            <a:pPr marL="0" indent="0" algn="ctr">
              <a:buNone/>
            </a:pPr>
            <a:r>
              <a:rPr lang="en-US" sz="1400" b="1" dirty="0">
                <a:solidFill>
                  <a:schemeClr val="tx2"/>
                </a:solidFill>
              </a:rPr>
              <a:t>Utilisateur</a:t>
            </a:r>
            <a:endParaRPr lang="en-US" sz="1400" dirty="0"/>
          </a:p>
          <a:p>
            <a:pPr marL="0" indent="0" algn="ctr">
              <a:buNone/>
            </a:pPr>
            <a:r>
              <a:rPr lang="en-US" sz="1100" dirty="0">
                <a:solidFill>
                  <a:srgbClr val="5B6B7F"/>
                </a:solidFill>
              </a:rPr>
              <a:t>navigateur web</a:t>
            </a:r>
            <a:endParaRPr lang="en-US" sz="1400" dirty="0"/>
          </a:p>
        </p:txBody>
      </p:sp>
      <p:sp>
        <p:nvSpPr>
          <p:cNvPr id="37" name="A5_417"/>
          <p:cNvSpPr/>
          <p:nvPr/>
        </p:nvSpPr>
        <p:spPr>
          <a:xfrm>
            <a:off x="2377440" y="2423160"/>
            <a:ext cx="1051560" cy="0"/>
          </a:xfrm>
          <a:prstGeom prst="line">
            <a:avLst/>
          </a:prstGeom>
          <a:noFill/>
          <a:ln w="25400">
            <a:solidFill>
              <a:srgbClr val="E5322D"/>
            </a:solidFill>
            <a:prstDash val="solid"/>
            <a:tailEnd type="triangle"/>
          </a:ln>
        </p:spPr>
      </p:sp>
      <p:sp>
        <p:nvSpPr>
          <p:cNvPr id="38" name="A5_418"/>
          <p:cNvSpPr txBox="1"/>
          <p:nvPr/>
        </p:nvSpPr>
        <p:spPr>
          <a:xfrm>
            <a:off x="2423160" y="2103120"/>
            <a:ext cx="685800" cy="274320"/>
          </a:xfrm>
          <a:prstGeom prst="rect">
            <a:avLst/>
          </a:prstGeom>
          <a:noFill/>
          <a:ln/>
        </p:spPr>
        <p:txBody>
          <a:bodyPr wrap="square" lIns="0" tIns="0" rIns="0" bIns="0" rtlCol="0" anchor="t"/>
          <a:lstStyle/>
          <a:p>
            <a:pPr marL="0" indent="0" algn="ctr">
              <a:buNone/>
            </a:pPr>
            <a:r>
              <a:rPr lang="en-US" sz="1000" b="1" dirty="0">
                <a:solidFill>
                  <a:schemeClr val="accent2"/>
                </a:solidFill>
              </a:rPr>
              <a:t>HTTPS</a:t>
            </a:r>
            <a:endParaRPr lang="en-US" sz="1000" dirty="0"/>
          </a:p>
        </p:txBody>
      </p:sp>
      <p:sp>
        <p:nvSpPr>
          <p:cNvPr id="39" name="A6_419"/>
          <p:cNvSpPr/>
          <p:nvPr/>
        </p:nvSpPr>
        <p:spPr>
          <a:xfrm>
            <a:off x="548640" y="3749040"/>
            <a:ext cx="1828800" cy="1417320"/>
          </a:xfrm>
          <a:prstGeom prst="roundRect">
            <a:avLst>
              <a:gd name="adj" fmla="val 7742"/>
            </a:avLst>
          </a:prstGeom>
          <a:solidFill>
            <a:srgbClr val="F3F5F8"/>
          </a:solidFill>
          <a:ln w="12700">
            <a:solidFill>
              <a:srgbClr val="FFFFFF"/>
            </a:solidFill>
            <a:prstDash val="solid"/>
          </a:ln>
        </p:spPr>
      </p:sp>
      <p:pic>
        <p:nvPicPr>
          <p:cNvPr id="40" name="A6_420" descr="preencoded.png"/>
          <p:cNvPicPr>
            <a:picLocks noChangeAspect="1"/>
          </p:cNvPicPr>
          <p:nvPr/>
        </p:nvPicPr>
        <p:blipFill>
          <a:blip r:embed="rId11"/>
          <a:stretch>
            <a:fillRect/>
          </a:stretch>
        </p:blipFill>
        <p:spPr>
          <a:xfrm>
            <a:off x="1207008" y="3840480"/>
            <a:ext cx="512064" cy="512064"/>
          </a:xfrm>
          <a:prstGeom prst="rect">
            <a:avLst/>
          </a:prstGeom>
        </p:spPr>
      </p:pic>
      <p:sp>
        <p:nvSpPr>
          <p:cNvPr id="41" name="A6_421"/>
          <p:cNvSpPr txBox="1"/>
          <p:nvPr/>
        </p:nvSpPr>
        <p:spPr>
          <a:xfrm>
            <a:off x="566928" y="4407408"/>
            <a:ext cx="1792224" cy="685800"/>
          </a:xfrm>
          <a:prstGeom prst="rect">
            <a:avLst/>
          </a:prstGeom>
          <a:noFill/>
          <a:ln/>
        </p:spPr>
        <p:txBody>
          <a:bodyPr wrap="square" lIns="0" tIns="0" rIns="0" bIns="0" rtlCol="0" anchor="t"/>
          <a:lstStyle/>
          <a:p>
            <a:pPr marL="0" indent="0" algn="ctr">
              <a:buNone/>
            </a:pPr>
            <a:r>
              <a:rPr lang="en-US" sz="1200" b="1" dirty="0">
                <a:solidFill>
                  <a:schemeClr val="tx2"/>
                </a:solidFill>
              </a:rPr>
              <a:t>Chaîne de livraison</a:t>
            </a:r>
            <a:endParaRPr lang="en-US" sz="1200" dirty="0"/>
          </a:p>
          <a:p>
            <a:pPr marL="0" indent="0" algn="ctr">
              <a:buNone/>
            </a:pPr>
            <a:r>
              <a:rPr lang="en-US" sz="1100" dirty="0">
                <a:solidFill>
                  <a:srgbClr val="5B6B7F"/>
                </a:solidFill>
              </a:rPr>
              <a:t>GitHub · GitLab · Jenkins</a:t>
            </a:r>
            <a:endParaRPr lang="en-US" sz="1200" dirty="0"/>
          </a:p>
        </p:txBody>
      </p:sp>
      <p:sp>
        <p:nvSpPr>
          <p:cNvPr id="42" name="A6_422"/>
          <p:cNvSpPr/>
          <p:nvPr/>
        </p:nvSpPr>
        <p:spPr>
          <a:xfrm>
            <a:off x="2377440" y="4434840"/>
            <a:ext cx="777240" cy="0"/>
          </a:xfrm>
          <a:prstGeom prst="line">
            <a:avLst/>
          </a:prstGeom>
          <a:noFill/>
          <a:ln w="25400">
            <a:solidFill>
              <a:srgbClr val="E5322D"/>
            </a:solidFill>
            <a:prstDash val="solid"/>
            <a:tailEnd type="triangle"/>
          </a:ln>
        </p:spPr>
      </p:sp>
      <p:sp>
        <p:nvSpPr>
          <p:cNvPr id="43" name="A6_423"/>
          <p:cNvSpPr txBox="1"/>
          <p:nvPr/>
        </p:nvSpPr>
        <p:spPr>
          <a:xfrm>
            <a:off x="2395728" y="3959352"/>
            <a:ext cx="731520" cy="438912"/>
          </a:xfrm>
          <a:prstGeom prst="rect">
            <a:avLst/>
          </a:prstGeom>
          <a:noFill/>
          <a:ln/>
        </p:spPr>
        <p:txBody>
          <a:bodyPr wrap="square" lIns="0" tIns="0" rIns="0" bIns="0" rtlCol="0" anchor="t"/>
          <a:lstStyle/>
          <a:p>
            <a:pPr marL="0" indent="0" algn="ctr">
              <a:buNone/>
            </a:pPr>
            <a:r>
              <a:rPr lang="en-US" sz="900" b="1" dirty="0">
                <a:solidFill>
                  <a:schemeClr val="accent2"/>
                </a:solidFill>
              </a:rPr>
              <a:t>HTTPS</a:t>
            </a:r>
            <a:endParaRPr lang="en-US" sz="900" dirty="0"/>
          </a:p>
          <a:p>
            <a:pPr marL="0" indent="0" algn="ctr">
              <a:buNone/>
            </a:pPr>
            <a:r>
              <a:rPr lang="en-US" sz="900" b="1" dirty="0">
                <a:solidFill>
                  <a:schemeClr val="accent2"/>
                </a:solidFill>
              </a:rPr>
              <a:t>+ clé</a:t>
            </a:r>
            <a:endParaRPr lang="en-US" sz="900" dirty="0"/>
          </a:p>
        </p:txBody>
      </p:sp>
      <p:sp>
        <p:nvSpPr>
          <p:cNvPr id="44" name="A7_424"/>
          <p:cNvSpPr/>
          <p:nvPr/>
        </p:nvSpPr>
        <p:spPr>
          <a:xfrm>
            <a:off x="9875520" y="3154680"/>
            <a:ext cx="1764792" cy="1371600"/>
          </a:xfrm>
          <a:prstGeom prst="roundRect">
            <a:avLst>
              <a:gd name="adj" fmla="val 8000"/>
            </a:avLst>
          </a:prstGeom>
          <a:solidFill>
            <a:srgbClr val="EEF4FB"/>
          </a:solidFill>
          <a:ln w="12700">
            <a:solidFill>
              <a:srgbClr val="FFFFFF"/>
            </a:solidFill>
            <a:prstDash val="solid"/>
          </a:ln>
        </p:spPr>
      </p:sp>
      <p:pic>
        <p:nvPicPr>
          <p:cNvPr id="45" name="A7_425" descr="preencoded.png"/>
          <p:cNvPicPr>
            <a:picLocks noChangeAspect="1"/>
          </p:cNvPicPr>
          <p:nvPr/>
        </p:nvPicPr>
        <p:blipFill>
          <a:blip r:embed="rId12"/>
          <a:stretch>
            <a:fillRect/>
          </a:stretch>
        </p:blipFill>
        <p:spPr>
          <a:xfrm>
            <a:off x="10460736" y="3246120"/>
            <a:ext cx="594360" cy="548640"/>
          </a:xfrm>
          <a:prstGeom prst="rect">
            <a:avLst/>
          </a:prstGeom>
        </p:spPr>
      </p:pic>
      <p:sp>
        <p:nvSpPr>
          <p:cNvPr id="46" name="A7_426"/>
          <p:cNvSpPr txBox="1"/>
          <p:nvPr/>
        </p:nvSpPr>
        <p:spPr>
          <a:xfrm>
            <a:off x="9893808" y="3840480"/>
            <a:ext cx="1728216" cy="594360"/>
          </a:xfrm>
          <a:prstGeom prst="rect">
            <a:avLst/>
          </a:prstGeom>
          <a:noFill/>
          <a:ln/>
        </p:spPr>
        <p:txBody>
          <a:bodyPr wrap="square" lIns="0" tIns="0" rIns="0" bIns="0" rtlCol="0" anchor="t"/>
          <a:lstStyle/>
          <a:p>
            <a:pPr marL="0" indent="0" algn="ctr">
              <a:buNone/>
            </a:pPr>
            <a:r>
              <a:rPr lang="en-US" sz="1300" b="1" dirty="0">
                <a:solidFill>
                  <a:schemeClr val="tx2"/>
                </a:solidFill>
              </a:rPr>
              <a:t>IA en ligne</a:t>
            </a:r>
            <a:endParaRPr lang="en-US" sz="1300" dirty="0"/>
          </a:p>
          <a:p>
            <a:pPr marL="0" indent="0" algn="ctr">
              <a:buNone/>
            </a:pPr>
            <a:r>
              <a:rPr lang="en-US" sz="1100" dirty="0">
                <a:solidFill>
                  <a:srgbClr val="5B6B7F"/>
                </a:solidFill>
              </a:rPr>
              <a:t>Groq · modèle de langage</a:t>
            </a:r>
            <a:endParaRPr lang="en-US" sz="1300" dirty="0"/>
          </a:p>
        </p:txBody>
      </p:sp>
      <p:sp>
        <p:nvSpPr>
          <p:cNvPr id="47" name="A7_427"/>
          <p:cNvSpPr/>
          <p:nvPr/>
        </p:nvSpPr>
        <p:spPr>
          <a:xfrm>
            <a:off x="9098280" y="3794760"/>
            <a:ext cx="777240" cy="0"/>
          </a:xfrm>
          <a:prstGeom prst="line">
            <a:avLst/>
          </a:prstGeom>
          <a:noFill/>
          <a:ln w="25400">
            <a:solidFill>
              <a:srgbClr val="E5322D"/>
            </a:solidFill>
            <a:prstDash val="solid"/>
            <a:tailEnd type="triangle"/>
          </a:ln>
        </p:spPr>
      </p:sp>
      <p:sp>
        <p:nvSpPr>
          <p:cNvPr id="48" name="A7_428"/>
          <p:cNvSpPr txBox="1"/>
          <p:nvPr/>
        </p:nvSpPr>
        <p:spPr>
          <a:xfrm>
            <a:off x="9345168" y="3319272"/>
            <a:ext cx="512064" cy="438912"/>
          </a:xfrm>
          <a:prstGeom prst="rect">
            <a:avLst/>
          </a:prstGeom>
          <a:noFill/>
          <a:ln/>
        </p:spPr>
        <p:txBody>
          <a:bodyPr wrap="square" lIns="0" tIns="0" rIns="0" bIns="0" rtlCol="0" anchor="t"/>
          <a:lstStyle/>
          <a:p>
            <a:pPr marL="0" indent="0" algn="ctr">
              <a:buNone/>
            </a:pPr>
            <a:r>
              <a:rPr lang="en-US" sz="900" b="1" dirty="0">
                <a:solidFill>
                  <a:schemeClr val="accent2"/>
                </a:solidFill>
              </a:rPr>
              <a:t>HTTPS</a:t>
            </a:r>
            <a:endParaRPr lang="en-US" sz="900" dirty="0"/>
          </a:p>
          <a:p>
            <a:pPr marL="0" indent="0" algn="ctr">
              <a:buNone/>
            </a:pPr>
            <a:r>
              <a:rPr lang="en-US" sz="900" b="1" dirty="0">
                <a:solidFill>
                  <a:schemeClr val="accent2"/>
                </a:solidFill>
              </a:rPr>
              <a:t>+ clé</a:t>
            </a:r>
            <a:endParaRPr lang="en-US" sz="900" dirty="0"/>
          </a:p>
        </p:txBody>
      </p:sp>
      <p:sp>
        <p:nvSpPr>
          <p:cNvPr id="49" name="A8_429"/>
          <p:cNvSpPr txBox="1"/>
          <p:nvPr/>
        </p:nvSpPr>
        <p:spPr>
          <a:xfrm>
            <a:off x="9692640" y="4709160"/>
            <a:ext cx="1947672" cy="731520"/>
          </a:xfrm>
          <a:prstGeom prst="rect">
            <a:avLst/>
          </a:prstGeom>
          <a:noFill/>
          <a:ln/>
        </p:spPr>
        <p:txBody>
          <a:bodyPr wrap="square" lIns="0" tIns="0" rIns="0" bIns="0" rtlCol="0" anchor="t"/>
          <a:lstStyle/>
          <a:p>
            <a:pPr marL="0" indent="0">
              <a:buNone/>
            </a:pPr>
            <a:r>
              <a:rPr lang="en-US" sz="1150" i="1" dirty="0">
                <a:solidFill>
                  <a:srgbClr val="5B6B7F"/>
                </a:solidFill>
              </a:rPr>
              <a:t>Seul le service IA communique avec l'extérieur.</a:t>
            </a:r>
            <a:endParaRPr lang="en-US" sz="1150" dirty="0"/>
          </a:p>
        </p:txBody>
      </p:sp>
      <p:sp>
        <p:nvSpPr>
          <p:cNvPr id="50" name="A8_430"/>
          <p:cNvSpPr/>
          <p:nvPr/>
        </p:nvSpPr>
        <p:spPr>
          <a:xfrm>
            <a:off x="3154680" y="6053328"/>
            <a:ext cx="457200" cy="201168"/>
          </a:xfrm>
          <a:prstGeom prst="roundRect">
            <a:avLst>
              <a:gd name="adj" fmla="val 18182"/>
            </a:avLst>
          </a:prstGeom>
          <a:solidFill>
            <a:srgbClr val="FFFFFF"/>
          </a:solidFill>
          <a:ln w="12700">
            <a:solidFill>
              <a:srgbClr val="9DB4CC"/>
            </a:solidFill>
            <a:prstDash val="dash"/>
          </a:ln>
        </p:spPr>
      </p:sp>
      <p:sp>
        <p:nvSpPr>
          <p:cNvPr id="51" name="A8_431"/>
          <p:cNvSpPr txBox="1"/>
          <p:nvPr/>
        </p:nvSpPr>
        <p:spPr>
          <a:xfrm>
            <a:off x="3703320" y="5998464"/>
            <a:ext cx="3657600" cy="310896"/>
          </a:xfrm>
          <a:prstGeom prst="rect">
            <a:avLst/>
          </a:prstGeom>
          <a:noFill/>
          <a:ln/>
        </p:spPr>
        <p:txBody>
          <a:bodyPr wrap="square" lIns="0" tIns="0" rIns="0" bIns="0" rtlCol="0" anchor="ctr"/>
          <a:lstStyle/>
          <a:p>
            <a:pPr marL="0" indent="0">
              <a:buNone/>
            </a:pPr>
            <a:r>
              <a:rPr lang="en-US" sz="1100" dirty="0">
                <a:solidFill>
                  <a:srgbClr val="5B6B7F"/>
                </a:solidFill>
              </a:rPr>
              <a:t>pointillés : services optionnels</a:t>
            </a:r>
            <a:endParaRPr lang="en-US" sz="1100" dirty="0"/>
          </a:p>
        </p:txBody>
      </p:sp>
      <p:sp>
        <p:nvSpPr>
          <p:cNvPr id="52"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18</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42" fill="hold">
                            <p:stCondLst>
                              <p:cond delay="16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childTnLst>
                          </p:cTn>
                        </p:par>
                        <p:par>
                          <p:cTn id="73" fill="hold">
                            <p:stCondLst>
                              <p:cond delay="2300"/>
                            </p:stCondLst>
                            <p:childTnLst>
                              <p:par>
                                <p:cTn id="74" presetID="10" presetClass="entr" presetSubtype="0" fill="hold" grpId="0" nodeType="after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childTnLst>
                          </p:cTn>
                        </p:par>
                        <p:par>
                          <p:cTn id="98" fill="hold">
                            <p:stCondLst>
                              <p:cond delay="3000"/>
                            </p:stCondLst>
                            <p:childTnLst>
                              <p:par>
                                <p:cTn id="99" presetID="10" presetClass="entr" presetSubtype="0" fill="hold" grpId="0" nodeType="after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45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5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5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45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450"/>
                                        <p:tgtEl>
                                          <p:spTgt spid="38"/>
                                        </p:tgtEl>
                                      </p:cBhvr>
                                    </p:animEffect>
                                  </p:childTnLst>
                                </p:cTn>
                              </p:par>
                            </p:childTnLst>
                          </p:cTn>
                        </p:par>
                        <p:par>
                          <p:cTn id="114" fill="hold">
                            <p:stCondLst>
                              <p:cond delay="3700"/>
                            </p:stCondLst>
                            <p:childTnLst>
                              <p:par>
                                <p:cTn id="115" presetID="10" presetClass="entr" presetSubtype="0" fill="hold" grpId="0" nodeType="after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50"/>
                                        <p:tgtEl>
                                          <p:spTgt spid="39"/>
                                        </p:tgtEl>
                                      </p:cBhvr>
                                    </p:animEffect>
                                  </p:childTnLst>
                                </p:cTn>
                              </p:par>
                              <p:par>
                                <p:cTn id="118" presetID="10" presetClass="entr" presetSubtype="0" fill="hold"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5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50"/>
                                        <p:tgtEl>
                                          <p:spTgt spid="4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50"/>
                                        <p:tgtEl>
                                          <p:spTgt spid="4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450"/>
                                        <p:tgtEl>
                                          <p:spTgt spid="43"/>
                                        </p:tgtEl>
                                      </p:cBhvr>
                                    </p:animEffect>
                                  </p:childTnLst>
                                </p:cTn>
                              </p:par>
                            </p:childTnLst>
                          </p:cTn>
                        </p:par>
                        <p:par>
                          <p:cTn id="130" fill="hold">
                            <p:stCondLst>
                              <p:cond delay="4400"/>
                            </p:stCondLst>
                            <p:childTnLst>
                              <p:par>
                                <p:cTn id="131" presetID="10" presetClass="entr" presetSubtype="0" fill="hold" grpId="0" nodeType="after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par>
                                <p:cTn id="134" presetID="10" presetClass="entr" presetSubtype="0" fill="hold"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45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450"/>
                                        <p:tgtEl>
                                          <p:spTgt spid="48"/>
                                        </p:tgtEl>
                                      </p:cBhvr>
                                    </p:animEffect>
                                  </p:childTnLst>
                                </p:cTn>
                              </p:par>
                            </p:childTnLst>
                          </p:cTn>
                        </p:par>
                        <p:par>
                          <p:cTn id="146" fill="hold">
                            <p:stCondLst>
                              <p:cond delay="5100"/>
                            </p:stCondLst>
                            <p:childTnLst>
                              <p:par>
                                <p:cTn id="147" presetID="10" presetClass="entr" presetSubtype="0"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Effect transition="in" filter="fade">
                                      <p:cBhvr>
                                        <p:cTn id="149" dur="450"/>
                                        <p:tgtEl>
                                          <p:spTgt spid="49"/>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0"/>
                                        </p:tgtEl>
                                        <p:attrNameLst>
                                          <p:attrName>style.visibility</p:attrName>
                                        </p:attrNameLst>
                                      </p:cBhvr>
                                      <p:to>
                                        <p:strVal val="visible"/>
                                      </p:to>
                                    </p:set>
                                    <p:animEffect transition="in" filter="fade">
                                      <p:cBhvr>
                                        <p:cTn id="152" dur="450"/>
                                        <p:tgtEl>
                                          <p:spTgt spid="5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1"/>
                                        </p:tgtEl>
                                        <p:attrNameLst>
                                          <p:attrName>style.visibility</p:attrName>
                                        </p:attrNameLst>
                                      </p:cBhvr>
                                      <p:to>
                                        <p:strVal val="visible"/>
                                      </p:to>
                                    </p:set>
                                    <p:animEffect transition="in" filter="fade">
                                      <p:cBhvr>
                                        <p:cTn id="155" dur="4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Des technologies reconnues et éprouvées</a:t>
            </a:r>
            <a:endParaRPr lang="en-US" sz="3000" dirty="0"/>
          </a:p>
        </p:txBody>
      </p:sp>
      <p:sp>
        <p:nvSpPr>
          <p:cNvPr id="3" name="o_432"/>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TECHNOLOGIES UTILISÉES</a:t>
            </a:r>
            <a:endParaRPr lang="en-US" sz="1100" dirty="0"/>
          </a:p>
        </p:txBody>
      </p:sp>
      <p:sp>
        <p:nvSpPr>
          <p:cNvPr id="4" name="A1_433"/>
          <p:cNvSpPr/>
          <p:nvPr/>
        </p:nvSpPr>
        <p:spPr>
          <a:xfrm>
            <a:off x="548640" y="137160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5" name="A1_434"/>
          <p:cNvSpPr/>
          <p:nvPr/>
        </p:nvSpPr>
        <p:spPr>
          <a:xfrm>
            <a:off x="777240" y="1572768"/>
            <a:ext cx="548640" cy="548640"/>
          </a:xfrm>
          <a:prstGeom prst="ellipse">
            <a:avLst/>
          </a:prstGeom>
          <a:solidFill>
            <a:srgbClr val="0E5CA8"/>
          </a:solidFill>
          <a:ln w="12700">
            <a:solidFill>
              <a:srgbClr val="0E5CA8"/>
            </a:solidFill>
            <a:prstDash val="solid"/>
          </a:ln>
        </p:spPr>
      </p:sp>
      <p:pic>
        <p:nvPicPr>
          <p:cNvPr id="6" name="A1_435" descr="FaDesktop"/>
          <p:cNvPicPr>
            <a:picLocks noChangeAspect="1"/>
          </p:cNvPicPr>
          <p:nvPr/>
        </p:nvPicPr>
        <p:blipFill>
          <a:blip r:embed="rId3"/>
          <a:stretch>
            <a:fillRect/>
          </a:stretch>
        </p:blipFill>
        <p:spPr>
          <a:xfrm>
            <a:off x="914400" y="1709928"/>
            <a:ext cx="274320" cy="274320"/>
          </a:xfrm>
          <a:prstGeom prst="rect">
            <a:avLst/>
          </a:prstGeom>
        </p:spPr>
      </p:pic>
      <p:sp>
        <p:nvSpPr>
          <p:cNvPr id="7" name="A1_436"/>
          <p:cNvSpPr txBox="1"/>
          <p:nvPr/>
        </p:nvSpPr>
        <p:spPr>
          <a:xfrm>
            <a:off x="1463040" y="157276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L'interface</a:t>
            </a:r>
            <a:endParaRPr lang="en-US" sz="1700" dirty="0"/>
          </a:p>
        </p:txBody>
      </p:sp>
      <p:sp>
        <p:nvSpPr>
          <p:cNvPr id="8" name="A1_437"/>
          <p:cNvSpPr/>
          <p:nvPr/>
        </p:nvSpPr>
        <p:spPr>
          <a:xfrm>
            <a:off x="777240" y="2286000"/>
            <a:ext cx="1508760" cy="411480"/>
          </a:xfrm>
          <a:prstGeom prst="roundRect">
            <a:avLst>
              <a:gd name="adj" fmla="val 22222"/>
            </a:avLst>
          </a:prstGeom>
          <a:solidFill>
            <a:srgbClr val="EEF4FB"/>
          </a:solidFill>
          <a:ln w="12700">
            <a:solidFill>
              <a:srgbClr val="FFFFFF"/>
            </a:solidFill>
            <a:prstDash val="solid"/>
          </a:ln>
        </p:spPr>
      </p:sp>
      <p:sp>
        <p:nvSpPr>
          <p:cNvPr id="9" name="A1_438"/>
          <p:cNvSpPr txBox="1"/>
          <p:nvPr/>
        </p:nvSpPr>
        <p:spPr>
          <a:xfrm>
            <a:off x="777240"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Angular</a:t>
            </a:r>
            <a:endParaRPr lang="en-US" sz="1150" dirty="0"/>
          </a:p>
        </p:txBody>
      </p:sp>
      <p:sp>
        <p:nvSpPr>
          <p:cNvPr id="10" name="A1_439"/>
          <p:cNvSpPr/>
          <p:nvPr/>
        </p:nvSpPr>
        <p:spPr>
          <a:xfrm>
            <a:off x="2377440" y="2286000"/>
            <a:ext cx="1508760" cy="411480"/>
          </a:xfrm>
          <a:prstGeom prst="roundRect">
            <a:avLst>
              <a:gd name="adj" fmla="val 22222"/>
            </a:avLst>
          </a:prstGeom>
          <a:solidFill>
            <a:srgbClr val="EEF4FB"/>
          </a:solidFill>
          <a:ln w="12700">
            <a:solidFill>
              <a:srgbClr val="FFFFFF"/>
            </a:solidFill>
            <a:prstDash val="solid"/>
          </a:ln>
        </p:spPr>
      </p:sp>
      <p:sp>
        <p:nvSpPr>
          <p:cNvPr id="11" name="A1_440"/>
          <p:cNvSpPr txBox="1"/>
          <p:nvPr/>
        </p:nvSpPr>
        <p:spPr>
          <a:xfrm>
            <a:off x="2377440"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TypeScript</a:t>
            </a:r>
            <a:endParaRPr lang="en-US" sz="1150" dirty="0"/>
          </a:p>
        </p:txBody>
      </p:sp>
      <p:sp>
        <p:nvSpPr>
          <p:cNvPr id="12" name="A1_441"/>
          <p:cNvSpPr/>
          <p:nvPr/>
        </p:nvSpPr>
        <p:spPr>
          <a:xfrm>
            <a:off x="777240" y="2834640"/>
            <a:ext cx="1508760" cy="411480"/>
          </a:xfrm>
          <a:prstGeom prst="roundRect">
            <a:avLst>
              <a:gd name="adj" fmla="val 22222"/>
            </a:avLst>
          </a:prstGeom>
          <a:solidFill>
            <a:srgbClr val="EEF4FB"/>
          </a:solidFill>
          <a:ln w="12700">
            <a:solidFill>
              <a:srgbClr val="FFFFFF"/>
            </a:solidFill>
            <a:prstDash val="solid"/>
          </a:ln>
        </p:spPr>
      </p:sp>
      <p:sp>
        <p:nvSpPr>
          <p:cNvPr id="13" name="A1_442"/>
          <p:cNvSpPr txBox="1"/>
          <p:nvPr/>
        </p:nvSpPr>
        <p:spPr>
          <a:xfrm>
            <a:off x="777240" y="28346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nginx</a:t>
            </a:r>
            <a:endParaRPr lang="en-US" sz="1150" dirty="0"/>
          </a:p>
        </p:txBody>
      </p:sp>
      <p:sp>
        <p:nvSpPr>
          <p:cNvPr id="14" name="A2_443"/>
          <p:cNvSpPr/>
          <p:nvPr/>
        </p:nvSpPr>
        <p:spPr>
          <a:xfrm>
            <a:off x="4306824" y="137160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5" name="A2_444"/>
          <p:cNvSpPr/>
          <p:nvPr/>
        </p:nvSpPr>
        <p:spPr>
          <a:xfrm>
            <a:off x="4535424" y="1572768"/>
            <a:ext cx="548640" cy="548640"/>
          </a:xfrm>
          <a:prstGeom prst="ellipse">
            <a:avLst/>
          </a:prstGeom>
          <a:solidFill>
            <a:srgbClr val="0E5CA8"/>
          </a:solidFill>
          <a:ln w="12700">
            <a:solidFill>
              <a:srgbClr val="0E5CA8"/>
            </a:solidFill>
            <a:prstDash val="solid"/>
          </a:ln>
        </p:spPr>
      </p:sp>
      <p:pic>
        <p:nvPicPr>
          <p:cNvPr id="16" name="A2_445" descr="FaCogs"/>
          <p:cNvPicPr>
            <a:picLocks noChangeAspect="1"/>
          </p:cNvPicPr>
          <p:nvPr/>
        </p:nvPicPr>
        <p:blipFill>
          <a:blip r:embed="rId4"/>
          <a:stretch>
            <a:fillRect/>
          </a:stretch>
        </p:blipFill>
        <p:spPr>
          <a:xfrm>
            <a:off x="4672584" y="1709928"/>
            <a:ext cx="274320" cy="274320"/>
          </a:xfrm>
          <a:prstGeom prst="rect">
            <a:avLst/>
          </a:prstGeom>
        </p:spPr>
      </p:pic>
      <p:sp>
        <p:nvSpPr>
          <p:cNvPr id="17" name="A2_446"/>
          <p:cNvSpPr txBox="1"/>
          <p:nvPr/>
        </p:nvSpPr>
        <p:spPr>
          <a:xfrm>
            <a:off x="5221224" y="157276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Le moteur</a:t>
            </a:r>
            <a:endParaRPr lang="en-US" sz="1700" dirty="0"/>
          </a:p>
        </p:txBody>
      </p:sp>
      <p:sp>
        <p:nvSpPr>
          <p:cNvPr id="18" name="A2_447"/>
          <p:cNvSpPr/>
          <p:nvPr/>
        </p:nvSpPr>
        <p:spPr>
          <a:xfrm>
            <a:off x="4535424" y="2286000"/>
            <a:ext cx="1508760" cy="411480"/>
          </a:xfrm>
          <a:prstGeom prst="roundRect">
            <a:avLst>
              <a:gd name="adj" fmla="val 22222"/>
            </a:avLst>
          </a:prstGeom>
          <a:solidFill>
            <a:srgbClr val="EEF4FB"/>
          </a:solidFill>
          <a:ln w="12700">
            <a:solidFill>
              <a:srgbClr val="FFFFFF"/>
            </a:solidFill>
            <a:prstDash val="solid"/>
          </a:ln>
        </p:spPr>
      </p:sp>
      <p:sp>
        <p:nvSpPr>
          <p:cNvPr id="19" name="A2_448"/>
          <p:cNvSpPr txBox="1"/>
          <p:nvPr/>
        </p:nvSpPr>
        <p:spPr>
          <a:xfrm>
            <a:off x="4535424"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Java 17</a:t>
            </a:r>
            <a:endParaRPr lang="en-US" sz="1150" dirty="0"/>
          </a:p>
        </p:txBody>
      </p:sp>
      <p:sp>
        <p:nvSpPr>
          <p:cNvPr id="20" name="A2_449"/>
          <p:cNvSpPr/>
          <p:nvPr/>
        </p:nvSpPr>
        <p:spPr>
          <a:xfrm>
            <a:off x="6135624" y="2286000"/>
            <a:ext cx="1508760" cy="411480"/>
          </a:xfrm>
          <a:prstGeom prst="roundRect">
            <a:avLst>
              <a:gd name="adj" fmla="val 22222"/>
            </a:avLst>
          </a:prstGeom>
          <a:solidFill>
            <a:srgbClr val="EEF4FB"/>
          </a:solidFill>
          <a:ln w="12700">
            <a:solidFill>
              <a:srgbClr val="FFFFFF"/>
            </a:solidFill>
            <a:prstDash val="solid"/>
          </a:ln>
        </p:spPr>
      </p:sp>
      <p:sp>
        <p:nvSpPr>
          <p:cNvPr id="21" name="A2_450"/>
          <p:cNvSpPr txBox="1"/>
          <p:nvPr/>
        </p:nvSpPr>
        <p:spPr>
          <a:xfrm>
            <a:off x="6135624"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Spring Boot 3</a:t>
            </a:r>
            <a:endParaRPr lang="en-US" sz="1150" dirty="0"/>
          </a:p>
        </p:txBody>
      </p:sp>
      <p:sp>
        <p:nvSpPr>
          <p:cNvPr id="22" name="A2_451"/>
          <p:cNvSpPr/>
          <p:nvPr/>
        </p:nvSpPr>
        <p:spPr>
          <a:xfrm>
            <a:off x="4535424" y="2834640"/>
            <a:ext cx="1508760" cy="411480"/>
          </a:xfrm>
          <a:prstGeom prst="roundRect">
            <a:avLst>
              <a:gd name="adj" fmla="val 22222"/>
            </a:avLst>
          </a:prstGeom>
          <a:solidFill>
            <a:srgbClr val="EEF4FB"/>
          </a:solidFill>
          <a:ln w="12700">
            <a:solidFill>
              <a:srgbClr val="FFFFFF"/>
            </a:solidFill>
            <a:prstDash val="solid"/>
          </a:ln>
        </p:spPr>
      </p:sp>
      <p:sp>
        <p:nvSpPr>
          <p:cNvPr id="23" name="A2_452"/>
          <p:cNvSpPr txBox="1"/>
          <p:nvPr/>
        </p:nvSpPr>
        <p:spPr>
          <a:xfrm>
            <a:off x="4535424" y="28346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Spring Security</a:t>
            </a:r>
            <a:endParaRPr lang="en-US" sz="1150" dirty="0"/>
          </a:p>
        </p:txBody>
      </p:sp>
      <p:sp>
        <p:nvSpPr>
          <p:cNvPr id="24" name="A3_453"/>
          <p:cNvSpPr/>
          <p:nvPr/>
        </p:nvSpPr>
        <p:spPr>
          <a:xfrm>
            <a:off x="8065008" y="137160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25" name="A3_454"/>
          <p:cNvSpPr/>
          <p:nvPr/>
        </p:nvSpPr>
        <p:spPr>
          <a:xfrm>
            <a:off x="8293608" y="1572768"/>
            <a:ext cx="548640" cy="548640"/>
          </a:xfrm>
          <a:prstGeom prst="ellipse">
            <a:avLst/>
          </a:prstGeom>
          <a:solidFill>
            <a:srgbClr val="0E5CA8"/>
          </a:solidFill>
          <a:ln w="12700">
            <a:solidFill>
              <a:srgbClr val="0E5CA8"/>
            </a:solidFill>
            <a:prstDash val="solid"/>
          </a:ln>
        </p:spPr>
      </p:sp>
      <p:pic>
        <p:nvPicPr>
          <p:cNvPr id="26" name="A3_455" descr="FaBrain"/>
          <p:cNvPicPr>
            <a:picLocks noChangeAspect="1"/>
          </p:cNvPicPr>
          <p:nvPr/>
        </p:nvPicPr>
        <p:blipFill>
          <a:blip r:embed="rId5"/>
          <a:stretch>
            <a:fillRect/>
          </a:stretch>
        </p:blipFill>
        <p:spPr>
          <a:xfrm>
            <a:off x="8430768" y="1709928"/>
            <a:ext cx="274320" cy="274320"/>
          </a:xfrm>
          <a:prstGeom prst="rect">
            <a:avLst/>
          </a:prstGeom>
        </p:spPr>
      </p:pic>
      <p:sp>
        <p:nvSpPr>
          <p:cNvPr id="27" name="A3_456"/>
          <p:cNvSpPr txBox="1"/>
          <p:nvPr/>
        </p:nvSpPr>
        <p:spPr>
          <a:xfrm>
            <a:off x="8979408" y="157276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L'intelligence</a:t>
            </a:r>
            <a:endParaRPr lang="en-US" sz="1700" dirty="0"/>
          </a:p>
        </p:txBody>
      </p:sp>
      <p:sp>
        <p:nvSpPr>
          <p:cNvPr id="28" name="A3_457"/>
          <p:cNvSpPr/>
          <p:nvPr/>
        </p:nvSpPr>
        <p:spPr>
          <a:xfrm>
            <a:off x="8293608" y="2286000"/>
            <a:ext cx="1508760" cy="411480"/>
          </a:xfrm>
          <a:prstGeom prst="roundRect">
            <a:avLst>
              <a:gd name="adj" fmla="val 22222"/>
            </a:avLst>
          </a:prstGeom>
          <a:solidFill>
            <a:srgbClr val="EEF4FB"/>
          </a:solidFill>
          <a:ln w="12700">
            <a:solidFill>
              <a:srgbClr val="FFFFFF"/>
            </a:solidFill>
            <a:prstDash val="solid"/>
          </a:ln>
        </p:spPr>
      </p:sp>
      <p:sp>
        <p:nvSpPr>
          <p:cNvPr id="29" name="A3_458"/>
          <p:cNvSpPr txBox="1"/>
          <p:nvPr/>
        </p:nvSpPr>
        <p:spPr>
          <a:xfrm>
            <a:off x="8293608"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Python 3.12</a:t>
            </a:r>
            <a:endParaRPr lang="en-US" sz="1150" dirty="0"/>
          </a:p>
        </p:txBody>
      </p:sp>
      <p:sp>
        <p:nvSpPr>
          <p:cNvPr id="30" name="A3_459"/>
          <p:cNvSpPr/>
          <p:nvPr/>
        </p:nvSpPr>
        <p:spPr>
          <a:xfrm>
            <a:off x="9893808" y="2286000"/>
            <a:ext cx="1508760" cy="411480"/>
          </a:xfrm>
          <a:prstGeom prst="roundRect">
            <a:avLst>
              <a:gd name="adj" fmla="val 22222"/>
            </a:avLst>
          </a:prstGeom>
          <a:solidFill>
            <a:srgbClr val="EEF4FB"/>
          </a:solidFill>
          <a:ln w="12700">
            <a:solidFill>
              <a:srgbClr val="FFFFFF"/>
            </a:solidFill>
            <a:prstDash val="solid"/>
          </a:ln>
        </p:spPr>
      </p:sp>
      <p:sp>
        <p:nvSpPr>
          <p:cNvPr id="31" name="A3_460"/>
          <p:cNvSpPr txBox="1"/>
          <p:nvPr/>
        </p:nvSpPr>
        <p:spPr>
          <a:xfrm>
            <a:off x="9893808" y="228600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FastAPI</a:t>
            </a:r>
            <a:endParaRPr lang="en-US" sz="1150" dirty="0"/>
          </a:p>
        </p:txBody>
      </p:sp>
      <p:sp>
        <p:nvSpPr>
          <p:cNvPr id="32" name="A3_461"/>
          <p:cNvSpPr/>
          <p:nvPr/>
        </p:nvSpPr>
        <p:spPr>
          <a:xfrm>
            <a:off x="8293608" y="2834640"/>
            <a:ext cx="1508760" cy="411480"/>
          </a:xfrm>
          <a:prstGeom prst="roundRect">
            <a:avLst>
              <a:gd name="adj" fmla="val 22222"/>
            </a:avLst>
          </a:prstGeom>
          <a:solidFill>
            <a:srgbClr val="EEF4FB"/>
          </a:solidFill>
          <a:ln w="12700">
            <a:solidFill>
              <a:srgbClr val="FFFFFF"/>
            </a:solidFill>
            <a:prstDash val="solid"/>
          </a:ln>
        </p:spPr>
      </p:sp>
      <p:sp>
        <p:nvSpPr>
          <p:cNvPr id="33" name="A3_462"/>
          <p:cNvSpPr txBox="1"/>
          <p:nvPr/>
        </p:nvSpPr>
        <p:spPr>
          <a:xfrm>
            <a:off x="8293608" y="28346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scikit-learn</a:t>
            </a:r>
            <a:endParaRPr lang="en-US" sz="1150" dirty="0"/>
          </a:p>
        </p:txBody>
      </p:sp>
      <p:sp>
        <p:nvSpPr>
          <p:cNvPr id="34" name="A3_463"/>
          <p:cNvSpPr/>
          <p:nvPr/>
        </p:nvSpPr>
        <p:spPr>
          <a:xfrm>
            <a:off x="9893808" y="2834640"/>
            <a:ext cx="1508760" cy="411480"/>
          </a:xfrm>
          <a:prstGeom prst="roundRect">
            <a:avLst>
              <a:gd name="adj" fmla="val 22222"/>
            </a:avLst>
          </a:prstGeom>
          <a:solidFill>
            <a:srgbClr val="EEF4FB"/>
          </a:solidFill>
          <a:ln w="12700">
            <a:solidFill>
              <a:srgbClr val="FFFFFF"/>
            </a:solidFill>
            <a:prstDash val="solid"/>
          </a:ln>
        </p:spPr>
      </p:sp>
      <p:sp>
        <p:nvSpPr>
          <p:cNvPr id="35" name="A3_464"/>
          <p:cNvSpPr txBox="1"/>
          <p:nvPr/>
        </p:nvSpPr>
        <p:spPr>
          <a:xfrm>
            <a:off x="9893808" y="28346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Groq (LLM)</a:t>
            </a:r>
            <a:endParaRPr lang="en-US" sz="1150" dirty="0"/>
          </a:p>
        </p:txBody>
      </p:sp>
      <p:sp>
        <p:nvSpPr>
          <p:cNvPr id="36" name="A4_465"/>
          <p:cNvSpPr/>
          <p:nvPr/>
        </p:nvSpPr>
        <p:spPr>
          <a:xfrm>
            <a:off x="548640" y="374904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37" name="A4_466"/>
          <p:cNvSpPr/>
          <p:nvPr/>
        </p:nvSpPr>
        <p:spPr>
          <a:xfrm>
            <a:off x="777240" y="3950208"/>
            <a:ext cx="548640" cy="548640"/>
          </a:xfrm>
          <a:prstGeom prst="ellipse">
            <a:avLst/>
          </a:prstGeom>
          <a:solidFill>
            <a:srgbClr val="0E5CA8"/>
          </a:solidFill>
          <a:ln w="12700">
            <a:solidFill>
              <a:srgbClr val="0E5CA8"/>
            </a:solidFill>
            <a:prstDash val="solid"/>
          </a:ln>
        </p:spPr>
      </p:sp>
      <p:pic>
        <p:nvPicPr>
          <p:cNvPr id="38" name="A4_467" descr="FaDatabase"/>
          <p:cNvPicPr>
            <a:picLocks noChangeAspect="1"/>
          </p:cNvPicPr>
          <p:nvPr/>
        </p:nvPicPr>
        <p:blipFill>
          <a:blip r:embed="rId6"/>
          <a:stretch>
            <a:fillRect/>
          </a:stretch>
        </p:blipFill>
        <p:spPr>
          <a:xfrm>
            <a:off x="914400" y="4087368"/>
            <a:ext cx="274320" cy="274320"/>
          </a:xfrm>
          <a:prstGeom prst="rect">
            <a:avLst/>
          </a:prstGeom>
        </p:spPr>
      </p:pic>
      <p:sp>
        <p:nvSpPr>
          <p:cNvPr id="39" name="A4_468"/>
          <p:cNvSpPr txBox="1"/>
          <p:nvPr/>
        </p:nvSpPr>
        <p:spPr>
          <a:xfrm>
            <a:off x="1463040" y="395020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Les données</a:t>
            </a:r>
            <a:endParaRPr lang="en-US" sz="1700" dirty="0"/>
          </a:p>
        </p:txBody>
      </p:sp>
      <p:sp>
        <p:nvSpPr>
          <p:cNvPr id="40" name="A4_469"/>
          <p:cNvSpPr/>
          <p:nvPr/>
        </p:nvSpPr>
        <p:spPr>
          <a:xfrm>
            <a:off x="777240" y="4663440"/>
            <a:ext cx="1508760" cy="411480"/>
          </a:xfrm>
          <a:prstGeom prst="roundRect">
            <a:avLst>
              <a:gd name="adj" fmla="val 22222"/>
            </a:avLst>
          </a:prstGeom>
          <a:solidFill>
            <a:srgbClr val="EEF4FB"/>
          </a:solidFill>
          <a:ln w="12700">
            <a:solidFill>
              <a:srgbClr val="FFFFFF"/>
            </a:solidFill>
            <a:prstDash val="solid"/>
          </a:ln>
        </p:spPr>
      </p:sp>
      <p:sp>
        <p:nvSpPr>
          <p:cNvPr id="41" name="A4_470"/>
          <p:cNvSpPr txBox="1"/>
          <p:nvPr/>
        </p:nvSpPr>
        <p:spPr>
          <a:xfrm>
            <a:off x="777240" y="46634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PostgreSQL</a:t>
            </a:r>
            <a:endParaRPr lang="en-US" sz="1150" dirty="0"/>
          </a:p>
        </p:txBody>
      </p:sp>
      <p:sp>
        <p:nvSpPr>
          <p:cNvPr id="42" name="A5_471"/>
          <p:cNvSpPr/>
          <p:nvPr/>
        </p:nvSpPr>
        <p:spPr>
          <a:xfrm>
            <a:off x="4306824" y="374904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43" name="A5_472"/>
          <p:cNvSpPr/>
          <p:nvPr/>
        </p:nvSpPr>
        <p:spPr>
          <a:xfrm>
            <a:off x="4535424" y="3950208"/>
            <a:ext cx="548640" cy="548640"/>
          </a:xfrm>
          <a:prstGeom prst="ellipse">
            <a:avLst/>
          </a:prstGeom>
          <a:solidFill>
            <a:srgbClr val="0E5CA8"/>
          </a:solidFill>
          <a:ln w="12700">
            <a:solidFill>
              <a:srgbClr val="0E5CA8"/>
            </a:solidFill>
            <a:prstDash val="solid"/>
          </a:ln>
        </p:spPr>
      </p:sp>
      <p:pic>
        <p:nvPicPr>
          <p:cNvPr id="44" name="A5_473" descr="FaShieldAlt"/>
          <p:cNvPicPr>
            <a:picLocks noChangeAspect="1"/>
          </p:cNvPicPr>
          <p:nvPr/>
        </p:nvPicPr>
        <p:blipFill>
          <a:blip r:embed="rId7"/>
          <a:stretch>
            <a:fillRect/>
          </a:stretch>
        </p:blipFill>
        <p:spPr>
          <a:xfrm>
            <a:off x="4672584" y="4087368"/>
            <a:ext cx="274320" cy="274320"/>
          </a:xfrm>
          <a:prstGeom prst="rect">
            <a:avLst/>
          </a:prstGeom>
        </p:spPr>
      </p:pic>
      <p:sp>
        <p:nvSpPr>
          <p:cNvPr id="45" name="A5_474"/>
          <p:cNvSpPr txBox="1"/>
          <p:nvPr/>
        </p:nvSpPr>
        <p:spPr>
          <a:xfrm>
            <a:off x="5221224" y="395020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Qualité et sécurité</a:t>
            </a:r>
            <a:endParaRPr lang="en-US" sz="1700" dirty="0"/>
          </a:p>
        </p:txBody>
      </p:sp>
      <p:sp>
        <p:nvSpPr>
          <p:cNvPr id="46" name="A5_475"/>
          <p:cNvSpPr/>
          <p:nvPr/>
        </p:nvSpPr>
        <p:spPr>
          <a:xfrm>
            <a:off x="4535424" y="4663440"/>
            <a:ext cx="1508760" cy="411480"/>
          </a:xfrm>
          <a:prstGeom prst="roundRect">
            <a:avLst>
              <a:gd name="adj" fmla="val 22222"/>
            </a:avLst>
          </a:prstGeom>
          <a:solidFill>
            <a:srgbClr val="EEF4FB"/>
          </a:solidFill>
          <a:ln w="12700">
            <a:solidFill>
              <a:srgbClr val="FFFFFF"/>
            </a:solidFill>
            <a:prstDash val="solid"/>
          </a:ln>
        </p:spPr>
      </p:sp>
      <p:sp>
        <p:nvSpPr>
          <p:cNvPr id="47" name="A5_476"/>
          <p:cNvSpPr txBox="1"/>
          <p:nvPr/>
        </p:nvSpPr>
        <p:spPr>
          <a:xfrm>
            <a:off x="4535424" y="46634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SonarQube</a:t>
            </a:r>
            <a:endParaRPr lang="en-US" sz="1150" dirty="0"/>
          </a:p>
        </p:txBody>
      </p:sp>
      <p:sp>
        <p:nvSpPr>
          <p:cNvPr id="48" name="A5_477"/>
          <p:cNvSpPr/>
          <p:nvPr/>
        </p:nvSpPr>
        <p:spPr>
          <a:xfrm>
            <a:off x="6135624" y="4663440"/>
            <a:ext cx="1508760" cy="411480"/>
          </a:xfrm>
          <a:prstGeom prst="roundRect">
            <a:avLst>
              <a:gd name="adj" fmla="val 22222"/>
            </a:avLst>
          </a:prstGeom>
          <a:solidFill>
            <a:srgbClr val="EEF4FB"/>
          </a:solidFill>
          <a:ln w="12700">
            <a:solidFill>
              <a:srgbClr val="FFFFFF"/>
            </a:solidFill>
            <a:prstDash val="solid"/>
          </a:ln>
        </p:spPr>
      </p:sp>
      <p:sp>
        <p:nvSpPr>
          <p:cNvPr id="49" name="A5_478"/>
          <p:cNvSpPr txBox="1"/>
          <p:nvPr/>
        </p:nvSpPr>
        <p:spPr>
          <a:xfrm>
            <a:off x="6135624" y="46634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OWASP Dep.-Check</a:t>
            </a:r>
            <a:endParaRPr lang="en-US" sz="1150" dirty="0"/>
          </a:p>
        </p:txBody>
      </p:sp>
      <p:sp>
        <p:nvSpPr>
          <p:cNvPr id="50" name="A5_479"/>
          <p:cNvSpPr/>
          <p:nvPr/>
        </p:nvSpPr>
        <p:spPr>
          <a:xfrm>
            <a:off x="4535424" y="5212080"/>
            <a:ext cx="1508760" cy="411480"/>
          </a:xfrm>
          <a:prstGeom prst="roundRect">
            <a:avLst>
              <a:gd name="adj" fmla="val 22222"/>
            </a:avLst>
          </a:prstGeom>
          <a:solidFill>
            <a:srgbClr val="EEF4FB"/>
          </a:solidFill>
          <a:ln w="12700">
            <a:solidFill>
              <a:srgbClr val="FFFFFF"/>
            </a:solidFill>
            <a:prstDash val="solid"/>
          </a:ln>
        </p:spPr>
      </p:sp>
      <p:sp>
        <p:nvSpPr>
          <p:cNvPr id="51" name="A5_480"/>
          <p:cNvSpPr txBox="1"/>
          <p:nvPr/>
        </p:nvSpPr>
        <p:spPr>
          <a:xfrm>
            <a:off x="4535424" y="521208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Trivy</a:t>
            </a:r>
            <a:endParaRPr lang="en-US" sz="1150" dirty="0"/>
          </a:p>
        </p:txBody>
      </p:sp>
      <p:sp>
        <p:nvSpPr>
          <p:cNvPr id="52" name="A5_481"/>
          <p:cNvSpPr/>
          <p:nvPr/>
        </p:nvSpPr>
        <p:spPr>
          <a:xfrm>
            <a:off x="6135624" y="5212080"/>
            <a:ext cx="1508760" cy="411480"/>
          </a:xfrm>
          <a:prstGeom prst="roundRect">
            <a:avLst>
              <a:gd name="adj" fmla="val 22222"/>
            </a:avLst>
          </a:prstGeom>
          <a:solidFill>
            <a:srgbClr val="EEF4FB"/>
          </a:solidFill>
          <a:ln w="12700">
            <a:solidFill>
              <a:srgbClr val="FFFFFF"/>
            </a:solidFill>
            <a:prstDash val="solid"/>
          </a:ln>
        </p:spPr>
      </p:sp>
      <p:sp>
        <p:nvSpPr>
          <p:cNvPr id="53" name="A5_482"/>
          <p:cNvSpPr txBox="1"/>
          <p:nvPr/>
        </p:nvSpPr>
        <p:spPr>
          <a:xfrm>
            <a:off x="6135624" y="521208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JUnit / JaCoCo</a:t>
            </a:r>
            <a:endParaRPr lang="en-US" sz="1150" dirty="0"/>
          </a:p>
        </p:txBody>
      </p:sp>
      <p:sp>
        <p:nvSpPr>
          <p:cNvPr id="54" name="A6_483"/>
          <p:cNvSpPr/>
          <p:nvPr/>
        </p:nvSpPr>
        <p:spPr>
          <a:xfrm>
            <a:off x="8065008" y="3749040"/>
            <a:ext cx="3566160" cy="2148840"/>
          </a:xfrm>
          <a:prstGeom prst="roundRect">
            <a:avLst>
              <a:gd name="adj" fmla="val 5106"/>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55" name="A6_484"/>
          <p:cNvSpPr/>
          <p:nvPr/>
        </p:nvSpPr>
        <p:spPr>
          <a:xfrm>
            <a:off x="8293608" y="3950208"/>
            <a:ext cx="548640" cy="548640"/>
          </a:xfrm>
          <a:prstGeom prst="ellipse">
            <a:avLst/>
          </a:prstGeom>
          <a:solidFill>
            <a:srgbClr val="0E5CA8"/>
          </a:solidFill>
          <a:ln w="12700">
            <a:solidFill>
              <a:srgbClr val="0E5CA8"/>
            </a:solidFill>
            <a:prstDash val="solid"/>
          </a:ln>
        </p:spPr>
      </p:sp>
      <p:pic>
        <p:nvPicPr>
          <p:cNvPr id="56" name="A6_485" descr="FaRocket"/>
          <p:cNvPicPr>
            <a:picLocks noChangeAspect="1"/>
          </p:cNvPicPr>
          <p:nvPr/>
        </p:nvPicPr>
        <p:blipFill>
          <a:blip r:embed="rId8"/>
          <a:stretch>
            <a:fillRect/>
          </a:stretch>
        </p:blipFill>
        <p:spPr>
          <a:xfrm>
            <a:off x="8430768" y="4087368"/>
            <a:ext cx="274320" cy="274320"/>
          </a:xfrm>
          <a:prstGeom prst="rect">
            <a:avLst/>
          </a:prstGeom>
        </p:spPr>
      </p:pic>
      <p:sp>
        <p:nvSpPr>
          <p:cNvPr id="57" name="A6_486"/>
          <p:cNvSpPr txBox="1"/>
          <p:nvPr/>
        </p:nvSpPr>
        <p:spPr>
          <a:xfrm>
            <a:off x="8979408" y="3950208"/>
            <a:ext cx="2560320" cy="548640"/>
          </a:xfrm>
          <a:prstGeom prst="rect">
            <a:avLst/>
          </a:prstGeom>
          <a:noFill/>
          <a:ln/>
        </p:spPr>
        <p:txBody>
          <a:bodyPr wrap="square" lIns="0" tIns="0" rIns="0" bIns="0" rtlCol="0" anchor="ctr"/>
          <a:lstStyle/>
          <a:p>
            <a:pPr marL="0" indent="0">
              <a:buNone/>
            </a:pPr>
            <a:r>
              <a:rPr lang="en-US" sz="1700" b="1" dirty="0">
                <a:solidFill>
                  <a:schemeClr val="tx2"/>
                </a:solidFill>
              </a:rPr>
              <a:t>Mise en ligne et suivi</a:t>
            </a:r>
            <a:endParaRPr lang="en-US" sz="1700" dirty="0"/>
          </a:p>
        </p:txBody>
      </p:sp>
      <p:sp>
        <p:nvSpPr>
          <p:cNvPr id="58" name="A6_487"/>
          <p:cNvSpPr/>
          <p:nvPr/>
        </p:nvSpPr>
        <p:spPr>
          <a:xfrm>
            <a:off x="8293608" y="4663440"/>
            <a:ext cx="1508760" cy="411480"/>
          </a:xfrm>
          <a:prstGeom prst="roundRect">
            <a:avLst>
              <a:gd name="adj" fmla="val 22222"/>
            </a:avLst>
          </a:prstGeom>
          <a:solidFill>
            <a:srgbClr val="EEF4FB"/>
          </a:solidFill>
          <a:ln w="12700">
            <a:solidFill>
              <a:srgbClr val="FFFFFF"/>
            </a:solidFill>
            <a:prstDash val="solid"/>
          </a:ln>
        </p:spPr>
      </p:sp>
      <p:sp>
        <p:nvSpPr>
          <p:cNvPr id="59" name="A6_488"/>
          <p:cNvSpPr txBox="1"/>
          <p:nvPr/>
        </p:nvSpPr>
        <p:spPr>
          <a:xfrm>
            <a:off x="8293608" y="46634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Docker Compose</a:t>
            </a:r>
            <a:endParaRPr lang="en-US" sz="1150" dirty="0"/>
          </a:p>
        </p:txBody>
      </p:sp>
      <p:sp>
        <p:nvSpPr>
          <p:cNvPr id="60" name="A6_489"/>
          <p:cNvSpPr/>
          <p:nvPr/>
        </p:nvSpPr>
        <p:spPr>
          <a:xfrm>
            <a:off x="9893808" y="4663440"/>
            <a:ext cx="1508760" cy="411480"/>
          </a:xfrm>
          <a:prstGeom prst="roundRect">
            <a:avLst>
              <a:gd name="adj" fmla="val 22222"/>
            </a:avLst>
          </a:prstGeom>
          <a:solidFill>
            <a:srgbClr val="EEF4FB"/>
          </a:solidFill>
          <a:ln w="12700">
            <a:solidFill>
              <a:srgbClr val="FFFFFF"/>
            </a:solidFill>
            <a:prstDash val="solid"/>
          </a:ln>
        </p:spPr>
      </p:sp>
      <p:sp>
        <p:nvSpPr>
          <p:cNvPr id="61" name="A6_490"/>
          <p:cNvSpPr txBox="1"/>
          <p:nvPr/>
        </p:nvSpPr>
        <p:spPr>
          <a:xfrm>
            <a:off x="9893808" y="466344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GitHub Actions</a:t>
            </a:r>
            <a:endParaRPr lang="en-US" sz="1150" dirty="0"/>
          </a:p>
        </p:txBody>
      </p:sp>
      <p:sp>
        <p:nvSpPr>
          <p:cNvPr id="62" name="A6_491"/>
          <p:cNvSpPr/>
          <p:nvPr/>
        </p:nvSpPr>
        <p:spPr>
          <a:xfrm>
            <a:off x="8293608" y="5212080"/>
            <a:ext cx="1508760" cy="411480"/>
          </a:xfrm>
          <a:prstGeom prst="roundRect">
            <a:avLst>
              <a:gd name="adj" fmla="val 22222"/>
            </a:avLst>
          </a:prstGeom>
          <a:solidFill>
            <a:srgbClr val="EEF4FB"/>
          </a:solidFill>
          <a:ln w="12700">
            <a:solidFill>
              <a:srgbClr val="FFFFFF"/>
            </a:solidFill>
            <a:prstDash val="solid"/>
          </a:ln>
        </p:spPr>
      </p:sp>
      <p:sp>
        <p:nvSpPr>
          <p:cNvPr id="63" name="A6_492"/>
          <p:cNvSpPr txBox="1"/>
          <p:nvPr/>
        </p:nvSpPr>
        <p:spPr>
          <a:xfrm>
            <a:off x="8293608" y="521208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GitLab CI / Jenkins</a:t>
            </a:r>
            <a:endParaRPr lang="en-US" sz="1150" dirty="0"/>
          </a:p>
        </p:txBody>
      </p:sp>
      <p:sp>
        <p:nvSpPr>
          <p:cNvPr id="64" name="A6_493"/>
          <p:cNvSpPr/>
          <p:nvPr/>
        </p:nvSpPr>
        <p:spPr>
          <a:xfrm>
            <a:off x="9893808" y="5212080"/>
            <a:ext cx="1508760" cy="411480"/>
          </a:xfrm>
          <a:prstGeom prst="roundRect">
            <a:avLst>
              <a:gd name="adj" fmla="val 22222"/>
            </a:avLst>
          </a:prstGeom>
          <a:solidFill>
            <a:srgbClr val="EEF4FB"/>
          </a:solidFill>
          <a:ln w="12700">
            <a:solidFill>
              <a:srgbClr val="FFFFFF"/>
            </a:solidFill>
            <a:prstDash val="solid"/>
          </a:ln>
        </p:spPr>
      </p:sp>
      <p:sp>
        <p:nvSpPr>
          <p:cNvPr id="65" name="A6_494"/>
          <p:cNvSpPr txBox="1"/>
          <p:nvPr/>
        </p:nvSpPr>
        <p:spPr>
          <a:xfrm>
            <a:off x="9893808" y="5212080"/>
            <a:ext cx="1508760" cy="411480"/>
          </a:xfrm>
          <a:prstGeom prst="rect">
            <a:avLst/>
          </a:prstGeom>
          <a:noFill/>
          <a:ln/>
        </p:spPr>
        <p:txBody>
          <a:bodyPr wrap="square" lIns="0" tIns="0" rIns="0" bIns="0" rtlCol="0" anchor="ctr"/>
          <a:lstStyle/>
          <a:p>
            <a:pPr marL="0" indent="0" algn="ctr">
              <a:buNone/>
            </a:pPr>
            <a:r>
              <a:rPr lang="en-US" sz="1150" dirty="0">
                <a:solidFill>
                  <a:schemeClr val="tx2"/>
                </a:solidFill>
              </a:rPr>
              <a:t>Grafana Loki</a:t>
            </a:r>
            <a:endParaRPr lang="en-US" sz="1150" dirty="0"/>
          </a:p>
        </p:txBody>
      </p:sp>
      <p:sp>
        <p:nvSpPr>
          <p:cNvPr id="66"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19</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par>
                          <p:cTn id="35" fill="hold">
                            <p:stCondLst>
                              <p:cond delay="90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par>
                          <p:cTn id="66" fill="hold">
                            <p:stCondLst>
                              <p:cond delay="1600"/>
                            </p:stCondLst>
                            <p:childTnLst>
                              <p:par>
                                <p:cTn id="67" presetID="10" presetClass="entr" presetSubtype="0" fill="hold" grpId="0"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childTnLst>
                          </p:cTn>
                        </p:par>
                        <p:par>
                          <p:cTn id="103" fill="hold">
                            <p:stCondLst>
                              <p:cond delay="2300"/>
                            </p:stCondLst>
                            <p:childTnLst>
                              <p:par>
                                <p:cTn id="104" presetID="10" presetClass="entr" presetSubtype="0" fill="hold" grpId="0" nodeType="after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5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450"/>
                                        <p:tgtEl>
                                          <p:spTgt spid="4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450"/>
                                        <p:tgtEl>
                                          <p:spTgt spid="41"/>
                                        </p:tgtEl>
                                      </p:cBhvr>
                                    </p:animEffect>
                                  </p:childTnLst>
                                </p:cTn>
                              </p:par>
                            </p:childTnLst>
                          </p:cTn>
                        </p:par>
                        <p:par>
                          <p:cTn id="122" fill="hold">
                            <p:stCondLst>
                              <p:cond delay="3000"/>
                            </p:stCondLst>
                            <p:childTnLst>
                              <p:par>
                                <p:cTn id="123" presetID="10" presetClass="entr" presetSubtype="0" fill="hold" grpId="0" nodeType="after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5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50"/>
                                        <p:tgtEl>
                                          <p:spTgt spid="43"/>
                                        </p:tgtEl>
                                      </p:cBhvr>
                                    </p:animEffect>
                                  </p:childTnLst>
                                </p:cTn>
                              </p:par>
                              <p:par>
                                <p:cTn id="129" presetID="10" presetClass="entr" presetSubtype="0" fill="hold"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5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50"/>
                                        <p:tgtEl>
                                          <p:spTgt spid="4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450"/>
                                        <p:tgtEl>
                                          <p:spTgt spid="46"/>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450"/>
                                        <p:tgtEl>
                                          <p:spTgt spid="47"/>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450"/>
                                        <p:tgtEl>
                                          <p:spTgt spid="4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9"/>
                                        </p:tgtEl>
                                        <p:attrNameLst>
                                          <p:attrName>style.visibility</p:attrName>
                                        </p:attrNameLst>
                                      </p:cBhvr>
                                      <p:to>
                                        <p:strVal val="visible"/>
                                      </p:to>
                                    </p:set>
                                    <p:animEffect transition="in" filter="fade">
                                      <p:cBhvr>
                                        <p:cTn id="146" dur="450"/>
                                        <p:tgtEl>
                                          <p:spTgt spid="4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450"/>
                                        <p:tgtEl>
                                          <p:spTgt spid="50"/>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1"/>
                                        </p:tgtEl>
                                        <p:attrNameLst>
                                          <p:attrName>style.visibility</p:attrName>
                                        </p:attrNameLst>
                                      </p:cBhvr>
                                      <p:to>
                                        <p:strVal val="visible"/>
                                      </p:to>
                                    </p:set>
                                    <p:animEffect transition="in" filter="fade">
                                      <p:cBhvr>
                                        <p:cTn id="152" dur="450"/>
                                        <p:tgtEl>
                                          <p:spTgt spid="51"/>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2"/>
                                        </p:tgtEl>
                                        <p:attrNameLst>
                                          <p:attrName>style.visibility</p:attrName>
                                        </p:attrNameLst>
                                      </p:cBhvr>
                                      <p:to>
                                        <p:strVal val="visible"/>
                                      </p:to>
                                    </p:set>
                                    <p:animEffect transition="in" filter="fade">
                                      <p:cBhvr>
                                        <p:cTn id="155" dur="450"/>
                                        <p:tgtEl>
                                          <p:spTgt spid="52"/>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3"/>
                                        </p:tgtEl>
                                        <p:attrNameLst>
                                          <p:attrName>style.visibility</p:attrName>
                                        </p:attrNameLst>
                                      </p:cBhvr>
                                      <p:to>
                                        <p:strVal val="visible"/>
                                      </p:to>
                                    </p:set>
                                    <p:animEffect transition="in" filter="fade">
                                      <p:cBhvr>
                                        <p:cTn id="158" dur="450"/>
                                        <p:tgtEl>
                                          <p:spTgt spid="53"/>
                                        </p:tgtEl>
                                      </p:cBhvr>
                                    </p:animEffect>
                                  </p:childTnLst>
                                </p:cTn>
                              </p:par>
                            </p:childTnLst>
                          </p:cTn>
                        </p:par>
                        <p:par>
                          <p:cTn id="159" fill="hold">
                            <p:stCondLst>
                              <p:cond delay="3700"/>
                            </p:stCondLst>
                            <p:childTnLst>
                              <p:par>
                                <p:cTn id="160" presetID="10" presetClass="entr" presetSubtype="0" fill="hold" grpId="0" nodeType="afterEffect">
                                  <p:stCondLst>
                                    <p:cond delay="0"/>
                                  </p:stCondLst>
                                  <p:childTnLst>
                                    <p:set>
                                      <p:cBhvr>
                                        <p:cTn id="161" dur="1" fill="hold">
                                          <p:stCondLst>
                                            <p:cond delay="0"/>
                                          </p:stCondLst>
                                        </p:cTn>
                                        <p:tgtEl>
                                          <p:spTgt spid="54"/>
                                        </p:tgtEl>
                                        <p:attrNameLst>
                                          <p:attrName>style.visibility</p:attrName>
                                        </p:attrNameLst>
                                      </p:cBhvr>
                                      <p:to>
                                        <p:strVal val="visible"/>
                                      </p:to>
                                    </p:set>
                                    <p:animEffect transition="in" filter="fade">
                                      <p:cBhvr>
                                        <p:cTn id="162" dur="450"/>
                                        <p:tgtEl>
                                          <p:spTgt spid="54"/>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5"/>
                                        </p:tgtEl>
                                        <p:attrNameLst>
                                          <p:attrName>style.visibility</p:attrName>
                                        </p:attrNameLst>
                                      </p:cBhvr>
                                      <p:to>
                                        <p:strVal val="visible"/>
                                      </p:to>
                                    </p:set>
                                    <p:animEffect transition="in" filter="fade">
                                      <p:cBhvr>
                                        <p:cTn id="165" dur="450"/>
                                        <p:tgtEl>
                                          <p:spTgt spid="55"/>
                                        </p:tgtEl>
                                      </p:cBhvr>
                                    </p:animEffect>
                                  </p:childTnLst>
                                </p:cTn>
                              </p:par>
                              <p:par>
                                <p:cTn id="166" presetID="10" presetClass="entr" presetSubtype="0" fill="hold" nodeType="withEffect">
                                  <p:stCondLst>
                                    <p:cond delay="0"/>
                                  </p:stCondLst>
                                  <p:childTnLst>
                                    <p:set>
                                      <p:cBhvr>
                                        <p:cTn id="167" dur="1" fill="hold">
                                          <p:stCondLst>
                                            <p:cond delay="0"/>
                                          </p:stCondLst>
                                        </p:cTn>
                                        <p:tgtEl>
                                          <p:spTgt spid="56"/>
                                        </p:tgtEl>
                                        <p:attrNameLst>
                                          <p:attrName>style.visibility</p:attrName>
                                        </p:attrNameLst>
                                      </p:cBhvr>
                                      <p:to>
                                        <p:strVal val="visible"/>
                                      </p:to>
                                    </p:set>
                                    <p:animEffect transition="in" filter="fade">
                                      <p:cBhvr>
                                        <p:cTn id="168" dur="450"/>
                                        <p:tgtEl>
                                          <p:spTgt spid="56"/>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7"/>
                                        </p:tgtEl>
                                        <p:attrNameLst>
                                          <p:attrName>style.visibility</p:attrName>
                                        </p:attrNameLst>
                                      </p:cBhvr>
                                      <p:to>
                                        <p:strVal val="visible"/>
                                      </p:to>
                                    </p:set>
                                    <p:animEffect transition="in" filter="fade">
                                      <p:cBhvr>
                                        <p:cTn id="171" dur="450"/>
                                        <p:tgtEl>
                                          <p:spTgt spid="57"/>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8"/>
                                        </p:tgtEl>
                                        <p:attrNameLst>
                                          <p:attrName>style.visibility</p:attrName>
                                        </p:attrNameLst>
                                      </p:cBhvr>
                                      <p:to>
                                        <p:strVal val="visible"/>
                                      </p:to>
                                    </p:set>
                                    <p:animEffect transition="in" filter="fade">
                                      <p:cBhvr>
                                        <p:cTn id="174" dur="450"/>
                                        <p:tgtEl>
                                          <p:spTgt spid="58"/>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59"/>
                                        </p:tgtEl>
                                        <p:attrNameLst>
                                          <p:attrName>style.visibility</p:attrName>
                                        </p:attrNameLst>
                                      </p:cBhvr>
                                      <p:to>
                                        <p:strVal val="visible"/>
                                      </p:to>
                                    </p:set>
                                    <p:animEffect transition="in" filter="fade">
                                      <p:cBhvr>
                                        <p:cTn id="177" dur="450"/>
                                        <p:tgtEl>
                                          <p:spTgt spid="59"/>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0"/>
                                        </p:tgtEl>
                                        <p:attrNameLst>
                                          <p:attrName>style.visibility</p:attrName>
                                        </p:attrNameLst>
                                      </p:cBhvr>
                                      <p:to>
                                        <p:strVal val="visible"/>
                                      </p:to>
                                    </p:set>
                                    <p:animEffect transition="in" filter="fade">
                                      <p:cBhvr>
                                        <p:cTn id="180" dur="450"/>
                                        <p:tgtEl>
                                          <p:spTgt spid="60"/>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1"/>
                                        </p:tgtEl>
                                        <p:attrNameLst>
                                          <p:attrName>style.visibility</p:attrName>
                                        </p:attrNameLst>
                                      </p:cBhvr>
                                      <p:to>
                                        <p:strVal val="visible"/>
                                      </p:to>
                                    </p:set>
                                    <p:animEffect transition="in" filter="fade">
                                      <p:cBhvr>
                                        <p:cTn id="183" dur="450"/>
                                        <p:tgtEl>
                                          <p:spTgt spid="61"/>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2"/>
                                        </p:tgtEl>
                                        <p:attrNameLst>
                                          <p:attrName>style.visibility</p:attrName>
                                        </p:attrNameLst>
                                      </p:cBhvr>
                                      <p:to>
                                        <p:strVal val="visible"/>
                                      </p:to>
                                    </p:set>
                                    <p:animEffect transition="in" filter="fade">
                                      <p:cBhvr>
                                        <p:cTn id="186" dur="450"/>
                                        <p:tgtEl>
                                          <p:spTgt spid="62"/>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3"/>
                                        </p:tgtEl>
                                        <p:attrNameLst>
                                          <p:attrName>style.visibility</p:attrName>
                                        </p:attrNameLst>
                                      </p:cBhvr>
                                      <p:to>
                                        <p:strVal val="visible"/>
                                      </p:to>
                                    </p:set>
                                    <p:animEffect transition="in" filter="fade">
                                      <p:cBhvr>
                                        <p:cTn id="189" dur="450"/>
                                        <p:tgtEl>
                                          <p:spTgt spid="63"/>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4"/>
                                        </p:tgtEl>
                                        <p:attrNameLst>
                                          <p:attrName>style.visibility</p:attrName>
                                        </p:attrNameLst>
                                      </p:cBhvr>
                                      <p:to>
                                        <p:strVal val="visible"/>
                                      </p:to>
                                    </p:set>
                                    <p:animEffect transition="in" filter="fade">
                                      <p:cBhvr>
                                        <p:cTn id="192" dur="450"/>
                                        <p:tgtEl>
                                          <p:spTgt spid="64"/>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5"/>
                                        </p:tgtEl>
                                        <p:attrNameLst>
                                          <p:attrName>style.visibility</p:attrName>
                                        </p:attrNameLst>
                                      </p:cBhvr>
                                      <p:to>
                                        <p:strVal val="visible"/>
                                      </p:to>
                                    </p:set>
                                    <p:animEffect transition="in" filter="fade">
                                      <p:cBhvr>
                                        <p:cTn id="195" dur="45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Les 4 super-pouvoirs de l'IA</a:t>
            </a:r>
            <a:endParaRPr lang="en-US" sz="3000" dirty="0"/>
          </a:p>
        </p:txBody>
      </p:sp>
      <p:sp>
        <p:nvSpPr>
          <p:cNvPr id="3" name="o_495"/>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INTELLIGENCE ARTIFICIELLE</a:t>
            </a:r>
            <a:endParaRPr lang="en-US" sz="1100" dirty="0"/>
          </a:p>
        </p:txBody>
      </p:sp>
      <p:sp>
        <p:nvSpPr>
          <p:cNvPr id="4" name="A1_496"/>
          <p:cNvSpPr/>
          <p:nvPr/>
        </p:nvSpPr>
        <p:spPr>
          <a:xfrm>
            <a:off x="548640" y="1371600"/>
            <a:ext cx="2606040" cy="2788920"/>
          </a:xfrm>
          <a:prstGeom prst="roundRect">
            <a:avLst>
              <a:gd name="adj" fmla="val 4211"/>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5" name="A1_497"/>
          <p:cNvSpPr/>
          <p:nvPr/>
        </p:nvSpPr>
        <p:spPr>
          <a:xfrm>
            <a:off x="1435608" y="1572768"/>
            <a:ext cx="822960" cy="822960"/>
          </a:xfrm>
          <a:prstGeom prst="ellipse">
            <a:avLst/>
          </a:prstGeom>
          <a:solidFill>
            <a:srgbClr val="0E5CA8"/>
          </a:solidFill>
          <a:ln w="12700">
            <a:solidFill>
              <a:srgbClr val="0E5CA8"/>
            </a:solidFill>
            <a:prstDash val="solid"/>
          </a:ln>
        </p:spPr>
      </p:sp>
      <p:pic>
        <p:nvPicPr>
          <p:cNvPr id="6" name="A1_498" descr="FaFilter"/>
          <p:cNvPicPr>
            <a:picLocks noChangeAspect="1"/>
          </p:cNvPicPr>
          <p:nvPr/>
        </p:nvPicPr>
        <p:blipFill>
          <a:blip r:embed="rId3"/>
          <a:stretch>
            <a:fillRect/>
          </a:stretch>
        </p:blipFill>
        <p:spPr>
          <a:xfrm>
            <a:off x="1641348" y="1778508"/>
            <a:ext cx="411480" cy="411480"/>
          </a:xfrm>
          <a:prstGeom prst="rect">
            <a:avLst/>
          </a:prstGeom>
        </p:spPr>
      </p:pic>
      <p:sp>
        <p:nvSpPr>
          <p:cNvPr id="7" name="A1_499"/>
          <p:cNvSpPr txBox="1"/>
          <p:nvPr/>
        </p:nvSpPr>
        <p:spPr>
          <a:xfrm>
            <a:off x="640080" y="2514600"/>
            <a:ext cx="2423160" cy="411480"/>
          </a:xfrm>
          <a:prstGeom prst="rect">
            <a:avLst/>
          </a:prstGeom>
          <a:noFill/>
          <a:ln/>
        </p:spPr>
        <p:txBody>
          <a:bodyPr wrap="square" lIns="0" tIns="0" rIns="0" bIns="0" rtlCol="0" anchor="t"/>
          <a:lstStyle/>
          <a:p>
            <a:pPr marL="0" indent="0" algn="ctr">
              <a:buNone/>
            </a:pPr>
            <a:r>
              <a:rPr lang="en-US" sz="2000" b="1" dirty="0">
                <a:solidFill>
                  <a:schemeClr val="tx2"/>
                </a:solidFill>
              </a:rPr>
              <a:t>Trier</a:t>
            </a:r>
            <a:endParaRPr lang="en-US" sz="2000" dirty="0"/>
          </a:p>
        </p:txBody>
      </p:sp>
      <p:sp>
        <p:nvSpPr>
          <p:cNvPr id="8" name="A1_500"/>
          <p:cNvSpPr txBox="1"/>
          <p:nvPr/>
        </p:nvSpPr>
        <p:spPr>
          <a:xfrm>
            <a:off x="731520" y="2926080"/>
            <a:ext cx="2240280" cy="685800"/>
          </a:xfrm>
          <a:prstGeom prst="rect">
            <a:avLst/>
          </a:prstGeom>
          <a:noFill/>
          <a:ln/>
        </p:spPr>
        <p:txBody>
          <a:bodyPr wrap="square" lIns="0" tIns="0" rIns="0" bIns="0" rtlCol="0" anchor="t"/>
          <a:lstStyle/>
          <a:p>
            <a:pPr marL="0" indent="0" algn="ctr">
              <a:buNone/>
            </a:pPr>
            <a:r>
              <a:rPr lang="en-US" sz="1300" dirty="0">
                <a:solidFill>
                  <a:schemeClr val="tx1"/>
                </a:solidFill>
              </a:rPr>
              <a:t>des milliers de lignes réduites à quelques familles d'erreurs</a:t>
            </a:r>
            <a:endParaRPr lang="en-US" sz="1300" dirty="0"/>
          </a:p>
        </p:txBody>
      </p:sp>
      <p:sp>
        <p:nvSpPr>
          <p:cNvPr id="9" name="A1_501"/>
          <p:cNvSpPr/>
          <p:nvPr/>
        </p:nvSpPr>
        <p:spPr>
          <a:xfrm>
            <a:off x="822960" y="3657600"/>
            <a:ext cx="2057400" cy="329184"/>
          </a:xfrm>
          <a:prstGeom prst="roundRect">
            <a:avLst>
              <a:gd name="adj" fmla="val 27778"/>
            </a:avLst>
          </a:prstGeom>
          <a:solidFill>
            <a:srgbClr val="F3F5F8"/>
          </a:solidFill>
          <a:ln w="12700">
            <a:solidFill>
              <a:srgbClr val="FFFFFF"/>
            </a:solidFill>
            <a:prstDash val="solid"/>
          </a:ln>
        </p:spPr>
      </p:sp>
      <p:sp>
        <p:nvSpPr>
          <p:cNvPr id="10" name="A1_502"/>
          <p:cNvSpPr txBox="1"/>
          <p:nvPr/>
        </p:nvSpPr>
        <p:spPr>
          <a:xfrm>
            <a:off x="822960" y="3657600"/>
            <a:ext cx="2057400" cy="329184"/>
          </a:xfrm>
          <a:prstGeom prst="rect">
            <a:avLst/>
          </a:prstGeom>
          <a:noFill/>
          <a:ln/>
        </p:spPr>
        <p:txBody>
          <a:bodyPr wrap="square" lIns="0" tIns="0" rIns="0" bIns="0" rtlCol="0" anchor="ctr"/>
          <a:lstStyle/>
          <a:p>
            <a:pPr marL="0" indent="0" algn="ctr">
              <a:buNone/>
            </a:pPr>
            <a:r>
              <a:rPr lang="en-US" sz="1050" dirty="0">
                <a:solidFill>
                  <a:srgbClr val="5B6B7F"/>
                </a:solidFill>
              </a:rPr>
              <a:t>TF-IDF + DBSCAN</a:t>
            </a:r>
            <a:endParaRPr lang="en-US" sz="1050" dirty="0"/>
          </a:p>
        </p:txBody>
      </p:sp>
      <p:sp>
        <p:nvSpPr>
          <p:cNvPr id="11" name="A2_503"/>
          <p:cNvSpPr/>
          <p:nvPr/>
        </p:nvSpPr>
        <p:spPr>
          <a:xfrm>
            <a:off x="3374136" y="1371600"/>
            <a:ext cx="2606040" cy="2788920"/>
          </a:xfrm>
          <a:prstGeom prst="roundRect">
            <a:avLst>
              <a:gd name="adj" fmla="val 4211"/>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2" name="A2_504"/>
          <p:cNvSpPr/>
          <p:nvPr/>
        </p:nvSpPr>
        <p:spPr>
          <a:xfrm>
            <a:off x="4261104" y="1572768"/>
            <a:ext cx="822960" cy="822960"/>
          </a:xfrm>
          <a:prstGeom prst="ellipse">
            <a:avLst/>
          </a:prstGeom>
          <a:solidFill>
            <a:srgbClr val="0E5CA8"/>
          </a:solidFill>
          <a:ln w="12700">
            <a:solidFill>
              <a:srgbClr val="0E5CA8"/>
            </a:solidFill>
            <a:prstDash val="solid"/>
          </a:ln>
        </p:spPr>
      </p:sp>
      <p:pic>
        <p:nvPicPr>
          <p:cNvPr id="13" name="A2_505" descr="FaBell"/>
          <p:cNvPicPr>
            <a:picLocks noChangeAspect="1"/>
          </p:cNvPicPr>
          <p:nvPr/>
        </p:nvPicPr>
        <p:blipFill>
          <a:blip r:embed="rId4"/>
          <a:stretch>
            <a:fillRect/>
          </a:stretch>
        </p:blipFill>
        <p:spPr>
          <a:xfrm>
            <a:off x="4466844" y="1778508"/>
            <a:ext cx="411480" cy="411480"/>
          </a:xfrm>
          <a:prstGeom prst="rect">
            <a:avLst/>
          </a:prstGeom>
        </p:spPr>
      </p:pic>
      <p:sp>
        <p:nvSpPr>
          <p:cNvPr id="14" name="A2_506"/>
          <p:cNvSpPr txBox="1"/>
          <p:nvPr/>
        </p:nvSpPr>
        <p:spPr>
          <a:xfrm>
            <a:off x="3465576" y="2514600"/>
            <a:ext cx="2423160" cy="411480"/>
          </a:xfrm>
          <a:prstGeom prst="rect">
            <a:avLst/>
          </a:prstGeom>
          <a:noFill/>
          <a:ln/>
        </p:spPr>
        <p:txBody>
          <a:bodyPr wrap="square" lIns="0" tIns="0" rIns="0" bIns="0" rtlCol="0" anchor="t"/>
          <a:lstStyle/>
          <a:p>
            <a:pPr marL="0" indent="0" algn="ctr">
              <a:buNone/>
            </a:pPr>
            <a:r>
              <a:rPr lang="en-US" sz="2000" b="1" dirty="0">
                <a:solidFill>
                  <a:schemeClr val="tx2"/>
                </a:solidFill>
              </a:rPr>
              <a:t>Alerter</a:t>
            </a:r>
            <a:endParaRPr lang="en-US" sz="2000" dirty="0"/>
          </a:p>
        </p:txBody>
      </p:sp>
      <p:sp>
        <p:nvSpPr>
          <p:cNvPr id="15" name="A2_507"/>
          <p:cNvSpPr txBox="1"/>
          <p:nvPr/>
        </p:nvSpPr>
        <p:spPr>
          <a:xfrm>
            <a:off x="3557016" y="2926080"/>
            <a:ext cx="2240280" cy="685800"/>
          </a:xfrm>
          <a:prstGeom prst="rect">
            <a:avLst/>
          </a:prstGeom>
          <a:noFill/>
          <a:ln/>
        </p:spPr>
        <p:txBody>
          <a:bodyPr wrap="square" lIns="0" tIns="0" rIns="0" bIns="0" rtlCol="0" anchor="t"/>
          <a:lstStyle/>
          <a:p>
            <a:pPr marL="0" indent="0" algn="ctr">
              <a:buNone/>
            </a:pPr>
            <a:r>
              <a:rPr lang="en-US" sz="1300" dirty="0">
                <a:solidFill>
                  <a:schemeClr val="tx1"/>
                </a:solidFill>
              </a:rPr>
              <a:t>repère tout seul les moments anormaux</a:t>
            </a:r>
            <a:endParaRPr lang="en-US" sz="1300" dirty="0"/>
          </a:p>
        </p:txBody>
      </p:sp>
      <p:sp>
        <p:nvSpPr>
          <p:cNvPr id="16" name="A2_508"/>
          <p:cNvSpPr/>
          <p:nvPr/>
        </p:nvSpPr>
        <p:spPr>
          <a:xfrm>
            <a:off x="3648456" y="3657600"/>
            <a:ext cx="2057400" cy="329184"/>
          </a:xfrm>
          <a:prstGeom prst="roundRect">
            <a:avLst>
              <a:gd name="adj" fmla="val 27778"/>
            </a:avLst>
          </a:prstGeom>
          <a:solidFill>
            <a:srgbClr val="F3F5F8"/>
          </a:solidFill>
          <a:ln w="12700">
            <a:solidFill>
              <a:srgbClr val="FFFFFF"/>
            </a:solidFill>
            <a:prstDash val="solid"/>
          </a:ln>
        </p:spPr>
      </p:sp>
      <p:sp>
        <p:nvSpPr>
          <p:cNvPr id="17" name="A2_509"/>
          <p:cNvSpPr txBox="1"/>
          <p:nvPr/>
        </p:nvSpPr>
        <p:spPr>
          <a:xfrm>
            <a:off x="3648456" y="3657600"/>
            <a:ext cx="2057400" cy="329184"/>
          </a:xfrm>
          <a:prstGeom prst="rect">
            <a:avLst/>
          </a:prstGeom>
          <a:noFill/>
          <a:ln/>
        </p:spPr>
        <p:txBody>
          <a:bodyPr wrap="square" lIns="0" tIns="0" rIns="0" bIns="0" rtlCol="0" anchor="ctr"/>
          <a:lstStyle/>
          <a:p>
            <a:pPr marL="0" indent="0" algn="ctr">
              <a:buNone/>
            </a:pPr>
            <a:r>
              <a:rPr lang="en-US" sz="1050" dirty="0">
                <a:solidFill>
                  <a:srgbClr val="5B6B7F"/>
                </a:solidFill>
              </a:rPr>
              <a:t>Isolation Forest</a:t>
            </a:r>
            <a:endParaRPr lang="en-US" sz="1050" dirty="0"/>
          </a:p>
        </p:txBody>
      </p:sp>
      <p:sp>
        <p:nvSpPr>
          <p:cNvPr id="18" name="A3_510"/>
          <p:cNvSpPr/>
          <p:nvPr/>
        </p:nvSpPr>
        <p:spPr>
          <a:xfrm>
            <a:off x="6199632" y="1371600"/>
            <a:ext cx="2606040" cy="2788920"/>
          </a:xfrm>
          <a:prstGeom prst="roundRect">
            <a:avLst>
              <a:gd name="adj" fmla="val 4211"/>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19" name="A3_511"/>
          <p:cNvSpPr/>
          <p:nvPr/>
        </p:nvSpPr>
        <p:spPr>
          <a:xfrm>
            <a:off x="7086600" y="1572768"/>
            <a:ext cx="822960" cy="822960"/>
          </a:xfrm>
          <a:prstGeom prst="ellipse">
            <a:avLst/>
          </a:prstGeom>
          <a:solidFill>
            <a:srgbClr val="0E5CA8"/>
          </a:solidFill>
          <a:ln w="12700">
            <a:solidFill>
              <a:srgbClr val="0E5CA8"/>
            </a:solidFill>
            <a:prstDash val="solid"/>
          </a:ln>
        </p:spPr>
      </p:sp>
      <p:pic>
        <p:nvPicPr>
          <p:cNvPr id="20" name="A3_512" descr="FaLightbulb"/>
          <p:cNvPicPr>
            <a:picLocks noChangeAspect="1"/>
          </p:cNvPicPr>
          <p:nvPr/>
        </p:nvPicPr>
        <p:blipFill>
          <a:blip r:embed="rId5"/>
          <a:stretch>
            <a:fillRect/>
          </a:stretch>
        </p:blipFill>
        <p:spPr>
          <a:xfrm>
            <a:off x="7292340" y="1778508"/>
            <a:ext cx="411480" cy="411480"/>
          </a:xfrm>
          <a:prstGeom prst="rect">
            <a:avLst/>
          </a:prstGeom>
        </p:spPr>
      </p:pic>
      <p:sp>
        <p:nvSpPr>
          <p:cNvPr id="21" name="A3_513"/>
          <p:cNvSpPr txBox="1"/>
          <p:nvPr/>
        </p:nvSpPr>
        <p:spPr>
          <a:xfrm>
            <a:off x="6291072" y="2514600"/>
            <a:ext cx="2423160" cy="411480"/>
          </a:xfrm>
          <a:prstGeom prst="rect">
            <a:avLst/>
          </a:prstGeom>
          <a:noFill/>
          <a:ln/>
        </p:spPr>
        <p:txBody>
          <a:bodyPr wrap="square" lIns="0" tIns="0" rIns="0" bIns="0" rtlCol="0" anchor="t"/>
          <a:lstStyle/>
          <a:p>
            <a:pPr marL="0" indent="0" algn="ctr">
              <a:buNone/>
            </a:pPr>
            <a:r>
              <a:rPr lang="en-US" sz="2000" b="1" dirty="0">
                <a:solidFill>
                  <a:schemeClr val="tx2"/>
                </a:solidFill>
              </a:rPr>
              <a:t>Expliquer</a:t>
            </a:r>
            <a:endParaRPr lang="en-US" sz="2000" dirty="0"/>
          </a:p>
        </p:txBody>
      </p:sp>
      <p:sp>
        <p:nvSpPr>
          <p:cNvPr id="22" name="A3_514"/>
          <p:cNvSpPr txBox="1"/>
          <p:nvPr/>
        </p:nvSpPr>
        <p:spPr>
          <a:xfrm>
            <a:off x="6382512" y="2926080"/>
            <a:ext cx="2240280" cy="685800"/>
          </a:xfrm>
          <a:prstGeom prst="rect">
            <a:avLst/>
          </a:prstGeom>
          <a:noFill/>
          <a:ln/>
        </p:spPr>
        <p:txBody>
          <a:bodyPr wrap="square" lIns="0" tIns="0" rIns="0" bIns="0" rtlCol="0" anchor="t"/>
          <a:lstStyle/>
          <a:p>
            <a:pPr marL="0" indent="0" algn="ctr">
              <a:buNone/>
            </a:pPr>
            <a:r>
              <a:rPr lang="en-US" sz="1300" dirty="0">
                <a:solidFill>
                  <a:schemeClr val="tx1"/>
                </a:solidFill>
              </a:rPr>
              <a:t>donne la cause en langage clair et propose une solution</a:t>
            </a:r>
            <a:endParaRPr lang="en-US" sz="1300" dirty="0"/>
          </a:p>
        </p:txBody>
      </p:sp>
      <p:sp>
        <p:nvSpPr>
          <p:cNvPr id="23" name="A3_515"/>
          <p:cNvSpPr/>
          <p:nvPr/>
        </p:nvSpPr>
        <p:spPr>
          <a:xfrm>
            <a:off x="6473952" y="3657600"/>
            <a:ext cx="2057400" cy="329184"/>
          </a:xfrm>
          <a:prstGeom prst="roundRect">
            <a:avLst>
              <a:gd name="adj" fmla="val 27778"/>
            </a:avLst>
          </a:prstGeom>
          <a:solidFill>
            <a:srgbClr val="F3F5F8"/>
          </a:solidFill>
          <a:ln w="12700">
            <a:solidFill>
              <a:srgbClr val="FFFFFF"/>
            </a:solidFill>
            <a:prstDash val="solid"/>
          </a:ln>
        </p:spPr>
      </p:sp>
      <p:sp>
        <p:nvSpPr>
          <p:cNvPr id="24" name="A3_516"/>
          <p:cNvSpPr txBox="1"/>
          <p:nvPr/>
        </p:nvSpPr>
        <p:spPr>
          <a:xfrm>
            <a:off x="6473952" y="3657600"/>
            <a:ext cx="2057400" cy="329184"/>
          </a:xfrm>
          <a:prstGeom prst="rect">
            <a:avLst/>
          </a:prstGeom>
          <a:noFill/>
          <a:ln/>
        </p:spPr>
        <p:txBody>
          <a:bodyPr wrap="square" lIns="0" tIns="0" rIns="0" bIns="0" rtlCol="0" anchor="ctr"/>
          <a:lstStyle/>
          <a:p>
            <a:pPr marL="0" indent="0" algn="ctr">
              <a:buNone/>
            </a:pPr>
            <a:r>
              <a:rPr lang="en-US" sz="1050" dirty="0">
                <a:solidFill>
                  <a:srgbClr val="5B6B7F"/>
                </a:solidFill>
              </a:rPr>
              <a:t>LLM via Groq</a:t>
            </a:r>
            <a:endParaRPr lang="en-US" sz="1050" dirty="0"/>
          </a:p>
        </p:txBody>
      </p:sp>
      <p:sp>
        <p:nvSpPr>
          <p:cNvPr id="25" name="A4_517"/>
          <p:cNvSpPr/>
          <p:nvPr/>
        </p:nvSpPr>
        <p:spPr>
          <a:xfrm>
            <a:off x="9025128" y="1371600"/>
            <a:ext cx="2606040" cy="2788920"/>
          </a:xfrm>
          <a:prstGeom prst="roundRect">
            <a:avLst>
              <a:gd name="adj" fmla="val 4211"/>
            </a:avLst>
          </a:prstGeom>
          <a:solidFill>
            <a:srgbClr val="FFFFFF"/>
          </a:solidFill>
          <a:ln w="12700">
            <a:solidFill>
              <a:srgbClr val="D5E2F0"/>
            </a:solidFill>
            <a:prstDash val="solid"/>
          </a:ln>
          <a:effectLst>
            <a:outerShdw blurRad="101600" dist="25400" dir="5400000" algn="bl" rotWithShape="0">
              <a:srgbClr val="0B1F3A">
                <a:alpha val="12000"/>
              </a:srgbClr>
            </a:outerShdw>
          </a:effectLst>
        </p:spPr>
      </p:sp>
      <p:sp>
        <p:nvSpPr>
          <p:cNvPr id="26" name="A4_518"/>
          <p:cNvSpPr/>
          <p:nvPr/>
        </p:nvSpPr>
        <p:spPr>
          <a:xfrm>
            <a:off x="9912096" y="1572768"/>
            <a:ext cx="822960" cy="822960"/>
          </a:xfrm>
          <a:prstGeom prst="ellipse">
            <a:avLst/>
          </a:prstGeom>
          <a:solidFill>
            <a:srgbClr val="0E5CA8"/>
          </a:solidFill>
          <a:ln w="12700">
            <a:solidFill>
              <a:srgbClr val="0E5CA8"/>
            </a:solidFill>
            <a:prstDash val="solid"/>
          </a:ln>
        </p:spPr>
      </p:sp>
      <p:pic>
        <p:nvPicPr>
          <p:cNvPr id="27" name="A4_519" descr="FaComments"/>
          <p:cNvPicPr>
            <a:picLocks noChangeAspect="1"/>
          </p:cNvPicPr>
          <p:nvPr/>
        </p:nvPicPr>
        <p:blipFill>
          <a:blip r:embed="rId6"/>
          <a:stretch>
            <a:fillRect/>
          </a:stretch>
        </p:blipFill>
        <p:spPr>
          <a:xfrm>
            <a:off x="10117836" y="1778508"/>
            <a:ext cx="411480" cy="411480"/>
          </a:xfrm>
          <a:prstGeom prst="rect">
            <a:avLst/>
          </a:prstGeom>
        </p:spPr>
      </p:pic>
      <p:sp>
        <p:nvSpPr>
          <p:cNvPr id="28" name="A4_520"/>
          <p:cNvSpPr txBox="1"/>
          <p:nvPr/>
        </p:nvSpPr>
        <p:spPr>
          <a:xfrm>
            <a:off x="9116568" y="2514600"/>
            <a:ext cx="2423160" cy="411480"/>
          </a:xfrm>
          <a:prstGeom prst="rect">
            <a:avLst/>
          </a:prstGeom>
          <a:noFill/>
          <a:ln/>
        </p:spPr>
        <p:txBody>
          <a:bodyPr wrap="square" lIns="0" tIns="0" rIns="0" bIns="0" rtlCol="0" anchor="t"/>
          <a:lstStyle/>
          <a:p>
            <a:pPr marL="0" indent="0" algn="ctr">
              <a:buNone/>
            </a:pPr>
            <a:r>
              <a:rPr lang="en-US" sz="2000" b="1" dirty="0">
                <a:solidFill>
                  <a:schemeClr val="tx2"/>
                </a:solidFill>
              </a:rPr>
              <a:t>Dialoguer</a:t>
            </a:r>
            <a:endParaRPr lang="en-US" sz="2000" dirty="0"/>
          </a:p>
        </p:txBody>
      </p:sp>
      <p:sp>
        <p:nvSpPr>
          <p:cNvPr id="29" name="A4_521"/>
          <p:cNvSpPr txBox="1"/>
          <p:nvPr/>
        </p:nvSpPr>
        <p:spPr>
          <a:xfrm>
            <a:off x="9208008" y="2926080"/>
            <a:ext cx="2240280" cy="685800"/>
          </a:xfrm>
          <a:prstGeom prst="rect">
            <a:avLst/>
          </a:prstGeom>
          <a:noFill/>
          <a:ln/>
        </p:spPr>
        <p:txBody>
          <a:bodyPr wrap="square" lIns="0" tIns="0" rIns="0" bIns="0" rtlCol="0" anchor="t"/>
          <a:lstStyle/>
          <a:p>
            <a:pPr marL="0" indent="0" algn="ctr">
              <a:buNone/>
            </a:pPr>
            <a:r>
              <a:rPr lang="en-US" sz="1300" dirty="0">
                <a:solidFill>
                  <a:schemeClr val="tx1"/>
                </a:solidFill>
              </a:rPr>
              <a:t>répond aux questions de l'équipe sur le projet</a:t>
            </a:r>
            <a:endParaRPr lang="en-US" sz="1300" dirty="0"/>
          </a:p>
        </p:txBody>
      </p:sp>
      <p:sp>
        <p:nvSpPr>
          <p:cNvPr id="30" name="A4_522"/>
          <p:cNvSpPr/>
          <p:nvPr/>
        </p:nvSpPr>
        <p:spPr>
          <a:xfrm>
            <a:off x="9299448" y="3657600"/>
            <a:ext cx="2057400" cy="329184"/>
          </a:xfrm>
          <a:prstGeom prst="roundRect">
            <a:avLst>
              <a:gd name="adj" fmla="val 27778"/>
            </a:avLst>
          </a:prstGeom>
          <a:solidFill>
            <a:srgbClr val="F3F5F8"/>
          </a:solidFill>
          <a:ln w="12700">
            <a:solidFill>
              <a:srgbClr val="FFFFFF"/>
            </a:solidFill>
            <a:prstDash val="solid"/>
          </a:ln>
        </p:spPr>
      </p:sp>
      <p:sp>
        <p:nvSpPr>
          <p:cNvPr id="31" name="A4_523"/>
          <p:cNvSpPr txBox="1"/>
          <p:nvPr/>
        </p:nvSpPr>
        <p:spPr>
          <a:xfrm>
            <a:off x="9299448" y="3657600"/>
            <a:ext cx="2057400" cy="329184"/>
          </a:xfrm>
          <a:prstGeom prst="rect">
            <a:avLst/>
          </a:prstGeom>
          <a:noFill/>
          <a:ln/>
        </p:spPr>
        <p:txBody>
          <a:bodyPr wrap="square" lIns="0" tIns="0" rIns="0" bIns="0" rtlCol="0" anchor="ctr"/>
          <a:lstStyle/>
          <a:p>
            <a:pPr marL="0" indent="0" algn="ctr">
              <a:buNone/>
            </a:pPr>
            <a:r>
              <a:rPr lang="en-US" sz="1050" dirty="0">
                <a:solidFill>
                  <a:srgbClr val="5B6B7F"/>
                </a:solidFill>
              </a:rPr>
              <a:t>LLM + données du projet</a:t>
            </a:r>
            <a:endParaRPr lang="en-US" sz="1050" dirty="0"/>
          </a:p>
        </p:txBody>
      </p:sp>
      <p:sp>
        <p:nvSpPr>
          <p:cNvPr id="32" name="A5_524"/>
          <p:cNvSpPr/>
          <p:nvPr/>
        </p:nvSpPr>
        <p:spPr>
          <a:xfrm>
            <a:off x="548640" y="4434840"/>
            <a:ext cx="5468112" cy="1417320"/>
          </a:xfrm>
          <a:prstGeom prst="roundRect">
            <a:avLst>
              <a:gd name="adj" fmla="val 7742"/>
            </a:avLst>
          </a:prstGeom>
          <a:solidFill>
            <a:srgbClr val="0B1F3A"/>
          </a:solidFill>
          <a:ln w="12700">
            <a:solidFill>
              <a:srgbClr val="FFFFFF"/>
            </a:solidFill>
            <a:prstDash val="solid"/>
          </a:ln>
        </p:spPr>
      </p:sp>
      <p:sp>
        <p:nvSpPr>
          <p:cNvPr id="33" name="A5_525"/>
          <p:cNvSpPr/>
          <p:nvPr/>
        </p:nvSpPr>
        <p:spPr>
          <a:xfrm>
            <a:off x="822960" y="4736592"/>
            <a:ext cx="822960" cy="822960"/>
          </a:xfrm>
          <a:prstGeom prst="ellipse">
            <a:avLst/>
          </a:prstGeom>
          <a:solidFill>
            <a:srgbClr val="FFFFFF"/>
          </a:solidFill>
          <a:ln w="12700">
            <a:solidFill>
              <a:srgbClr val="FFFFFF"/>
            </a:solidFill>
            <a:prstDash val="solid"/>
          </a:ln>
        </p:spPr>
      </p:sp>
      <p:pic>
        <p:nvPicPr>
          <p:cNvPr id="34" name="A5_526" descr="FaHeartbeat"/>
          <p:cNvPicPr>
            <a:picLocks noChangeAspect="1"/>
          </p:cNvPicPr>
          <p:nvPr/>
        </p:nvPicPr>
        <p:blipFill>
          <a:blip r:embed="rId7"/>
          <a:stretch>
            <a:fillRect/>
          </a:stretch>
        </p:blipFill>
        <p:spPr>
          <a:xfrm>
            <a:off x="1028700" y="4942332"/>
            <a:ext cx="411480" cy="411480"/>
          </a:xfrm>
          <a:prstGeom prst="rect">
            <a:avLst/>
          </a:prstGeom>
        </p:spPr>
      </p:pic>
      <p:sp>
        <p:nvSpPr>
          <p:cNvPr id="35" name="A5_527"/>
          <p:cNvSpPr txBox="1"/>
          <p:nvPr/>
        </p:nvSpPr>
        <p:spPr>
          <a:xfrm>
            <a:off x="1874520" y="4617720"/>
            <a:ext cx="3977640" cy="411480"/>
          </a:xfrm>
          <a:prstGeom prst="rect">
            <a:avLst/>
          </a:prstGeom>
          <a:noFill/>
          <a:ln/>
        </p:spPr>
        <p:txBody>
          <a:bodyPr wrap="square" lIns="0" tIns="0" rIns="0" bIns="0" rtlCol="0" anchor="t"/>
          <a:lstStyle/>
          <a:p>
            <a:pPr marL="0" indent="0">
              <a:buNone/>
            </a:pPr>
            <a:r>
              <a:rPr lang="en-US" sz="1800" b="1" dirty="0">
                <a:solidFill>
                  <a:srgbClr val="FFFFFF"/>
                </a:solidFill>
              </a:rPr>
              <a:t>Plan B intégré</a:t>
            </a:r>
            <a:endParaRPr lang="en-US" sz="1800" dirty="0"/>
          </a:p>
        </p:txBody>
      </p:sp>
      <p:sp>
        <p:nvSpPr>
          <p:cNvPr id="36" name="A5_528"/>
          <p:cNvSpPr txBox="1"/>
          <p:nvPr/>
        </p:nvSpPr>
        <p:spPr>
          <a:xfrm>
            <a:off x="1874520" y="5029200"/>
            <a:ext cx="3977640" cy="640080"/>
          </a:xfrm>
          <a:prstGeom prst="rect">
            <a:avLst/>
          </a:prstGeom>
          <a:noFill/>
          <a:ln/>
        </p:spPr>
        <p:txBody>
          <a:bodyPr wrap="square" lIns="0" tIns="0" rIns="0" bIns="0" rtlCol="0" anchor="t"/>
          <a:lstStyle/>
          <a:p>
            <a:pPr marL="0" indent="0">
              <a:buNone/>
            </a:pPr>
            <a:r>
              <a:rPr lang="en-US" sz="1400" dirty="0">
                <a:solidFill>
                  <a:srgbClr val="FFFFFF"/>
                </a:solidFill>
              </a:rPr>
              <a:t>Sans connexion, des règles locales prennent le relais.</a:t>
            </a:r>
            <a:endParaRPr lang="en-US" sz="1400" dirty="0"/>
          </a:p>
        </p:txBody>
      </p:sp>
      <p:sp>
        <p:nvSpPr>
          <p:cNvPr id="37" name="A6_529"/>
          <p:cNvSpPr/>
          <p:nvPr/>
        </p:nvSpPr>
        <p:spPr>
          <a:xfrm>
            <a:off x="6172200" y="4434840"/>
            <a:ext cx="5468112" cy="1417320"/>
          </a:xfrm>
          <a:prstGeom prst="roundRect">
            <a:avLst>
              <a:gd name="adj" fmla="val 7742"/>
            </a:avLst>
          </a:prstGeom>
          <a:solidFill>
            <a:srgbClr val="0E5CA8"/>
          </a:solidFill>
          <a:ln w="12700">
            <a:solidFill>
              <a:srgbClr val="FFFFFF"/>
            </a:solidFill>
            <a:prstDash val="solid"/>
          </a:ln>
        </p:spPr>
      </p:sp>
      <p:sp>
        <p:nvSpPr>
          <p:cNvPr id="38" name="A6_530"/>
          <p:cNvSpPr/>
          <p:nvPr/>
        </p:nvSpPr>
        <p:spPr>
          <a:xfrm>
            <a:off x="6446520" y="4736592"/>
            <a:ext cx="822960" cy="822960"/>
          </a:xfrm>
          <a:prstGeom prst="ellipse">
            <a:avLst/>
          </a:prstGeom>
          <a:solidFill>
            <a:srgbClr val="FFFFFF"/>
          </a:solidFill>
          <a:ln w="12700">
            <a:solidFill>
              <a:srgbClr val="FFFFFF"/>
            </a:solidFill>
            <a:prstDash val="solid"/>
          </a:ln>
        </p:spPr>
      </p:sp>
      <p:pic>
        <p:nvPicPr>
          <p:cNvPr id="39" name="A6_531" descr="FaUserCheck"/>
          <p:cNvPicPr>
            <a:picLocks noChangeAspect="1"/>
          </p:cNvPicPr>
          <p:nvPr/>
        </p:nvPicPr>
        <p:blipFill>
          <a:blip r:embed="rId8"/>
          <a:stretch>
            <a:fillRect/>
          </a:stretch>
        </p:blipFill>
        <p:spPr>
          <a:xfrm>
            <a:off x="6652260" y="4942332"/>
            <a:ext cx="411480" cy="411480"/>
          </a:xfrm>
          <a:prstGeom prst="rect">
            <a:avLst/>
          </a:prstGeom>
        </p:spPr>
      </p:pic>
      <p:sp>
        <p:nvSpPr>
          <p:cNvPr id="40" name="A6_532"/>
          <p:cNvSpPr txBox="1"/>
          <p:nvPr/>
        </p:nvSpPr>
        <p:spPr>
          <a:xfrm>
            <a:off x="7498080" y="4617720"/>
            <a:ext cx="3977640" cy="411480"/>
          </a:xfrm>
          <a:prstGeom prst="rect">
            <a:avLst/>
          </a:prstGeom>
          <a:noFill/>
          <a:ln/>
        </p:spPr>
        <p:txBody>
          <a:bodyPr wrap="square" lIns="0" tIns="0" rIns="0" bIns="0" rtlCol="0" anchor="t"/>
          <a:lstStyle/>
          <a:p>
            <a:pPr marL="0" indent="0">
              <a:buNone/>
            </a:pPr>
            <a:r>
              <a:rPr lang="en-US" sz="1800" b="1" dirty="0">
                <a:solidFill>
                  <a:srgbClr val="FFFFFF"/>
                </a:solidFill>
              </a:rPr>
              <a:t>L'humain garde la main</a:t>
            </a:r>
            <a:endParaRPr lang="en-US" sz="1800" dirty="0"/>
          </a:p>
        </p:txBody>
      </p:sp>
      <p:sp>
        <p:nvSpPr>
          <p:cNvPr id="41" name="A6_533"/>
          <p:cNvSpPr txBox="1"/>
          <p:nvPr/>
        </p:nvSpPr>
        <p:spPr>
          <a:xfrm>
            <a:off x="7498080" y="5029200"/>
            <a:ext cx="3977640" cy="640080"/>
          </a:xfrm>
          <a:prstGeom prst="rect">
            <a:avLst/>
          </a:prstGeom>
          <a:noFill/>
          <a:ln/>
        </p:spPr>
        <p:txBody>
          <a:bodyPr wrap="square" lIns="0" tIns="0" rIns="0" bIns="0" rtlCol="0" anchor="t"/>
          <a:lstStyle/>
          <a:p>
            <a:pPr marL="0" indent="0">
              <a:buNone/>
            </a:pPr>
            <a:r>
              <a:rPr lang="en-US" sz="1400" dirty="0">
                <a:solidFill>
                  <a:srgbClr val="FFFFFF"/>
                </a:solidFill>
              </a:rPr>
              <a:t>Aucune correction n'est appliquée sans validation.</a:t>
            </a:r>
            <a:endParaRPr lang="en-US" sz="1400" dirty="0"/>
          </a:p>
        </p:txBody>
      </p:sp>
      <p:sp>
        <p:nvSpPr>
          <p:cNvPr id="42"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20</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childTnLst>
                          </p:cTn>
                        </p:par>
                        <p:par>
                          <p:cTn id="26" fill="hold">
                            <p:stCondLst>
                              <p:cond delay="90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childTnLst>
                          </p:cTn>
                        </p:par>
                        <p:par>
                          <p:cTn id="48" fill="hold">
                            <p:stCondLst>
                              <p:cond delay="1600"/>
                            </p:stCondLst>
                            <p:childTnLst>
                              <p:par>
                                <p:cTn id="49" presetID="10" presetClass="entr" presetSubtype="0"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par>
                          <p:cTn id="70" fill="hold">
                            <p:stCondLst>
                              <p:cond delay="2300"/>
                            </p:stCondLst>
                            <p:childTnLst>
                              <p:par>
                                <p:cTn id="71" presetID="10" presetClass="entr" presetSubtype="0"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childTnLst>
                          </p:cTn>
                        </p:par>
                        <p:par>
                          <p:cTn id="92" fill="hold">
                            <p:stCondLst>
                              <p:cond delay="3000"/>
                            </p:stCondLst>
                            <p:childTnLst>
                              <p:par>
                                <p:cTn id="93" presetID="10" presetClass="entr" presetSubtype="0" fill="hold" grpId="0" nodeType="after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45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450"/>
                                        <p:tgtEl>
                                          <p:spTgt spid="3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5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50"/>
                                        <p:tgtEl>
                                          <p:spTgt spid="36"/>
                                        </p:tgtEl>
                                      </p:cBhvr>
                                    </p:animEffect>
                                  </p:childTnLst>
                                </p:cTn>
                              </p:par>
                            </p:childTnLst>
                          </p:cTn>
                        </p:par>
                        <p:par>
                          <p:cTn id="108" fill="hold">
                            <p:stCondLst>
                              <p:cond delay="3700"/>
                            </p:stCondLst>
                            <p:childTnLst>
                              <p:par>
                                <p:cTn id="109" presetID="10" presetClass="entr" presetSubtype="0" fill="hold" grpId="0" nodeType="after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50"/>
                                        <p:tgtEl>
                                          <p:spTgt spid="3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450"/>
                                        <p:tgtEl>
                                          <p:spTgt spid="38"/>
                                        </p:tgtEl>
                                      </p:cBhvr>
                                    </p:animEffect>
                                  </p:childTnLst>
                                </p:cTn>
                              </p:par>
                              <p:par>
                                <p:cTn id="115" presetID="10" presetClass="entr" presetSubtype="0" fill="hold"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5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5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40" grpId="0" animBg="1"/>
      <p:bldP spid="4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Un exemple concret</a:t>
            </a:r>
            <a:endParaRPr lang="en-US" sz="3000" dirty="0"/>
          </a:p>
        </p:txBody>
      </p:sp>
      <p:sp>
        <p:nvSpPr>
          <p:cNvPr id="3" name="o_534"/>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DU PROBLÈME À LA SOLUTION</a:t>
            </a:r>
            <a:endParaRPr lang="en-US" sz="1100" dirty="0"/>
          </a:p>
        </p:txBody>
      </p:sp>
      <p:sp>
        <p:nvSpPr>
          <p:cNvPr id="4" name="o_535"/>
          <p:cNvSpPr/>
          <p:nvPr/>
        </p:nvSpPr>
        <p:spPr>
          <a:xfrm>
            <a:off x="548640" y="1234440"/>
            <a:ext cx="4937760" cy="411480"/>
          </a:xfrm>
          <a:prstGeom prst="roundRect">
            <a:avLst>
              <a:gd name="adj" fmla="val 22222"/>
            </a:avLst>
          </a:prstGeom>
          <a:solidFill>
            <a:srgbClr val="FDECEC"/>
          </a:solidFill>
          <a:ln w="12700">
            <a:solidFill>
              <a:srgbClr val="FFFFFF"/>
            </a:solidFill>
            <a:prstDash val="solid"/>
          </a:ln>
        </p:spPr>
      </p:sp>
      <p:sp>
        <p:nvSpPr>
          <p:cNvPr id="5" name="o_536"/>
          <p:cNvSpPr txBox="1"/>
          <p:nvPr/>
        </p:nvSpPr>
        <p:spPr>
          <a:xfrm>
            <a:off x="731520" y="1234440"/>
            <a:ext cx="4663440" cy="411480"/>
          </a:xfrm>
          <a:prstGeom prst="rect">
            <a:avLst/>
          </a:prstGeom>
          <a:noFill/>
          <a:ln/>
        </p:spPr>
        <p:txBody>
          <a:bodyPr wrap="square" lIns="0" tIns="0" rIns="0" bIns="0" rtlCol="0" anchor="ctr"/>
          <a:lstStyle/>
          <a:p>
            <a:pPr marL="0" indent="0">
              <a:buNone/>
            </a:pPr>
            <a:r>
              <a:rPr lang="en-US" sz="1400" b="1" dirty="0">
                <a:solidFill>
                  <a:schemeClr val="accent2"/>
                </a:solidFill>
              </a:rPr>
              <a:t>Scénario : </a:t>
            </a:r>
            <a:r>
              <a:rPr lang="en-US" sz="1400" dirty="0">
                <a:solidFill>
                  <a:schemeClr val="tx2"/>
                </a:solidFill>
              </a:rPr>
              <a:t>la base de données est saturée</a:t>
            </a:r>
            <a:endParaRPr lang="en-US" sz="1400" dirty="0"/>
          </a:p>
        </p:txBody>
      </p:sp>
      <p:sp>
        <p:nvSpPr>
          <p:cNvPr id="6" name="A1_537"/>
          <p:cNvSpPr/>
          <p:nvPr/>
        </p:nvSpPr>
        <p:spPr>
          <a:xfrm>
            <a:off x="1657807" y="2354580"/>
            <a:ext cx="8873338" cy="0"/>
          </a:xfrm>
          <a:prstGeom prst="line">
            <a:avLst/>
          </a:prstGeom>
          <a:noFill/>
          <a:ln w="31750">
            <a:solidFill>
              <a:srgbClr val="D5E2F0"/>
            </a:solidFill>
            <a:prstDash val="solid"/>
          </a:ln>
        </p:spPr>
      </p:sp>
      <p:sp>
        <p:nvSpPr>
          <p:cNvPr id="7" name="A1_538"/>
          <p:cNvSpPr/>
          <p:nvPr/>
        </p:nvSpPr>
        <p:spPr>
          <a:xfrm>
            <a:off x="1223467" y="1920240"/>
            <a:ext cx="868680" cy="868680"/>
          </a:xfrm>
          <a:prstGeom prst="ellipse">
            <a:avLst/>
          </a:prstGeom>
          <a:solidFill>
            <a:srgbClr val="E5322D"/>
          </a:solidFill>
          <a:ln w="12700">
            <a:solidFill>
              <a:srgbClr val="E5322D"/>
            </a:solidFill>
            <a:prstDash val="solid"/>
          </a:ln>
        </p:spPr>
      </p:sp>
      <p:pic>
        <p:nvPicPr>
          <p:cNvPr id="8" name="A1_539" descr="FaStream"/>
          <p:cNvPicPr>
            <a:picLocks noChangeAspect="1"/>
          </p:cNvPicPr>
          <p:nvPr/>
        </p:nvPicPr>
        <p:blipFill>
          <a:blip r:embed="rId3"/>
          <a:stretch>
            <a:fillRect/>
          </a:stretch>
        </p:blipFill>
        <p:spPr>
          <a:xfrm>
            <a:off x="1440637" y="2137410"/>
            <a:ext cx="434340" cy="434340"/>
          </a:xfrm>
          <a:prstGeom prst="rect">
            <a:avLst/>
          </a:prstGeom>
        </p:spPr>
      </p:pic>
      <p:sp>
        <p:nvSpPr>
          <p:cNvPr id="9" name="A1_540"/>
          <p:cNvSpPr/>
          <p:nvPr/>
        </p:nvSpPr>
        <p:spPr>
          <a:xfrm>
            <a:off x="1817827" y="1874520"/>
            <a:ext cx="310896" cy="310896"/>
          </a:xfrm>
          <a:prstGeom prst="ellipse">
            <a:avLst/>
          </a:prstGeom>
          <a:solidFill>
            <a:srgbClr val="FFFFFF"/>
          </a:solidFill>
          <a:ln w="15875">
            <a:solidFill>
              <a:srgbClr val="0E5CA8"/>
            </a:solidFill>
            <a:prstDash val="solid"/>
          </a:ln>
        </p:spPr>
      </p:sp>
      <p:sp>
        <p:nvSpPr>
          <p:cNvPr id="10" name="A1_541"/>
          <p:cNvSpPr txBox="1"/>
          <p:nvPr/>
        </p:nvSpPr>
        <p:spPr>
          <a:xfrm>
            <a:off x="1817827" y="1874520"/>
            <a:ext cx="310896" cy="310896"/>
          </a:xfrm>
          <a:prstGeom prst="rect">
            <a:avLst/>
          </a:prstGeom>
          <a:noFill/>
          <a:ln/>
        </p:spPr>
        <p:txBody>
          <a:bodyPr wrap="square" lIns="0" tIns="0" rIns="0" bIns="0" rtlCol="0" anchor="ctr"/>
          <a:lstStyle/>
          <a:p>
            <a:pPr marL="0" indent="0" algn="ctr">
              <a:buNone/>
            </a:pPr>
            <a:r>
              <a:rPr lang="en-US" sz="1100" b="1" dirty="0">
                <a:solidFill>
                  <a:schemeClr val="accent1"/>
                </a:solidFill>
              </a:rPr>
              <a:t>1</a:t>
            </a:r>
            <a:endParaRPr lang="en-US" sz="1100" dirty="0"/>
          </a:p>
        </p:txBody>
      </p:sp>
      <p:sp>
        <p:nvSpPr>
          <p:cNvPr id="11" name="A1_542"/>
          <p:cNvSpPr txBox="1"/>
          <p:nvPr/>
        </p:nvSpPr>
        <p:spPr>
          <a:xfrm>
            <a:off x="594360" y="292608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Erreurs en rafale</a:t>
            </a:r>
            <a:endParaRPr lang="en-US" sz="1600" dirty="0"/>
          </a:p>
        </p:txBody>
      </p:sp>
      <p:sp>
        <p:nvSpPr>
          <p:cNvPr id="12" name="A1_543"/>
          <p:cNvSpPr txBox="1"/>
          <p:nvPr/>
        </p:nvSpPr>
        <p:spPr>
          <a:xfrm>
            <a:off x="658368" y="329184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des centaines de lignes en quelques minutes</a:t>
            </a:r>
            <a:endParaRPr lang="en-US" sz="1250" dirty="0"/>
          </a:p>
        </p:txBody>
      </p:sp>
      <p:sp>
        <p:nvSpPr>
          <p:cNvPr id="13" name="A2_544"/>
          <p:cNvSpPr/>
          <p:nvPr/>
        </p:nvSpPr>
        <p:spPr>
          <a:xfrm>
            <a:off x="3441802" y="1920240"/>
            <a:ext cx="868680" cy="868680"/>
          </a:xfrm>
          <a:prstGeom prst="ellipse">
            <a:avLst/>
          </a:prstGeom>
          <a:solidFill>
            <a:srgbClr val="0E5CA8"/>
          </a:solidFill>
          <a:ln w="12700">
            <a:solidFill>
              <a:srgbClr val="0E5CA8"/>
            </a:solidFill>
            <a:prstDash val="solid"/>
          </a:ln>
        </p:spPr>
      </p:sp>
      <p:pic>
        <p:nvPicPr>
          <p:cNvPr id="14" name="A2_545" descr="FaFilter"/>
          <p:cNvPicPr>
            <a:picLocks noChangeAspect="1"/>
          </p:cNvPicPr>
          <p:nvPr/>
        </p:nvPicPr>
        <p:blipFill>
          <a:blip r:embed="rId4"/>
          <a:stretch>
            <a:fillRect/>
          </a:stretch>
        </p:blipFill>
        <p:spPr>
          <a:xfrm>
            <a:off x="3658972" y="2137410"/>
            <a:ext cx="434340" cy="434340"/>
          </a:xfrm>
          <a:prstGeom prst="rect">
            <a:avLst/>
          </a:prstGeom>
        </p:spPr>
      </p:pic>
      <p:sp>
        <p:nvSpPr>
          <p:cNvPr id="15" name="A2_546"/>
          <p:cNvSpPr/>
          <p:nvPr/>
        </p:nvSpPr>
        <p:spPr>
          <a:xfrm>
            <a:off x="4036162" y="1874520"/>
            <a:ext cx="310896" cy="310896"/>
          </a:xfrm>
          <a:prstGeom prst="ellipse">
            <a:avLst/>
          </a:prstGeom>
          <a:solidFill>
            <a:srgbClr val="FFFFFF"/>
          </a:solidFill>
          <a:ln w="15875">
            <a:solidFill>
              <a:srgbClr val="0E5CA8"/>
            </a:solidFill>
            <a:prstDash val="solid"/>
          </a:ln>
        </p:spPr>
      </p:sp>
      <p:sp>
        <p:nvSpPr>
          <p:cNvPr id="16" name="A2_547"/>
          <p:cNvSpPr txBox="1"/>
          <p:nvPr/>
        </p:nvSpPr>
        <p:spPr>
          <a:xfrm>
            <a:off x="4036162" y="1874520"/>
            <a:ext cx="310896" cy="310896"/>
          </a:xfrm>
          <a:prstGeom prst="rect">
            <a:avLst/>
          </a:prstGeom>
          <a:noFill/>
          <a:ln/>
        </p:spPr>
        <p:txBody>
          <a:bodyPr wrap="square" lIns="0" tIns="0" rIns="0" bIns="0" rtlCol="0" anchor="ctr"/>
          <a:lstStyle/>
          <a:p>
            <a:pPr marL="0" indent="0" algn="ctr">
              <a:buNone/>
            </a:pPr>
            <a:r>
              <a:rPr lang="en-US" sz="1100" b="1" dirty="0">
                <a:solidFill>
                  <a:schemeClr val="accent1"/>
                </a:solidFill>
              </a:rPr>
              <a:t>2</a:t>
            </a:r>
            <a:endParaRPr lang="en-US" sz="1100" dirty="0"/>
          </a:p>
        </p:txBody>
      </p:sp>
      <p:sp>
        <p:nvSpPr>
          <p:cNvPr id="17" name="A2_548"/>
          <p:cNvSpPr txBox="1"/>
          <p:nvPr/>
        </p:nvSpPr>
        <p:spPr>
          <a:xfrm>
            <a:off x="2812694" y="292608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Regroupées</a:t>
            </a:r>
            <a:endParaRPr lang="en-US" sz="1600" dirty="0"/>
          </a:p>
        </p:txBody>
      </p:sp>
      <p:sp>
        <p:nvSpPr>
          <p:cNvPr id="18" name="A2_549"/>
          <p:cNvSpPr txBox="1"/>
          <p:nvPr/>
        </p:nvSpPr>
        <p:spPr>
          <a:xfrm>
            <a:off x="2876702" y="329184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une seule famille : « connexion impossible »</a:t>
            </a:r>
            <a:endParaRPr lang="en-US" sz="1250" dirty="0"/>
          </a:p>
        </p:txBody>
      </p:sp>
      <p:sp>
        <p:nvSpPr>
          <p:cNvPr id="19" name="A3_550"/>
          <p:cNvSpPr/>
          <p:nvPr/>
        </p:nvSpPr>
        <p:spPr>
          <a:xfrm>
            <a:off x="5660136" y="1920240"/>
            <a:ext cx="868680" cy="868680"/>
          </a:xfrm>
          <a:prstGeom prst="ellipse">
            <a:avLst/>
          </a:prstGeom>
          <a:solidFill>
            <a:srgbClr val="0E5CA8"/>
          </a:solidFill>
          <a:ln w="12700">
            <a:solidFill>
              <a:srgbClr val="0E5CA8"/>
            </a:solidFill>
            <a:prstDash val="solid"/>
          </a:ln>
        </p:spPr>
      </p:sp>
      <p:pic>
        <p:nvPicPr>
          <p:cNvPr id="20" name="A3_551" descr="FaBell"/>
          <p:cNvPicPr>
            <a:picLocks noChangeAspect="1"/>
          </p:cNvPicPr>
          <p:nvPr/>
        </p:nvPicPr>
        <p:blipFill>
          <a:blip r:embed="rId5"/>
          <a:stretch>
            <a:fillRect/>
          </a:stretch>
        </p:blipFill>
        <p:spPr>
          <a:xfrm>
            <a:off x="5877306" y="2137410"/>
            <a:ext cx="434340" cy="434340"/>
          </a:xfrm>
          <a:prstGeom prst="rect">
            <a:avLst/>
          </a:prstGeom>
        </p:spPr>
      </p:pic>
      <p:sp>
        <p:nvSpPr>
          <p:cNvPr id="21" name="A3_552"/>
          <p:cNvSpPr/>
          <p:nvPr/>
        </p:nvSpPr>
        <p:spPr>
          <a:xfrm>
            <a:off x="6254496" y="1874520"/>
            <a:ext cx="310896" cy="310896"/>
          </a:xfrm>
          <a:prstGeom prst="ellipse">
            <a:avLst/>
          </a:prstGeom>
          <a:solidFill>
            <a:srgbClr val="FFFFFF"/>
          </a:solidFill>
          <a:ln w="15875">
            <a:solidFill>
              <a:srgbClr val="0E5CA8"/>
            </a:solidFill>
            <a:prstDash val="solid"/>
          </a:ln>
        </p:spPr>
      </p:sp>
      <p:sp>
        <p:nvSpPr>
          <p:cNvPr id="22" name="A3_553"/>
          <p:cNvSpPr txBox="1"/>
          <p:nvPr/>
        </p:nvSpPr>
        <p:spPr>
          <a:xfrm>
            <a:off x="6254496" y="1874520"/>
            <a:ext cx="310896" cy="310896"/>
          </a:xfrm>
          <a:prstGeom prst="rect">
            <a:avLst/>
          </a:prstGeom>
          <a:noFill/>
          <a:ln/>
        </p:spPr>
        <p:txBody>
          <a:bodyPr wrap="square" lIns="0" tIns="0" rIns="0" bIns="0" rtlCol="0" anchor="ctr"/>
          <a:lstStyle/>
          <a:p>
            <a:pPr marL="0" indent="0" algn="ctr">
              <a:buNone/>
            </a:pPr>
            <a:r>
              <a:rPr lang="en-US" sz="1100" b="1" dirty="0">
                <a:solidFill>
                  <a:schemeClr val="accent1"/>
                </a:solidFill>
              </a:rPr>
              <a:t>3</a:t>
            </a:r>
            <a:endParaRPr lang="en-US" sz="1100" dirty="0"/>
          </a:p>
        </p:txBody>
      </p:sp>
      <p:sp>
        <p:nvSpPr>
          <p:cNvPr id="23" name="A3_554"/>
          <p:cNvSpPr txBox="1"/>
          <p:nvPr/>
        </p:nvSpPr>
        <p:spPr>
          <a:xfrm>
            <a:off x="5031029" y="292608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Alerte</a:t>
            </a:r>
            <a:endParaRPr lang="en-US" sz="1600" dirty="0"/>
          </a:p>
        </p:txBody>
      </p:sp>
      <p:sp>
        <p:nvSpPr>
          <p:cNvPr id="24" name="A3_555"/>
          <p:cNvSpPr txBox="1"/>
          <p:nvPr/>
        </p:nvSpPr>
        <p:spPr>
          <a:xfrm>
            <a:off x="5095037" y="329184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pic anormal signalé en direct</a:t>
            </a:r>
            <a:endParaRPr lang="en-US" sz="1250" dirty="0"/>
          </a:p>
        </p:txBody>
      </p:sp>
      <p:sp>
        <p:nvSpPr>
          <p:cNvPr id="25" name="A4_556"/>
          <p:cNvSpPr/>
          <p:nvPr/>
        </p:nvSpPr>
        <p:spPr>
          <a:xfrm>
            <a:off x="7878470" y="1920240"/>
            <a:ext cx="868680" cy="868680"/>
          </a:xfrm>
          <a:prstGeom prst="ellipse">
            <a:avLst/>
          </a:prstGeom>
          <a:solidFill>
            <a:srgbClr val="0E5CA8"/>
          </a:solidFill>
          <a:ln w="12700">
            <a:solidFill>
              <a:srgbClr val="0E5CA8"/>
            </a:solidFill>
            <a:prstDash val="solid"/>
          </a:ln>
        </p:spPr>
      </p:sp>
      <p:pic>
        <p:nvPicPr>
          <p:cNvPr id="26" name="A4_557" descr="FaLightbulb"/>
          <p:cNvPicPr>
            <a:picLocks noChangeAspect="1"/>
          </p:cNvPicPr>
          <p:nvPr/>
        </p:nvPicPr>
        <p:blipFill>
          <a:blip r:embed="rId6"/>
          <a:stretch>
            <a:fillRect/>
          </a:stretch>
        </p:blipFill>
        <p:spPr>
          <a:xfrm>
            <a:off x="8095640" y="2137410"/>
            <a:ext cx="434340" cy="434340"/>
          </a:xfrm>
          <a:prstGeom prst="rect">
            <a:avLst/>
          </a:prstGeom>
        </p:spPr>
      </p:pic>
      <p:sp>
        <p:nvSpPr>
          <p:cNvPr id="27" name="A4_558"/>
          <p:cNvSpPr/>
          <p:nvPr/>
        </p:nvSpPr>
        <p:spPr>
          <a:xfrm>
            <a:off x="8472830" y="1874520"/>
            <a:ext cx="310896" cy="310896"/>
          </a:xfrm>
          <a:prstGeom prst="ellipse">
            <a:avLst/>
          </a:prstGeom>
          <a:solidFill>
            <a:srgbClr val="FFFFFF"/>
          </a:solidFill>
          <a:ln w="15875">
            <a:solidFill>
              <a:srgbClr val="0E5CA8"/>
            </a:solidFill>
            <a:prstDash val="solid"/>
          </a:ln>
        </p:spPr>
      </p:sp>
      <p:sp>
        <p:nvSpPr>
          <p:cNvPr id="28" name="A4_559"/>
          <p:cNvSpPr txBox="1"/>
          <p:nvPr/>
        </p:nvSpPr>
        <p:spPr>
          <a:xfrm>
            <a:off x="8472830" y="1874520"/>
            <a:ext cx="310896" cy="310896"/>
          </a:xfrm>
          <a:prstGeom prst="rect">
            <a:avLst/>
          </a:prstGeom>
          <a:noFill/>
          <a:ln/>
        </p:spPr>
        <p:txBody>
          <a:bodyPr wrap="square" lIns="0" tIns="0" rIns="0" bIns="0" rtlCol="0" anchor="ctr"/>
          <a:lstStyle/>
          <a:p>
            <a:pPr marL="0" indent="0" algn="ctr">
              <a:buNone/>
            </a:pPr>
            <a:r>
              <a:rPr lang="en-US" sz="1100" b="1" dirty="0">
                <a:solidFill>
                  <a:schemeClr val="accent1"/>
                </a:solidFill>
              </a:rPr>
              <a:t>4</a:t>
            </a:r>
            <a:endParaRPr lang="en-US" sz="1100" dirty="0"/>
          </a:p>
        </p:txBody>
      </p:sp>
      <p:sp>
        <p:nvSpPr>
          <p:cNvPr id="29" name="A4_560"/>
          <p:cNvSpPr txBox="1"/>
          <p:nvPr/>
        </p:nvSpPr>
        <p:spPr>
          <a:xfrm>
            <a:off x="7249363" y="292608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Explication</a:t>
            </a:r>
            <a:endParaRPr lang="en-US" sz="1600" dirty="0"/>
          </a:p>
        </p:txBody>
      </p:sp>
      <p:sp>
        <p:nvSpPr>
          <p:cNvPr id="30" name="A4_561"/>
          <p:cNvSpPr txBox="1"/>
          <p:nvPr/>
        </p:nvSpPr>
        <p:spPr>
          <a:xfrm>
            <a:off x="7313371" y="329184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cause probable et solution proposée</a:t>
            </a:r>
            <a:endParaRPr lang="en-US" sz="1250" dirty="0"/>
          </a:p>
        </p:txBody>
      </p:sp>
      <p:sp>
        <p:nvSpPr>
          <p:cNvPr id="31" name="A5_562"/>
          <p:cNvSpPr/>
          <p:nvPr/>
        </p:nvSpPr>
        <p:spPr>
          <a:xfrm>
            <a:off x="10096805" y="1920240"/>
            <a:ext cx="868680" cy="868680"/>
          </a:xfrm>
          <a:prstGeom prst="ellipse">
            <a:avLst/>
          </a:prstGeom>
          <a:solidFill>
            <a:srgbClr val="1F9D6B"/>
          </a:solidFill>
          <a:ln w="12700">
            <a:solidFill>
              <a:srgbClr val="1F9D6B"/>
            </a:solidFill>
            <a:prstDash val="solid"/>
          </a:ln>
        </p:spPr>
      </p:sp>
      <p:pic>
        <p:nvPicPr>
          <p:cNvPr id="32" name="A5_563" descr="FaUserCheck"/>
          <p:cNvPicPr>
            <a:picLocks noChangeAspect="1"/>
          </p:cNvPicPr>
          <p:nvPr/>
        </p:nvPicPr>
        <p:blipFill>
          <a:blip r:embed="rId7"/>
          <a:stretch>
            <a:fillRect/>
          </a:stretch>
        </p:blipFill>
        <p:spPr>
          <a:xfrm>
            <a:off x="10313975" y="2137410"/>
            <a:ext cx="434340" cy="434340"/>
          </a:xfrm>
          <a:prstGeom prst="rect">
            <a:avLst/>
          </a:prstGeom>
        </p:spPr>
      </p:pic>
      <p:sp>
        <p:nvSpPr>
          <p:cNvPr id="33" name="A5_564"/>
          <p:cNvSpPr/>
          <p:nvPr/>
        </p:nvSpPr>
        <p:spPr>
          <a:xfrm>
            <a:off x="10691165" y="1874520"/>
            <a:ext cx="310896" cy="310896"/>
          </a:xfrm>
          <a:prstGeom prst="ellipse">
            <a:avLst/>
          </a:prstGeom>
          <a:solidFill>
            <a:srgbClr val="FFFFFF"/>
          </a:solidFill>
          <a:ln w="15875">
            <a:solidFill>
              <a:srgbClr val="0E5CA8"/>
            </a:solidFill>
            <a:prstDash val="solid"/>
          </a:ln>
        </p:spPr>
      </p:sp>
      <p:sp>
        <p:nvSpPr>
          <p:cNvPr id="34" name="A5_565"/>
          <p:cNvSpPr txBox="1"/>
          <p:nvPr/>
        </p:nvSpPr>
        <p:spPr>
          <a:xfrm>
            <a:off x="10691165" y="1874520"/>
            <a:ext cx="310896" cy="310896"/>
          </a:xfrm>
          <a:prstGeom prst="rect">
            <a:avLst/>
          </a:prstGeom>
          <a:noFill/>
          <a:ln/>
        </p:spPr>
        <p:txBody>
          <a:bodyPr wrap="square" lIns="0" tIns="0" rIns="0" bIns="0" rtlCol="0" anchor="ctr"/>
          <a:lstStyle/>
          <a:p>
            <a:pPr marL="0" indent="0" algn="ctr">
              <a:buNone/>
            </a:pPr>
            <a:r>
              <a:rPr lang="en-US" sz="1100" b="1" dirty="0">
                <a:solidFill>
                  <a:schemeClr val="accent1"/>
                </a:solidFill>
              </a:rPr>
              <a:t>5</a:t>
            </a:r>
            <a:endParaRPr lang="en-US" sz="1100" dirty="0"/>
          </a:p>
        </p:txBody>
      </p:sp>
      <p:sp>
        <p:nvSpPr>
          <p:cNvPr id="35" name="A5_566"/>
          <p:cNvSpPr txBox="1"/>
          <p:nvPr/>
        </p:nvSpPr>
        <p:spPr>
          <a:xfrm>
            <a:off x="9467698" y="2926080"/>
            <a:ext cx="2126894" cy="365760"/>
          </a:xfrm>
          <a:prstGeom prst="rect">
            <a:avLst/>
          </a:prstGeom>
          <a:noFill/>
          <a:ln/>
        </p:spPr>
        <p:txBody>
          <a:bodyPr wrap="square" lIns="0" tIns="0" rIns="0" bIns="0" rtlCol="0" anchor="t"/>
          <a:lstStyle/>
          <a:p>
            <a:pPr marL="0" indent="0" algn="ctr">
              <a:buNone/>
            </a:pPr>
            <a:r>
              <a:rPr lang="en-US" sz="1600" b="1" dirty="0">
                <a:solidFill>
                  <a:schemeClr val="tx2"/>
                </a:solidFill>
              </a:rPr>
              <a:t>Validation</a:t>
            </a:r>
            <a:endParaRPr lang="en-US" sz="1600" dirty="0"/>
          </a:p>
        </p:txBody>
      </p:sp>
      <p:sp>
        <p:nvSpPr>
          <p:cNvPr id="36" name="A5_567"/>
          <p:cNvSpPr txBox="1"/>
          <p:nvPr/>
        </p:nvSpPr>
        <p:spPr>
          <a:xfrm>
            <a:off x="9531706" y="3291840"/>
            <a:ext cx="1998878" cy="685800"/>
          </a:xfrm>
          <a:prstGeom prst="rect">
            <a:avLst/>
          </a:prstGeom>
          <a:noFill/>
          <a:ln/>
        </p:spPr>
        <p:txBody>
          <a:bodyPr wrap="square" lIns="0" tIns="0" rIns="0" bIns="0" rtlCol="0" anchor="t"/>
          <a:lstStyle/>
          <a:p>
            <a:pPr marL="0" indent="0" algn="ctr">
              <a:buNone/>
            </a:pPr>
            <a:r>
              <a:rPr lang="en-US" sz="1250" dirty="0">
                <a:solidFill>
                  <a:srgbClr val="5B6B7F"/>
                </a:solidFill>
              </a:rPr>
              <a:t>le responsable valide, l'action est tracée</a:t>
            </a:r>
            <a:endParaRPr lang="en-US" sz="1250" dirty="0"/>
          </a:p>
        </p:txBody>
      </p:sp>
      <p:sp>
        <p:nvSpPr>
          <p:cNvPr id="37" name="A6_568"/>
          <p:cNvSpPr/>
          <p:nvPr/>
        </p:nvSpPr>
        <p:spPr>
          <a:xfrm>
            <a:off x="548640" y="4526280"/>
            <a:ext cx="4937760" cy="1325880"/>
          </a:xfrm>
          <a:prstGeom prst="roundRect">
            <a:avLst>
              <a:gd name="adj" fmla="val 8276"/>
            </a:avLst>
          </a:prstGeom>
          <a:solidFill>
            <a:srgbClr val="F3F5F8"/>
          </a:solidFill>
          <a:ln w="12700">
            <a:solidFill>
              <a:srgbClr val="FFFFFF"/>
            </a:solidFill>
            <a:prstDash val="solid"/>
          </a:ln>
        </p:spPr>
      </p:sp>
      <p:pic>
        <p:nvPicPr>
          <p:cNvPr id="38" name="A6_569" descr="preencoded.png"/>
          <p:cNvPicPr>
            <a:picLocks noChangeAspect="1"/>
          </p:cNvPicPr>
          <p:nvPr/>
        </p:nvPicPr>
        <p:blipFill>
          <a:blip r:embed="rId8"/>
          <a:stretch>
            <a:fillRect/>
          </a:stretch>
        </p:blipFill>
        <p:spPr>
          <a:xfrm>
            <a:off x="822960" y="4892040"/>
            <a:ext cx="594360" cy="594360"/>
          </a:xfrm>
          <a:prstGeom prst="rect">
            <a:avLst/>
          </a:prstGeom>
        </p:spPr>
      </p:pic>
      <p:sp>
        <p:nvSpPr>
          <p:cNvPr id="39" name="A6_570"/>
          <p:cNvSpPr txBox="1"/>
          <p:nvPr/>
        </p:nvSpPr>
        <p:spPr>
          <a:xfrm>
            <a:off x="1645920" y="4617720"/>
            <a:ext cx="3657600" cy="1143000"/>
          </a:xfrm>
          <a:prstGeom prst="rect">
            <a:avLst/>
          </a:prstGeom>
          <a:noFill/>
          <a:ln/>
        </p:spPr>
        <p:txBody>
          <a:bodyPr wrap="square" lIns="0" tIns="0" rIns="0" bIns="0" rtlCol="0" anchor="ctr"/>
          <a:lstStyle/>
          <a:p>
            <a:pPr marL="0" indent="0">
              <a:buNone/>
            </a:pPr>
            <a:r>
              <a:rPr lang="en-US" sz="1700" b="1" dirty="0">
                <a:solidFill>
                  <a:schemeClr val="tx2"/>
                </a:solidFill>
              </a:rPr>
              <a:t>Avant</a:t>
            </a:r>
            <a:endParaRPr lang="en-US" sz="1400" dirty="0"/>
          </a:p>
          <a:p>
            <a:pPr marL="0" indent="0">
              <a:buNone/>
            </a:pPr>
            <a:r>
              <a:rPr lang="en-US" sz="1400" dirty="0">
                <a:solidFill>
                  <a:srgbClr val="5B6B7F"/>
                </a:solidFill>
              </a:rPr>
              <a:t>une longue enquête manuelle, outil par outil</a:t>
            </a:r>
            <a:endParaRPr lang="en-US" sz="1400" dirty="0"/>
          </a:p>
        </p:txBody>
      </p:sp>
      <p:pic>
        <p:nvPicPr>
          <p:cNvPr id="40" name="A7_571" descr="preencoded.png"/>
          <p:cNvPicPr>
            <a:picLocks noChangeAspect="1"/>
          </p:cNvPicPr>
          <p:nvPr/>
        </p:nvPicPr>
        <p:blipFill>
          <a:blip r:embed="rId9"/>
          <a:stretch>
            <a:fillRect/>
          </a:stretch>
        </p:blipFill>
        <p:spPr>
          <a:xfrm>
            <a:off x="5779008" y="4937760"/>
            <a:ext cx="548640" cy="502920"/>
          </a:xfrm>
          <a:prstGeom prst="rect">
            <a:avLst/>
          </a:prstGeom>
        </p:spPr>
      </p:pic>
      <p:sp>
        <p:nvSpPr>
          <p:cNvPr id="41" name="A7_572"/>
          <p:cNvSpPr/>
          <p:nvPr/>
        </p:nvSpPr>
        <p:spPr>
          <a:xfrm>
            <a:off x="6702552" y="4526280"/>
            <a:ext cx="4937760" cy="1325880"/>
          </a:xfrm>
          <a:prstGeom prst="roundRect">
            <a:avLst>
              <a:gd name="adj" fmla="val 8276"/>
            </a:avLst>
          </a:prstGeom>
          <a:solidFill>
            <a:srgbClr val="1F9D6B"/>
          </a:solidFill>
          <a:ln w="12700">
            <a:solidFill>
              <a:srgbClr val="FFFFFF"/>
            </a:solidFill>
            <a:prstDash val="solid"/>
          </a:ln>
          <a:effectLst>
            <a:outerShdw blurRad="101600" dist="25400" dir="5400000" algn="bl" rotWithShape="0">
              <a:srgbClr val="0B1F3A">
                <a:alpha val="12000"/>
              </a:srgbClr>
            </a:outerShdw>
          </a:effectLst>
        </p:spPr>
      </p:sp>
      <p:pic>
        <p:nvPicPr>
          <p:cNvPr id="42" name="A7_573" descr="preencoded.png"/>
          <p:cNvPicPr>
            <a:picLocks noChangeAspect="1"/>
          </p:cNvPicPr>
          <p:nvPr/>
        </p:nvPicPr>
        <p:blipFill>
          <a:blip r:embed="rId10"/>
          <a:stretch>
            <a:fillRect/>
          </a:stretch>
        </p:blipFill>
        <p:spPr>
          <a:xfrm>
            <a:off x="6976872" y="4892040"/>
            <a:ext cx="594360" cy="594360"/>
          </a:xfrm>
          <a:prstGeom prst="rect">
            <a:avLst/>
          </a:prstGeom>
        </p:spPr>
      </p:pic>
      <p:sp>
        <p:nvSpPr>
          <p:cNvPr id="43" name="A7_574"/>
          <p:cNvSpPr txBox="1"/>
          <p:nvPr/>
        </p:nvSpPr>
        <p:spPr>
          <a:xfrm>
            <a:off x="7772400" y="4617720"/>
            <a:ext cx="3657600" cy="1143000"/>
          </a:xfrm>
          <a:prstGeom prst="rect">
            <a:avLst/>
          </a:prstGeom>
          <a:noFill/>
          <a:ln/>
        </p:spPr>
        <p:txBody>
          <a:bodyPr wrap="square" lIns="0" tIns="0" rIns="0" bIns="0" rtlCol="0" anchor="ctr"/>
          <a:lstStyle/>
          <a:p>
            <a:pPr marL="0" indent="0">
              <a:buNone/>
            </a:pPr>
            <a:r>
              <a:rPr lang="en-US" sz="1700" b="1" dirty="0">
                <a:solidFill>
                  <a:srgbClr val="FFFFFF"/>
                </a:solidFill>
              </a:rPr>
              <a:t>Avec l'assistant</a:t>
            </a:r>
            <a:endParaRPr lang="en-US" sz="1400" dirty="0"/>
          </a:p>
          <a:p>
            <a:pPr marL="0" indent="0">
              <a:buNone/>
            </a:pPr>
            <a:r>
              <a:rPr lang="en-US" sz="1400" dirty="0">
                <a:solidFill>
                  <a:srgbClr val="FFFFFF"/>
                </a:solidFill>
              </a:rPr>
              <a:t>un diagnostic clair en quelques minutes</a:t>
            </a:r>
            <a:endParaRPr lang="en-US" sz="1400" dirty="0"/>
          </a:p>
        </p:txBody>
      </p:sp>
      <p:sp>
        <p:nvSpPr>
          <p:cNvPr id="44"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21</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childTnLst>
                          </p:cTn>
                        </p:par>
                        <p:par>
                          <p:cTn id="26" fill="hold">
                            <p:stCondLst>
                              <p:cond delay="90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childTnLst>
                          </p:cTn>
                        </p:par>
                        <p:par>
                          <p:cTn id="45" fill="hold">
                            <p:stCondLst>
                              <p:cond delay="1600"/>
                            </p:stCondLst>
                            <p:childTnLst>
                              <p:par>
                                <p:cTn id="46" presetID="10" presetClass="entr" presetSubtype="0"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5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par>
                          <p:cTn id="64" fill="hold">
                            <p:stCondLst>
                              <p:cond delay="2300"/>
                            </p:stCondLst>
                            <p:childTnLst>
                              <p:par>
                                <p:cTn id="65" presetID="10" presetClass="entr" presetSubtype="0"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5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50"/>
                                        <p:tgtEl>
                                          <p:spTgt spid="30"/>
                                        </p:tgtEl>
                                      </p:cBhvr>
                                    </p:animEffect>
                                  </p:childTnLst>
                                </p:cTn>
                              </p:par>
                            </p:childTnLst>
                          </p:cTn>
                        </p:par>
                        <p:par>
                          <p:cTn id="83" fill="hold">
                            <p:stCondLst>
                              <p:cond delay="3000"/>
                            </p:stCondLst>
                            <p:childTnLst>
                              <p:par>
                                <p:cTn id="84" presetID="10" presetClass="entr" presetSubtype="0" fill="hold" grpId="0" nodeType="after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5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50"/>
                                        <p:tgtEl>
                                          <p:spTgt spid="3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par>
                          <p:cTn id="102" fill="hold">
                            <p:stCondLst>
                              <p:cond delay="3700"/>
                            </p:stCondLst>
                            <p:childTnLst>
                              <p:par>
                                <p:cTn id="103" presetID="10" presetClass="entr" presetSubtype="0" fill="hold" grpId="0" nodeType="after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450"/>
                                        <p:tgtEl>
                                          <p:spTgt spid="37"/>
                                        </p:tgtEl>
                                      </p:cBhvr>
                                    </p:animEffect>
                                  </p:childTnLst>
                                </p:cTn>
                              </p:par>
                              <p:par>
                                <p:cTn id="106" presetID="10" presetClass="entr" presetSubtype="0" fill="hold"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50"/>
                                        <p:tgtEl>
                                          <p:spTgt spid="3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450"/>
                                        <p:tgtEl>
                                          <p:spTgt spid="39"/>
                                        </p:tgtEl>
                                      </p:cBhvr>
                                    </p:animEffect>
                                  </p:childTnLst>
                                </p:cTn>
                              </p:par>
                            </p:childTnLst>
                          </p:cTn>
                        </p:par>
                        <p:par>
                          <p:cTn id="112" fill="hold">
                            <p:stCondLst>
                              <p:cond delay="4400"/>
                            </p:stCondLst>
                            <p:childTnLst>
                              <p:par>
                                <p:cTn id="113" presetID="10" presetClass="entr" presetSubtype="0" fill="hold" nodeType="after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50"/>
                                        <p:tgtEl>
                                          <p:spTgt spid="4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50"/>
                                        <p:tgtEl>
                                          <p:spTgt spid="41"/>
                                        </p:tgtEl>
                                      </p:cBhvr>
                                    </p:animEffect>
                                  </p:childTnLst>
                                </p:cTn>
                              </p:par>
                              <p:par>
                                <p:cTn id="119" presetID="10" presetClass="entr" presetSubtype="0" fill="hold" nodeType="with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5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1"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1_575"/>
          <p:cNvSpPr txBox="1"/>
          <p:nvPr/>
        </p:nvSpPr>
        <p:spPr>
          <a:xfrm>
            <a:off x="8138160" y="4160520"/>
            <a:ext cx="3840480" cy="320040"/>
          </a:xfrm>
          <a:prstGeom prst="rect">
            <a:avLst/>
          </a:prstGeom>
          <a:noFill/>
          <a:ln/>
        </p:spPr>
        <p:txBody>
          <a:bodyPr wrap="square" lIns="0" tIns="0" rIns="0" bIns="0" rtlCol="0" anchor="t"/>
          <a:lstStyle/>
          <a:p>
            <a:pPr marL="0" indent="0">
              <a:buNone/>
            </a:pPr>
            <a:r>
              <a:rPr lang="en-US" sz="1400" dirty="0">
                <a:solidFill>
                  <a:srgbClr val="DCE8F6"/>
                </a:solidFill>
              </a:rPr>
              <a:t>Partie 05</a:t>
            </a:r>
            <a:endParaRPr lang="en-US" sz="1400" dirty="0"/>
          </a:p>
        </p:txBody>
      </p:sp>
      <p:sp>
        <p:nvSpPr>
          <p:cNvPr id="3" name="A1_576"/>
          <p:cNvSpPr txBox="1"/>
          <p:nvPr/>
        </p:nvSpPr>
        <p:spPr>
          <a:xfrm>
            <a:off x="8138160" y="4507992"/>
            <a:ext cx="384048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Démo et conclusion</a:t>
            </a:r>
            <a:endParaRPr lang="en-US" sz="3200" dirty="0"/>
          </a:p>
        </p:txBody>
      </p:sp>
    </p:spTree>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Place à la démonstration</a:t>
            </a:r>
            <a:endParaRPr lang="en-US" sz="3000" dirty="0"/>
          </a:p>
        </p:txBody>
      </p:sp>
      <p:sp>
        <p:nvSpPr>
          <p:cNvPr id="3" name="o_577"/>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DÉMONSTRATION LIVE</a:t>
            </a:r>
            <a:endParaRPr lang="en-US" sz="1100" dirty="0"/>
          </a:p>
        </p:txBody>
      </p:sp>
      <p:sp>
        <p:nvSpPr>
          <p:cNvPr id="4" name="A1_578"/>
          <p:cNvSpPr/>
          <p:nvPr/>
        </p:nvSpPr>
        <p:spPr>
          <a:xfrm>
            <a:off x="3355848" y="1280160"/>
            <a:ext cx="5486400" cy="3291840"/>
          </a:xfrm>
          <a:prstGeom prst="roundRect">
            <a:avLst>
              <a:gd name="adj" fmla="val 4167"/>
            </a:avLst>
          </a:prstGeom>
          <a:solidFill>
            <a:srgbClr val="0B1F3A"/>
          </a:solidFill>
          <a:ln w="12700">
            <a:solidFill>
              <a:srgbClr val="FFFFFF"/>
            </a:solidFill>
            <a:prstDash val="solid"/>
          </a:ln>
          <a:effectLst>
            <a:outerShdw blurRad="101600" dist="25400" dir="5400000" algn="bl" rotWithShape="0">
              <a:srgbClr val="0B1F3A">
                <a:alpha val="12000"/>
              </a:srgbClr>
            </a:outerShdw>
          </a:effectLst>
        </p:spPr>
      </p:sp>
      <p:sp>
        <p:nvSpPr>
          <p:cNvPr id="5" name="A1_579"/>
          <p:cNvSpPr/>
          <p:nvPr/>
        </p:nvSpPr>
        <p:spPr>
          <a:xfrm>
            <a:off x="3538728" y="1463040"/>
            <a:ext cx="5120640" cy="2926080"/>
          </a:xfrm>
          <a:prstGeom prst="roundRect">
            <a:avLst>
              <a:gd name="adj" fmla="val 1563"/>
            </a:avLst>
          </a:prstGeom>
          <a:solidFill>
            <a:srgbClr val="0E5CA8"/>
          </a:solidFill>
          <a:ln w="12700">
            <a:solidFill>
              <a:srgbClr val="FFFFFF"/>
            </a:solidFill>
            <a:prstDash val="solid"/>
          </a:ln>
        </p:spPr>
      </p:sp>
      <p:pic>
        <p:nvPicPr>
          <p:cNvPr id="6" name="A1_580" descr="img/image86.png"/>
          <p:cNvPicPr>
            <a:picLocks noChangeAspect="1"/>
          </p:cNvPicPr>
          <p:nvPr/>
        </p:nvPicPr>
        <p:blipFill>
          <a:blip r:embed="rId3"/>
          <a:stretch>
            <a:fillRect/>
          </a:stretch>
        </p:blipFill>
        <p:spPr>
          <a:xfrm>
            <a:off x="5596128" y="2011680"/>
            <a:ext cx="1005840" cy="1005840"/>
          </a:xfrm>
          <a:prstGeom prst="rect">
            <a:avLst/>
          </a:prstGeom>
        </p:spPr>
      </p:pic>
      <p:sp>
        <p:nvSpPr>
          <p:cNvPr id="7" name="A1_581"/>
          <p:cNvSpPr txBox="1"/>
          <p:nvPr/>
        </p:nvSpPr>
        <p:spPr>
          <a:xfrm>
            <a:off x="3538728" y="3200400"/>
            <a:ext cx="5120640" cy="457200"/>
          </a:xfrm>
          <a:prstGeom prst="rect">
            <a:avLst/>
          </a:prstGeom>
          <a:noFill/>
          <a:ln/>
        </p:spPr>
        <p:txBody>
          <a:bodyPr wrap="square" lIns="0" tIns="0" rIns="0" bIns="0" rtlCol="0" anchor="t"/>
          <a:lstStyle/>
          <a:p>
            <a:pPr marL="0" indent="0" algn="ctr">
              <a:buNone/>
            </a:pPr>
            <a:r>
              <a:rPr lang="en-US" sz="2000" b="1" kern="0" spc="300" dirty="0">
                <a:solidFill>
                  <a:srgbClr val="FFFFFF"/>
                </a:solidFill>
              </a:rPr>
              <a:t>DÉMO EN DIRECT</a:t>
            </a:r>
            <a:endParaRPr lang="en-US" sz="2000" dirty="0"/>
          </a:p>
        </p:txBody>
      </p:sp>
      <p:sp>
        <p:nvSpPr>
          <p:cNvPr id="8" name="A1_582"/>
          <p:cNvSpPr txBox="1"/>
          <p:nvPr/>
        </p:nvSpPr>
        <p:spPr>
          <a:xfrm>
            <a:off x="3538728" y="3657600"/>
            <a:ext cx="5120640" cy="320040"/>
          </a:xfrm>
          <a:prstGeom prst="rect">
            <a:avLst/>
          </a:prstGeom>
          <a:noFill/>
          <a:ln/>
        </p:spPr>
        <p:txBody>
          <a:bodyPr wrap="square" lIns="0" tIns="0" rIns="0" bIns="0" rtlCol="0" anchor="t"/>
          <a:lstStyle/>
          <a:p>
            <a:pPr marL="0" indent="0" algn="ctr">
              <a:buNone/>
            </a:pPr>
            <a:r>
              <a:rPr lang="en-US" sz="1200" dirty="0">
                <a:solidFill>
                  <a:srgbClr val="CADCFC"/>
                </a:solidFill>
              </a:rPr>
              <a:t>localhost:4200</a:t>
            </a:r>
            <a:endParaRPr lang="en-US" sz="1200" dirty="0"/>
          </a:p>
        </p:txBody>
      </p:sp>
      <p:sp>
        <p:nvSpPr>
          <p:cNvPr id="9" name="A1_583"/>
          <p:cNvSpPr/>
          <p:nvPr/>
        </p:nvSpPr>
        <p:spPr>
          <a:xfrm flipV="1">
            <a:off x="2898648" y="4572000"/>
            <a:ext cx="6400800" cy="256032"/>
          </a:xfrm>
          <a:prstGeom prst="trapezoid">
            <a:avLst/>
          </a:prstGeom>
          <a:solidFill>
            <a:srgbClr val="9DB4CC"/>
          </a:solidFill>
          <a:ln w="12700">
            <a:solidFill>
              <a:srgbClr val="9DB4CC"/>
            </a:solidFill>
            <a:prstDash val="solid"/>
          </a:ln>
        </p:spPr>
      </p:sp>
      <p:sp>
        <p:nvSpPr>
          <p:cNvPr id="10" name="A2_584"/>
          <p:cNvSpPr/>
          <p:nvPr/>
        </p:nvSpPr>
        <p:spPr>
          <a:xfrm>
            <a:off x="612648" y="5257800"/>
            <a:ext cx="2560320" cy="566928"/>
          </a:xfrm>
          <a:prstGeom prst="roundRect">
            <a:avLst>
              <a:gd name="adj" fmla="val 48387"/>
            </a:avLst>
          </a:prstGeom>
          <a:solidFill>
            <a:srgbClr val="EEF4FB"/>
          </a:solidFill>
          <a:ln w="12700">
            <a:solidFill>
              <a:srgbClr val="FFFFFF"/>
            </a:solidFill>
            <a:prstDash val="solid"/>
          </a:ln>
        </p:spPr>
      </p:sp>
      <p:sp>
        <p:nvSpPr>
          <p:cNvPr id="11" name="A2_585"/>
          <p:cNvSpPr/>
          <p:nvPr/>
        </p:nvSpPr>
        <p:spPr>
          <a:xfrm>
            <a:off x="704088" y="5330952"/>
            <a:ext cx="420624" cy="420624"/>
          </a:xfrm>
          <a:prstGeom prst="ellipse">
            <a:avLst/>
          </a:prstGeom>
          <a:solidFill>
            <a:srgbClr val="0E5CA8"/>
          </a:solidFill>
          <a:ln w="12700">
            <a:solidFill>
              <a:srgbClr val="0E5CA8"/>
            </a:solidFill>
            <a:prstDash val="solid"/>
          </a:ln>
        </p:spPr>
      </p:sp>
      <p:sp>
        <p:nvSpPr>
          <p:cNvPr id="12" name="A2_586"/>
          <p:cNvSpPr txBox="1"/>
          <p:nvPr/>
        </p:nvSpPr>
        <p:spPr>
          <a:xfrm>
            <a:off x="704088" y="5330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3" name="A2_587"/>
          <p:cNvSpPr txBox="1"/>
          <p:nvPr/>
        </p:nvSpPr>
        <p:spPr>
          <a:xfrm>
            <a:off x="1207008" y="5257800"/>
            <a:ext cx="1920240" cy="566928"/>
          </a:xfrm>
          <a:prstGeom prst="rect">
            <a:avLst/>
          </a:prstGeom>
          <a:noFill/>
          <a:ln/>
        </p:spPr>
        <p:txBody>
          <a:bodyPr wrap="square" lIns="0" tIns="0" rIns="0" bIns="0" rtlCol="0" anchor="ctr"/>
          <a:lstStyle/>
          <a:p>
            <a:pPr marL="0" indent="0">
              <a:buNone/>
            </a:pPr>
            <a:r>
              <a:rPr lang="en-US" sz="1300" b="1" dirty="0">
                <a:solidFill>
                  <a:schemeClr val="tx2"/>
                </a:solidFill>
              </a:rPr>
              <a:t>Connexion</a:t>
            </a:r>
            <a:endParaRPr lang="en-US" sz="1300" dirty="0"/>
          </a:p>
        </p:txBody>
      </p:sp>
      <p:pic>
        <p:nvPicPr>
          <p:cNvPr id="14" name="A3_588" descr="preencoded.png"/>
          <p:cNvPicPr>
            <a:picLocks noChangeAspect="1"/>
          </p:cNvPicPr>
          <p:nvPr/>
        </p:nvPicPr>
        <p:blipFill>
          <a:blip r:embed="rId4"/>
          <a:stretch>
            <a:fillRect/>
          </a:stretch>
        </p:blipFill>
        <p:spPr>
          <a:xfrm>
            <a:off x="3218688" y="5422392"/>
            <a:ext cx="201168" cy="237744"/>
          </a:xfrm>
          <a:prstGeom prst="rect">
            <a:avLst/>
          </a:prstGeom>
        </p:spPr>
      </p:pic>
      <p:sp>
        <p:nvSpPr>
          <p:cNvPr id="15" name="A3_589"/>
          <p:cNvSpPr/>
          <p:nvPr/>
        </p:nvSpPr>
        <p:spPr>
          <a:xfrm>
            <a:off x="3447288" y="5257800"/>
            <a:ext cx="2560320" cy="566928"/>
          </a:xfrm>
          <a:prstGeom prst="roundRect">
            <a:avLst>
              <a:gd name="adj" fmla="val 48387"/>
            </a:avLst>
          </a:prstGeom>
          <a:solidFill>
            <a:srgbClr val="EEF4FB"/>
          </a:solidFill>
          <a:ln w="12700">
            <a:solidFill>
              <a:srgbClr val="FFFFFF"/>
            </a:solidFill>
            <a:prstDash val="solid"/>
          </a:ln>
        </p:spPr>
      </p:sp>
      <p:sp>
        <p:nvSpPr>
          <p:cNvPr id="16" name="A3_590"/>
          <p:cNvSpPr/>
          <p:nvPr/>
        </p:nvSpPr>
        <p:spPr>
          <a:xfrm>
            <a:off x="3538728" y="5330952"/>
            <a:ext cx="420624" cy="420624"/>
          </a:xfrm>
          <a:prstGeom prst="ellipse">
            <a:avLst/>
          </a:prstGeom>
          <a:solidFill>
            <a:srgbClr val="0E5CA8"/>
          </a:solidFill>
          <a:ln w="12700">
            <a:solidFill>
              <a:srgbClr val="0E5CA8"/>
            </a:solidFill>
            <a:prstDash val="solid"/>
          </a:ln>
        </p:spPr>
      </p:sp>
      <p:sp>
        <p:nvSpPr>
          <p:cNvPr id="17" name="A3_591"/>
          <p:cNvSpPr txBox="1"/>
          <p:nvPr/>
        </p:nvSpPr>
        <p:spPr>
          <a:xfrm>
            <a:off x="3538728" y="5330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8" name="A3_592"/>
          <p:cNvSpPr txBox="1"/>
          <p:nvPr/>
        </p:nvSpPr>
        <p:spPr>
          <a:xfrm>
            <a:off x="4041648" y="5257800"/>
            <a:ext cx="1920240" cy="566928"/>
          </a:xfrm>
          <a:prstGeom prst="rect">
            <a:avLst/>
          </a:prstGeom>
          <a:noFill/>
          <a:ln/>
        </p:spPr>
        <p:txBody>
          <a:bodyPr wrap="square" lIns="0" tIns="0" rIns="0" bIns="0" rtlCol="0" anchor="ctr"/>
          <a:lstStyle/>
          <a:p>
            <a:pPr marL="0" indent="0">
              <a:buNone/>
            </a:pPr>
            <a:r>
              <a:rPr lang="en-US" sz="1300" b="1" dirty="0">
                <a:solidFill>
                  <a:schemeClr val="tx2"/>
                </a:solidFill>
              </a:rPr>
              <a:t>Tableau de bord</a:t>
            </a:r>
            <a:endParaRPr lang="en-US" sz="1300" dirty="0"/>
          </a:p>
        </p:txBody>
      </p:sp>
      <p:pic>
        <p:nvPicPr>
          <p:cNvPr id="19" name="A4_593" descr="preencoded.png"/>
          <p:cNvPicPr>
            <a:picLocks noChangeAspect="1"/>
          </p:cNvPicPr>
          <p:nvPr/>
        </p:nvPicPr>
        <p:blipFill>
          <a:blip r:embed="rId4"/>
          <a:stretch>
            <a:fillRect/>
          </a:stretch>
        </p:blipFill>
        <p:spPr>
          <a:xfrm>
            <a:off x="6053328" y="5422392"/>
            <a:ext cx="201168" cy="237744"/>
          </a:xfrm>
          <a:prstGeom prst="rect">
            <a:avLst/>
          </a:prstGeom>
        </p:spPr>
      </p:pic>
      <p:sp>
        <p:nvSpPr>
          <p:cNvPr id="20" name="A4_594"/>
          <p:cNvSpPr/>
          <p:nvPr/>
        </p:nvSpPr>
        <p:spPr>
          <a:xfrm>
            <a:off x="6281928" y="5257800"/>
            <a:ext cx="2560320" cy="566928"/>
          </a:xfrm>
          <a:prstGeom prst="roundRect">
            <a:avLst>
              <a:gd name="adj" fmla="val 48387"/>
            </a:avLst>
          </a:prstGeom>
          <a:solidFill>
            <a:srgbClr val="EEF4FB"/>
          </a:solidFill>
          <a:ln w="12700">
            <a:solidFill>
              <a:srgbClr val="FFFFFF"/>
            </a:solidFill>
            <a:prstDash val="solid"/>
          </a:ln>
        </p:spPr>
      </p:sp>
      <p:sp>
        <p:nvSpPr>
          <p:cNvPr id="21" name="A4_595"/>
          <p:cNvSpPr/>
          <p:nvPr/>
        </p:nvSpPr>
        <p:spPr>
          <a:xfrm>
            <a:off x="6373368" y="5330952"/>
            <a:ext cx="420624" cy="420624"/>
          </a:xfrm>
          <a:prstGeom prst="ellipse">
            <a:avLst/>
          </a:prstGeom>
          <a:solidFill>
            <a:srgbClr val="0E5CA8"/>
          </a:solidFill>
          <a:ln w="12700">
            <a:solidFill>
              <a:srgbClr val="0E5CA8"/>
            </a:solidFill>
            <a:prstDash val="solid"/>
          </a:ln>
        </p:spPr>
      </p:sp>
      <p:sp>
        <p:nvSpPr>
          <p:cNvPr id="22" name="A4_596"/>
          <p:cNvSpPr txBox="1"/>
          <p:nvPr/>
        </p:nvSpPr>
        <p:spPr>
          <a:xfrm>
            <a:off x="6373368" y="5330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A4_597"/>
          <p:cNvSpPr txBox="1"/>
          <p:nvPr/>
        </p:nvSpPr>
        <p:spPr>
          <a:xfrm>
            <a:off x="6876288" y="5257800"/>
            <a:ext cx="1920240" cy="566928"/>
          </a:xfrm>
          <a:prstGeom prst="rect">
            <a:avLst/>
          </a:prstGeom>
          <a:noFill/>
          <a:ln/>
        </p:spPr>
        <p:txBody>
          <a:bodyPr wrap="square" lIns="0" tIns="0" rIns="0" bIns="0" rtlCol="0" anchor="ctr"/>
          <a:lstStyle/>
          <a:p>
            <a:pPr marL="0" indent="0">
              <a:buNone/>
            </a:pPr>
            <a:r>
              <a:rPr lang="en-US" sz="1300" b="1" dirty="0">
                <a:solidFill>
                  <a:schemeClr val="tx2"/>
                </a:solidFill>
              </a:rPr>
              <a:t>Journaux · tests · sécurité</a:t>
            </a:r>
            <a:endParaRPr lang="en-US" sz="1300" dirty="0"/>
          </a:p>
        </p:txBody>
      </p:sp>
      <p:pic>
        <p:nvPicPr>
          <p:cNvPr id="24" name="A5_598" descr="preencoded.png"/>
          <p:cNvPicPr>
            <a:picLocks noChangeAspect="1"/>
          </p:cNvPicPr>
          <p:nvPr/>
        </p:nvPicPr>
        <p:blipFill>
          <a:blip r:embed="rId4"/>
          <a:stretch>
            <a:fillRect/>
          </a:stretch>
        </p:blipFill>
        <p:spPr>
          <a:xfrm>
            <a:off x="8887968" y="5422392"/>
            <a:ext cx="201168" cy="237744"/>
          </a:xfrm>
          <a:prstGeom prst="rect">
            <a:avLst/>
          </a:prstGeom>
        </p:spPr>
      </p:pic>
      <p:sp>
        <p:nvSpPr>
          <p:cNvPr id="25" name="A5_599"/>
          <p:cNvSpPr/>
          <p:nvPr/>
        </p:nvSpPr>
        <p:spPr>
          <a:xfrm>
            <a:off x="9116568" y="5257800"/>
            <a:ext cx="2560320" cy="566928"/>
          </a:xfrm>
          <a:prstGeom prst="roundRect">
            <a:avLst>
              <a:gd name="adj" fmla="val 48387"/>
            </a:avLst>
          </a:prstGeom>
          <a:solidFill>
            <a:srgbClr val="EEF4FB"/>
          </a:solidFill>
          <a:ln w="12700">
            <a:solidFill>
              <a:srgbClr val="FFFFFF"/>
            </a:solidFill>
            <a:prstDash val="solid"/>
          </a:ln>
        </p:spPr>
      </p:sp>
      <p:sp>
        <p:nvSpPr>
          <p:cNvPr id="26" name="A5_600"/>
          <p:cNvSpPr/>
          <p:nvPr/>
        </p:nvSpPr>
        <p:spPr>
          <a:xfrm>
            <a:off x="9208008" y="5330952"/>
            <a:ext cx="420624" cy="420624"/>
          </a:xfrm>
          <a:prstGeom prst="ellipse">
            <a:avLst/>
          </a:prstGeom>
          <a:solidFill>
            <a:srgbClr val="0E5CA8"/>
          </a:solidFill>
          <a:ln w="12700">
            <a:solidFill>
              <a:srgbClr val="0E5CA8"/>
            </a:solidFill>
            <a:prstDash val="solid"/>
          </a:ln>
        </p:spPr>
      </p:sp>
      <p:sp>
        <p:nvSpPr>
          <p:cNvPr id="27" name="A5_601"/>
          <p:cNvSpPr txBox="1"/>
          <p:nvPr/>
        </p:nvSpPr>
        <p:spPr>
          <a:xfrm>
            <a:off x="9208008" y="53309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8" name="A5_602"/>
          <p:cNvSpPr txBox="1"/>
          <p:nvPr/>
        </p:nvSpPr>
        <p:spPr>
          <a:xfrm>
            <a:off x="9710928" y="5257800"/>
            <a:ext cx="1920240" cy="566928"/>
          </a:xfrm>
          <a:prstGeom prst="rect">
            <a:avLst/>
          </a:prstGeom>
          <a:noFill/>
          <a:ln/>
        </p:spPr>
        <p:txBody>
          <a:bodyPr wrap="square" lIns="0" tIns="0" rIns="0" bIns="0" rtlCol="0" anchor="ctr"/>
          <a:lstStyle/>
          <a:p>
            <a:pPr marL="0" indent="0">
              <a:buNone/>
            </a:pPr>
            <a:r>
              <a:rPr lang="en-US" sz="1300" b="1" dirty="0">
                <a:solidFill>
                  <a:schemeClr val="tx2"/>
                </a:solidFill>
              </a:rPr>
              <a:t>Assistant IA</a:t>
            </a:r>
            <a:endParaRPr lang="en-US" sz="1300" dirty="0"/>
          </a:p>
        </p:txBody>
      </p:sp>
      <p:sp>
        <p:nvSpPr>
          <p:cNvPr id="29"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23</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36" fill="hold">
                            <p:stCondLst>
                              <p:cond delay="1600"/>
                            </p:stCondLst>
                            <p:childTnLst>
                              <p:par>
                                <p:cTn id="37" presetID="10"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52" fill="hold">
                            <p:stCondLst>
                              <p:cond delay="2300"/>
                            </p:stCondLst>
                            <p:childTnLst>
                              <p:par>
                                <p:cTn id="53" presetID="10" presetClass="entr" presetSubtype="0"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childTnLst>
                          </p:cTn>
                        </p:par>
                        <p:par>
                          <p:cTn id="68" fill="hold">
                            <p:stCondLst>
                              <p:cond delay="3000"/>
                            </p:stCondLst>
                            <p:childTnLst>
                              <p:par>
                                <p:cTn id="69" presetID="10" presetClass="entr" presetSubtype="0" fill="hold"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5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45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Ce qu'il faut retenir</a:t>
            </a:r>
            <a:endParaRPr lang="en-US" sz="3000" dirty="0"/>
          </a:p>
        </p:txBody>
      </p:sp>
      <p:sp>
        <p:nvSpPr>
          <p:cNvPr id="3" name="o_603"/>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CONCLUSION</a:t>
            </a:r>
            <a:endParaRPr lang="en-US" sz="1100" dirty="0"/>
          </a:p>
        </p:txBody>
      </p:sp>
      <p:sp>
        <p:nvSpPr>
          <p:cNvPr id="4" name="A1_604"/>
          <p:cNvSpPr/>
          <p:nvPr/>
        </p:nvSpPr>
        <p:spPr>
          <a:xfrm>
            <a:off x="548640" y="1371600"/>
            <a:ext cx="3154680" cy="2057400"/>
          </a:xfrm>
          <a:prstGeom prst="roundRect">
            <a:avLst>
              <a:gd name="adj" fmla="val 5333"/>
            </a:avLst>
          </a:prstGeom>
          <a:solidFill>
            <a:srgbClr val="EEF4FB"/>
          </a:solidFill>
          <a:ln w="12700">
            <a:solidFill>
              <a:srgbClr val="FFFFFF"/>
            </a:solidFill>
            <a:prstDash val="solid"/>
          </a:ln>
        </p:spPr>
      </p:sp>
      <p:sp>
        <p:nvSpPr>
          <p:cNvPr id="5" name="A1_605"/>
          <p:cNvSpPr/>
          <p:nvPr/>
        </p:nvSpPr>
        <p:spPr>
          <a:xfrm>
            <a:off x="822960" y="1645920"/>
            <a:ext cx="685800" cy="685800"/>
          </a:xfrm>
          <a:prstGeom prst="ellipse">
            <a:avLst/>
          </a:prstGeom>
          <a:solidFill>
            <a:srgbClr val="0E5CA8"/>
          </a:solidFill>
          <a:ln w="12700">
            <a:solidFill>
              <a:srgbClr val="0E5CA8"/>
            </a:solidFill>
            <a:prstDash val="solid"/>
          </a:ln>
        </p:spPr>
      </p:sp>
      <p:pic>
        <p:nvPicPr>
          <p:cNvPr id="6" name="A1_606" descr="FaLayerGroup"/>
          <p:cNvPicPr>
            <a:picLocks noChangeAspect="1"/>
          </p:cNvPicPr>
          <p:nvPr/>
        </p:nvPicPr>
        <p:blipFill>
          <a:blip r:embed="rId3"/>
          <a:stretch>
            <a:fillRect/>
          </a:stretch>
        </p:blipFill>
        <p:spPr>
          <a:xfrm>
            <a:off x="994410" y="1817370"/>
            <a:ext cx="342900" cy="342900"/>
          </a:xfrm>
          <a:prstGeom prst="rect">
            <a:avLst/>
          </a:prstGeom>
        </p:spPr>
      </p:pic>
      <p:sp>
        <p:nvSpPr>
          <p:cNvPr id="7" name="A1_607"/>
          <p:cNvSpPr txBox="1"/>
          <p:nvPr/>
        </p:nvSpPr>
        <p:spPr>
          <a:xfrm>
            <a:off x="822960" y="2423160"/>
            <a:ext cx="2697480" cy="411480"/>
          </a:xfrm>
          <a:prstGeom prst="rect">
            <a:avLst/>
          </a:prstGeom>
          <a:noFill/>
          <a:ln/>
        </p:spPr>
        <p:txBody>
          <a:bodyPr wrap="square" lIns="0" tIns="0" rIns="0" bIns="0" rtlCol="0" anchor="t"/>
          <a:lstStyle/>
          <a:p>
            <a:pPr marL="0" indent="0">
              <a:buNone/>
            </a:pPr>
            <a:r>
              <a:rPr lang="en-US" sz="1600" b="1" dirty="0">
                <a:solidFill>
                  <a:schemeClr val="tx2"/>
                </a:solidFill>
              </a:rPr>
              <a:t>Une seule plateforme</a:t>
            </a:r>
            <a:endParaRPr lang="en-US" sz="1600" dirty="0"/>
          </a:p>
        </p:txBody>
      </p:sp>
      <p:sp>
        <p:nvSpPr>
          <p:cNvPr id="8" name="A1_608"/>
          <p:cNvSpPr txBox="1"/>
          <p:nvPr/>
        </p:nvSpPr>
        <p:spPr>
          <a:xfrm>
            <a:off x="822960" y="2816352"/>
            <a:ext cx="2697480" cy="502920"/>
          </a:xfrm>
          <a:prstGeom prst="rect">
            <a:avLst/>
          </a:prstGeom>
          <a:noFill/>
          <a:ln/>
        </p:spPr>
        <p:txBody>
          <a:bodyPr wrap="square" lIns="0" tIns="0" rIns="0" bIns="0" rtlCol="0" anchor="t"/>
          <a:lstStyle/>
          <a:p>
            <a:pPr marL="0" indent="0">
              <a:buNone/>
            </a:pPr>
            <a:r>
              <a:rPr lang="en-US" sz="1300" dirty="0">
                <a:solidFill>
                  <a:srgbClr val="5B6B7F"/>
                </a:solidFill>
              </a:rPr>
              <a:t>journaux, tests, sécurité et IA réunis</a:t>
            </a:r>
            <a:endParaRPr lang="en-US" sz="1300" dirty="0"/>
          </a:p>
        </p:txBody>
      </p:sp>
      <p:sp>
        <p:nvSpPr>
          <p:cNvPr id="9" name="A2_609"/>
          <p:cNvSpPr/>
          <p:nvPr/>
        </p:nvSpPr>
        <p:spPr>
          <a:xfrm>
            <a:off x="3886200" y="1371600"/>
            <a:ext cx="3154680" cy="2057400"/>
          </a:xfrm>
          <a:prstGeom prst="roundRect">
            <a:avLst>
              <a:gd name="adj" fmla="val 5333"/>
            </a:avLst>
          </a:prstGeom>
          <a:solidFill>
            <a:srgbClr val="EEF4FB"/>
          </a:solidFill>
          <a:ln w="12700">
            <a:solidFill>
              <a:srgbClr val="FFFFFF"/>
            </a:solidFill>
            <a:prstDash val="solid"/>
          </a:ln>
        </p:spPr>
      </p:sp>
      <p:sp>
        <p:nvSpPr>
          <p:cNvPr id="10" name="A2_610"/>
          <p:cNvSpPr/>
          <p:nvPr/>
        </p:nvSpPr>
        <p:spPr>
          <a:xfrm>
            <a:off x="4160520" y="1645920"/>
            <a:ext cx="685800" cy="685800"/>
          </a:xfrm>
          <a:prstGeom prst="ellipse">
            <a:avLst/>
          </a:prstGeom>
          <a:solidFill>
            <a:srgbClr val="0E5CA8"/>
          </a:solidFill>
          <a:ln w="12700">
            <a:solidFill>
              <a:srgbClr val="0E5CA8"/>
            </a:solidFill>
            <a:prstDash val="solid"/>
          </a:ln>
        </p:spPr>
      </p:sp>
      <p:pic>
        <p:nvPicPr>
          <p:cNvPr id="11" name="A2_611" descr="FaBolt"/>
          <p:cNvPicPr>
            <a:picLocks noChangeAspect="1"/>
          </p:cNvPicPr>
          <p:nvPr/>
        </p:nvPicPr>
        <p:blipFill>
          <a:blip r:embed="rId4"/>
          <a:stretch>
            <a:fillRect/>
          </a:stretch>
        </p:blipFill>
        <p:spPr>
          <a:xfrm>
            <a:off x="4331970" y="1817370"/>
            <a:ext cx="342900" cy="342900"/>
          </a:xfrm>
          <a:prstGeom prst="rect">
            <a:avLst/>
          </a:prstGeom>
        </p:spPr>
      </p:pic>
      <p:sp>
        <p:nvSpPr>
          <p:cNvPr id="12" name="A2_612"/>
          <p:cNvSpPr txBox="1"/>
          <p:nvPr/>
        </p:nvSpPr>
        <p:spPr>
          <a:xfrm>
            <a:off x="4160520" y="2423160"/>
            <a:ext cx="2697480" cy="411480"/>
          </a:xfrm>
          <a:prstGeom prst="rect">
            <a:avLst/>
          </a:prstGeom>
          <a:noFill/>
          <a:ln/>
        </p:spPr>
        <p:txBody>
          <a:bodyPr wrap="square" lIns="0" tIns="0" rIns="0" bIns="0" rtlCol="0" anchor="t"/>
          <a:lstStyle/>
          <a:p>
            <a:pPr marL="0" indent="0">
              <a:buNone/>
            </a:pPr>
            <a:r>
              <a:rPr lang="en-US" sz="1600" b="1" dirty="0">
                <a:solidFill>
                  <a:schemeClr val="tx2"/>
                </a:solidFill>
              </a:rPr>
              <a:t>Un diagnostic accéléré</a:t>
            </a:r>
            <a:endParaRPr lang="en-US" sz="1600" dirty="0"/>
          </a:p>
        </p:txBody>
      </p:sp>
      <p:sp>
        <p:nvSpPr>
          <p:cNvPr id="13" name="A2_613"/>
          <p:cNvSpPr txBox="1"/>
          <p:nvPr/>
        </p:nvSpPr>
        <p:spPr>
          <a:xfrm>
            <a:off x="4160520" y="2816352"/>
            <a:ext cx="2697480" cy="502920"/>
          </a:xfrm>
          <a:prstGeom prst="rect">
            <a:avLst/>
          </a:prstGeom>
          <a:noFill/>
          <a:ln/>
        </p:spPr>
        <p:txBody>
          <a:bodyPr wrap="square" lIns="0" tIns="0" rIns="0" bIns="0" rtlCol="0" anchor="t"/>
          <a:lstStyle/>
          <a:p>
            <a:pPr marL="0" indent="0">
              <a:buNone/>
            </a:pPr>
            <a:r>
              <a:rPr lang="en-US" sz="1300" dirty="0">
                <a:solidFill>
                  <a:srgbClr val="5B6B7F"/>
                </a:solidFill>
              </a:rPr>
              <a:t>tri et alertes automatiques</a:t>
            </a:r>
            <a:endParaRPr lang="en-US" sz="1300" dirty="0"/>
          </a:p>
        </p:txBody>
      </p:sp>
      <p:sp>
        <p:nvSpPr>
          <p:cNvPr id="14" name="A3_614"/>
          <p:cNvSpPr/>
          <p:nvPr/>
        </p:nvSpPr>
        <p:spPr>
          <a:xfrm>
            <a:off x="548640" y="3657600"/>
            <a:ext cx="3154680" cy="2057400"/>
          </a:xfrm>
          <a:prstGeom prst="roundRect">
            <a:avLst>
              <a:gd name="adj" fmla="val 5333"/>
            </a:avLst>
          </a:prstGeom>
          <a:solidFill>
            <a:srgbClr val="EEF4FB"/>
          </a:solidFill>
          <a:ln w="12700">
            <a:solidFill>
              <a:srgbClr val="FFFFFF"/>
            </a:solidFill>
            <a:prstDash val="solid"/>
          </a:ln>
        </p:spPr>
      </p:sp>
      <p:sp>
        <p:nvSpPr>
          <p:cNvPr id="15" name="A3_615"/>
          <p:cNvSpPr/>
          <p:nvPr/>
        </p:nvSpPr>
        <p:spPr>
          <a:xfrm>
            <a:off x="822960" y="3931920"/>
            <a:ext cx="685800" cy="685800"/>
          </a:xfrm>
          <a:prstGeom prst="ellipse">
            <a:avLst/>
          </a:prstGeom>
          <a:solidFill>
            <a:srgbClr val="0E5CA8"/>
          </a:solidFill>
          <a:ln w="12700">
            <a:solidFill>
              <a:srgbClr val="0E5CA8"/>
            </a:solidFill>
            <a:prstDash val="solid"/>
          </a:ln>
        </p:spPr>
      </p:sp>
      <p:pic>
        <p:nvPicPr>
          <p:cNvPr id="16" name="A3_616" descr="FaUserCheck"/>
          <p:cNvPicPr>
            <a:picLocks noChangeAspect="1"/>
          </p:cNvPicPr>
          <p:nvPr/>
        </p:nvPicPr>
        <p:blipFill>
          <a:blip r:embed="rId5"/>
          <a:stretch>
            <a:fillRect/>
          </a:stretch>
        </p:blipFill>
        <p:spPr>
          <a:xfrm>
            <a:off x="994410" y="4103370"/>
            <a:ext cx="342900" cy="342900"/>
          </a:xfrm>
          <a:prstGeom prst="rect">
            <a:avLst/>
          </a:prstGeom>
        </p:spPr>
      </p:pic>
      <p:sp>
        <p:nvSpPr>
          <p:cNvPr id="17" name="A3_617"/>
          <p:cNvSpPr txBox="1"/>
          <p:nvPr/>
        </p:nvSpPr>
        <p:spPr>
          <a:xfrm>
            <a:off x="822960" y="4709160"/>
            <a:ext cx="2697480" cy="411480"/>
          </a:xfrm>
          <a:prstGeom prst="rect">
            <a:avLst/>
          </a:prstGeom>
          <a:noFill/>
          <a:ln/>
        </p:spPr>
        <p:txBody>
          <a:bodyPr wrap="square" lIns="0" tIns="0" rIns="0" bIns="0" rtlCol="0" anchor="t"/>
          <a:lstStyle/>
          <a:p>
            <a:pPr marL="0" indent="0">
              <a:buNone/>
            </a:pPr>
            <a:r>
              <a:rPr lang="en-US" sz="1600" b="1" dirty="0">
                <a:solidFill>
                  <a:schemeClr val="tx2"/>
                </a:solidFill>
              </a:rPr>
              <a:t>Une IA sous contrôle</a:t>
            </a:r>
            <a:endParaRPr lang="en-US" sz="1600" dirty="0"/>
          </a:p>
        </p:txBody>
      </p:sp>
      <p:sp>
        <p:nvSpPr>
          <p:cNvPr id="18" name="A3_618"/>
          <p:cNvSpPr txBox="1"/>
          <p:nvPr/>
        </p:nvSpPr>
        <p:spPr>
          <a:xfrm>
            <a:off x="822960" y="5102352"/>
            <a:ext cx="2697480" cy="502920"/>
          </a:xfrm>
          <a:prstGeom prst="rect">
            <a:avLst/>
          </a:prstGeom>
          <a:noFill/>
          <a:ln/>
        </p:spPr>
        <p:txBody>
          <a:bodyPr wrap="square" lIns="0" tIns="0" rIns="0" bIns="0" rtlCol="0" anchor="t"/>
          <a:lstStyle/>
          <a:p>
            <a:pPr marL="0" indent="0">
              <a:buNone/>
            </a:pPr>
            <a:r>
              <a:rPr lang="en-US" sz="1300" dirty="0">
                <a:solidFill>
                  <a:srgbClr val="5B6B7F"/>
                </a:solidFill>
              </a:rPr>
              <a:t>chaque proposition est validée par un humain</a:t>
            </a:r>
            <a:endParaRPr lang="en-US" sz="1300" dirty="0"/>
          </a:p>
        </p:txBody>
      </p:sp>
      <p:sp>
        <p:nvSpPr>
          <p:cNvPr id="19" name="A4_619"/>
          <p:cNvSpPr/>
          <p:nvPr/>
        </p:nvSpPr>
        <p:spPr>
          <a:xfrm>
            <a:off x="3886200" y="3657600"/>
            <a:ext cx="3154680" cy="2057400"/>
          </a:xfrm>
          <a:prstGeom prst="roundRect">
            <a:avLst>
              <a:gd name="adj" fmla="val 5333"/>
            </a:avLst>
          </a:prstGeom>
          <a:solidFill>
            <a:srgbClr val="EEF4FB"/>
          </a:solidFill>
          <a:ln w="12700">
            <a:solidFill>
              <a:srgbClr val="FFFFFF"/>
            </a:solidFill>
            <a:prstDash val="solid"/>
          </a:ln>
        </p:spPr>
      </p:sp>
      <p:sp>
        <p:nvSpPr>
          <p:cNvPr id="20" name="A4_620"/>
          <p:cNvSpPr/>
          <p:nvPr/>
        </p:nvSpPr>
        <p:spPr>
          <a:xfrm>
            <a:off x="4160520" y="3931920"/>
            <a:ext cx="685800" cy="685800"/>
          </a:xfrm>
          <a:prstGeom prst="ellipse">
            <a:avLst/>
          </a:prstGeom>
          <a:solidFill>
            <a:srgbClr val="0E5CA8"/>
          </a:solidFill>
          <a:ln w="12700">
            <a:solidFill>
              <a:srgbClr val="0E5CA8"/>
            </a:solidFill>
            <a:prstDash val="solid"/>
          </a:ln>
        </p:spPr>
      </p:sp>
      <p:pic>
        <p:nvPicPr>
          <p:cNvPr id="21" name="A4_621" descr="FaCheckCircle"/>
          <p:cNvPicPr>
            <a:picLocks noChangeAspect="1"/>
          </p:cNvPicPr>
          <p:nvPr/>
        </p:nvPicPr>
        <p:blipFill>
          <a:blip r:embed="rId6"/>
          <a:stretch>
            <a:fillRect/>
          </a:stretch>
        </p:blipFill>
        <p:spPr>
          <a:xfrm>
            <a:off x="4331970" y="4103370"/>
            <a:ext cx="342900" cy="342900"/>
          </a:xfrm>
          <a:prstGeom prst="rect">
            <a:avLst/>
          </a:prstGeom>
        </p:spPr>
      </p:pic>
      <p:sp>
        <p:nvSpPr>
          <p:cNvPr id="22" name="A4_622"/>
          <p:cNvSpPr txBox="1"/>
          <p:nvPr/>
        </p:nvSpPr>
        <p:spPr>
          <a:xfrm>
            <a:off x="4160520" y="4709160"/>
            <a:ext cx="2697480" cy="411480"/>
          </a:xfrm>
          <a:prstGeom prst="rect">
            <a:avLst/>
          </a:prstGeom>
          <a:noFill/>
          <a:ln/>
        </p:spPr>
        <p:txBody>
          <a:bodyPr wrap="square" lIns="0" tIns="0" rIns="0" bIns="0" rtlCol="0" anchor="t"/>
          <a:lstStyle/>
          <a:p>
            <a:pPr marL="0" indent="0">
              <a:buNone/>
            </a:pPr>
            <a:r>
              <a:rPr lang="en-US" sz="1600" b="1" dirty="0">
                <a:solidFill>
                  <a:schemeClr val="tx2"/>
                </a:solidFill>
              </a:rPr>
              <a:t>Un feu vert à chaque livraison</a:t>
            </a:r>
            <a:endParaRPr lang="en-US" sz="1600" dirty="0"/>
          </a:p>
        </p:txBody>
      </p:sp>
      <p:sp>
        <p:nvSpPr>
          <p:cNvPr id="23" name="A4_623"/>
          <p:cNvSpPr txBox="1"/>
          <p:nvPr/>
        </p:nvSpPr>
        <p:spPr>
          <a:xfrm>
            <a:off x="4160520" y="5102352"/>
            <a:ext cx="2697480" cy="502920"/>
          </a:xfrm>
          <a:prstGeom prst="rect">
            <a:avLst/>
          </a:prstGeom>
          <a:noFill/>
          <a:ln/>
        </p:spPr>
        <p:txBody>
          <a:bodyPr wrap="square" lIns="0" tIns="0" rIns="0" bIns="0" rtlCol="0" anchor="t"/>
          <a:lstStyle/>
          <a:p>
            <a:pPr marL="0" indent="0">
              <a:buNone/>
            </a:pPr>
            <a:r>
              <a:rPr lang="en-US" sz="1300" dirty="0">
                <a:solidFill>
                  <a:srgbClr val="5B6B7F"/>
                </a:solidFill>
              </a:rPr>
              <a:t>intégré à la chaîne de livraison</a:t>
            </a:r>
            <a:endParaRPr lang="en-US" sz="1300" dirty="0"/>
          </a:p>
        </p:txBody>
      </p:sp>
      <p:sp>
        <p:nvSpPr>
          <p:cNvPr id="24" name="A5_624"/>
          <p:cNvSpPr/>
          <p:nvPr/>
        </p:nvSpPr>
        <p:spPr>
          <a:xfrm>
            <a:off x="7406640" y="1371600"/>
            <a:ext cx="4233672" cy="4343400"/>
          </a:xfrm>
          <a:prstGeom prst="roundRect">
            <a:avLst>
              <a:gd name="adj" fmla="val 2592"/>
            </a:avLst>
          </a:prstGeom>
          <a:solidFill>
            <a:srgbClr val="0B1F3A"/>
          </a:solidFill>
          <a:ln w="12700">
            <a:solidFill>
              <a:srgbClr val="FFFFFF"/>
            </a:solidFill>
            <a:prstDash val="solid"/>
          </a:ln>
          <a:effectLst>
            <a:outerShdw blurRad="101600" dist="25400" dir="5400000" algn="bl" rotWithShape="0">
              <a:srgbClr val="0B1F3A">
                <a:alpha val="12000"/>
              </a:srgbClr>
            </a:outerShdw>
          </a:effectLst>
        </p:spPr>
      </p:sp>
      <p:sp>
        <p:nvSpPr>
          <p:cNvPr id="25" name="A5_625"/>
          <p:cNvSpPr txBox="1"/>
          <p:nvPr/>
        </p:nvSpPr>
        <p:spPr>
          <a:xfrm>
            <a:off x="7726680" y="1463040"/>
            <a:ext cx="914400" cy="914400"/>
          </a:xfrm>
          <a:prstGeom prst="rect">
            <a:avLst/>
          </a:prstGeom>
          <a:noFill/>
          <a:ln/>
        </p:spPr>
        <p:txBody>
          <a:bodyPr wrap="square" lIns="0" tIns="0" rIns="0" bIns="0" rtlCol="0" anchor="t"/>
          <a:lstStyle/>
          <a:p>
            <a:pPr marL="0" indent="0">
              <a:buNone/>
            </a:pPr>
            <a:r>
              <a:rPr lang="en-US" sz="7200" b="1" dirty="0">
                <a:solidFill>
                  <a:srgbClr val="5AA9F5"/>
                </a:solidFill>
                <a:latin typeface="Arial" pitchFamily="34" charset="0"/>
                <a:ea typeface="Arial" pitchFamily="34" charset="-122"/>
                <a:cs typeface="Arial" pitchFamily="34" charset="-120"/>
              </a:rPr>
              <a:t>“</a:t>
            </a:r>
            <a:endParaRPr lang="en-US" sz="7200" dirty="0"/>
          </a:p>
        </p:txBody>
      </p:sp>
      <p:sp>
        <p:nvSpPr>
          <p:cNvPr id="26" name="A5_626"/>
          <p:cNvSpPr txBox="1"/>
          <p:nvPr/>
        </p:nvSpPr>
        <p:spPr>
          <a:xfrm>
            <a:off x="7772400" y="2377440"/>
            <a:ext cx="3520440" cy="2194560"/>
          </a:xfrm>
          <a:prstGeom prst="rect">
            <a:avLst/>
          </a:prstGeom>
          <a:noFill/>
          <a:ln/>
        </p:spPr>
        <p:txBody>
          <a:bodyPr wrap="square" lIns="0" tIns="0" rIns="0" bIns="0" rtlCol="0" anchor="t"/>
          <a:lstStyle/>
          <a:p>
            <a:pPr marL="0" indent="0">
              <a:buNone/>
            </a:pPr>
            <a:r>
              <a:rPr lang="en-US" sz="2600" b="1" dirty="0">
                <a:solidFill>
                  <a:srgbClr val="FFFFFF"/>
                </a:solidFill>
              </a:rPr>
              <a:t>Des signaux dispersés, transformés en décisions claires.</a:t>
            </a:r>
            <a:endParaRPr lang="en-US" sz="2600" dirty="0"/>
          </a:p>
        </p:txBody>
      </p:sp>
      <p:sp>
        <p:nvSpPr>
          <p:cNvPr id="27"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24</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childTnLst>
                          </p:cTn>
                        </p:par>
                        <p:par>
                          <p:cTn id="36" fill="hold">
                            <p:stCondLst>
                              <p:cond delay="16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52" fill="hold">
                            <p:stCondLst>
                              <p:cond delay="23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childTnLst>
                          </p:cTn>
                        </p:par>
                        <p:par>
                          <p:cTn id="68" fill="hold">
                            <p:stCondLst>
                              <p:cond delay="30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5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Et demain ?</a:t>
            </a:r>
            <a:endParaRPr lang="en-US" sz="3000" dirty="0"/>
          </a:p>
        </p:txBody>
      </p:sp>
      <p:sp>
        <p:nvSpPr>
          <p:cNvPr id="3" name="o_627"/>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PERSPECTIVES</a:t>
            </a:r>
            <a:endParaRPr lang="en-US" sz="1100" dirty="0"/>
          </a:p>
        </p:txBody>
      </p:sp>
      <p:sp>
        <p:nvSpPr>
          <p:cNvPr id="4" name="A1_628"/>
          <p:cNvSpPr/>
          <p:nvPr/>
        </p:nvSpPr>
        <p:spPr>
          <a:xfrm>
            <a:off x="548640" y="5760720"/>
            <a:ext cx="2606040" cy="274320"/>
          </a:xfrm>
          <a:prstGeom prst="rect">
            <a:avLst/>
          </a:prstGeom>
          <a:solidFill>
            <a:srgbClr val="D5E6F7"/>
          </a:solidFill>
          <a:ln w="12700">
            <a:solidFill>
              <a:srgbClr val="FFFFFF"/>
            </a:solidFill>
            <a:prstDash val="solid"/>
          </a:ln>
        </p:spPr>
      </p:sp>
      <p:sp>
        <p:nvSpPr>
          <p:cNvPr id="5" name="A1_629"/>
          <p:cNvSpPr/>
          <p:nvPr/>
        </p:nvSpPr>
        <p:spPr>
          <a:xfrm>
            <a:off x="548640" y="3931920"/>
            <a:ext cx="2606040" cy="1828800"/>
          </a:xfrm>
          <a:prstGeom prst="roundRect">
            <a:avLst>
              <a:gd name="adj" fmla="val 6000"/>
            </a:avLst>
          </a:prstGeom>
          <a:solidFill>
            <a:srgbClr val="0E5CA8"/>
          </a:solidFill>
          <a:ln w="12700">
            <a:solidFill>
              <a:srgbClr val="FFFFFF"/>
            </a:solidFill>
            <a:prstDash val="solid"/>
          </a:ln>
          <a:effectLst>
            <a:outerShdw blurRad="101600" dist="25400" dir="5400000" algn="bl" rotWithShape="0">
              <a:srgbClr val="0B1F3A">
                <a:alpha val="12000"/>
              </a:srgbClr>
            </a:outerShdw>
          </a:effectLst>
        </p:spPr>
      </p:sp>
      <p:sp>
        <p:nvSpPr>
          <p:cNvPr id="6" name="A1_630"/>
          <p:cNvSpPr/>
          <p:nvPr/>
        </p:nvSpPr>
        <p:spPr>
          <a:xfrm>
            <a:off x="777240" y="4160520"/>
            <a:ext cx="640080" cy="640080"/>
          </a:xfrm>
          <a:prstGeom prst="ellipse">
            <a:avLst/>
          </a:prstGeom>
          <a:solidFill>
            <a:srgbClr val="FFFFFF"/>
          </a:solidFill>
          <a:ln w="12700">
            <a:solidFill>
              <a:srgbClr val="FFFFFF"/>
            </a:solidFill>
            <a:prstDash val="solid"/>
          </a:ln>
        </p:spPr>
      </p:sp>
      <p:pic>
        <p:nvPicPr>
          <p:cNvPr id="7" name="A1_631" descr="FaServer"/>
          <p:cNvPicPr>
            <a:picLocks noChangeAspect="1"/>
          </p:cNvPicPr>
          <p:nvPr/>
        </p:nvPicPr>
        <p:blipFill>
          <a:blip r:embed="rId3"/>
          <a:stretch>
            <a:fillRect/>
          </a:stretch>
        </p:blipFill>
        <p:spPr>
          <a:xfrm>
            <a:off x="937260" y="4320540"/>
            <a:ext cx="320040" cy="320040"/>
          </a:xfrm>
          <a:prstGeom prst="rect">
            <a:avLst/>
          </a:prstGeom>
        </p:spPr>
      </p:pic>
      <p:sp>
        <p:nvSpPr>
          <p:cNvPr id="8" name="A1_632"/>
          <p:cNvSpPr txBox="1"/>
          <p:nvPr/>
        </p:nvSpPr>
        <p:spPr>
          <a:xfrm>
            <a:off x="1554480" y="4160520"/>
            <a:ext cx="1508760" cy="640080"/>
          </a:xfrm>
          <a:prstGeom prst="rect">
            <a:avLst/>
          </a:prstGeom>
          <a:noFill/>
          <a:ln/>
        </p:spPr>
        <p:txBody>
          <a:bodyPr wrap="square" lIns="0" tIns="0" rIns="0" bIns="0" rtlCol="0" anchor="ctr"/>
          <a:lstStyle/>
          <a:p>
            <a:pPr marL="0" indent="0">
              <a:buNone/>
            </a:pPr>
            <a:r>
              <a:rPr lang="en-US" sz="1700" b="1" dirty="0">
                <a:solidFill>
                  <a:srgbClr val="FFFFFF"/>
                </a:solidFill>
              </a:rPr>
              <a:t>Grandir</a:t>
            </a:r>
            <a:endParaRPr lang="en-US" sz="1700" dirty="0"/>
          </a:p>
        </p:txBody>
      </p:sp>
      <p:sp>
        <p:nvSpPr>
          <p:cNvPr id="9" name="A1_633"/>
          <p:cNvSpPr txBox="1"/>
          <p:nvPr/>
        </p:nvSpPr>
        <p:spPr>
          <a:xfrm>
            <a:off x="777240" y="4937760"/>
            <a:ext cx="2194560" cy="731520"/>
          </a:xfrm>
          <a:prstGeom prst="rect">
            <a:avLst/>
          </a:prstGeom>
          <a:noFill/>
          <a:ln/>
        </p:spPr>
        <p:txBody>
          <a:bodyPr wrap="square" lIns="0" tIns="0" rIns="0" bIns="0" rtlCol="0" anchor="t"/>
          <a:lstStyle/>
          <a:p>
            <a:pPr marL="0" indent="0">
              <a:buNone/>
            </a:pPr>
            <a:r>
              <a:rPr lang="en-US" sz="1300" dirty="0">
                <a:solidFill>
                  <a:srgbClr val="FFFFFF"/>
                </a:solidFill>
              </a:rPr>
              <a:t>déployer à grande échelle (Kubernetes)</a:t>
            </a:r>
            <a:endParaRPr lang="en-US" sz="1300" dirty="0"/>
          </a:p>
        </p:txBody>
      </p:sp>
      <p:sp>
        <p:nvSpPr>
          <p:cNvPr id="10" name="A2_634"/>
          <p:cNvSpPr/>
          <p:nvPr/>
        </p:nvSpPr>
        <p:spPr>
          <a:xfrm>
            <a:off x="3374136" y="4983480"/>
            <a:ext cx="2606040" cy="1051560"/>
          </a:xfrm>
          <a:prstGeom prst="rect">
            <a:avLst/>
          </a:prstGeom>
          <a:solidFill>
            <a:srgbClr val="AFCDEC"/>
          </a:solidFill>
          <a:ln w="12700">
            <a:solidFill>
              <a:srgbClr val="FFFFFF"/>
            </a:solidFill>
            <a:prstDash val="solid"/>
          </a:ln>
        </p:spPr>
      </p:sp>
      <p:sp>
        <p:nvSpPr>
          <p:cNvPr id="11" name="A2_635"/>
          <p:cNvSpPr/>
          <p:nvPr/>
        </p:nvSpPr>
        <p:spPr>
          <a:xfrm>
            <a:off x="3374136" y="3154680"/>
            <a:ext cx="2606040" cy="1828800"/>
          </a:xfrm>
          <a:prstGeom prst="roundRect">
            <a:avLst>
              <a:gd name="adj" fmla="val 6000"/>
            </a:avLst>
          </a:prstGeom>
          <a:solidFill>
            <a:srgbClr val="0E5CA8"/>
          </a:solidFill>
          <a:ln w="12700">
            <a:solidFill>
              <a:srgbClr val="FFFFFF"/>
            </a:solidFill>
            <a:prstDash val="solid"/>
          </a:ln>
          <a:effectLst>
            <a:outerShdw blurRad="101600" dist="25400" dir="5400000" algn="bl" rotWithShape="0">
              <a:srgbClr val="0B1F3A">
                <a:alpha val="12000"/>
              </a:srgbClr>
            </a:outerShdw>
          </a:effectLst>
        </p:spPr>
      </p:sp>
      <p:sp>
        <p:nvSpPr>
          <p:cNvPr id="12" name="A2_636"/>
          <p:cNvSpPr/>
          <p:nvPr/>
        </p:nvSpPr>
        <p:spPr>
          <a:xfrm>
            <a:off x="3602736" y="3383280"/>
            <a:ext cx="640080" cy="640080"/>
          </a:xfrm>
          <a:prstGeom prst="ellipse">
            <a:avLst/>
          </a:prstGeom>
          <a:solidFill>
            <a:srgbClr val="FFFFFF"/>
          </a:solidFill>
          <a:ln w="12700">
            <a:solidFill>
              <a:srgbClr val="FFFFFF"/>
            </a:solidFill>
            <a:prstDash val="solid"/>
          </a:ln>
        </p:spPr>
      </p:sp>
      <p:pic>
        <p:nvPicPr>
          <p:cNvPr id="13" name="A2_637" descr="FaBook"/>
          <p:cNvPicPr>
            <a:picLocks noChangeAspect="1"/>
          </p:cNvPicPr>
          <p:nvPr/>
        </p:nvPicPr>
        <p:blipFill>
          <a:blip r:embed="rId4"/>
          <a:stretch>
            <a:fillRect/>
          </a:stretch>
        </p:blipFill>
        <p:spPr>
          <a:xfrm>
            <a:off x="3762756" y="3543300"/>
            <a:ext cx="320040" cy="320040"/>
          </a:xfrm>
          <a:prstGeom prst="rect">
            <a:avLst/>
          </a:prstGeom>
        </p:spPr>
      </p:pic>
      <p:sp>
        <p:nvSpPr>
          <p:cNvPr id="14" name="A2_638"/>
          <p:cNvSpPr txBox="1"/>
          <p:nvPr/>
        </p:nvSpPr>
        <p:spPr>
          <a:xfrm>
            <a:off x="4379976" y="3383280"/>
            <a:ext cx="1508760" cy="640080"/>
          </a:xfrm>
          <a:prstGeom prst="rect">
            <a:avLst/>
          </a:prstGeom>
          <a:noFill/>
          <a:ln/>
        </p:spPr>
        <p:txBody>
          <a:bodyPr wrap="square" lIns="0" tIns="0" rIns="0" bIns="0" rtlCol="0" anchor="ctr"/>
          <a:lstStyle/>
          <a:p>
            <a:pPr marL="0" indent="0">
              <a:buNone/>
            </a:pPr>
            <a:r>
              <a:rPr lang="en-US" sz="1700" b="1" dirty="0">
                <a:solidFill>
                  <a:srgbClr val="FFFFFF"/>
                </a:solidFill>
              </a:rPr>
              <a:t>Connaître Vermeg</a:t>
            </a:r>
            <a:endParaRPr lang="en-US" sz="1700" dirty="0"/>
          </a:p>
        </p:txBody>
      </p:sp>
      <p:sp>
        <p:nvSpPr>
          <p:cNvPr id="15" name="A2_639"/>
          <p:cNvSpPr txBox="1"/>
          <p:nvPr/>
        </p:nvSpPr>
        <p:spPr>
          <a:xfrm>
            <a:off x="3602736" y="4160520"/>
            <a:ext cx="2194560" cy="731520"/>
          </a:xfrm>
          <a:prstGeom prst="rect">
            <a:avLst/>
          </a:prstGeom>
          <a:noFill/>
          <a:ln/>
        </p:spPr>
        <p:txBody>
          <a:bodyPr wrap="square" lIns="0" tIns="0" rIns="0" bIns="0" rtlCol="0" anchor="t"/>
          <a:lstStyle/>
          <a:p>
            <a:pPr marL="0" indent="0">
              <a:buNone/>
            </a:pPr>
            <a:r>
              <a:rPr lang="en-US" sz="1300" dirty="0">
                <a:solidFill>
                  <a:srgbClr val="FFFFFF"/>
                </a:solidFill>
              </a:rPr>
              <a:t>nourrir l'IA de la documentation interne</a:t>
            </a:r>
            <a:endParaRPr lang="en-US" sz="1300" dirty="0"/>
          </a:p>
        </p:txBody>
      </p:sp>
      <p:sp>
        <p:nvSpPr>
          <p:cNvPr id="16" name="A3_640"/>
          <p:cNvSpPr/>
          <p:nvPr/>
        </p:nvSpPr>
        <p:spPr>
          <a:xfrm>
            <a:off x="6199632" y="4206240"/>
            <a:ext cx="2606040" cy="1828800"/>
          </a:xfrm>
          <a:prstGeom prst="rect">
            <a:avLst/>
          </a:prstGeom>
          <a:solidFill>
            <a:srgbClr val="7FB3E6"/>
          </a:solidFill>
          <a:ln w="12700">
            <a:solidFill>
              <a:srgbClr val="FFFFFF"/>
            </a:solidFill>
            <a:prstDash val="solid"/>
          </a:ln>
        </p:spPr>
      </p:sp>
      <p:sp>
        <p:nvSpPr>
          <p:cNvPr id="17" name="A3_641"/>
          <p:cNvSpPr/>
          <p:nvPr/>
        </p:nvSpPr>
        <p:spPr>
          <a:xfrm>
            <a:off x="6199632" y="2377440"/>
            <a:ext cx="2606040" cy="1828800"/>
          </a:xfrm>
          <a:prstGeom prst="roundRect">
            <a:avLst>
              <a:gd name="adj" fmla="val 6000"/>
            </a:avLst>
          </a:prstGeom>
          <a:solidFill>
            <a:srgbClr val="0E5CA8"/>
          </a:solidFill>
          <a:ln w="12700">
            <a:solidFill>
              <a:srgbClr val="FFFFFF"/>
            </a:solidFill>
            <a:prstDash val="solid"/>
          </a:ln>
          <a:effectLst>
            <a:outerShdw blurRad="101600" dist="25400" dir="5400000" algn="bl" rotWithShape="0">
              <a:srgbClr val="0B1F3A">
                <a:alpha val="12000"/>
              </a:srgbClr>
            </a:outerShdw>
          </a:effectLst>
        </p:spPr>
      </p:sp>
      <p:sp>
        <p:nvSpPr>
          <p:cNvPr id="18" name="A3_642"/>
          <p:cNvSpPr/>
          <p:nvPr/>
        </p:nvSpPr>
        <p:spPr>
          <a:xfrm>
            <a:off x="6428232" y="2606040"/>
            <a:ext cx="640080" cy="640080"/>
          </a:xfrm>
          <a:prstGeom prst="ellipse">
            <a:avLst/>
          </a:prstGeom>
          <a:solidFill>
            <a:srgbClr val="FFFFFF"/>
          </a:solidFill>
          <a:ln w="12700">
            <a:solidFill>
              <a:srgbClr val="FFFFFF"/>
            </a:solidFill>
            <a:prstDash val="solid"/>
          </a:ln>
        </p:spPr>
      </p:sp>
      <p:pic>
        <p:nvPicPr>
          <p:cNvPr id="19" name="A3_643" descr="FaMagic"/>
          <p:cNvPicPr>
            <a:picLocks noChangeAspect="1"/>
          </p:cNvPicPr>
          <p:nvPr/>
        </p:nvPicPr>
        <p:blipFill>
          <a:blip r:embed="rId5"/>
          <a:stretch>
            <a:fillRect/>
          </a:stretch>
        </p:blipFill>
        <p:spPr>
          <a:xfrm>
            <a:off x="6588252" y="2766060"/>
            <a:ext cx="320040" cy="320040"/>
          </a:xfrm>
          <a:prstGeom prst="rect">
            <a:avLst/>
          </a:prstGeom>
        </p:spPr>
      </p:pic>
      <p:sp>
        <p:nvSpPr>
          <p:cNvPr id="20" name="A3_644"/>
          <p:cNvSpPr txBox="1"/>
          <p:nvPr/>
        </p:nvSpPr>
        <p:spPr>
          <a:xfrm>
            <a:off x="7205472" y="2606040"/>
            <a:ext cx="1508760" cy="640080"/>
          </a:xfrm>
          <a:prstGeom prst="rect">
            <a:avLst/>
          </a:prstGeom>
          <a:noFill/>
          <a:ln/>
        </p:spPr>
        <p:txBody>
          <a:bodyPr wrap="square" lIns="0" tIns="0" rIns="0" bIns="0" rtlCol="0" anchor="ctr"/>
          <a:lstStyle/>
          <a:p>
            <a:pPr marL="0" indent="0">
              <a:buNone/>
            </a:pPr>
            <a:r>
              <a:rPr lang="en-US" sz="1700" b="1" dirty="0">
                <a:solidFill>
                  <a:srgbClr val="FFFFFF"/>
                </a:solidFill>
              </a:rPr>
              <a:t>Corriger</a:t>
            </a:r>
            <a:endParaRPr lang="en-US" sz="1700" dirty="0"/>
          </a:p>
        </p:txBody>
      </p:sp>
      <p:sp>
        <p:nvSpPr>
          <p:cNvPr id="21" name="A3_645"/>
          <p:cNvSpPr txBox="1"/>
          <p:nvPr/>
        </p:nvSpPr>
        <p:spPr>
          <a:xfrm>
            <a:off x="6428232" y="3383280"/>
            <a:ext cx="2194560" cy="731520"/>
          </a:xfrm>
          <a:prstGeom prst="rect">
            <a:avLst/>
          </a:prstGeom>
          <a:noFill/>
          <a:ln/>
        </p:spPr>
        <p:txBody>
          <a:bodyPr wrap="square" lIns="0" tIns="0" rIns="0" bIns="0" rtlCol="0" anchor="t"/>
          <a:lstStyle/>
          <a:p>
            <a:pPr marL="0" indent="0">
              <a:buNone/>
            </a:pPr>
            <a:r>
              <a:rPr lang="en-US" sz="1300" dirty="0">
                <a:solidFill>
                  <a:srgbClr val="FFFFFF"/>
                </a:solidFill>
              </a:rPr>
              <a:t>proposer des correctifs prêts à appliquer</a:t>
            </a:r>
            <a:endParaRPr lang="en-US" sz="1300" dirty="0"/>
          </a:p>
        </p:txBody>
      </p:sp>
      <p:sp>
        <p:nvSpPr>
          <p:cNvPr id="22" name="A4_646"/>
          <p:cNvSpPr/>
          <p:nvPr/>
        </p:nvSpPr>
        <p:spPr>
          <a:xfrm>
            <a:off x="9025128" y="3429000"/>
            <a:ext cx="2606040" cy="2606040"/>
          </a:xfrm>
          <a:prstGeom prst="rect">
            <a:avLst/>
          </a:prstGeom>
          <a:solidFill>
            <a:srgbClr val="5A9BD8"/>
          </a:solidFill>
          <a:ln w="12700">
            <a:solidFill>
              <a:srgbClr val="FFFFFF"/>
            </a:solidFill>
            <a:prstDash val="solid"/>
          </a:ln>
        </p:spPr>
      </p:sp>
      <p:sp>
        <p:nvSpPr>
          <p:cNvPr id="23" name="A4_647"/>
          <p:cNvSpPr/>
          <p:nvPr/>
        </p:nvSpPr>
        <p:spPr>
          <a:xfrm>
            <a:off x="9025128" y="1600200"/>
            <a:ext cx="2606040" cy="1828800"/>
          </a:xfrm>
          <a:prstGeom prst="roundRect">
            <a:avLst>
              <a:gd name="adj" fmla="val 6000"/>
            </a:avLst>
          </a:prstGeom>
          <a:solidFill>
            <a:srgbClr val="0B1F3A"/>
          </a:solidFill>
          <a:ln w="12700">
            <a:solidFill>
              <a:srgbClr val="FFFFFF"/>
            </a:solidFill>
            <a:prstDash val="solid"/>
          </a:ln>
          <a:effectLst>
            <a:outerShdw blurRad="101600" dist="25400" dir="5400000" algn="bl" rotWithShape="0">
              <a:srgbClr val="0B1F3A">
                <a:alpha val="12000"/>
              </a:srgbClr>
            </a:outerShdw>
          </a:effectLst>
        </p:spPr>
      </p:sp>
      <p:sp>
        <p:nvSpPr>
          <p:cNvPr id="24" name="A4_648"/>
          <p:cNvSpPr/>
          <p:nvPr/>
        </p:nvSpPr>
        <p:spPr>
          <a:xfrm>
            <a:off x="9253728" y="1828800"/>
            <a:ext cx="640080" cy="640080"/>
          </a:xfrm>
          <a:prstGeom prst="ellipse">
            <a:avLst/>
          </a:prstGeom>
          <a:solidFill>
            <a:srgbClr val="FFFFFF"/>
          </a:solidFill>
          <a:ln w="12700">
            <a:solidFill>
              <a:srgbClr val="FFFFFF"/>
            </a:solidFill>
            <a:prstDash val="solid"/>
          </a:ln>
        </p:spPr>
      </p:sp>
      <p:pic>
        <p:nvPicPr>
          <p:cNvPr id="25" name="A4_649" descr="FaCrosshairs"/>
          <p:cNvPicPr>
            <a:picLocks noChangeAspect="1"/>
          </p:cNvPicPr>
          <p:nvPr/>
        </p:nvPicPr>
        <p:blipFill>
          <a:blip r:embed="rId6"/>
          <a:stretch>
            <a:fillRect/>
          </a:stretch>
        </p:blipFill>
        <p:spPr>
          <a:xfrm>
            <a:off x="9413748" y="1988820"/>
            <a:ext cx="320040" cy="320040"/>
          </a:xfrm>
          <a:prstGeom prst="rect">
            <a:avLst/>
          </a:prstGeom>
        </p:spPr>
      </p:pic>
      <p:sp>
        <p:nvSpPr>
          <p:cNvPr id="26" name="A4_650"/>
          <p:cNvSpPr txBox="1"/>
          <p:nvPr/>
        </p:nvSpPr>
        <p:spPr>
          <a:xfrm>
            <a:off x="10030968" y="1828800"/>
            <a:ext cx="1508760" cy="640080"/>
          </a:xfrm>
          <a:prstGeom prst="rect">
            <a:avLst/>
          </a:prstGeom>
          <a:noFill/>
          <a:ln/>
        </p:spPr>
        <p:txBody>
          <a:bodyPr wrap="square" lIns="0" tIns="0" rIns="0" bIns="0" rtlCol="0" anchor="ctr"/>
          <a:lstStyle/>
          <a:p>
            <a:pPr marL="0" indent="0">
              <a:buNone/>
            </a:pPr>
            <a:r>
              <a:rPr lang="en-US" sz="1700" b="1" dirty="0">
                <a:solidFill>
                  <a:srgbClr val="FFFFFF"/>
                </a:solidFill>
              </a:rPr>
              <a:t>Prévoir</a:t>
            </a:r>
            <a:endParaRPr lang="en-US" sz="1700" dirty="0"/>
          </a:p>
        </p:txBody>
      </p:sp>
      <p:sp>
        <p:nvSpPr>
          <p:cNvPr id="27" name="A4_651"/>
          <p:cNvSpPr txBox="1"/>
          <p:nvPr/>
        </p:nvSpPr>
        <p:spPr>
          <a:xfrm>
            <a:off x="9253728" y="2606040"/>
            <a:ext cx="2194560" cy="731520"/>
          </a:xfrm>
          <a:prstGeom prst="rect">
            <a:avLst/>
          </a:prstGeom>
          <a:noFill/>
          <a:ln/>
        </p:spPr>
        <p:txBody>
          <a:bodyPr wrap="square" lIns="0" tIns="0" rIns="0" bIns="0" rtlCol="0" anchor="t"/>
          <a:lstStyle/>
          <a:p>
            <a:pPr marL="0" indent="0">
              <a:buNone/>
            </a:pPr>
            <a:r>
              <a:rPr lang="en-US" sz="1300" dirty="0">
                <a:solidFill>
                  <a:srgbClr val="FFFFFF"/>
                </a:solidFill>
              </a:rPr>
              <a:t>anticiper les incidents avant qu'ils n'arrivent</a:t>
            </a:r>
            <a:endParaRPr lang="en-US" sz="1300" dirty="0"/>
          </a:p>
        </p:txBody>
      </p:sp>
      <p:sp>
        <p:nvSpPr>
          <p:cNvPr id="28"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25</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42" fill="hold">
                            <p:stCondLst>
                              <p:cond delay="16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childTnLst>
                          </p:cTn>
                        </p:par>
                        <p:par>
                          <p:cTn id="61" fill="hold">
                            <p:stCondLst>
                              <p:cond delay="2300"/>
                            </p:stCondLst>
                            <p:childTnLst>
                              <p:par>
                                <p:cTn id="62" presetID="10"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Annexe · Diagramme de cas d'utilisation</a:t>
            </a:r>
            <a:endParaRPr lang="en-US" sz="3000" dirty="0"/>
          </a:p>
        </p:txBody>
      </p:sp>
      <p:sp>
        <p:nvSpPr>
          <p:cNvPr id="3" name="o_652"/>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ANNEXE</a:t>
            </a:r>
            <a:endParaRPr lang="en-US" sz="1100" dirty="0"/>
          </a:p>
        </p:txBody>
      </p:sp>
      <p:pic>
        <p:nvPicPr>
          <p:cNvPr id="4" name="o_653" descr="Annexe · Diagramme de cas d'utilisation"/>
          <p:cNvPicPr>
            <a:picLocks noChangeAspect="1"/>
          </p:cNvPicPr>
          <p:nvPr/>
        </p:nvPicPr>
        <p:blipFill>
          <a:blip r:embed="rId3"/>
          <a:stretch>
            <a:fillRect/>
          </a:stretch>
        </p:blipFill>
        <p:spPr>
          <a:xfrm>
            <a:off x="822960" y="1325880"/>
            <a:ext cx="10543032" cy="4910328"/>
          </a:xfrm>
          <a:prstGeom prst="rect">
            <a:avLst/>
          </a:prstGeom>
        </p:spPr>
      </p:pic>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27</a:t>
            </a:fld>
            <a:endParaRPr lang="en-US"/>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457200"/>
            <a:ext cx="9692640" cy="640080"/>
          </a:xfrm>
          <a:prstGeom prst="rect">
            <a:avLst/>
          </a:prstGeom>
          <a:noFill/>
          <a:ln/>
        </p:spPr>
        <p:txBody>
          <a:bodyPr wrap="square" lIns="0" tIns="0" rIns="0" bIns="0" rtlCol="0" anchor="ctr"/>
          <a:lstStyle/>
          <a:p>
            <a:pPr marL="0" indent="0" algn="l">
              <a:buNone/>
            </a:pPr>
            <a:r>
              <a:rPr lang="en-US" sz="3000" b="1" dirty="0">
                <a:solidFill>
                  <a:schemeClr val="tx2"/>
                </a:solidFill>
              </a:rPr>
              <a:t>Annexe · Diagramme de classe</a:t>
            </a:r>
            <a:endParaRPr lang="en-US" sz="3000" dirty="0"/>
          </a:p>
        </p:txBody>
      </p:sp>
      <p:sp>
        <p:nvSpPr>
          <p:cNvPr id="3" name="o_654"/>
          <p:cNvSpPr txBox="1"/>
          <p:nvPr/>
        </p:nvSpPr>
        <p:spPr>
          <a:xfrm>
            <a:off x="548640" y="201168"/>
            <a:ext cx="7315200" cy="256032"/>
          </a:xfrm>
          <a:prstGeom prst="rect">
            <a:avLst/>
          </a:prstGeom>
          <a:noFill/>
          <a:ln/>
        </p:spPr>
        <p:txBody>
          <a:bodyPr wrap="square" lIns="0" tIns="0" rIns="0" bIns="0" rtlCol="0" anchor="t"/>
          <a:lstStyle/>
          <a:p>
            <a:pPr marL="0" indent="0">
              <a:buNone/>
            </a:pPr>
            <a:r>
              <a:rPr lang="en-US" sz="1100" b="1" kern="0" spc="200" dirty="0">
                <a:solidFill>
                  <a:schemeClr val="accent1"/>
                </a:solidFill>
              </a:rPr>
              <a:t>ANNEXE</a:t>
            </a:r>
            <a:endParaRPr lang="en-US" sz="1100" dirty="0"/>
          </a:p>
        </p:txBody>
      </p:sp>
      <p:pic>
        <p:nvPicPr>
          <p:cNvPr id="4" name="o_655" descr="Annexe · Diagramme de classe"/>
          <p:cNvPicPr>
            <a:picLocks noChangeAspect="1"/>
          </p:cNvPicPr>
          <p:nvPr/>
        </p:nvPicPr>
        <p:blipFill>
          <a:blip r:embed="rId3"/>
          <a:stretch>
            <a:fillRect/>
          </a:stretch>
        </p:blipFill>
        <p:spPr>
          <a:xfrm>
            <a:off x="822960" y="1325880"/>
            <a:ext cx="10543032" cy="4910328"/>
          </a:xfrm>
          <a:prstGeom prst="rect">
            <a:avLst/>
          </a:prstGeom>
        </p:spPr>
      </p:pic>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7A8"/>
                </a:solidFill>
              </a:defRPr>
            </a:lvl1pPr>
          </a:lstStyle>
          <a:p>
            <a:pPr algn="r"/>
            <a:fld id="{F7021451-1387-4CA6-816F-3879F97B5CBC}" type="slidenum">
              <a:rPr lang="en-US" b="0"/>
              <a:t>28</a:t>
            </a:fld>
            <a:endParaRPr lang="en-US"/>
          </a:p>
        </p:txBody>
      </p:sp>
    </p:spTree>
  </p:cSld>
  <p:clrMapOvr>
    <a:masterClrMapping/>
  </p:clrMapOvr>
  <p:transition spd="med">
    <p:push/>
  </p:transition>
</p:sld>
</file>

<file path=ppt/theme/theme1.xml><?xml version="1.0" encoding="utf-8"?>
<a:theme xmlns:a="http://schemas.openxmlformats.org/drawingml/2006/main" name="Assistant DevSecOps">
  <a:themeElements>
    <a:clrScheme name="Assistant DevSecOps">
      <a:dk1>
        <a:srgbClr val="1A2433"/>
      </a:dk1>
      <a:lt1>
        <a:srgbClr val="FFFFFF"/>
      </a:lt1>
      <a:dk2>
        <a:srgbClr val="0B1F3A"/>
      </a:dk2>
      <a:lt2>
        <a:srgbClr val="EEF4FB"/>
      </a:lt2>
      <a:accent1>
        <a:srgbClr val="0E5CA8"/>
      </a:accent1>
      <a:accent2>
        <a:srgbClr val="E5322D"/>
      </a:accent2>
      <a:accent3>
        <a:srgbClr val="1F9D6B"/>
      </a:accent3>
      <a:accent4>
        <a:srgbClr val="F2A900"/>
      </a:accent4>
      <a:accent5>
        <a:srgbClr val="5B6B7F"/>
      </a:accent5>
      <a:accent6>
        <a:srgbClr val="7FB3E6"/>
      </a:accent6>
      <a:hlink>
        <a:srgbClr val="0E5CA8"/>
      </a:hlink>
      <a:folHlink>
        <a:srgbClr val="5B6B7F"/>
      </a:folHlink>
    </a:clrScheme>
    <a:fontScheme name="Assistant DevSecO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3279</Words>
  <Application>Microsoft Office PowerPoint</Application>
  <PresentationFormat>Widescreen</PresentationFormat>
  <Paragraphs>424</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Assistant DevSecOps</vt:lpstr>
      <vt:lpstr>PowerPoint Presentation</vt:lpstr>
      <vt:lpstr>PowerPoint Presentation</vt:lpstr>
      <vt:lpstr>Une application nous parle en permanence</vt:lpstr>
      <vt:lpstr>PowerPoint Presentation</vt:lpstr>
      <vt:lpstr>Vermeg, un acteur international du logiciel financier</vt:lpstr>
      <vt:lpstr>Aujourd'hui, chaque incident devient une enquête</vt:lpstr>
      <vt:lpstr>Ce que cela coûte à l'équipe</vt:lpstr>
      <vt:lpstr>La question de départ</vt:lpstr>
      <vt:lpstr>PowerPoint Presentation</vt:lpstr>
      <vt:lpstr>Un seul assistant, quatre missions</vt:lpstr>
      <vt:lpstr>Ce que l'assistant fait pour vous</vt:lpstr>
      <vt:lpstr>Nos engagements qualité</vt:lpstr>
      <vt:lpstr>PowerPoint Presentation</vt:lpstr>
      <vt:lpstr>Qui utilise l'assistant ?</vt:lpstr>
      <vt:lpstr>PowerPoint Presentation</vt:lpstr>
      <vt:lpstr>Avancer pas à pas avec Scrum</vt:lpstr>
      <vt:lpstr>Comment l'assistant est organisé</vt:lpstr>
      <vt:lpstr>Où tourne l'assistant ?</vt:lpstr>
      <vt:lpstr>Des technologies reconnues et éprouvées</vt:lpstr>
      <vt:lpstr>Les 4 super-pouvoirs de l'IA</vt:lpstr>
      <vt:lpstr>Un exemple concret</vt:lpstr>
      <vt:lpstr>PowerPoint Presentation</vt:lpstr>
      <vt:lpstr>Place à la démonstration</vt:lpstr>
      <vt:lpstr>Ce qu'il faut retenir</vt:lpstr>
      <vt:lpstr>Et demain ?</vt:lpstr>
      <vt:lpstr>PowerPoint Presentation</vt:lpstr>
      <vt:lpstr>Annexe · Diagramme de cas d'utilisation</vt:lpstr>
      <vt:lpstr>Annexe · Diagramme de classe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Assistant DevSecOps intelligent</dc:title>
  <dc:subject>PptxGenJS Presentation</dc:subject>
  <dc:creator>Emna Ounissi</dc:creator>
  <cp:lastModifiedBy>Anis Lahmer</cp:lastModifiedBy>
  <cp:revision>2</cp:revision>
  <dcterms:created xsi:type="dcterms:W3CDTF">2026-10-20T08:27:04Z</dcterms:created>
  <dcterms:modified xsi:type="dcterms:W3CDTF">2026-10-20T09:01:21Z</dcterms:modified>
</cp:coreProperties>
</file>